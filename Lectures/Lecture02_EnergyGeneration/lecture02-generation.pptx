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org&amp;utm_campaign=parser&amp;utm_content=thumbnai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0" r:id="rId3"/>
    <p:sldId id="370" r:id="rId4"/>
    <p:sldId id="373" r:id="rId5"/>
    <p:sldId id="362" r:id="rId6"/>
    <p:sldId id="371" r:id="rId7"/>
    <p:sldId id="282" r:id="rId8"/>
    <p:sldId id="372" r:id="rId9"/>
    <p:sldId id="363" r:id="rId10"/>
    <p:sldId id="374" r:id="rId11"/>
    <p:sldId id="375" r:id="rId12"/>
    <p:sldId id="376" r:id="rId13"/>
    <p:sldId id="378" r:id="rId14"/>
    <p:sldId id="385" r:id="rId15"/>
    <p:sldId id="386" r:id="rId16"/>
    <p:sldId id="387" r:id="rId17"/>
    <p:sldId id="381" r:id="rId18"/>
    <p:sldId id="377" r:id="rId19"/>
    <p:sldId id="379" r:id="rId20"/>
    <p:sldId id="382" r:id="rId21"/>
    <p:sldId id="383" r:id="rId22"/>
    <p:sldId id="380" r:id="rId23"/>
    <p:sldId id="368" r:id="rId24"/>
    <p:sldId id="28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8"/>
    <p:restoredTop sz="94750"/>
  </p:normalViewPr>
  <p:slideViewPr>
    <p:cSldViewPr snapToGrid="0">
      <p:cViewPr varScale="1">
        <p:scale>
          <a:sx n="132" d="100"/>
          <a:sy n="132" d="100"/>
        </p:scale>
        <p:origin x="3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E1F8-3717-4041-B345-9C118A1FFF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34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E1F8-3717-4041-B345-9C118A1FFFB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3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E1F8-3717-4041-B345-9C118A1FFFB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94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E1F8-3717-4041-B345-9C118A1FFFB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91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47064" y="593281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43350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9918" y="23149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8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org&amp;utm_campaign=parser&amp;utm_content=thumbnai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org&amp;utm_campaign=parser&amp;utm_content=thumbnai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mutator_(electric)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en.wikipedia.org/wiki/Dynamo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Commutator_(electric)" TargetMode="External"/><Relationship Id="rId13" Type="http://schemas.openxmlformats.org/officeDocument/2006/relationships/hyperlink" Target="https://commons.wikimedia.org/w/index.php?curid=4030086" TargetMode="External"/><Relationship Id="rId3" Type="http://schemas.openxmlformats.org/officeDocument/2006/relationships/hyperlink" Target="https://en.wikipedia.org/wiki/Capacitor" TargetMode="External"/><Relationship Id="rId7" Type="http://schemas.openxmlformats.org/officeDocument/2006/relationships/hyperlink" Target="http://www.bigshotcamera.com/learn/power/dynamo" TargetMode="External"/><Relationship Id="rId12" Type="http://schemas.openxmlformats.org/officeDocument/2006/relationships/hyperlink" Target="https://commons.wikimedia.org/w/index.php?curid=37625896" TargetMode="External"/><Relationship Id="rId2" Type="http://schemas.openxmlformats.org/officeDocument/2006/relationships/hyperlink" Target="https://www.turbinesinfo.com/steam-turbines/" TargetMode="External"/><Relationship Id="rId16" Type="http://schemas.openxmlformats.org/officeDocument/2006/relationships/hyperlink" Target="https://commons.wikimedia.org/w/index.php?curid=2740768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uild-electronic-circuits.com/difference-ac-vs-dc/" TargetMode="External"/><Relationship Id="rId11" Type="http://schemas.openxmlformats.org/officeDocument/2006/relationships/hyperlink" Target="https://en.wikipedia.org/wiki/Electric_power_transmission" TargetMode="External"/><Relationship Id="rId5" Type="http://schemas.openxmlformats.org/officeDocument/2006/relationships/hyperlink" Target="https://en.wikipedia.org/wiki/RLC_circuit" TargetMode="External"/><Relationship Id="rId15" Type="http://schemas.openxmlformats.org/officeDocument/2006/relationships/hyperlink" Target="https://commons.wikimedia.org/w/index.php?curid=1646467" TargetMode="External"/><Relationship Id="rId10" Type="http://schemas.openxmlformats.org/officeDocument/2006/relationships/hyperlink" Target="https://en.wikipedia.org/wiki/Transformer" TargetMode="External"/><Relationship Id="rId4" Type="http://schemas.openxmlformats.org/officeDocument/2006/relationships/hyperlink" Target="https://en.wikipedia.org/wiki/Inductor" TargetMode="External"/><Relationship Id="rId9" Type="http://schemas.openxmlformats.org/officeDocument/2006/relationships/hyperlink" Target="https://en.wikipedia.org/wiki/Dynamo" TargetMode="External"/><Relationship Id="rId14" Type="http://schemas.openxmlformats.org/officeDocument/2006/relationships/hyperlink" Target="https://commons.wikimedia.org/w/index.php?curid=15345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/>
          <a:lstStyle/>
          <a:p>
            <a:pPr marL="0" lvl="0" indent="0">
              <a:buNone/>
            </a:pPr>
            <a:r>
              <a:t>Lecture 2 — Energy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PHY199-RAP · Energy in the 21st Century</a:t>
            </a:r>
            <a:br/>
            <a:br/>
            <a:r>
              <a:t>Dr. Salvatore Rappoccio</a:t>
            </a:r>
          </a:p>
        </p:txBody>
      </p:sp>
      <p:sp>
        <p:nvSpPr>
          <p:cNvPr id="4" name=" 3"/>
          <p:cNvSpPr/>
          <p:nvPr/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Electricity generation : </a:t>
            </a:r>
            <a:br>
              <a:rPr lang="en-US" dirty="0"/>
            </a:br>
            <a:r>
              <a:rPr lang="en-US" dirty="0"/>
              <a:t>The physics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9091-A109-2EC8-EBBE-48CBB7DA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Turbines and 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9A501-B106-9BD1-E510-B511E5407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373306"/>
            <a:ext cx="5127361" cy="4197857"/>
          </a:xfrm>
        </p:spPr>
        <p:txBody>
          <a:bodyPr/>
          <a:lstStyle/>
          <a:p>
            <a:r>
              <a:rPr lang="en-US" dirty="0"/>
              <a:t>Turbine: </a:t>
            </a:r>
          </a:p>
          <a:p>
            <a:pPr lvl="1"/>
            <a:r>
              <a:rPr lang="en-US" dirty="0"/>
              <a:t>Fixed blades and rotating blades are inside a casing. </a:t>
            </a:r>
          </a:p>
          <a:p>
            <a:pPr lvl="1"/>
            <a:r>
              <a:rPr lang="en-US" dirty="0"/>
              <a:t>The rotating blades are attached to a shaft, which is then connected to a wire that rotates inside a magnetic field. </a:t>
            </a:r>
          </a:p>
          <a:p>
            <a:pPr lvl="1"/>
            <a:r>
              <a:rPr lang="en-US" dirty="0"/>
              <a:t>Steam passes through, turning the rotating blades and the shaft, generating electricity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93658-DB06-811D-87B9-9679FA3E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0EF9A-44E6-C12B-B2AD-BC18FD1419FA}"/>
              </a:ext>
            </a:extLst>
          </p:cNvPr>
          <p:cNvSpPr txBox="1"/>
          <p:nvPr/>
        </p:nvSpPr>
        <p:spPr>
          <a:xfrm>
            <a:off x="5183850" y="64886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www.turbinesinfo.com</a:t>
            </a:r>
            <a:r>
              <a:rPr lang="en-US" dirty="0"/>
              <a:t>/steam-turbines/</a:t>
            </a:r>
          </a:p>
        </p:txBody>
      </p:sp>
      <p:pic>
        <p:nvPicPr>
          <p:cNvPr id="7" name="Picture 6" descr="Schematic of the flow of a steam turbine. Water passes into a boiler, which is converted to steam. The steam turns a generator and is passed back to a condenser, and closes the loop. ">
            <a:extLst>
              <a:ext uri="{FF2B5EF4-FFF2-40B4-BE49-F238E27FC236}">
                <a16:creationId xmlns:a16="http://schemas.microsoft.com/office/drawing/2014/main" id="{694BED89-4C72-67CC-C783-E0F16D89D3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094" y="3647686"/>
            <a:ext cx="4512914" cy="2694021"/>
          </a:xfrm>
          <a:prstGeom prst="rect">
            <a:avLst/>
          </a:prstGeom>
        </p:spPr>
      </p:pic>
      <p:pic>
        <p:nvPicPr>
          <p:cNvPr id="8" name="Picture 7" descr="Schematic of the interior of a steam engine. Fixed blades and rotating blades are inside a casing. The rotating blades are attached to a shaft, which is then connected to a wire that rotates inside a magnetic field. Steam passes through, turning the rotating blades and the shaft, generating electricity. ">
            <a:extLst>
              <a:ext uri="{FF2B5EF4-FFF2-40B4-BE49-F238E27FC236}">
                <a16:creationId xmlns:a16="http://schemas.microsoft.com/office/drawing/2014/main" id="{3C37905D-1653-E460-E057-B4125CC3CF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094" y="516293"/>
            <a:ext cx="3489080" cy="254005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9C7D7E-EB37-6EEE-C935-0D556230A752}"/>
              </a:ext>
            </a:extLst>
          </p:cNvPr>
          <p:cNvCxnSpPr>
            <a:cxnSpLocks/>
          </p:cNvCxnSpPr>
          <p:nvPr/>
        </p:nvCxnSpPr>
        <p:spPr>
          <a:xfrm flipV="1">
            <a:off x="5369169" y="1643973"/>
            <a:ext cx="3001108" cy="1485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794A96-0304-BE7C-ADB3-356B42E47039}"/>
              </a:ext>
            </a:extLst>
          </p:cNvPr>
          <p:cNvCxnSpPr>
            <a:cxnSpLocks/>
          </p:cNvCxnSpPr>
          <p:nvPr/>
        </p:nvCxnSpPr>
        <p:spPr>
          <a:xfrm flipV="1">
            <a:off x="5208182" y="2143850"/>
            <a:ext cx="2540772" cy="2033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E11DF3-E5A8-1068-7AB9-969BB02AA61A}"/>
              </a:ext>
            </a:extLst>
          </p:cNvPr>
          <p:cNvCxnSpPr>
            <a:cxnSpLocks/>
          </p:cNvCxnSpPr>
          <p:nvPr/>
        </p:nvCxnSpPr>
        <p:spPr>
          <a:xfrm flipV="1">
            <a:off x="4960946" y="4044676"/>
            <a:ext cx="3409331" cy="1525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274960-5084-147C-0DCC-6226BC7195BD}"/>
              </a:ext>
            </a:extLst>
          </p:cNvPr>
          <p:cNvCxnSpPr>
            <a:cxnSpLocks/>
          </p:cNvCxnSpPr>
          <p:nvPr/>
        </p:nvCxnSpPr>
        <p:spPr>
          <a:xfrm flipV="1">
            <a:off x="3664503" y="4472234"/>
            <a:ext cx="7096649" cy="185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00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D45E-7C92-F42A-4706-8F33120D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1809C-A522-0D8C-795C-C6997AB84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42" y="3012832"/>
            <a:ext cx="6966165" cy="3558332"/>
          </a:xfrm>
        </p:spPr>
        <p:txBody>
          <a:bodyPr/>
          <a:lstStyle/>
          <a:p>
            <a:r>
              <a:rPr lang="en-US" dirty="0"/>
              <a:t>Before we really understand power generation, we need to understand circuits</a:t>
            </a:r>
          </a:p>
          <a:p>
            <a:r>
              <a:rPr lang="en-US" dirty="0"/>
              <a:t>We’re go deeper into three concepts: </a:t>
            </a:r>
          </a:p>
          <a:p>
            <a:pPr lvl="1"/>
            <a:r>
              <a:rPr lang="en-US" b="1" dirty="0"/>
              <a:t>Capacitance (C)</a:t>
            </a:r>
            <a:r>
              <a:rPr lang="en-US" dirty="0"/>
              <a:t>: stores energy in an electric field</a:t>
            </a:r>
          </a:p>
          <a:p>
            <a:pPr lvl="1"/>
            <a:r>
              <a:rPr lang="en-US" b="1" dirty="0"/>
              <a:t>Inductance (L)</a:t>
            </a:r>
            <a:r>
              <a:rPr lang="en-US" dirty="0"/>
              <a:t> : stores energy in a magnetic field</a:t>
            </a:r>
          </a:p>
          <a:p>
            <a:pPr lvl="1"/>
            <a:r>
              <a:rPr lang="en-US" b="1" dirty="0"/>
              <a:t>Resistance (R)</a:t>
            </a:r>
            <a:r>
              <a:rPr lang="en-US" dirty="0"/>
              <a:t> : dissipates thermal energy via heat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E5196-8B73-5990-D3FF-8A9588CD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RLC circuit with a voltage V, current I, resistance R, inductance L, and capacitance C. ">
            <a:extLst>
              <a:ext uri="{FF2B5EF4-FFF2-40B4-BE49-F238E27FC236}">
                <a16:creationId xmlns:a16="http://schemas.microsoft.com/office/drawing/2014/main" id="{D6409CA0-2B41-7608-701E-AF08909A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397" y="1805071"/>
            <a:ext cx="3175000" cy="4406900"/>
          </a:xfrm>
          <a:prstGeom prst="rect">
            <a:avLst/>
          </a:prstGeom>
        </p:spPr>
      </p:pic>
      <p:pic>
        <p:nvPicPr>
          <p:cNvPr id="6" name="Picture 5" descr="Ohms law cartoon showing the relationship between current, voltage, and resistance">
            <a:extLst>
              <a:ext uri="{FF2B5EF4-FFF2-40B4-BE49-F238E27FC236}">
                <a16:creationId xmlns:a16="http://schemas.microsoft.com/office/drawing/2014/main" id="{DD3F65D3-560B-A5DF-6723-F865EC288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937" y="646029"/>
            <a:ext cx="3028096" cy="25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84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57D9-43C3-E22A-B79E-A68E9FF4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F24F-6ACA-A876-E3C0-B5CC6C65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F7CDA-76C1-32CF-2161-E4B6B6FD4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4752223" cy="4048171"/>
          </a:xfrm>
        </p:spPr>
        <p:txBody>
          <a:bodyPr/>
          <a:lstStyle/>
          <a:p>
            <a:r>
              <a:rPr lang="en-US" sz="1600" dirty="0"/>
              <a:t>Teeny tiny bit of vector addition</a:t>
            </a:r>
          </a:p>
          <a:p>
            <a:r>
              <a:rPr lang="en-US" sz="1600" dirty="0"/>
              <a:t>The components of Coulomb’s law parallel to the plates CANCEL, the components perpendicular to the plates ADD, so you get a constant electric field</a:t>
            </a:r>
          </a:p>
          <a:p>
            <a:r>
              <a:rPr lang="en-US" sz="1600" dirty="0"/>
              <a:t>Why is this important? </a:t>
            </a:r>
          </a:p>
          <a:p>
            <a:pPr lvl="1"/>
            <a:r>
              <a:rPr lang="en-US" sz="1600" dirty="0"/>
              <a:t>If you hook up a battery, this supplies a direct current electric field between the plates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3319C-0A5F-1091-DEE4-A5938129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0FE8C8-8B62-F7A3-8A82-8B325B629690}"/>
              </a:ext>
            </a:extLst>
          </p:cNvPr>
          <p:cNvCxnSpPr>
            <a:cxnSpLocks/>
          </p:cNvCxnSpPr>
          <p:nvPr/>
        </p:nvCxnSpPr>
        <p:spPr>
          <a:xfrm flipV="1">
            <a:off x="7989094" y="3941876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214BF2-0F86-D1A8-1735-5FE7C88B8512}"/>
              </a:ext>
            </a:extLst>
          </p:cNvPr>
          <p:cNvCxnSpPr>
            <a:cxnSpLocks/>
          </p:cNvCxnSpPr>
          <p:nvPr/>
        </p:nvCxnSpPr>
        <p:spPr>
          <a:xfrm flipV="1">
            <a:off x="8540811" y="3941876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ED201A-9C55-60E6-55E0-1D6763886140}"/>
              </a:ext>
            </a:extLst>
          </p:cNvPr>
          <p:cNvSpPr txBox="1"/>
          <p:nvPr/>
        </p:nvSpPr>
        <p:spPr>
          <a:xfrm>
            <a:off x="2411133" y="6220018"/>
            <a:ext cx="4880344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 responsible for this, just for enrichment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EF4000-B19B-22F8-8D5D-04798107CD6B}"/>
              </a:ext>
            </a:extLst>
          </p:cNvPr>
          <p:cNvCxnSpPr>
            <a:cxnSpLocks/>
          </p:cNvCxnSpPr>
          <p:nvPr/>
        </p:nvCxnSpPr>
        <p:spPr>
          <a:xfrm flipV="1">
            <a:off x="7989094" y="5739924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534294-E821-95F5-5173-F5A396ADD53D}"/>
              </a:ext>
            </a:extLst>
          </p:cNvPr>
          <p:cNvCxnSpPr>
            <a:cxnSpLocks/>
          </p:cNvCxnSpPr>
          <p:nvPr/>
        </p:nvCxnSpPr>
        <p:spPr>
          <a:xfrm flipV="1">
            <a:off x="8540811" y="5739924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684E87B-8FC4-7F4B-F00B-F57F8806AD78}"/>
              </a:ext>
            </a:extLst>
          </p:cNvPr>
          <p:cNvCxnSpPr>
            <a:cxnSpLocks/>
          </p:cNvCxnSpPr>
          <p:nvPr/>
        </p:nvCxnSpPr>
        <p:spPr>
          <a:xfrm flipV="1">
            <a:off x="7989093" y="2158795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3FBB395-FC27-9CEF-7920-BC445F3F00DA}"/>
              </a:ext>
            </a:extLst>
          </p:cNvPr>
          <p:cNvCxnSpPr>
            <a:cxnSpLocks/>
          </p:cNvCxnSpPr>
          <p:nvPr/>
        </p:nvCxnSpPr>
        <p:spPr>
          <a:xfrm flipV="1">
            <a:off x="8540810" y="2158795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1D3F0DD-01DB-6BAC-4E80-97AE8BEA7C08}"/>
              </a:ext>
            </a:extLst>
          </p:cNvPr>
          <p:cNvSpPr txBox="1"/>
          <p:nvPr/>
        </p:nvSpPr>
        <p:spPr>
          <a:xfrm>
            <a:off x="7084660" y="314615"/>
            <a:ext cx="3180627" cy="120032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Now just draw a line to represent the charges, and you get a PARALLEL PLATE CAPACITOR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43FEADE-1047-5DE0-D19D-00F72D16E94F}"/>
              </a:ext>
            </a:extLst>
          </p:cNvPr>
          <p:cNvCxnSpPr>
            <a:cxnSpLocks/>
          </p:cNvCxnSpPr>
          <p:nvPr/>
        </p:nvCxnSpPr>
        <p:spPr>
          <a:xfrm flipV="1">
            <a:off x="7945202" y="3027315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AB84C54-040F-6854-AEA4-72A0EEC64032}"/>
              </a:ext>
            </a:extLst>
          </p:cNvPr>
          <p:cNvCxnSpPr>
            <a:cxnSpLocks/>
          </p:cNvCxnSpPr>
          <p:nvPr/>
        </p:nvCxnSpPr>
        <p:spPr>
          <a:xfrm flipV="1">
            <a:off x="8496919" y="3027315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9D61E8F-278C-305D-4B30-A2C2DD21BB58}"/>
              </a:ext>
            </a:extLst>
          </p:cNvPr>
          <p:cNvCxnSpPr>
            <a:cxnSpLocks/>
          </p:cNvCxnSpPr>
          <p:nvPr/>
        </p:nvCxnSpPr>
        <p:spPr>
          <a:xfrm flipV="1">
            <a:off x="7989093" y="4911958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6E3F70E-EBEC-10DC-6A7C-FE5BE51F7899}"/>
              </a:ext>
            </a:extLst>
          </p:cNvPr>
          <p:cNvCxnSpPr>
            <a:cxnSpLocks/>
          </p:cNvCxnSpPr>
          <p:nvPr/>
        </p:nvCxnSpPr>
        <p:spPr>
          <a:xfrm flipV="1">
            <a:off x="8540810" y="4911958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9A40D29-A654-F638-28C7-F05F1CC7E32D}"/>
              </a:ext>
            </a:extLst>
          </p:cNvPr>
          <p:cNvCxnSpPr>
            <a:cxnSpLocks/>
          </p:cNvCxnSpPr>
          <p:nvPr/>
        </p:nvCxnSpPr>
        <p:spPr>
          <a:xfrm flipV="1">
            <a:off x="7989094" y="3506359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6853E91-650B-A052-8BA1-BE41CDAB66F0}"/>
              </a:ext>
            </a:extLst>
          </p:cNvPr>
          <p:cNvCxnSpPr>
            <a:cxnSpLocks/>
          </p:cNvCxnSpPr>
          <p:nvPr/>
        </p:nvCxnSpPr>
        <p:spPr>
          <a:xfrm flipV="1">
            <a:off x="8540811" y="3506359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605E9EB2-D976-F8B9-2EAD-6767CEB1FFAD}"/>
              </a:ext>
            </a:extLst>
          </p:cNvPr>
          <p:cNvCxnSpPr>
            <a:cxnSpLocks/>
          </p:cNvCxnSpPr>
          <p:nvPr/>
        </p:nvCxnSpPr>
        <p:spPr>
          <a:xfrm flipV="1">
            <a:off x="7989094" y="4402834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8A5592B6-7DC1-E052-A7E8-EA9DD7D48258}"/>
              </a:ext>
            </a:extLst>
          </p:cNvPr>
          <p:cNvCxnSpPr>
            <a:cxnSpLocks/>
          </p:cNvCxnSpPr>
          <p:nvPr/>
        </p:nvCxnSpPr>
        <p:spPr>
          <a:xfrm flipV="1">
            <a:off x="8540811" y="4402834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D77E505-7BE6-14C3-A9C5-A0BC82EE15E7}"/>
              </a:ext>
            </a:extLst>
          </p:cNvPr>
          <p:cNvCxnSpPr>
            <a:cxnSpLocks/>
          </p:cNvCxnSpPr>
          <p:nvPr/>
        </p:nvCxnSpPr>
        <p:spPr>
          <a:xfrm flipV="1">
            <a:off x="7989094" y="2564463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F4E756C-EC32-0FC9-4B32-6009093BC60F}"/>
              </a:ext>
            </a:extLst>
          </p:cNvPr>
          <p:cNvCxnSpPr>
            <a:cxnSpLocks/>
          </p:cNvCxnSpPr>
          <p:nvPr/>
        </p:nvCxnSpPr>
        <p:spPr>
          <a:xfrm flipV="1">
            <a:off x="8540811" y="2564463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F0C924C1-34AD-C6B8-5D97-04306B70491C}"/>
              </a:ext>
            </a:extLst>
          </p:cNvPr>
          <p:cNvCxnSpPr>
            <a:cxnSpLocks/>
          </p:cNvCxnSpPr>
          <p:nvPr/>
        </p:nvCxnSpPr>
        <p:spPr>
          <a:xfrm flipV="1">
            <a:off x="7989094" y="5286971"/>
            <a:ext cx="551717" cy="82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13DFEF3C-8557-F253-CEB9-D667B9414149}"/>
              </a:ext>
            </a:extLst>
          </p:cNvPr>
          <p:cNvCxnSpPr>
            <a:cxnSpLocks/>
          </p:cNvCxnSpPr>
          <p:nvPr/>
        </p:nvCxnSpPr>
        <p:spPr>
          <a:xfrm flipV="1">
            <a:off x="8540811" y="5286971"/>
            <a:ext cx="551717" cy="825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2AFC7AAA-CEEE-A7CC-2CC0-E7FA00A4526D}"/>
              </a:ext>
            </a:extLst>
          </p:cNvPr>
          <p:cNvCxnSpPr>
            <a:cxnSpLocks/>
          </p:cNvCxnSpPr>
          <p:nvPr/>
        </p:nvCxnSpPr>
        <p:spPr>
          <a:xfrm>
            <a:off x="7437376" y="1967638"/>
            <a:ext cx="0" cy="4081470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D5AAE38-2D08-6639-B2CB-9FBCF57935F6}"/>
              </a:ext>
            </a:extLst>
          </p:cNvPr>
          <p:cNvCxnSpPr>
            <a:cxnSpLocks/>
          </p:cNvCxnSpPr>
          <p:nvPr/>
        </p:nvCxnSpPr>
        <p:spPr>
          <a:xfrm>
            <a:off x="9570976" y="1909394"/>
            <a:ext cx="0" cy="408147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12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0DB5-1A4D-770E-B0E0-DEC6DF46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064AD-8999-A061-3C39-E7D8716EA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64" y="2174029"/>
            <a:ext cx="5953429" cy="4048171"/>
          </a:xfrm>
        </p:spPr>
        <p:txBody>
          <a:bodyPr/>
          <a:lstStyle/>
          <a:p>
            <a:r>
              <a:rPr lang="en-US" dirty="0"/>
              <a:t>If you put a positive and negative plate next to each other, it can </a:t>
            </a:r>
            <a:r>
              <a:rPr lang="en-US" b="1" dirty="0"/>
              <a:t>store electric energy</a:t>
            </a:r>
            <a:endParaRPr lang="en-US" dirty="0"/>
          </a:p>
          <a:p>
            <a:r>
              <a:rPr lang="en-US" dirty="0"/>
              <a:t>This is called a </a:t>
            </a:r>
            <a:r>
              <a:rPr lang="en-US" b="1" dirty="0"/>
              <a:t>“capacitor” </a:t>
            </a:r>
            <a:r>
              <a:rPr lang="en-US" dirty="0"/>
              <a:t>and how much it can store is the </a:t>
            </a:r>
            <a:r>
              <a:rPr lang="en-US" b="1" dirty="0"/>
              <a:t>“capacitance”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F833E-CBE3-8863-CF37-52F17B84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 descr="Demonstration of a parallel plate capacitor. Two electric plates with electric field E and area A are at a separation d. They carry charges +Q and -Q. By Papa November - self-made SVG version of Image:Dielectric.png, incorporating Image:Capacitor schematic.svg as its base., CC BY-SA 3.0, https://commons.wikimedia.org/w/index.php?curid=4030086">
            <a:extLst>
              <a:ext uri="{FF2B5EF4-FFF2-40B4-BE49-F238E27FC236}">
                <a16:creationId xmlns:a16="http://schemas.microsoft.com/office/drawing/2014/main" id="{3E82BCF5-997F-B917-E7FF-F348C99E2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895" y="1057528"/>
            <a:ext cx="2664480" cy="2930928"/>
          </a:xfrm>
          <a:prstGeom prst="rect">
            <a:avLst/>
          </a:prstGeom>
        </p:spPr>
      </p:pic>
      <p:pic>
        <p:nvPicPr>
          <p:cNvPr id="6" name="Picture 5" descr="Capacitors of various types and sizes. By Eric Schrader from San Francisco, CA, United States - 12739s, CC BY-SA 2.0, https://commons.wikimedia.org/w/index.php?curid=37625896">
            <a:extLst>
              <a:ext uri="{FF2B5EF4-FFF2-40B4-BE49-F238E27FC236}">
                <a16:creationId xmlns:a16="http://schemas.microsoft.com/office/drawing/2014/main" id="{D6077D9E-E71C-B182-0425-63554D74E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635" y="4267700"/>
            <a:ext cx="3175000" cy="2120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A3378-602E-56B0-797A-5F594892F8F2}"/>
                  </a:ext>
                </a:extLst>
              </p:cNvPr>
              <p:cNvSpPr txBox="1"/>
              <p:nvPr/>
            </p:nvSpPr>
            <p:spPr>
              <a:xfrm>
                <a:off x="2713656" y="4472408"/>
                <a:ext cx="2827407" cy="124886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A3378-602E-56B0-797A-5F594892F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656" y="4472408"/>
                <a:ext cx="2827407" cy="1248868"/>
              </a:xfrm>
              <a:prstGeom prst="rect">
                <a:avLst/>
              </a:prstGeom>
              <a:blipFill>
                <a:blip r:embed="rId4"/>
                <a:stretch>
                  <a:fillRect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A6B79F1-6AB3-780C-4B60-AA0C908BDB11}"/>
              </a:ext>
            </a:extLst>
          </p:cNvPr>
          <p:cNvSpPr txBox="1"/>
          <p:nvPr/>
        </p:nvSpPr>
        <p:spPr>
          <a:xfrm>
            <a:off x="4852580" y="6004986"/>
            <a:ext cx="196385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Voltage</a:t>
            </a:r>
            <a:r>
              <a:rPr lang="en-US" dirty="0"/>
              <a:t>: Volts</a:t>
            </a:r>
            <a:endParaRPr lang="en-US" baseline="30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641933-BCDD-9DF7-7B2D-9C67C9FDBCC2}"/>
              </a:ext>
            </a:extLst>
          </p:cNvPr>
          <p:cNvCxnSpPr>
            <a:cxnSpLocks/>
          </p:cNvCxnSpPr>
          <p:nvPr/>
        </p:nvCxnSpPr>
        <p:spPr>
          <a:xfrm flipH="1" flipV="1">
            <a:off x="4729639" y="5521669"/>
            <a:ext cx="800720" cy="483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D7139A-9CE3-2BC3-0571-1557B134823C}"/>
              </a:ext>
            </a:extLst>
          </p:cNvPr>
          <p:cNvSpPr txBox="1"/>
          <p:nvPr/>
        </p:nvSpPr>
        <p:spPr>
          <a:xfrm>
            <a:off x="4647383" y="4013449"/>
            <a:ext cx="226685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Charge</a:t>
            </a:r>
            <a:r>
              <a:rPr lang="en-US" dirty="0"/>
              <a:t>: Coulombs</a:t>
            </a:r>
            <a:endParaRPr lang="en-US" baseline="30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E9E63B-68F0-A8E8-AB62-54EC0D309BD5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4827449" y="4382781"/>
            <a:ext cx="953364" cy="398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076425D-EC29-A0CF-95AA-E6FD4132B24A}"/>
              </a:ext>
            </a:extLst>
          </p:cNvPr>
          <p:cNvSpPr txBox="1"/>
          <p:nvPr/>
        </p:nvSpPr>
        <p:spPr>
          <a:xfrm>
            <a:off x="207047" y="4267700"/>
            <a:ext cx="2266859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Capacitance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1 Farad = 1 Coulomb / Volt</a:t>
            </a:r>
            <a:endParaRPr lang="en-US" baseline="30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5840F1-D6DF-B34A-2ACB-B9435F3A80AE}"/>
              </a:ext>
            </a:extLst>
          </p:cNvPr>
          <p:cNvSpPr txBox="1"/>
          <p:nvPr/>
        </p:nvSpPr>
        <p:spPr>
          <a:xfrm>
            <a:off x="200436" y="5838326"/>
            <a:ext cx="4254399" cy="9233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capacitance is charge divided by voltage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52B1C6-C64B-326A-18AD-AC92A88406BE}"/>
              </a:ext>
            </a:extLst>
          </p:cNvPr>
          <p:cNvCxnSpPr>
            <a:cxnSpLocks/>
          </p:cNvCxnSpPr>
          <p:nvPr/>
        </p:nvCxnSpPr>
        <p:spPr>
          <a:xfrm>
            <a:off x="2473906" y="4687927"/>
            <a:ext cx="958998" cy="398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FE8D583-A2B4-ED7E-59E6-1C669C370844}"/>
              </a:ext>
            </a:extLst>
          </p:cNvPr>
          <p:cNvSpPr txBox="1"/>
          <p:nvPr/>
        </p:nvSpPr>
        <p:spPr>
          <a:xfrm>
            <a:off x="7306635" y="6484657"/>
            <a:ext cx="317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/wiki/Capacitor</a:t>
            </a:r>
          </a:p>
        </p:txBody>
      </p:sp>
    </p:spTree>
    <p:extLst>
      <p:ext uri="{BB962C8B-B14F-4D97-AF65-F5344CB8AC3E}">
        <p14:creationId xmlns:p14="http://schemas.microsoft.com/office/powerpoint/2010/main" val="425508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6845F-5EF5-38FB-9322-C437ED3E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AC62F-F1B5-BFEE-8210-488352E95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5389904" cy="4048171"/>
          </a:xfrm>
        </p:spPr>
        <p:txBody>
          <a:bodyPr/>
          <a:lstStyle/>
          <a:p>
            <a:r>
              <a:rPr lang="en-US" dirty="0"/>
              <a:t>Mathematically: </a:t>
            </a:r>
          </a:p>
          <a:p>
            <a:pPr lvl="1"/>
            <a:r>
              <a:rPr lang="en-US" dirty="0"/>
              <a:t>Electromotive force (voltage) is generated by changing magnetic field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0C90A-A534-3534-D952-8ED15563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5380F-E062-31CD-F93A-4045C0D17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583" y="1938966"/>
            <a:ext cx="4498997" cy="3783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D32B6A-5971-0FD7-94EC-0A0C40114788}"/>
                  </a:ext>
                </a:extLst>
              </p:cNvPr>
              <p:cNvSpPr txBox="1"/>
              <p:nvPr/>
            </p:nvSpPr>
            <p:spPr>
              <a:xfrm>
                <a:off x="2670577" y="5035502"/>
                <a:ext cx="2827407" cy="124886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D32B6A-5971-0FD7-94EC-0A0C4011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577" y="5035502"/>
                <a:ext cx="2827407" cy="1248868"/>
              </a:xfrm>
              <a:prstGeom prst="rect">
                <a:avLst/>
              </a:prstGeom>
              <a:blipFill>
                <a:blip r:embed="rId4"/>
                <a:stretch>
                  <a:fillRect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BCC217-CF15-C3C6-ADAA-169A568D17FB}"/>
                  </a:ext>
                </a:extLst>
              </p:cNvPr>
              <p:cNvSpPr txBox="1"/>
              <p:nvPr/>
            </p:nvSpPr>
            <p:spPr>
              <a:xfrm>
                <a:off x="4565785" y="4172001"/>
                <a:ext cx="3465654" cy="64633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Magnetic flux</a:t>
                </a:r>
                <a:r>
                  <a:rPr lang="en-US" dirty="0"/>
                  <a:t>: </a:t>
                </a:r>
              </a:p>
              <a:p>
                <a:r>
                  <a:rPr lang="en-US" dirty="0"/>
                  <a:t>1 Weber =1 Tesla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Amp</m:t>
                    </m:r>
                  </m:oMath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BCC217-CF15-C3C6-ADAA-169A568D1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785" y="4172001"/>
                <a:ext cx="3465654" cy="646331"/>
              </a:xfrm>
              <a:prstGeom prst="rect">
                <a:avLst/>
              </a:prstGeom>
              <a:blipFill>
                <a:blip r:embed="rId5"/>
                <a:stretch>
                  <a:fillRect l="-1460" t="-1887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3E97F99-3C59-356D-B4FE-56B0B304B342}"/>
              </a:ext>
            </a:extLst>
          </p:cNvPr>
          <p:cNvSpPr txBox="1"/>
          <p:nvPr/>
        </p:nvSpPr>
        <p:spPr>
          <a:xfrm>
            <a:off x="5652664" y="5975230"/>
            <a:ext cx="1267428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Time</a:t>
            </a:r>
            <a:r>
              <a:rPr lang="en-US" dirty="0"/>
              <a:t>: </a:t>
            </a:r>
          </a:p>
          <a:p>
            <a:r>
              <a:rPr lang="en-US" dirty="0"/>
              <a:t>seconds</a:t>
            </a:r>
            <a:endParaRPr lang="en-US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1997E-3ECB-96E1-B5B5-212C273BBDAE}"/>
              </a:ext>
            </a:extLst>
          </p:cNvPr>
          <p:cNvSpPr txBox="1"/>
          <p:nvPr/>
        </p:nvSpPr>
        <p:spPr>
          <a:xfrm>
            <a:off x="86160" y="4289912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Electromotive force (Voltage)</a:t>
            </a:r>
            <a:r>
              <a:rPr lang="en-US" dirty="0"/>
              <a:t>: </a:t>
            </a:r>
          </a:p>
          <a:p>
            <a:r>
              <a:rPr lang="en-US" dirty="0"/>
              <a:t>1 Volt</a:t>
            </a:r>
            <a:endParaRPr lang="en-US" baseline="30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B95A95-1967-D526-0A81-36D614236E8F}"/>
              </a:ext>
            </a:extLst>
          </p:cNvPr>
          <p:cNvCxnSpPr>
            <a:cxnSpLocks/>
          </p:cNvCxnSpPr>
          <p:nvPr/>
        </p:nvCxnSpPr>
        <p:spPr>
          <a:xfrm>
            <a:off x="1489644" y="4985873"/>
            <a:ext cx="1599516" cy="736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9F4ED7-4AD4-7EC8-F96E-1182F3BA1928}"/>
              </a:ext>
            </a:extLst>
          </p:cNvPr>
          <p:cNvCxnSpPr>
            <a:cxnSpLocks/>
          </p:cNvCxnSpPr>
          <p:nvPr/>
        </p:nvCxnSpPr>
        <p:spPr>
          <a:xfrm flipH="1">
            <a:off x="5124893" y="4838387"/>
            <a:ext cx="1204007" cy="514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230211-EE85-BD3C-EA66-998301A8283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5050512" y="5970696"/>
            <a:ext cx="602152" cy="327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723529-BE8B-B552-3F3C-FF42638FB0BD}"/>
              </a:ext>
            </a:extLst>
          </p:cNvPr>
          <p:cNvSpPr txBox="1"/>
          <p:nvPr/>
        </p:nvSpPr>
        <p:spPr>
          <a:xfrm>
            <a:off x="7298204" y="5931250"/>
            <a:ext cx="488034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a voltage is induced from a changing magnetic flux</a:t>
            </a:r>
          </a:p>
        </p:txBody>
      </p:sp>
    </p:spTree>
    <p:extLst>
      <p:ext uri="{BB962C8B-B14F-4D97-AF65-F5344CB8AC3E}">
        <p14:creationId xmlns:p14="http://schemas.microsoft.com/office/powerpoint/2010/main" val="1341869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5971-7CDD-2962-35C5-D7144CCF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062158"/>
            <a:ext cx="10515600" cy="868680"/>
          </a:xfrm>
        </p:spPr>
        <p:txBody>
          <a:bodyPr/>
          <a:lstStyle/>
          <a:p>
            <a:r>
              <a:rPr lang="en-US" dirty="0"/>
              <a:t>Inductance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4BDD6-BE4B-3F56-B715-1F026F14C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658" y="1699963"/>
            <a:ext cx="6581583" cy="4048171"/>
          </a:xfrm>
        </p:spPr>
        <p:txBody>
          <a:bodyPr/>
          <a:lstStyle/>
          <a:p>
            <a:r>
              <a:rPr lang="en-US" dirty="0"/>
              <a:t>If you wrap a coil around something magnetic, it can </a:t>
            </a:r>
            <a:r>
              <a:rPr lang="en-US" b="1" dirty="0"/>
              <a:t>store</a:t>
            </a:r>
            <a:r>
              <a:rPr lang="en-US" dirty="0"/>
              <a:t> </a:t>
            </a:r>
            <a:r>
              <a:rPr lang="en-US" b="1" dirty="0"/>
              <a:t>magnetic energy </a:t>
            </a:r>
            <a:r>
              <a:rPr lang="en-US" dirty="0"/>
              <a:t>just like a capacitor stores electric energy</a:t>
            </a:r>
          </a:p>
          <a:p>
            <a:r>
              <a:rPr lang="en-US" dirty="0"/>
              <a:t>This is called an </a:t>
            </a:r>
            <a:r>
              <a:rPr lang="en-US" b="1" dirty="0"/>
              <a:t>“inductor” </a:t>
            </a:r>
            <a:r>
              <a:rPr lang="en-US" dirty="0"/>
              <a:t>and how much magnetic flux it stores is called the </a:t>
            </a:r>
            <a:r>
              <a:rPr lang="en-US" b="1" dirty="0"/>
              <a:t>“inductance”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A831-A246-B341-9044-0B44EBD4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3AD7C-709E-28D5-E94E-E5B1EAFDE7DA}"/>
              </a:ext>
            </a:extLst>
          </p:cNvPr>
          <p:cNvSpPr txBox="1"/>
          <p:nvPr/>
        </p:nvSpPr>
        <p:spPr>
          <a:xfrm>
            <a:off x="7306635" y="6484657"/>
            <a:ext cx="317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/wiki/Inductor</a:t>
            </a:r>
          </a:p>
        </p:txBody>
      </p:sp>
      <p:pic>
        <p:nvPicPr>
          <p:cNvPr id="7" name="Picture 6" descr="Assortment of inductors (coils wrapped around a metal like iron) &#10;&#10;By Miguel - Photograph, CC BY-SA 3.0, https://commons.wikimedia.org/w/index.php?curid=1534586">
            <a:extLst>
              <a:ext uri="{FF2B5EF4-FFF2-40B4-BE49-F238E27FC236}">
                <a16:creationId xmlns:a16="http://schemas.microsoft.com/office/drawing/2014/main" id="{988C27F9-50C5-31B3-65F1-05E43DA7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672" y="1113292"/>
            <a:ext cx="3175000" cy="2819400"/>
          </a:xfrm>
          <a:prstGeom prst="rect">
            <a:avLst/>
          </a:prstGeom>
        </p:spPr>
      </p:pic>
      <p:pic>
        <p:nvPicPr>
          <p:cNvPr id="8" name="Picture 7" descr="Demonstration of a current I traveling through a wire, generating a magnetic field B. By User:Stannered - Image:Electromagnetism.png, CC BY-SA 3.0, https://commons.wikimedia.org/w/index.php?curid=1646467">
            <a:extLst>
              <a:ext uri="{FF2B5EF4-FFF2-40B4-BE49-F238E27FC236}">
                <a16:creationId xmlns:a16="http://schemas.microsoft.com/office/drawing/2014/main" id="{74EF5CE8-2FAA-F448-3097-1FF0731D0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672" y="3774167"/>
            <a:ext cx="2482134" cy="2710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F6CE1E-5444-09C2-0C26-ABFF9C93AF93}"/>
                  </a:ext>
                </a:extLst>
              </p:cNvPr>
              <p:cNvSpPr txBox="1"/>
              <p:nvPr/>
            </p:nvSpPr>
            <p:spPr>
              <a:xfrm>
                <a:off x="2713656" y="4472408"/>
                <a:ext cx="2827407" cy="124476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F6CE1E-5444-09C2-0C26-ABFF9C93A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656" y="4472408"/>
                <a:ext cx="2827407" cy="1244764"/>
              </a:xfrm>
              <a:prstGeom prst="rect">
                <a:avLst/>
              </a:prstGeom>
              <a:blipFill>
                <a:blip r:embed="rId4"/>
                <a:stretch>
                  <a:fillRect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2EC218C-3805-BF76-D67E-60E8BBAD5517}"/>
              </a:ext>
            </a:extLst>
          </p:cNvPr>
          <p:cNvSpPr txBox="1"/>
          <p:nvPr/>
        </p:nvSpPr>
        <p:spPr>
          <a:xfrm>
            <a:off x="4852580" y="6004986"/>
            <a:ext cx="196385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Current</a:t>
            </a:r>
            <a:r>
              <a:rPr lang="en-US" dirty="0"/>
              <a:t>: Amps</a:t>
            </a:r>
            <a:endParaRPr lang="en-US" baseline="30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3F7553-26B8-E726-6DE9-3C39ACB2252E}"/>
              </a:ext>
            </a:extLst>
          </p:cNvPr>
          <p:cNvCxnSpPr>
            <a:cxnSpLocks/>
          </p:cNvCxnSpPr>
          <p:nvPr/>
        </p:nvCxnSpPr>
        <p:spPr>
          <a:xfrm flipH="1" flipV="1">
            <a:off x="4729639" y="5521669"/>
            <a:ext cx="800720" cy="483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164CE0-39EC-02D3-0F4E-B41BC4DF01F6}"/>
              </a:ext>
            </a:extLst>
          </p:cNvPr>
          <p:cNvSpPr txBox="1"/>
          <p:nvPr/>
        </p:nvSpPr>
        <p:spPr>
          <a:xfrm>
            <a:off x="4647383" y="4013449"/>
            <a:ext cx="226685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Flux</a:t>
            </a:r>
            <a:r>
              <a:rPr lang="en-US" dirty="0"/>
              <a:t>: Tesla x Area</a:t>
            </a:r>
            <a:endParaRPr lang="en-US" baseline="30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A61E68-7E0A-9C79-C969-222C1E333472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827449" y="4382781"/>
            <a:ext cx="953364" cy="398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E7D2220-3A89-B12A-38F0-D561B4084A37}"/>
              </a:ext>
            </a:extLst>
          </p:cNvPr>
          <p:cNvSpPr txBox="1"/>
          <p:nvPr/>
        </p:nvSpPr>
        <p:spPr>
          <a:xfrm>
            <a:off x="71949" y="3816297"/>
            <a:ext cx="330051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Inductance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1 Henry = 1 Tesla x m</a:t>
            </a:r>
            <a:r>
              <a:rPr lang="en-US" baseline="30000" dirty="0"/>
              <a:t>2</a:t>
            </a:r>
            <a:r>
              <a:rPr lang="en-US" dirty="0"/>
              <a:t> / Amp</a:t>
            </a:r>
            <a:endParaRPr 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259F28-67D9-AC68-D562-DC38DB5655AA}"/>
              </a:ext>
            </a:extLst>
          </p:cNvPr>
          <p:cNvSpPr txBox="1"/>
          <p:nvPr/>
        </p:nvSpPr>
        <p:spPr>
          <a:xfrm>
            <a:off x="200436" y="5838326"/>
            <a:ext cx="4254399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inductance is flux divided by current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50F0CC-A559-7ED1-B100-FA015CBCE810}"/>
              </a:ext>
            </a:extLst>
          </p:cNvPr>
          <p:cNvCxnSpPr>
            <a:cxnSpLocks/>
          </p:cNvCxnSpPr>
          <p:nvPr/>
        </p:nvCxnSpPr>
        <p:spPr>
          <a:xfrm>
            <a:off x="2473906" y="4552255"/>
            <a:ext cx="958998" cy="534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601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15D7-4699-4F0D-D9D8-F363FE74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DFD6-DC9E-DD09-BB46-BAA83D9C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0D117-D198-FD06-D8C4-EF0792A3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124128"/>
            <a:ext cx="11406229" cy="1366893"/>
          </a:xfrm>
        </p:spPr>
        <p:txBody>
          <a:bodyPr/>
          <a:lstStyle/>
          <a:p>
            <a:r>
              <a:rPr lang="en-US" dirty="0"/>
              <a:t>Unfortunately, friction exists</a:t>
            </a:r>
          </a:p>
          <a:p>
            <a:r>
              <a:rPr lang="en-US" dirty="0"/>
              <a:t>The electrons flowing through the wires bump into other electrons in the metal, so you get RESISTANCE</a:t>
            </a:r>
          </a:p>
          <a:p>
            <a:r>
              <a:rPr lang="en-US" dirty="0"/>
              <a:t>Just like all resistance, it generates heat.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F9E54-2843-4FA3-D922-1F4BB005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6FB3E516-4540-EB5D-F40C-238E4B76CDBB}"/>
              </a:ext>
            </a:extLst>
          </p:cNvPr>
          <p:cNvSpPr/>
          <p:nvPr/>
        </p:nvSpPr>
        <p:spPr>
          <a:xfrm rot="5400000">
            <a:off x="5870997" y="1659084"/>
            <a:ext cx="1364405" cy="6024176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796E95-BFFB-B490-02CF-DC1CF410C22E}"/>
              </a:ext>
            </a:extLst>
          </p:cNvPr>
          <p:cNvSpPr txBox="1"/>
          <p:nvPr/>
        </p:nvSpPr>
        <p:spPr>
          <a:xfrm>
            <a:off x="2344615" y="3906824"/>
            <a:ext cx="84350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6C73F-35B1-76CB-AC9F-F7096DA7A42F}"/>
              </a:ext>
            </a:extLst>
          </p:cNvPr>
          <p:cNvSpPr txBox="1"/>
          <p:nvPr/>
        </p:nvSpPr>
        <p:spPr>
          <a:xfrm>
            <a:off x="10034953" y="3823802"/>
            <a:ext cx="55976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-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7FA406-0A1F-2479-B27F-2BE3EB906DD9}"/>
              </a:ext>
            </a:extLst>
          </p:cNvPr>
          <p:cNvSpPr/>
          <p:nvPr/>
        </p:nvSpPr>
        <p:spPr>
          <a:xfrm>
            <a:off x="3533061" y="3988969"/>
            <a:ext cx="410308" cy="1364405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8C8463-13C0-959A-9BFA-B0DE0EEDEEE1}"/>
              </a:ext>
            </a:extLst>
          </p:cNvPr>
          <p:cNvSpPr/>
          <p:nvPr/>
        </p:nvSpPr>
        <p:spPr>
          <a:xfrm>
            <a:off x="4465560" y="4126522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DE824B-B73E-ABCE-768B-A7BA926B39C6}"/>
              </a:ext>
            </a:extLst>
          </p:cNvPr>
          <p:cNvSpPr/>
          <p:nvPr/>
        </p:nvSpPr>
        <p:spPr>
          <a:xfrm>
            <a:off x="5312906" y="4235077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7490863-A082-D82A-A260-B61157ED9721}"/>
              </a:ext>
            </a:extLst>
          </p:cNvPr>
          <p:cNvSpPr/>
          <p:nvPr/>
        </p:nvSpPr>
        <p:spPr>
          <a:xfrm>
            <a:off x="4634612" y="5005753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30CF4C0-0D55-851A-8AF0-52EAFF9F0806}"/>
              </a:ext>
            </a:extLst>
          </p:cNvPr>
          <p:cNvSpPr/>
          <p:nvPr/>
        </p:nvSpPr>
        <p:spPr>
          <a:xfrm>
            <a:off x="6182619" y="4850305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BD6634-E48C-310D-A247-2D895A61B7F3}"/>
              </a:ext>
            </a:extLst>
          </p:cNvPr>
          <p:cNvSpPr/>
          <p:nvPr/>
        </p:nvSpPr>
        <p:spPr>
          <a:xfrm>
            <a:off x="5332415" y="4843971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839F58-2D08-811A-D951-06EA545DF89D}"/>
              </a:ext>
            </a:extLst>
          </p:cNvPr>
          <p:cNvSpPr/>
          <p:nvPr/>
        </p:nvSpPr>
        <p:spPr>
          <a:xfrm>
            <a:off x="6321431" y="4145630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3C5C0B3-E0B1-B748-C283-5DE50079C107}"/>
              </a:ext>
            </a:extLst>
          </p:cNvPr>
          <p:cNvSpPr/>
          <p:nvPr/>
        </p:nvSpPr>
        <p:spPr>
          <a:xfrm>
            <a:off x="5936806" y="4410737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E71F25-D5EC-80C3-3AC5-9A2AEF7B8FB1}"/>
              </a:ext>
            </a:extLst>
          </p:cNvPr>
          <p:cNvSpPr/>
          <p:nvPr/>
        </p:nvSpPr>
        <p:spPr>
          <a:xfrm>
            <a:off x="6999191" y="4067906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5F5E75-5A39-96F8-8EDA-D5DF1F920E71}"/>
              </a:ext>
            </a:extLst>
          </p:cNvPr>
          <p:cNvSpPr/>
          <p:nvPr/>
        </p:nvSpPr>
        <p:spPr>
          <a:xfrm>
            <a:off x="6870465" y="4474651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F7F7D6-7349-2DA6-E313-D72F91582EFE}"/>
              </a:ext>
            </a:extLst>
          </p:cNvPr>
          <p:cNvSpPr/>
          <p:nvPr/>
        </p:nvSpPr>
        <p:spPr>
          <a:xfrm>
            <a:off x="7397518" y="4842680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D6B495B-82E1-97C0-03CD-952A68CD5EC1}"/>
              </a:ext>
            </a:extLst>
          </p:cNvPr>
          <p:cNvSpPr/>
          <p:nvPr/>
        </p:nvSpPr>
        <p:spPr>
          <a:xfrm>
            <a:off x="7947313" y="4145630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90E4B4-DFCF-9BB2-4C8D-9E69C7320861}"/>
              </a:ext>
            </a:extLst>
          </p:cNvPr>
          <p:cNvSpPr/>
          <p:nvPr/>
        </p:nvSpPr>
        <p:spPr>
          <a:xfrm>
            <a:off x="8631718" y="4930889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2FFDA0C-FCBA-2CAD-68EF-84E304E550D8}"/>
              </a:ext>
            </a:extLst>
          </p:cNvPr>
          <p:cNvSpPr/>
          <p:nvPr/>
        </p:nvSpPr>
        <p:spPr>
          <a:xfrm>
            <a:off x="8707918" y="4281970"/>
            <a:ext cx="152400" cy="1554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83E36A-E322-EE25-1FD9-8399F6228622}"/>
              </a:ext>
            </a:extLst>
          </p:cNvPr>
          <p:cNvCxnSpPr>
            <a:cxnSpLocks/>
          </p:cNvCxnSpPr>
          <p:nvPr/>
        </p:nvCxnSpPr>
        <p:spPr>
          <a:xfrm>
            <a:off x="4617960" y="4204246"/>
            <a:ext cx="519247" cy="108555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8A5347-F2FA-5D00-291A-72498C18E404}"/>
              </a:ext>
            </a:extLst>
          </p:cNvPr>
          <p:cNvCxnSpPr>
            <a:cxnSpLocks/>
          </p:cNvCxnSpPr>
          <p:nvPr/>
        </p:nvCxnSpPr>
        <p:spPr>
          <a:xfrm flipV="1">
            <a:off x="5408615" y="4230738"/>
            <a:ext cx="557343" cy="8206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0D4B13-2D9F-A805-1565-0F26E201E411}"/>
              </a:ext>
            </a:extLst>
          </p:cNvPr>
          <p:cNvCxnSpPr>
            <a:cxnSpLocks/>
          </p:cNvCxnSpPr>
          <p:nvPr/>
        </p:nvCxnSpPr>
        <p:spPr>
          <a:xfrm flipV="1">
            <a:off x="4787012" y="5005753"/>
            <a:ext cx="525894" cy="80771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88CD28-664A-9D15-B866-380048CA3F5E}"/>
              </a:ext>
            </a:extLst>
          </p:cNvPr>
          <p:cNvCxnSpPr>
            <a:cxnSpLocks/>
          </p:cNvCxnSpPr>
          <p:nvPr/>
        </p:nvCxnSpPr>
        <p:spPr>
          <a:xfrm>
            <a:off x="5484815" y="4928029"/>
            <a:ext cx="451991" cy="158308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A26E4AC-B750-3C24-F825-659065CC8987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6058594" y="4493759"/>
            <a:ext cx="382144" cy="176358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EDE2DA3-AC5E-7E84-4D76-E9E549462FD8}"/>
              </a:ext>
            </a:extLst>
          </p:cNvPr>
          <p:cNvCxnSpPr>
            <a:cxnSpLocks/>
          </p:cNvCxnSpPr>
          <p:nvPr/>
        </p:nvCxnSpPr>
        <p:spPr>
          <a:xfrm flipV="1">
            <a:off x="6313433" y="4747841"/>
            <a:ext cx="557032" cy="180188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0FC7AF-815D-D8A5-B013-63F8BDB4A618}"/>
              </a:ext>
            </a:extLst>
          </p:cNvPr>
          <p:cNvCxnSpPr>
            <a:cxnSpLocks/>
          </p:cNvCxnSpPr>
          <p:nvPr/>
        </p:nvCxnSpPr>
        <p:spPr>
          <a:xfrm>
            <a:off x="6397631" y="4235077"/>
            <a:ext cx="509679" cy="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CEE54D1-8B90-C86B-AD9C-3C01ADEBA42E}"/>
              </a:ext>
            </a:extLst>
          </p:cNvPr>
          <p:cNvCxnSpPr>
            <a:cxnSpLocks/>
          </p:cNvCxnSpPr>
          <p:nvPr/>
        </p:nvCxnSpPr>
        <p:spPr>
          <a:xfrm>
            <a:off x="7142678" y="4145630"/>
            <a:ext cx="407240" cy="167171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B14811-BB31-4C4A-620E-A5D4BD6969A0}"/>
              </a:ext>
            </a:extLst>
          </p:cNvPr>
          <p:cNvCxnSpPr>
            <a:cxnSpLocks/>
            <a:endCxn id="81" idx="4"/>
          </p:cNvCxnSpPr>
          <p:nvPr/>
        </p:nvCxnSpPr>
        <p:spPr>
          <a:xfrm>
            <a:off x="6964039" y="4531015"/>
            <a:ext cx="502459" cy="216826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8501BC-A20F-A93D-338E-738C5174D3EF}"/>
              </a:ext>
            </a:extLst>
          </p:cNvPr>
          <p:cNvCxnSpPr>
            <a:cxnSpLocks/>
          </p:cNvCxnSpPr>
          <p:nvPr/>
        </p:nvCxnSpPr>
        <p:spPr>
          <a:xfrm>
            <a:off x="7437634" y="4920404"/>
            <a:ext cx="611435" cy="16593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B495AD-9FC3-AC0F-3084-537904C63A04}"/>
              </a:ext>
            </a:extLst>
          </p:cNvPr>
          <p:cNvCxnSpPr>
            <a:cxnSpLocks/>
          </p:cNvCxnSpPr>
          <p:nvPr/>
        </p:nvCxnSpPr>
        <p:spPr>
          <a:xfrm flipV="1">
            <a:off x="8122039" y="4172390"/>
            <a:ext cx="509679" cy="58348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76BE44-13C6-F7A7-FEB8-54DD69DCF3E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8860318" y="4359694"/>
            <a:ext cx="536891" cy="232699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712F91C-EA14-24AD-56DB-673D70E2A3EE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8784118" y="4998128"/>
            <a:ext cx="588694" cy="18194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C01F2AF-FBB0-BD36-0530-7B2B621BCCFD}"/>
              </a:ext>
            </a:extLst>
          </p:cNvPr>
          <p:cNvGrpSpPr/>
          <p:nvPr/>
        </p:nvGrpSpPr>
        <p:grpSpPr>
          <a:xfrm>
            <a:off x="4035247" y="5180068"/>
            <a:ext cx="627180" cy="155448"/>
            <a:chOff x="4541760" y="6310876"/>
            <a:chExt cx="627180" cy="15544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6E809B8-D329-CC41-3DE4-7E7CB25005F3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A6CFC87-FAC3-8505-C489-14DC0154E934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08D431-DCE8-BF42-13C7-3099C761CD12}"/>
              </a:ext>
            </a:extLst>
          </p:cNvPr>
          <p:cNvGrpSpPr/>
          <p:nvPr/>
        </p:nvGrpSpPr>
        <p:grpSpPr>
          <a:xfrm>
            <a:off x="4984807" y="5180068"/>
            <a:ext cx="627180" cy="155448"/>
            <a:chOff x="4541760" y="6310876"/>
            <a:chExt cx="627180" cy="15544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DC02D5D-B71B-8FEC-B77F-F6D95ACCBA65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E9FF5AC-164E-2EA7-8BCD-DBA845A20EED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318E44A-9345-9D13-888F-3CD0EE571261}"/>
              </a:ext>
            </a:extLst>
          </p:cNvPr>
          <p:cNvGrpSpPr/>
          <p:nvPr/>
        </p:nvGrpSpPr>
        <p:grpSpPr>
          <a:xfrm>
            <a:off x="5941561" y="5180068"/>
            <a:ext cx="627180" cy="155448"/>
            <a:chOff x="4541760" y="6310876"/>
            <a:chExt cx="627180" cy="15544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1BD3D5F-5F33-2511-DCBD-8F49619EBE0A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AC10B89-BD55-2164-084E-22B7EA2A8A4D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DCCE94A-AF9B-8A42-8D72-EA874DAC5AD9}"/>
              </a:ext>
            </a:extLst>
          </p:cNvPr>
          <p:cNvGrpSpPr/>
          <p:nvPr/>
        </p:nvGrpSpPr>
        <p:grpSpPr>
          <a:xfrm>
            <a:off x="4035247" y="4592393"/>
            <a:ext cx="627180" cy="155448"/>
            <a:chOff x="4541760" y="6310876"/>
            <a:chExt cx="627180" cy="155448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88DFAAD-98B6-76B1-3D64-A62ABEA75B08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C1F6838-913F-BDF9-1488-EA168AC0B38F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0976B11-94C3-6A41-DCAB-49B98ABBDE25}"/>
              </a:ext>
            </a:extLst>
          </p:cNvPr>
          <p:cNvGrpSpPr/>
          <p:nvPr/>
        </p:nvGrpSpPr>
        <p:grpSpPr>
          <a:xfrm>
            <a:off x="5016398" y="4599275"/>
            <a:ext cx="627180" cy="155448"/>
            <a:chOff x="4541760" y="6310876"/>
            <a:chExt cx="627180" cy="155448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7456324-9441-5CE5-FF23-41065300E136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A75EE29-7AE2-6433-B1A1-DBE84C91B0B5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813BB8B-477C-32EB-26CC-2AF529AC80AE}"/>
              </a:ext>
            </a:extLst>
          </p:cNvPr>
          <p:cNvGrpSpPr/>
          <p:nvPr/>
        </p:nvGrpSpPr>
        <p:grpSpPr>
          <a:xfrm>
            <a:off x="5965958" y="4592393"/>
            <a:ext cx="627180" cy="155448"/>
            <a:chOff x="4541760" y="6310876"/>
            <a:chExt cx="627180" cy="155448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089FDD0-111B-7D2F-C518-E7AD23B3709A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F04905F-6609-055F-7657-4884111E7029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10B0656-1014-4715-0F4F-37A7DCE2A587}"/>
              </a:ext>
            </a:extLst>
          </p:cNvPr>
          <p:cNvGrpSpPr/>
          <p:nvPr/>
        </p:nvGrpSpPr>
        <p:grpSpPr>
          <a:xfrm>
            <a:off x="6915518" y="5180068"/>
            <a:ext cx="627180" cy="155448"/>
            <a:chOff x="4541760" y="6310876"/>
            <a:chExt cx="627180" cy="155448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3F976E1-3998-376D-C5FB-79EB3B893273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C01F1A1-57C0-90EE-1D6F-90F41DBF803C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7D07DAF-E2F0-968C-C4AC-BDC8CF6C0AD3}"/>
              </a:ext>
            </a:extLst>
          </p:cNvPr>
          <p:cNvGrpSpPr/>
          <p:nvPr/>
        </p:nvGrpSpPr>
        <p:grpSpPr>
          <a:xfrm>
            <a:off x="7865078" y="5180068"/>
            <a:ext cx="627180" cy="155448"/>
            <a:chOff x="4541760" y="6310876"/>
            <a:chExt cx="627180" cy="155448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6E09BE3-5857-F60A-0BF6-F08CAC6CB372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0B31258-C184-BDAE-296E-0E4FE041DD64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662E045-BF2B-0D12-98E5-10D11BD0E8DC}"/>
              </a:ext>
            </a:extLst>
          </p:cNvPr>
          <p:cNvGrpSpPr/>
          <p:nvPr/>
        </p:nvGrpSpPr>
        <p:grpSpPr>
          <a:xfrm>
            <a:off x="8821832" y="5180068"/>
            <a:ext cx="627180" cy="155448"/>
            <a:chOff x="4541760" y="6310876"/>
            <a:chExt cx="627180" cy="155448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98B04CC-E8DB-F668-489B-E49F4582B875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3CCC33E-045C-14FA-669D-2529D3102A4C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6B55C54-1AF4-2D20-7782-66F6A8AE775E}"/>
              </a:ext>
            </a:extLst>
          </p:cNvPr>
          <p:cNvGrpSpPr/>
          <p:nvPr/>
        </p:nvGrpSpPr>
        <p:grpSpPr>
          <a:xfrm>
            <a:off x="6915518" y="4592393"/>
            <a:ext cx="627180" cy="155448"/>
            <a:chOff x="4541760" y="6310876"/>
            <a:chExt cx="627180" cy="155448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EFB2ED2-B521-14E7-536E-9E5345A505BD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83C19A5-90B5-245B-315E-53CF2E2866B7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B2AB6D1-F276-66C1-67FC-052FEAC23EE2}"/>
              </a:ext>
            </a:extLst>
          </p:cNvPr>
          <p:cNvGrpSpPr/>
          <p:nvPr/>
        </p:nvGrpSpPr>
        <p:grpSpPr>
          <a:xfrm>
            <a:off x="7896669" y="4599275"/>
            <a:ext cx="627180" cy="155448"/>
            <a:chOff x="4541760" y="6310876"/>
            <a:chExt cx="627180" cy="15544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958D94C-620B-3F71-60FB-6BA38D9CCE86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CCA96B5-7306-6B84-114D-200D60669B41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1E9D7E9-1EC0-40A4-5629-DB2258A410B9}"/>
              </a:ext>
            </a:extLst>
          </p:cNvPr>
          <p:cNvGrpSpPr/>
          <p:nvPr/>
        </p:nvGrpSpPr>
        <p:grpSpPr>
          <a:xfrm>
            <a:off x="8846229" y="4592393"/>
            <a:ext cx="627180" cy="155448"/>
            <a:chOff x="4541760" y="6310876"/>
            <a:chExt cx="627180" cy="155448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C4A2F4B-B125-8C61-1680-7A43F6B8F090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90623FF-2AFA-8681-72EA-139E48A5B9F8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A0CA555-0F86-8092-595B-5C6FD0F6B9F0}"/>
              </a:ext>
            </a:extLst>
          </p:cNvPr>
          <p:cNvGrpSpPr/>
          <p:nvPr/>
        </p:nvGrpSpPr>
        <p:grpSpPr>
          <a:xfrm>
            <a:off x="4035247" y="4016942"/>
            <a:ext cx="627180" cy="155448"/>
            <a:chOff x="4541760" y="6310876"/>
            <a:chExt cx="627180" cy="15544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BA8D184-18E0-A851-DD62-DEACED48B8EC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A417D0B-DC8E-05C2-BDA5-2A61F957D15D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E2CC5A3-8603-7FDA-5CD1-889B9EA72EB5}"/>
              </a:ext>
            </a:extLst>
          </p:cNvPr>
          <p:cNvGrpSpPr/>
          <p:nvPr/>
        </p:nvGrpSpPr>
        <p:grpSpPr>
          <a:xfrm>
            <a:off x="5016398" y="4023824"/>
            <a:ext cx="627180" cy="155448"/>
            <a:chOff x="4541760" y="6310876"/>
            <a:chExt cx="627180" cy="155448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3E93CAE-4C3D-E3C1-DF3A-DE6BB7D2D4B5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DB11111-684F-EFDA-BA8F-2EC410996250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4D64569-E73A-AA66-D627-3A565475FB75}"/>
              </a:ext>
            </a:extLst>
          </p:cNvPr>
          <p:cNvGrpSpPr/>
          <p:nvPr/>
        </p:nvGrpSpPr>
        <p:grpSpPr>
          <a:xfrm>
            <a:off x="5965958" y="4016942"/>
            <a:ext cx="627180" cy="155448"/>
            <a:chOff x="4541760" y="6310876"/>
            <a:chExt cx="627180" cy="155448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9A30344-9EEF-A286-69D5-E17CAA735019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8FA9342E-970F-CECA-F0E0-5FFC4D16B9BC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E23DB29-2BA0-BE03-408E-EB6645DF6470}"/>
              </a:ext>
            </a:extLst>
          </p:cNvPr>
          <p:cNvGrpSpPr/>
          <p:nvPr/>
        </p:nvGrpSpPr>
        <p:grpSpPr>
          <a:xfrm>
            <a:off x="6915518" y="4016942"/>
            <a:ext cx="627180" cy="155448"/>
            <a:chOff x="4541760" y="6310876"/>
            <a:chExt cx="627180" cy="155448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F8F89540-B649-FB1E-D497-661F89ED81C3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8F77997-2C3D-71AF-B746-7EFF05776E39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FEDCF2F-249D-C670-FB98-8F280D7698F1}"/>
              </a:ext>
            </a:extLst>
          </p:cNvPr>
          <p:cNvGrpSpPr/>
          <p:nvPr/>
        </p:nvGrpSpPr>
        <p:grpSpPr>
          <a:xfrm>
            <a:off x="7896669" y="4023824"/>
            <a:ext cx="627180" cy="155448"/>
            <a:chOff x="4541760" y="6310876"/>
            <a:chExt cx="627180" cy="155448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90AC7086-DB50-37F3-7342-84503B287584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A70A794-F1F7-C263-531C-41797C4BAA1F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DC93C80-405B-727A-A6E6-7D8DDEEDAF32}"/>
              </a:ext>
            </a:extLst>
          </p:cNvPr>
          <p:cNvGrpSpPr/>
          <p:nvPr/>
        </p:nvGrpSpPr>
        <p:grpSpPr>
          <a:xfrm>
            <a:off x="8846229" y="4016942"/>
            <a:ext cx="627180" cy="155448"/>
            <a:chOff x="4541760" y="6310876"/>
            <a:chExt cx="627180" cy="155448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13772292-CE01-C041-4A02-11E3EB1F1B30}"/>
                </a:ext>
              </a:extLst>
            </p:cNvPr>
            <p:cNvSpPr/>
            <p:nvPr/>
          </p:nvSpPr>
          <p:spPr>
            <a:xfrm>
              <a:off x="454176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41C0BFC-0095-5A15-56E4-9FBC93701A33}"/>
                </a:ext>
              </a:extLst>
            </p:cNvPr>
            <p:cNvSpPr/>
            <p:nvPr/>
          </p:nvSpPr>
          <p:spPr>
            <a:xfrm>
              <a:off x="5016540" y="6310876"/>
              <a:ext cx="152400" cy="15544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7C8CE24-EB0D-54AF-BE7A-E2850CEFDDBB}"/>
                  </a:ext>
                </a:extLst>
              </p:cNvPr>
              <p:cNvSpPr txBox="1"/>
              <p:nvPr/>
            </p:nvSpPr>
            <p:spPr>
              <a:xfrm>
                <a:off x="4187647" y="5423945"/>
                <a:ext cx="2880271" cy="124476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US" sz="40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7C8CE24-EB0D-54AF-BE7A-E2850CEFD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647" y="5423945"/>
                <a:ext cx="2880271" cy="1244764"/>
              </a:xfrm>
              <a:prstGeom prst="rect">
                <a:avLst/>
              </a:prstGeom>
              <a:blipFill>
                <a:blip r:embed="rId2"/>
                <a:stretch>
                  <a:fillRect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3BE83B78-FA11-DDE2-F4D8-A206789F9446}"/>
              </a:ext>
            </a:extLst>
          </p:cNvPr>
          <p:cNvSpPr txBox="1"/>
          <p:nvPr/>
        </p:nvSpPr>
        <p:spPr>
          <a:xfrm>
            <a:off x="569593" y="5715774"/>
            <a:ext cx="261852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Resistance</a:t>
            </a:r>
            <a:r>
              <a:rPr lang="en-US" dirty="0"/>
              <a:t>: </a:t>
            </a:r>
          </a:p>
          <a:p>
            <a:r>
              <a:rPr lang="en-US" dirty="0"/>
              <a:t>Ohms = volts per amp</a:t>
            </a:r>
            <a:endParaRPr lang="en-US" b="1" baseline="300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4E9BA2F-8A16-0259-830F-7AC49B9E730F}"/>
              </a:ext>
            </a:extLst>
          </p:cNvPr>
          <p:cNvSpPr txBox="1"/>
          <p:nvPr/>
        </p:nvSpPr>
        <p:spPr>
          <a:xfrm>
            <a:off x="7265802" y="6133495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Current</a:t>
            </a:r>
            <a:r>
              <a:rPr lang="en-US" dirty="0"/>
              <a:t>: </a:t>
            </a:r>
          </a:p>
          <a:p>
            <a:r>
              <a:rPr lang="en-US" dirty="0"/>
              <a:t>Ampere = Coulombs / second</a:t>
            </a:r>
            <a:endParaRPr lang="en-US" baseline="30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3CD1011-D805-A49B-23C9-F851EBFDA53C}"/>
              </a:ext>
            </a:extLst>
          </p:cNvPr>
          <p:cNvSpPr txBox="1"/>
          <p:nvPr/>
        </p:nvSpPr>
        <p:spPr>
          <a:xfrm>
            <a:off x="7265802" y="5404141"/>
            <a:ext cx="346565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Electric potential</a:t>
            </a:r>
            <a:r>
              <a:rPr lang="en-US" dirty="0"/>
              <a:t>: </a:t>
            </a:r>
          </a:p>
          <a:p>
            <a:r>
              <a:rPr lang="en-US" dirty="0"/>
              <a:t>Joules / Coulomb or </a:t>
            </a:r>
            <a:r>
              <a:rPr lang="en-US" b="1" dirty="0"/>
              <a:t>VOLTS</a:t>
            </a:r>
            <a:endParaRPr lang="en-US" b="1" baseline="30000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605D69F-FA69-19E7-FF14-AC5F6BF1CB47}"/>
              </a:ext>
            </a:extLst>
          </p:cNvPr>
          <p:cNvCxnSpPr>
            <a:cxnSpLocks/>
          </p:cNvCxnSpPr>
          <p:nvPr/>
        </p:nvCxnSpPr>
        <p:spPr>
          <a:xfrm>
            <a:off x="3213265" y="6133495"/>
            <a:ext cx="1421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87D91B4-E76D-321D-5DB6-E5C6D2CAAFEE}"/>
              </a:ext>
            </a:extLst>
          </p:cNvPr>
          <p:cNvCxnSpPr>
            <a:cxnSpLocks/>
          </p:cNvCxnSpPr>
          <p:nvPr/>
        </p:nvCxnSpPr>
        <p:spPr>
          <a:xfrm flipH="1">
            <a:off x="6335019" y="5741546"/>
            <a:ext cx="9307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54679B2-9BB8-F33D-BAD7-16DACA84F8BD}"/>
              </a:ext>
            </a:extLst>
          </p:cNvPr>
          <p:cNvCxnSpPr>
            <a:cxnSpLocks/>
          </p:cNvCxnSpPr>
          <p:nvPr/>
        </p:nvCxnSpPr>
        <p:spPr>
          <a:xfrm flipH="1">
            <a:off x="6335019" y="6480099"/>
            <a:ext cx="9307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14C26DDA-B9EE-2AFD-344E-7A9A2B772E8B}"/>
              </a:ext>
            </a:extLst>
          </p:cNvPr>
          <p:cNvSpPr txBox="1"/>
          <p:nvPr/>
        </p:nvSpPr>
        <p:spPr>
          <a:xfrm>
            <a:off x="5576441" y="1366466"/>
            <a:ext cx="488034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that resistance is voltage divided by current</a:t>
            </a:r>
          </a:p>
        </p:txBody>
      </p:sp>
    </p:spTree>
    <p:extLst>
      <p:ext uri="{BB962C8B-B14F-4D97-AF65-F5344CB8AC3E}">
        <p14:creationId xmlns:p14="http://schemas.microsoft.com/office/powerpoint/2010/main" val="3865283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921D-49A3-3A3C-BB33-4F96B75A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RLC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BE9DA-36E7-F535-F52A-F8992F6E6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6018315" cy="4048171"/>
          </a:xfrm>
        </p:spPr>
        <p:txBody>
          <a:bodyPr/>
          <a:lstStyle/>
          <a:p>
            <a:r>
              <a:rPr lang="en-US" dirty="0"/>
              <a:t>What happens if you put a resistor, an inductor, and a capacitor in a circuit?</a:t>
            </a:r>
          </a:p>
          <a:p>
            <a:pPr lvl="1"/>
            <a:r>
              <a:rPr lang="en-US" dirty="0"/>
              <a:t>Capacitance stores electric energy</a:t>
            </a:r>
          </a:p>
          <a:p>
            <a:pPr lvl="1"/>
            <a:r>
              <a:rPr lang="en-US" dirty="0"/>
              <a:t>Inductor stores magnetic energy</a:t>
            </a:r>
          </a:p>
          <a:p>
            <a:pPr lvl="1"/>
            <a:r>
              <a:rPr lang="en-US" dirty="0"/>
              <a:t>Resistor heats up (but is what we’re using for light bulbs,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5A37A-C06C-6C68-9104-E78775F5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RLC circuit with a voltage V, current I, resistance R, inductance L, and capacitance C. ">
            <a:extLst>
              <a:ext uri="{FF2B5EF4-FFF2-40B4-BE49-F238E27FC236}">
                <a16:creationId xmlns:a16="http://schemas.microsoft.com/office/drawing/2014/main" id="{C11DFFCB-5389-4E85-A9E2-69CC03DCF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982" y="1096596"/>
            <a:ext cx="31750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86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B7385-2B0F-B44D-AAD6-82A5673B0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B609-6340-CA33-B663-E3B34E6A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RLC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A36A2-8412-C112-19CC-CA6B4253B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22992"/>
            <a:ext cx="6018315" cy="4048171"/>
          </a:xfrm>
        </p:spPr>
        <p:txBody>
          <a:bodyPr/>
          <a:lstStyle/>
          <a:p>
            <a:r>
              <a:rPr lang="en-US" dirty="0"/>
              <a:t>This is a tough math problem so I’ll just quote the answer, but for the math nerds (like me) the derivation is on the side (it’s a second-order differential equation with damping!)</a:t>
            </a:r>
          </a:p>
          <a:p>
            <a:r>
              <a:rPr lang="en-US" dirty="0"/>
              <a:t>Current will follow a </a:t>
            </a:r>
            <a:r>
              <a:rPr lang="en-US" b="1" dirty="0"/>
              <a:t>DAMPED COSINE WAVE</a:t>
            </a:r>
            <a:r>
              <a:rPr lang="en-US" dirty="0"/>
              <a:t>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93854-BD3D-195C-DAAE-EFCD880D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5CB7F-2545-332E-F54B-F633039E35DA}"/>
              </a:ext>
            </a:extLst>
          </p:cNvPr>
          <p:cNvSpPr txBox="1"/>
          <p:nvPr/>
        </p:nvSpPr>
        <p:spPr>
          <a:xfrm>
            <a:off x="5533292" y="63864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RLC_circuit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883325-36BB-B01F-28A3-209ACF1C328C}"/>
                  </a:ext>
                </a:extLst>
              </p:cNvPr>
              <p:cNvSpPr txBox="1"/>
              <p:nvPr/>
            </p:nvSpPr>
            <p:spPr>
              <a:xfrm>
                <a:off x="7010961" y="406536"/>
                <a:ext cx="5181039" cy="524444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Suppose V is constant, take derivatives and divide by L:</a:t>
                </a:r>
              </a:p>
              <a:p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Second order differential equation! Solved with sine waves.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883325-36BB-B01F-28A3-209ACF1C3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961" y="406536"/>
                <a:ext cx="5181039" cy="5244449"/>
              </a:xfrm>
              <a:prstGeom prst="rect">
                <a:avLst/>
              </a:prstGeom>
              <a:blipFill>
                <a:blip r:embed="rId2"/>
                <a:stretch>
                  <a:fillRect l="-1707" t="-2651" b="-1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0FFE81A-FAC0-FA3E-B70A-6978C49A0A76}"/>
              </a:ext>
            </a:extLst>
          </p:cNvPr>
          <p:cNvSpPr txBox="1"/>
          <p:nvPr/>
        </p:nvSpPr>
        <p:spPr>
          <a:xfrm>
            <a:off x="241348" y="5314378"/>
            <a:ext cx="943764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Current</a:t>
            </a:r>
            <a:r>
              <a:rPr lang="en-US" sz="1400" dirty="0"/>
              <a:t>: </a:t>
            </a:r>
          </a:p>
          <a:p>
            <a:r>
              <a:rPr lang="en-US" sz="1400" dirty="0"/>
              <a:t>Amps</a:t>
            </a:r>
            <a:endParaRPr lang="en-US" sz="1400" b="1" baseline="30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8093D2-583B-5093-5010-2E34244ABB2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713230" y="5052646"/>
            <a:ext cx="1068678" cy="261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519FDC-59E2-C37E-DBA9-B0B2D06390EC}"/>
              </a:ext>
            </a:extLst>
          </p:cNvPr>
          <p:cNvSpPr txBox="1"/>
          <p:nvPr/>
        </p:nvSpPr>
        <p:spPr>
          <a:xfrm>
            <a:off x="1185112" y="5804694"/>
            <a:ext cx="1012737" cy="7386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Initial current</a:t>
            </a:r>
            <a:r>
              <a:rPr lang="en-US" sz="1400" dirty="0"/>
              <a:t>: </a:t>
            </a:r>
          </a:p>
          <a:p>
            <a:r>
              <a:rPr lang="en-US" sz="1400" dirty="0"/>
              <a:t>Amps</a:t>
            </a:r>
            <a:endParaRPr lang="en-US" sz="1400" b="1" baseline="30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BDBF9D-E47F-155A-933D-A2D35373C55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691481" y="4995686"/>
            <a:ext cx="707908" cy="809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6035A9-C132-59D6-378C-A1431E7FF432}"/>
              </a:ext>
            </a:extLst>
          </p:cNvPr>
          <p:cNvSpPr txBox="1"/>
          <p:nvPr/>
        </p:nvSpPr>
        <p:spPr>
          <a:xfrm>
            <a:off x="2233796" y="6002130"/>
            <a:ext cx="2494969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Base of Natural log</a:t>
            </a:r>
          </a:p>
          <a:p>
            <a:r>
              <a:rPr lang="en-US" sz="1400" dirty="0"/>
              <a:t>e = 2.71…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5FD7E2-07EC-A439-13BD-818C13AD0E74}"/>
                  </a:ext>
                </a:extLst>
              </p:cNvPr>
              <p:cNvSpPr txBox="1"/>
              <p:nvPr/>
            </p:nvSpPr>
            <p:spPr>
              <a:xfrm>
                <a:off x="841644" y="4575729"/>
                <a:ext cx="4493679" cy="461665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5FD7E2-07EC-A439-13BD-818C13AD0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44" y="4575729"/>
                <a:ext cx="4493679" cy="461665"/>
              </a:xfrm>
              <a:prstGeom prst="rect">
                <a:avLst/>
              </a:prstGeom>
              <a:blipFill>
                <a:blip r:embed="rId3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47435C5-9A61-7A8C-9C2B-0AEB9C2AE8B2}"/>
              </a:ext>
            </a:extLst>
          </p:cNvPr>
          <p:cNvSpPr txBox="1"/>
          <p:nvPr/>
        </p:nvSpPr>
        <p:spPr>
          <a:xfrm>
            <a:off x="4877043" y="5387605"/>
            <a:ext cx="1063449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Cosine</a:t>
            </a:r>
            <a:endParaRPr lang="en-US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85BBDC-EEA6-D07A-05EA-D3E79D6D7165}"/>
              </a:ext>
            </a:extLst>
          </p:cNvPr>
          <p:cNvCxnSpPr>
            <a:cxnSpLocks/>
          </p:cNvCxnSpPr>
          <p:nvPr/>
        </p:nvCxnSpPr>
        <p:spPr>
          <a:xfrm flipH="1" flipV="1">
            <a:off x="2746500" y="5034775"/>
            <a:ext cx="7951" cy="921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77E0FC-6084-B6A5-70F7-C14428ACB0CC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3561089" y="4995686"/>
            <a:ext cx="1315954" cy="545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C3B0C5-1AC6-9CC9-5215-6405C3D16FCD}"/>
                  </a:ext>
                </a:extLst>
              </p:cNvPr>
              <p:cNvSpPr txBox="1"/>
              <p:nvPr/>
            </p:nvSpPr>
            <p:spPr>
              <a:xfrm>
                <a:off x="2948040" y="5433418"/>
                <a:ext cx="1744996" cy="52322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Damping factor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C3B0C5-1AC6-9CC9-5215-6405C3D16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040" y="5433418"/>
                <a:ext cx="1744996" cy="523220"/>
              </a:xfrm>
              <a:prstGeom prst="rect">
                <a:avLst/>
              </a:prstGeom>
              <a:blipFill>
                <a:blip r:embed="rId4"/>
                <a:stretch>
                  <a:fillRect l="-714"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60707164-85AC-D132-7C47-FD2A7B8DF3F2}"/>
              </a:ext>
            </a:extLst>
          </p:cNvPr>
          <p:cNvSpPr txBox="1"/>
          <p:nvPr/>
        </p:nvSpPr>
        <p:spPr>
          <a:xfrm>
            <a:off x="5983895" y="5882872"/>
            <a:ext cx="4880344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 responsible for this, just for enrichment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B30FE3-D7A8-32B9-DA34-35B2A3C73BAC}"/>
              </a:ext>
            </a:extLst>
          </p:cNvPr>
          <p:cNvCxnSpPr>
            <a:cxnSpLocks/>
          </p:cNvCxnSpPr>
          <p:nvPr/>
        </p:nvCxnSpPr>
        <p:spPr>
          <a:xfrm flipH="1" flipV="1">
            <a:off x="3079181" y="4873929"/>
            <a:ext cx="98055" cy="553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1D5FF5-8FCC-8420-C3AE-6581910C00A1}"/>
                  </a:ext>
                </a:extLst>
              </p:cNvPr>
              <p:cNvSpPr txBox="1"/>
              <p:nvPr/>
            </p:nvSpPr>
            <p:spPr>
              <a:xfrm>
                <a:off x="5456333" y="4547077"/>
                <a:ext cx="1457653" cy="75277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Frequency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1D5FF5-8FCC-8420-C3AE-6581910C0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333" y="4547077"/>
                <a:ext cx="1457653" cy="752770"/>
              </a:xfrm>
              <a:prstGeom prst="rect">
                <a:avLst/>
              </a:prstGeom>
              <a:blipFill>
                <a:blip r:embed="rId5"/>
                <a:stretch>
                  <a:fillRect l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5B122BC-416F-65C1-4D58-8792A85131C2}"/>
              </a:ext>
            </a:extLst>
          </p:cNvPr>
          <p:cNvCxnSpPr>
            <a:cxnSpLocks/>
          </p:cNvCxnSpPr>
          <p:nvPr/>
        </p:nvCxnSpPr>
        <p:spPr>
          <a:xfrm flipH="1" flipV="1">
            <a:off x="4360985" y="4696490"/>
            <a:ext cx="1291023" cy="200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928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B62E-7B8D-095B-C81A-1B4296A7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: Damped Cosine Wave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CD86E-ABF0-6343-C6E5-DF8FD559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9A3298-44B9-3B8D-E0F1-C282D4C9FFAE}"/>
                  </a:ext>
                </a:extLst>
              </p:cNvPr>
              <p:cNvSpPr txBox="1"/>
              <p:nvPr/>
            </p:nvSpPr>
            <p:spPr>
              <a:xfrm>
                <a:off x="3718570" y="2379814"/>
                <a:ext cx="4493679" cy="461665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9A3298-44B9-3B8D-E0F1-C282D4C9F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70" y="2379814"/>
                <a:ext cx="4493679" cy="461665"/>
              </a:xfrm>
              <a:prstGeom prst="rect">
                <a:avLst/>
              </a:prstGeom>
              <a:blipFill>
                <a:blip r:embed="rId2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66694D0-F127-9C7F-9D8A-A25521911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53" y="3854613"/>
            <a:ext cx="6339676" cy="2997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E3A081-67C7-63D2-6B26-C123C1C22D73}"/>
              </a:ext>
            </a:extLst>
          </p:cNvPr>
          <p:cNvSpPr txBox="1"/>
          <p:nvPr/>
        </p:nvSpPr>
        <p:spPr>
          <a:xfrm>
            <a:off x="6362048" y="3212021"/>
            <a:ext cx="2474808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Cosine makes it wiggle at frequency f</a:t>
            </a:r>
            <a:endParaRPr lang="en-US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09BA10-A30F-AF38-4D4E-1B521215F5FD}"/>
              </a:ext>
            </a:extLst>
          </p:cNvPr>
          <p:cNvCxnSpPr>
            <a:cxnSpLocks/>
          </p:cNvCxnSpPr>
          <p:nvPr/>
        </p:nvCxnSpPr>
        <p:spPr>
          <a:xfrm flipH="1">
            <a:off x="4380491" y="3707203"/>
            <a:ext cx="2712815" cy="127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21508E-D3EC-3C35-13C4-55E2B4F63464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6455476" y="2787612"/>
            <a:ext cx="1143976" cy="424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C45FBD-A672-CCD7-4615-9BE33FA130FE}"/>
              </a:ext>
            </a:extLst>
          </p:cNvPr>
          <p:cNvSpPr txBox="1"/>
          <p:nvPr/>
        </p:nvSpPr>
        <p:spPr>
          <a:xfrm>
            <a:off x="3633230" y="3299405"/>
            <a:ext cx="2287798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Exponential decay</a:t>
            </a:r>
          </a:p>
          <a:p>
            <a:r>
              <a:rPr lang="en-US" sz="1400" b="1" dirty="0"/>
              <a:t>from dissipative losses</a:t>
            </a:r>
            <a:endParaRPr lang="en-US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C2C34C-8BB0-87C1-A891-50566E908696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138246" y="3822625"/>
            <a:ext cx="638883" cy="761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2A2B01-E57F-20B4-457C-4AFE006839D9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4777129" y="2742638"/>
            <a:ext cx="922999" cy="556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D288EF-BC04-2690-F30E-4207795CD681}"/>
              </a:ext>
            </a:extLst>
          </p:cNvPr>
          <p:cNvSpPr txBox="1"/>
          <p:nvPr/>
        </p:nvSpPr>
        <p:spPr>
          <a:xfrm>
            <a:off x="1014472" y="3212021"/>
            <a:ext cx="1693658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Initial current</a:t>
            </a:r>
            <a:endParaRPr lang="en-US" sz="1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32F5F1-200A-8566-F890-A0421A1B7584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1861301" y="2742638"/>
            <a:ext cx="3572113" cy="469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6FEA5AA-A02D-D0E3-7A02-2AAAD0FF7F0E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861301" y="3519798"/>
            <a:ext cx="108176" cy="606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261C576-61E4-598C-8A9F-68A4EB4E5B08}"/>
              </a:ext>
            </a:extLst>
          </p:cNvPr>
          <p:cNvSpPr txBox="1"/>
          <p:nvPr/>
        </p:nvSpPr>
        <p:spPr>
          <a:xfrm>
            <a:off x="7669890" y="4982308"/>
            <a:ext cx="4254399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that an RLC circuit wiggles at a specific frequency and decays over time due to dissipative losses. </a:t>
            </a:r>
          </a:p>
        </p:txBody>
      </p:sp>
    </p:spTree>
    <p:extLst>
      <p:ext uri="{BB962C8B-B14F-4D97-AF65-F5344CB8AC3E}">
        <p14:creationId xmlns:p14="http://schemas.microsoft.com/office/powerpoint/2010/main" val="2036639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E333-2F39-4B02-E97E-58BF3B52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 Current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7279D-F47B-5F6E-8D86-9C1C37395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551611"/>
            <a:ext cx="4291003" cy="4019552"/>
          </a:xfrm>
        </p:spPr>
        <p:txBody>
          <a:bodyPr/>
          <a:lstStyle/>
          <a:p>
            <a:r>
              <a:rPr lang="en-US" dirty="0"/>
              <a:t>This is an </a:t>
            </a:r>
            <a:r>
              <a:rPr lang="en-US" b="1" dirty="0"/>
              <a:t>alternating current</a:t>
            </a:r>
          </a:p>
          <a:p>
            <a:r>
              <a:rPr lang="en-US" dirty="0"/>
              <a:t>The electrons in the material go back and forth, and can be used in powering circuits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27387-8E51-7A81-441A-D3488832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 descr="Image of an alternating current, where an AC power source is attached to a wire. Circles representing the current jiggle back and forth. From https://www.build-electronic-circuits.com/difference-ac-vs-dc/&#10;">
            <a:extLst>
              <a:ext uri="{FF2B5EF4-FFF2-40B4-BE49-F238E27FC236}">
                <a16:creationId xmlns:a16="http://schemas.microsoft.com/office/drawing/2014/main" id="{CB4567EB-DE8D-14B2-2904-577774D1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793" y="1087336"/>
            <a:ext cx="5327263" cy="4338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F932C8-B6C6-683E-1350-790CEB31A114}"/>
              </a:ext>
            </a:extLst>
          </p:cNvPr>
          <p:cNvSpPr txBox="1"/>
          <p:nvPr/>
        </p:nvSpPr>
        <p:spPr>
          <a:xfrm>
            <a:off x="6555523" y="5539161"/>
            <a:ext cx="43542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www.build</a:t>
            </a:r>
            <a:r>
              <a:rPr lang="en-US" sz="1200" dirty="0"/>
              <a:t>-electronic-</a:t>
            </a:r>
            <a:r>
              <a:rPr lang="en-US" sz="1200" dirty="0" err="1"/>
              <a:t>circuits.com</a:t>
            </a:r>
            <a:r>
              <a:rPr lang="en-US" sz="1200" dirty="0"/>
              <a:t>/difference-ac-vs-dc/</a:t>
            </a:r>
          </a:p>
        </p:txBody>
      </p:sp>
    </p:spTree>
    <p:extLst>
      <p:ext uri="{BB962C8B-B14F-4D97-AF65-F5344CB8AC3E}">
        <p14:creationId xmlns:p14="http://schemas.microsoft.com/office/powerpoint/2010/main" val="2143928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9091-A109-2EC8-EBBE-48CBB7DA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Turbines and 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9A501-B106-9BD1-E510-B511E5407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2373306"/>
            <a:ext cx="5127361" cy="4197857"/>
          </a:xfrm>
        </p:spPr>
        <p:txBody>
          <a:bodyPr/>
          <a:lstStyle/>
          <a:p>
            <a:r>
              <a:rPr lang="en-US" dirty="0"/>
              <a:t>Turbine: </a:t>
            </a:r>
          </a:p>
          <a:p>
            <a:pPr lvl="1"/>
            <a:r>
              <a:rPr lang="en-US" dirty="0"/>
              <a:t>Fixed blades and rotating blades are inside a casing. </a:t>
            </a:r>
          </a:p>
          <a:p>
            <a:pPr lvl="1"/>
            <a:r>
              <a:rPr lang="en-US" dirty="0"/>
              <a:t>The rotating blades are attached to a shaft, which is then connected to a wire that rotates inside a magnetic field. </a:t>
            </a:r>
          </a:p>
          <a:p>
            <a:pPr lvl="1"/>
            <a:r>
              <a:rPr lang="en-US" dirty="0"/>
              <a:t>Steam passes through, turning the rotating blades and the shaft, generating electricity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93658-DB06-811D-87B9-9679FA3E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0EF9A-44E6-C12B-B2AD-BC18FD1419FA}"/>
              </a:ext>
            </a:extLst>
          </p:cNvPr>
          <p:cNvSpPr txBox="1"/>
          <p:nvPr/>
        </p:nvSpPr>
        <p:spPr>
          <a:xfrm>
            <a:off x="5183850" y="64886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www.turbinesinfo.com</a:t>
            </a:r>
            <a:r>
              <a:rPr lang="en-US" dirty="0"/>
              <a:t>/steam-turbines/</a:t>
            </a:r>
          </a:p>
        </p:txBody>
      </p:sp>
      <p:pic>
        <p:nvPicPr>
          <p:cNvPr id="7" name="Picture 6" descr="Schematic of the flow of a steam turbine. Water passes into a boiler, which is converted to steam. The steam turns a generator and is passed back to a condenser, and closes the loop. ">
            <a:extLst>
              <a:ext uri="{FF2B5EF4-FFF2-40B4-BE49-F238E27FC236}">
                <a16:creationId xmlns:a16="http://schemas.microsoft.com/office/drawing/2014/main" id="{694BED89-4C72-67CC-C783-E0F16D89D3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094" y="3647686"/>
            <a:ext cx="4512914" cy="2694021"/>
          </a:xfrm>
          <a:prstGeom prst="rect">
            <a:avLst/>
          </a:prstGeom>
        </p:spPr>
      </p:pic>
      <p:pic>
        <p:nvPicPr>
          <p:cNvPr id="8" name="Picture 7" descr="Schematic of the interior of a steam engine. Fixed blades and rotating blades are inside a casing. The rotating blades are attached to a shaft, which is then connected to a wire that rotates inside a magnetic field. Steam passes through, turning the rotating blades and the shaft, generating electricity. ">
            <a:extLst>
              <a:ext uri="{FF2B5EF4-FFF2-40B4-BE49-F238E27FC236}">
                <a16:creationId xmlns:a16="http://schemas.microsoft.com/office/drawing/2014/main" id="{3C37905D-1653-E460-E057-B4125CC3CF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094" y="516293"/>
            <a:ext cx="3489080" cy="254005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9C7D7E-EB37-6EEE-C935-0D556230A752}"/>
              </a:ext>
            </a:extLst>
          </p:cNvPr>
          <p:cNvCxnSpPr>
            <a:cxnSpLocks/>
          </p:cNvCxnSpPr>
          <p:nvPr/>
        </p:nvCxnSpPr>
        <p:spPr>
          <a:xfrm flipV="1">
            <a:off x="5369169" y="1643973"/>
            <a:ext cx="3001108" cy="1485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794A96-0304-BE7C-ADB3-356B42E47039}"/>
              </a:ext>
            </a:extLst>
          </p:cNvPr>
          <p:cNvCxnSpPr>
            <a:cxnSpLocks/>
          </p:cNvCxnSpPr>
          <p:nvPr/>
        </p:nvCxnSpPr>
        <p:spPr>
          <a:xfrm flipV="1">
            <a:off x="5208182" y="2143850"/>
            <a:ext cx="2540772" cy="2033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E11DF3-E5A8-1068-7AB9-969BB02AA61A}"/>
              </a:ext>
            </a:extLst>
          </p:cNvPr>
          <p:cNvCxnSpPr>
            <a:cxnSpLocks/>
          </p:cNvCxnSpPr>
          <p:nvPr/>
        </p:nvCxnSpPr>
        <p:spPr>
          <a:xfrm flipV="1">
            <a:off x="4960946" y="4044676"/>
            <a:ext cx="3409331" cy="1525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274960-5084-147C-0DCC-6226BC7195BD}"/>
              </a:ext>
            </a:extLst>
          </p:cNvPr>
          <p:cNvCxnSpPr>
            <a:cxnSpLocks/>
          </p:cNvCxnSpPr>
          <p:nvPr/>
        </p:nvCxnSpPr>
        <p:spPr>
          <a:xfrm flipV="1">
            <a:off x="3664503" y="4472234"/>
            <a:ext cx="7096649" cy="185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89F57C-3FC6-12CC-C029-45E09DB3F833}"/>
                  </a:ext>
                </a:extLst>
              </p:cNvPr>
              <p:cNvSpPr txBox="1"/>
              <p:nvPr/>
            </p:nvSpPr>
            <p:spPr>
              <a:xfrm rot="20581960">
                <a:off x="5683994" y="3342341"/>
                <a:ext cx="5505181" cy="83099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Remember</m:t>
                      </m:r>
                      <m:r>
                        <a:rPr lang="en-U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turbines</m:t>
                      </m:r>
                      <m:r>
                        <a:rPr lang="en-U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48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89F57C-3FC6-12CC-C029-45E09DB3F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1960">
                <a:off x="5683994" y="3342341"/>
                <a:ext cx="5505181" cy="830997"/>
              </a:xfrm>
              <a:prstGeom prst="rect">
                <a:avLst/>
              </a:prstGeom>
              <a:blipFill>
                <a:blip r:embed="rId4"/>
                <a:stretch>
                  <a:fillRect l="-1370" r="-3881" b="-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766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AB46-E935-7F81-2BB6-C4CD8D8F6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971004"/>
            <a:ext cx="10515600" cy="868680"/>
          </a:xfrm>
        </p:spPr>
        <p:txBody>
          <a:bodyPr/>
          <a:lstStyle/>
          <a:p>
            <a:r>
              <a:rPr lang="en-US" dirty="0"/>
              <a:t>AC vs DC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C8F12-AF2B-443F-B75F-3B9EC9CFF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08" y="1739222"/>
            <a:ext cx="4970272" cy="3683046"/>
          </a:xfrm>
        </p:spPr>
        <p:txBody>
          <a:bodyPr/>
          <a:lstStyle/>
          <a:p>
            <a:r>
              <a:rPr lang="en-US" dirty="0"/>
              <a:t>Turbines naturally produce AC power</a:t>
            </a:r>
          </a:p>
          <a:p>
            <a:r>
              <a:rPr lang="en-US" dirty="0"/>
              <a:t>To convert to DC, it’s necessary to make a </a:t>
            </a:r>
            <a:r>
              <a:rPr lang="en-US" dirty="0">
                <a:hlinkClick r:id="rId3"/>
              </a:rPr>
              <a:t>commutator</a:t>
            </a:r>
            <a:r>
              <a:rPr lang="en-US" dirty="0"/>
              <a:t> and use a </a:t>
            </a:r>
            <a:r>
              <a:rPr lang="en-US" dirty="0">
                <a:hlinkClick r:id="rId4"/>
              </a:rPr>
              <a:t>dynamo</a:t>
            </a:r>
            <a:r>
              <a:rPr lang="en-US" dirty="0"/>
              <a:t> that flips the sign every turn. </a:t>
            </a:r>
          </a:p>
          <a:p>
            <a:r>
              <a:rPr lang="en-US" dirty="0"/>
              <a:t>More on this later!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9E4A8-A43E-2ED5-FE16-4C38C94B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856A06-E135-95DF-CC21-0EB37A08E4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759" y="928280"/>
            <a:ext cx="2254963" cy="32733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4C1480-70B6-E7C8-4BF4-AAA70EADB4E0}"/>
              </a:ext>
            </a:extLst>
          </p:cNvPr>
          <p:cNvSpPr txBox="1"/>
          <p:nvPr/>
        </p:nvSpPr>
        <p:spPr>
          <a:xfrm>
            <a:off x="7232629" y="4207695"/>
            <a:ext cx="4221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http://</a:t>
            </a:r>
            <a:r>
              <a:rPr lang="en-US" sz="1200" dirty="0" err="1"/>
              <a:t>www.bigshotcamera.com</a:t>
            </a:r>
            <a:r>
              <a:rPr lang="en-US" sz="1200" dirty="0"/>
              <a:t>/learn/power/dynamo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7125A9-3244-AB71-7C8C-874B391642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222" y="4484694"/>
            <a:ext cx="393700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C2306-EBE0-52BD-FB56-F9A644322A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564" y="4484694"/>
            <a:ext cx="3937000" cy="2286000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F0860238-63A2-DF35-35CD-DEA575A9F3E4}"/>
              </a:ext>
            </a:extLst>
          </p:cNvPr>
          <p:cNvSpPr/>
          <p:nvPr/>
        </p:nvSpPr>
        <p:spPr>
          <a:xfrm rot="16200000">
            <a:off x="4890008" y="4973149"/>
            <a:ext cx="165463" cy="13585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72F1F5-0771-ABF9-75FC-B5AE36187B50}"/>
              </a:ext>
            </a:extLst>
          </p:cNvPr>
          <p:cNvSpPr txBox="1"/>
          <p:nvPr/>
        </p:nvSpPr>
        <p:spPr>
          <a:xfrm>
            <a:off x="4385040" y="5126645"/>
            <a:ext cx="1210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Flip - to +</a:t>
            </a:r>
          </a:p>
        </p:txBody>
      </p:sp>
    </p:spTree>
    <p:extLst>
      <p:ext uri="{BB962C8B-B14F-4D97-AF65-F5344CB8AC3E}">
        <p14:creationId xmlns:p14="http://schemas.microsoft.com/office/powerpoint/2010/main" val="49558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42DF2-0941-9894-A53A-05DAFF7A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 vs DC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02D51-10F6-8EF1-58D1-8109F2B24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Batteries were the first device used to generate power</a:t>
            </a:r>
          </a:p>
          <a:p>
            <a:r>
              <a:rPr lang="en-US" dirty="0"/>
              <a:t>Smaller scale, can apply directly to what you need</a:t>
            </a:r>
          </a:p>
          <a:p>
            <a:r>
              <a:rPr lang="en-US" dirty="0"/>
              <a:t>Batteries supply DC, so the first thoughts (Edison) were to use DC power</a:t>
            </a:r>
          </a:p>
          <a:p>
            <a:r>
              <a:rPr lang="en-US" dirty="0"/>
              <a:t>We’ll discuss the AC vs DC wars next class, but first let’s look at the science case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76B20-1E61-D2BE-12CD-D9B31071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06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B82A-C0A5-7CF7-4CC0-267B783D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AC won : Resistive Losses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FD10-3314-3011-10F8-F0CE6B5A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59" y="2235755"/>
            <a:ext cx="4034897" cy="4269693"/>
          </a:xfrm>
        </p:spPr>
        <p:txBody>
          <a:bodyPr/>
          <a:lstStyle/>
          <a:p>
            <a:r>
              <a:rPr lang="en-US" dirty="0"/>
              <a:t>Remember resistance!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Or rewrite the equation: </a:t>
            </a:r>
          </a:p>
          <a:p>
            <a:endParaRPr lang="en-US" dirty="0"/>
          </a:p>
          <a:p>
            <a:r>
              <a:rPr lang="en-US" dirty="0"/>
              <a:t>Power generated at the station is</a:t>
            </a:r>
          </a:p>
          <a:p>
            <a:r>
              <a:rPr lang="en-US" dirty="0"/>
              <a:t>But remember the power </a:t>
            </a:r>
            <a:r>
              <a:rPr lang="en-US" b="1" dirty="0"/>
              <a:t>lost</a:t>
            </a:r>
            <a:r>
              <a:rPr lang="en-US" dirty="0"/>
              <a:t> by a resistor 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E476-38D1-47C4-4BAE-09D73CBB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B93B4-33C5-52C6-865D-279231826721}"/>
                  </a:ext>
                </a:extLst>
              </p:cNvPr>
              <p:cNvSpPr txBox="1"/>
              <p:nvPr/>
            </p:nvSpPr>
            <p:spPr>
              <a:xfrm>
                <a:off x="4843698" y="2235755"/>
                <a:ext cx="1616618" cy="78380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B93B4-33C5-52C6-865D-279231826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698" y="2235755"/>
                <a:ext cx="1616618" cy="783804"/>
              </a:xfrm>
              <a:prstGeom prst="rect">
                <a:avLst/>
              </a:prstGeom>
              <a:blipFill>
                <a:blip r:embed="rId3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D1528E-C150-1F1C-A5D5-36618F9660CF}"/>
                  </a:ext>
                </a:extLst>
              </p:cNvPr>
              <p:cNvSpPr txBox="1"/>
              <p:nvPr/>
            </p:nvSpPr>
            <p:spPr>
              <a:xfrm>
                <a:off x="4704362" y="3746879"/>
                <a:ext cx="1895291" cy="461665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𝑖𝑅</m:t>
                      </m:r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D1528E-C150-1F1C-A5D5-36618F966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362" y="3746879"/>
                <a:ext cx="189529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703C27-4730-80C2-269F-7384E41DD0A7}"/>
                  </a:ext>
                </a:extLst>
              </p:cNvPr>
              <p:cNvSpPr txBox="1"/>
              <p:nvPr/>
            </p:nvSpPr>
            <p:spPr>
              <a:xfrm>
                <a:off x="4423343" y="5572610"/>
                <a:ext cx="2457327" cy="52322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lost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8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703C27-4730-80C2-269F-7384E41DD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343" y="5572610"/>
                <a:ext cx="2457327" cy="523220"/>
              </a:xfrm>
              <a:prstGeom prst="rect">
                <a:avLst/>
              </a:prstGeom>
              <a:blipFill>
                <a:blip r:embed="rId5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9661274-F884-032B-A7AD-C3E21E803E39}"/>
              </a:ext>
            </a:extLst>
          </p:cNvPr>
          <p:cNvSpPr txBox="1"/>
          <p:nvPr/>
        </p:nvSpPr>
        <p:spPr>
          <a:xfrm>
            <a:off x="7454189" y="2442991"/>
            <a:ext cx="42543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Resistance is voltage over current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5BF81-913C-E5E2-6896-394DF6A22C46}"/>
              </a:ext>
            </a:extLst>
          </p:cNvPr>
          <p:cNvSpPr txBox="1"/>
          <p:nvPr/>
        </p:nvSpPr>
        <p:spPr>
          <a:xfrm>
            <a:off x="7454190" y="3633709"/>
            <a:ext cx="42543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Voltage is current times resistance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0C201-D3E7-D56D-4F19-323EE2AEE162}"/>
              </a:ext>
            </a:extLst>
          </p:cNvPr>
          <p:cNvSpPr txBox="1"/>
          <p:nvPr/>
        </p:nvSpPr>
        <p:spPr>
          <a:xfrm>
            <a:off x="7546037" y="5559707"/>
            <a:ext cx="4254399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Power lost scales like current SQUARED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E132C7-0021-CAF3-3936-403F941B2E3E}"/>
                  </a:ext>
                </a:extLst>
              </p:cNvPr>
              <p:cNvSpPr txBox="1"/>
              <p:nvPr/>
            </p:nvSpPr>
            <p:spPr>
              <a:xfrm>
                <a:off x="4205694" y="4723051"/>
                <a:ext cx="2892626" cy="461665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generated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𝑖𝑉</m:t>
                      </m:r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E132C7-0021-CAF3-3936-403F941B2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694" y="4723051"/>
                <a:ext cx="2892626" cy="461665"/>
              </a:xfrm>
              <a:prstGeom prst="rect">
                <a:avLst/>
              </a:prstGeom>
              <a:blipFill>
                <a:blip r:embed="rId6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84A5A01-2451-EC9B-1F50-3CDFB621A8F0}"/>
              </a:ext>
            </a:extLst>
          </p:cNvPr>
          <p:cNvSpPr txBox="1"/>
          <p:nvPr/>
        </p:nvSpPr>
        <p:spPr>
          <a:xfrm>
            <a:off x="7454190" y="4723051"/>
            <a:ext cx="459615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Power generated is current times voltage</a:t>
            </a:r>
          </a:p>
        </p:txBody>
      </p:sp>
    </p:spTree>
    <p:extLst>
      <p:ext uri="{BB962C8B-B14F-4D97-AF65-F5344CB8AC3E}">
        <p14:creationId xmlns:p14="http://schemas.microsoft.com/office/powerpoint/2010/main" val="2523814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E03C-A1AA-0D6B-69FA-1AFD6681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AC Won: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B32B-CF69-1439-C43D-3940A7DB3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59" y="2267269"/>
            <a:ext cx="4421632" cy="3938768"/>
          </a:xfrm>
        </p:spPr>
        <p:txBody>
          <a:bodyPr/>
          <a:lstStyle/>
          <a:p>
            <a:r>
              <a:rPr lang="en-US" dirty="0"/>
              <a:t>Now for the big technological advantage of AC current</a:t>
            </a:r>
          </a:p>
          <a:p>
            <a:r>
              <a:rPr lang="en-US" dirty="0"/>
              <a:t>From Faraday’s law: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ratio of voltages is: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F32DE-17AD-2B02-17AD-91D459B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D27B7-8D8D-49C4-F7DB-58B5C3E21EEA}"/>
              </a:ext>
            </a:extLst>
          </p:cNvPr>
          <p:cNvSpPr txBox="1"/>
          <p:nvPr/>
        </p:nvSpPr>
        <p:spPr>
          <a:xfrm>
            <a:off x="8076112" y="5593025"/>
            <a:ext cx="2948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/wiki/Transformer</a:t>
            </a:r>
          </a:p>
        </p:txBody>
      </p:sp>
      <p:pic>
        <p:nvPicPr>
          <p:cNvPr id="10" name="Picture 9" descr="Image of a transformer as a rectangular toroid with wire wrapped around on opposing sides, with a primary winding and secondary winding, inducing a secondary voltage and current from the primary. &#10;By BillC at the English-language Wikipedia, CC BY-SA 3.0, https://commons.wikimedia.org/w/index.php?curid=27407689">
            <a:extLst>
              <a:ext uri="{FF2B5EF4-FFF2-40B4-BE49-F238E27FC236}">
                <a16:creationId xmlns:a16="http://schemas.microsoft.com/office/drawing/2014/main" id="{2AC84665-C390-0BF4-E476-BD8B98600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861" y="1504626"/>
            <a:ext cx="5361684" cy="40293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379A41-CFD6-4866-39FE-B37115CBC070}"/>
                  </a:ext>
                </a:extLst>
              </p:cNvPr>
              <p:cNvSpPr txBox="1"/>
              <p:nvPr/>
            </p:nvSpPr>
            <p:spPr>
              <a:xfrm>
                <a:off x="3769454" y="2845898"/>
                <a:ext cx="2827407" cy="240540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ΔΦ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ΔΦ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379A41-CFD6-4866-39FE-B37115CBC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454" y="2845898"/>
                <a:ext cx="2827407" cy="2405402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A4EB687-CA0B-8A78-33FD-3C04CF53B36A}"/>
                  </a:ext>
                </a:extLst>
              </p:cNvPr>
              <p:cNvSpPr txBox="1"/>
              <p:nvPr/>
            </p:nvSpPr>
            <p:spPr>
              <a:xfrm>
                <a:off x="3390264" y="5353374"/>
                <a:ext cx="2827407" cy="134549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4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A4EB687-CA0B-8A78-33FD-3C04CF53B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264" y="5353374"/>
                <a:ext cx="2827407" cy="1345497"/>
              </a:xfrm>
              <a:prstGeom prst="rect">
                <a:avLst/>
              </a:prstGeom>
              <a:blipFill>
                <a:blip r:embed="rId4"/>
                <a:stretch>
                  <a:fillRect b="-3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2861606-8160-1674-7F0D-2B547DD6BEA5}"/>
              </a:ext>
            </a:extLst>
          </p:cNvPr>
          <p:cNvSpPr txBox="1"/>
          <p:nvPr/>
        </p:nvSpPr>
        <p:spPr>
          <a:xfrm>
            <a:off x="6573664" y="6388600"/>
            <a:ext cx="4880344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 responsible for this, just for enrichment</a:t>
            </a:r>
          </a:p>
        </p:txBody>
      </p:sp>
    </p:spTree>
    <p:extLst>
      <p:ext uri="{BB962C8B-B14F-4D97-AF65-F5344CB8AC3E}">
        <p14:creationId xmlns:p14="http://schemas.microsoft.com/office/powerpoint/2010/main" val="2428495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EF4C-0E0B-E4FD-365A-BDC3905C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99" y="1069476"/>
            <a:ext cx="10515600" cy="868680"/>
          </a:xfrm>
        </p:spPr>
        <p:txBody>
          <a:bodyPr/>
          <a:lstStyle/>
          <a:p>
            <a:r>
              <a:rPr lang="en-US" dirty="0"/>
              <a:t>Why AC Won: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39B1-152C-AA1D-74B7-6A32B3FAD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31" y="1749348"/>
            <a:ext cx="10515600" cy="4048171"/>
          </a:xfrm>
        </p:spPr>
        <p:txBody>
          <a:bodyPr/>
          <a:lstStyle/>
          <a:p>
            <a:r>
              <a:rPr lang="en-US" dirty="0"/>
              <a:t>Transformers can </a:t>
            </a:r>
            <a:r>
              <a:rPr lang="en-US" b="1" dirty="0"/>
              <a:t>STEP UP </a:t>
            </a:r>
            <a:r>
              <a:rPr lang="en-US" dirty="0"/>
              <a:t>or </a:t>
            </a:r>
            <a:r>
              <a:rPr lang="en-US" b="1" dirty="0"/>
              <a:t>STEP DOWN</a:t>
            </a:r>
            <a:r>
              <a:rPr lang="en-US" dirty="0"/>
              <a:t> voltage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846-B211-4FD8-7D15-3952E80B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Image of a transformer as a rectangular toroid with wire wrapped around on opposing sides, with a primary winding and secondary winding, inducing a secondary voltage and current from the primary. &#10;By BillC at the English-language Wikipedia, CC BY-SA 3.0, https://commons.wikimedia.org/w/index.php?curid=27407689">
            <a:extLst>
              <a:ext uri="{FF2B5EF4-FFF2-40B4-BE49-F238E27FC236}">
                <a16:creationId xmlns:a16="http://schemas.microsoft.com/office/drawing/2014/main" id="{7B96D3F7-403C-6587-7F08-0A2635FA9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184" y="2854434"/>
            <a:ext cx="3452830" cy="2594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C98537-7B6A-0660-2C32-6450AD43B6C3}"/>
              </a:ext>
            </a:extLst>
          </p:cNvPr>
          <p:cNvSpPr txBox="1"/>
          <p:nvPr/>
        </p:nvSpPr>
        <p:spPr>
          <a:xfrm>
            <a:off x="7748268" y="3916467"/>
            <a:ext cx="4254399" cy="9233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that you can use a transformer to step voltage up or down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A8E0ABB0-62A9-EB7F-CF0A-9C2046C0B314}"/>
              </a:ext>
            </a:extLst>
          </p:cNvPr>
          <p:cNvSpPr/>
          <p:nvPr/>
        </p:nvSpPr>
        <p:spPr>
          <a:xfrm rot="16200000">
            <a:off x="5580221" y="2118559"/>
            <a:ext cx="156755" cy="1471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F3DCD-11E6-355F-48CD-FEC35F0ACA40}"/>
              </a:ext>
            </a:extLst>
          </p:cNvPr>
          <p:cNvSpPr txBox="1"/>
          <p:nvPr/>
        </p:nvSpPr>
        <p:spPr>
          <a:xfrm>
            <a:off x="4922724" y="2383772"/>
            <a:ext cx="180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down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FEA81F89-9A0A-6E3C-A53D-3F662FAFFAAC}"/>
              </a:ext>
            </a:extLst>
          </p:cNvPr>
          <p:cNvSpPr/>
          <p:nvPr/>
        </p:nvSpPr>
        <p:spPr>
          <a:xfrm rot="5400000">
            <a:off x="5580221" y="5103003"/>
            <a:ext cx="156755" cy="1471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4016F0-F442-B048-29A5-042D2B08B765}"/>
              </a:ext>
            </a:extLst>
          </p:cNvPr>
          <p:cNvSpPr txBox="1"/>
          <p:nvPr/>
        </p:nvSpPr>
        <p:spPr>
          <a:xfrm>
            <a:off x="5166564" y="5403898"/>
            <a:ext cx="180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up</a:t>
            </a:r>
          </a:p>
        </p:txBody>
      </p:sp>
    </p:spTree>
    <p:extLst>
      <p:ext uri="{BB962C8B-B14F-4D97-AF65-F5344CB8AC3E}">
        <p14:creationId xmlns:p14="http://schemas.microsoft.com/office/powerpoint/2010/main" val="4020475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15DA-D097-E17C-6F77-1D11BA6D5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Tophat</a:t>
            </a:r>
            <a:r>
              <a:rPr lang="en-US" dirty="0"/>
              <a:t>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730983-C4BB-7220-8089-B4BF9F3B9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have a constant power source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𝑖𝑉</m:t>
                    </m:r>
                  </m:oMath>
                </a14:m>
                <a:r>
                  <a:rPr lang="en-US" dirty="0"/>
                  <a:t>, and the power lost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𝑙𝑜𝑠𝑡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is more power lost at high voltage, low voltage, or they are the same?</a:t>
                </a:r>
              </a:p>
              <a:p>
                <a:pPr lvl="1"/>
                <a:r>
                  <a:rPr lang="en-US" dirty="0"/>
                  <a:t>A: More power lost at high voltage.</a:t>
                </a:r>
              </a:p>
              <a:p>
                <a:pPr lvl="1"/>
                <a:r>
                  <a:rPr lang="en-US" dirty="0"/>
                  <a:t>B: More power lost at low voltage. </a:t>
                </a:r>
              </a:p>
              <a:p>
                <a:pPr lvl="1"/>
                <a:r>
                  <a:rPr lang="en-US" dirty="0"/>
                  <a:t>C: The power losses are the same. 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730983-C4BB-7220-8089-B4BF9F3B9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BC33C-B449-55E2-267A-A835BAD4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0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349B-2F43-7A62-FD9D-804F4E3E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7FFE-DE4A-9470-D8BD-46237C45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Tophat</a:t>
            </a:r>
            <a:r>
              <a:rPr lang="en-US" dirty="0"/>
              <a:t>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F09C9-69CB-7F76-A73F-DEC5499FF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have a constant power source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𝑖𝑉</m:t>
                    </m:r>
                  </m:oMath>
                </a14:m>
                <a:r>
                  <a:rPr lang="en-US" dirty="0"/>
                  <a:t>, and the power lost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𝑙𝑜𝑠𝑡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is more power lost at high voltage, low voltage, or they are the same?</a:t>
                </a:r>
              </a:p>
              <a:p>
                <a:pPr lvl="1"/>
                <a:r>
                  <a:rPr lang="en-US" dirty="0"/>
                  <a:t>A: More power lost at high voltage.</a:t>
                </a:r>
              </a:p>
              <a:p>
                <a:pPr lvl="1"/>
                <a:r>
                  <a:rPr lang="en-US" dirty="0"/>
                  <a:t>B: More power lost at low voltage. </a:t>
                </a:r>
              </a:p>
              <a:p>
                <a:pPr lvl="1"/>
                <a:r>
                  <a:rPr lang="en-US" dirty="0"/>
                  <a:t>C: The power losses are the same. 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F09C9-69CB-7F76-A73F-DEC5499FF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13AC0-9549-8E00-7E37-40FB9726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04921-B765-FF8E-4C70-6943F27E7A54}"/>
              </a:ext>
            </a:extLst>
          </p:cNvPr>
          <p:cNvSpPr/>
          <p:nvPr/>
        </p:nvSpPr>
        <p:spPr>
          <a:xfrm>
            <a:off x="627017" y="3892731"/>
            <a:ext cx="4824549" cy="470263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92AFE-C9A1-84A4-A875-779CC027092D}"/>
              </a:ext>
            </a:extLst>
          </p:cNvPr>
          <p:cNvSpPr txBox="1"/>
          <p:nvPr/>
        </p:nvSpPr>
        <p:spPr>
          <a:xfrm>
            <a:off x="3228519" y="5335956"/>
            <a:ext cx="4254399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You ARE responsible to understand / remember that for a constant power generated, there are more losses at low voltage than at high voltage</a:t>
            </a:r>
          </a:p>
        </p:txBody>
      </p:sp>
    </p:spTree>
    <p:extLst>
      <p:ext uri="{BB962C8B-B14F-4D97-AF65-F5344CB8AC3E}">
        <p14:creationId xmlns:p14="http://schemas.microsoft.com/office/powerpoint/2010/main" val="2457544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2A46-4E33-2735-0ADB-386C83CC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Understand The Grid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F86F5-4CD7-CDEA-DFEB-DA0D037E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B6E2D-43D7-68BA-3983-8816792F28DC}"/>
              </a:ext>
            </a:extLst>
          </p:cNvPr>
          <p:cNvSpPr txBox="1"/>
          <p:nvPr/>
        </p:nvSpPr>
        <p:spPr>
          <a:xfrm>
            <a:off x="4108123" y="6432663"/>
            <a:ext cx="42323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</a:t>
            </a:r>
            <a:r>
              <a:rPr lang="en-US" sz="1200" dirty="0" err="1"/>
              <a:t>Electric_power_transmission</a:t>
            </a:r>
            <a:endParaRPr lang="en-US" sz="1200" dirty="0"/>
          </a:p>
        </p:txBody>
      </p:sp>
      <p:pic>
        <p:nvPicPr>
          <p:cNvPr id="8" name="Picture 7" descr="A diagram of an electric power system. The transmission system is in blue. The generating system is in red. The customers are in green. ">
            <a:extLst>
              <a:ext uri="{FF2B5EF4-FFF2-40B4-BE49-F238E27FC236}">
                <a16:creationId xmlns:a16="http://schemas.microsoft.com/office/drawing/2014/main" id="{EEC22535-06A2-A8FF-A64B-D8683A602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83" y="2889881"/>
            <a:ext cx="8714830" cy="318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69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9062-0367-C2EA-A949-0BA1075AC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00" y="1164992"/>
            <a:ext cx="10515600" cy="868680"/>
          </a:xfrm>
        </p:spPr>
        <p:txBody>
          <a:bodyPr/>
          <a:lstStyle/>
          <a:p>
            <a:r>
              <a:rPr lang="en-US" dirty="0"/>
              <a:t>To remember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2B0D2-9886-6678-556A-44B65BB2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0D74226-A943-5139-5EDB-929912611A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3048964"/>
                  </p:ext>
                </p:extLst>
              </p:nvPr>
            </p:nvGraphicFramePr>
            <p:xfrm>
              <a:off x="1290900" y="1860962"/>
              <a:ext cx="9897089" cy="47102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60843">
                      <a:extLst>
                        <a:ext uri="{9D8B030D-6E8A-4147-A177-3AD203B41FA5}">
                          <a16:colId xmlns:a16="http://schemas.microsoft.com/office/drawing/2014/main" val="786001398"/>
                        </a:ext>
                      </a:extLst>
                    </a:gridCol>
                    <a:gridCol w="3236246">
                      <a:extLst>
                        <a:ext uri="{9D8B030D-6E8A-4147-A177-3AD203B41FA5}">
                          <a16:colId xmlns:a16="http://schemas.microsoft.com/office/drawing/2014/main" val="2117900827"/>
                        </a:ext>
                      </a:extLst>
                    </a:gridCol>
                  </a:tblGrid>
                  <a:tr h="30461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Concept (need to remember)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Formula (for enrichment)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5718451"/>
                      </a:ext>
                    </a:extLst>
                  </a:tr>
                  <a:tr h="499319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capacitance is charge divided by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0093971"/>
                      </a:ext>
                    </a:extLst>
                  </a:tr>
                  <a:tr h="499319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a voltage is induced from a changing magnetic flux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ℰ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9375202"/>
                      </a:ext>
                    </a:extLst>
                  </a:tr>
                  <a:tr h="497876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inductance is flux divided by current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8931379"/>
                      </a:ext>
                    </a:extLst>
                  </a:tr>
                  <a:tr h="497876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resistance is voltage divided by current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9582634"/>
                      </a:ext>
                    </a:extLst>
                  </a:tr>
                  <a:tr h="674001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Alternating current (AC) circuits wiggles at a specific frequency and decays over time due to dissipative losses.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1600" b="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881826"/>
                      </a:ext>
                    </a:extLst>
                  </a:tr>
                  <a:tr h="755641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you can use a transformer to step voltage up or down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6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600" b="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009444"/>
                      </a:ext>
                    </a:extLst>
                  </a:tr>
                  <a:tr h="674001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for a constant power generated, there are more losses at low voltage than at high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lost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1600" b="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520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0D74226-A943-5139-5EDB-929912611A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3048964"/>
                  </p:ext>
                </p:extLst>
              </p:nvPr>
            </p:nvGraphicFramePr>
            <p:xfrm>
              <a:off x="1290900" y="1860962"/>
              <a:ext cx="9897089" cy="47102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60843">
                      <a:extLst>
                        <a:ext uri="{9D8B030D-6E8A-4147-A177-3AD203B41FA5}">
                          <a16:colId xmlns:a16="http://schemas.microsoft.com/office/drawing/2014/main" val="786001398"/>
                        </a:ext>
                      </a:extLst>
                    </a:gridCol>
                    <a:gridCol w="3236246">
                      <a:extLst>
                        <a:ext uri="{9D8B030D-6E8A-4147-A177-3AD203B41FA5}">
                          <a16:colId xmlns:a16="http://schemas.microsoft.com/office/drawing/2014/main" val="2117900827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Concept (need to remember)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Formula (for enrichment)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5718451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capacitance is charge divided by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6275" t="-63636" r="-1176" b="-688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0093971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a voltage is induced from a changing magnetic flux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6275" t="-167442" r="-1176" b="-60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9375202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inductance is flux divided by current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6275" t="-261364" r="-1176" b="-49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8931379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resistance is voltage divided by current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6275" t="-369767" r="-1176" b="-4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9582634"/>
                      </a:ext>
                    </a:extLst>
                  </a:tr>
                  <a:tr h="674001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Alternating current (AC) circuits wiggles at a specific frequency and decays over time due to dissipative losses.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6275" t="-381132" r="-1176" b="-226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0881826"/>
                      </a:ext>
                    </a:extLst>
                  </a:tr>
                  <a:tr h="831723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you can use a transformer to step voltage up or down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6275" t="-386364" r="-1176" b="-8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9009444"/>
                      </a:ext>
                    </a:extLst>
                  </a:tr>
                  <a:tr h="674001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for a constant power generated, there are more losses at low voltage than at high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6275" t="-605660" r="-1176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20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1167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DC0D-A9E7-F353-E38D-85A3C64E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75" y="866673"/>
            <a:ext cx="10515600" cy="868680"/>
          </a:xfrm>
        </p:spPr>
        <p:txBody>
          <a:bodyPr/>
          <a:lstStyle/>
          <a:p>
            <a:r>
              <a:rPr sz="2000" b="1" dirty="0">
                <a:latin typeface="Arial"/>
              </a:rPr>
              <a:t>Links &amp; References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70C40-84E0-4AB9-3D1C-CCD4A140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91564" y="1599395"/>
            <a:ext cx="5803865" cy="4621163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1400" b="1" dirty="0">
                <a:latin typeface="Arial"/>
              </a:rPr>
              <a:t>References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2"/>
              </a:rPr>
              <a:t>Steam turbines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3"/>
              </a:rPr>
              <a:t>Capacitor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4"/>
              </a:rPr>
              <a:t>Inductor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5"/>
              </a:rPr>
              <a:t>RLC circuit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6"/>
              </a:rPr>
              <a:t>AC vs DC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7"/>
              </a:rPr>
              <a:t>Dynamo (BigShot)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8"/>
              </a:rPr>
              <a:t>Commutator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9"/>
              </a:rPr>
              <a:t>Dynamo (Wikipedia)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10"/>
              </a:rPr>
              <a:t>Transformer</a:t>
            </a:r>
          </a:p>
          <a:p>
            <a:pPr>
              <a:spcAft>
                <a:spcPts val="600"/>
              </a:spcAft>
              <a:buNone/>
            </a:pPr>
            <a:r>
              <a:rPr lang="en-US" sz="1200" u="sng" dirty="0">
                <a:hlinkClick r:id="rId11"/>
              </a:rPr>
              <a:t>Power transmission</a:t>
            </a:r>
          </a:p>
        </p:txBody>
      </p:sp>
      <p:sp>
        <p:nvSpPr>
          <p:cNvPr id="7" name="Image Credits"/>
          <p:cNvSpPr>
            <a:spLocks noGrp="1"/>
          </p:cNvSpPr>
          <p:nvPr/>
        </p:nvSpPr>
        <p:spPr>
          <a:xfrm>
            <a:off x="4251160" y="1709976"/>
            <a:ext cx="5400000" cy="4400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1600" b="1" dirty="0">
                <a:latin typeface="Arial"/>
              </a:rPr>
              <a:t>Image credits (Wikimedia Commons)</a:t>
            </a:r>
          </a:p>
          <a:p>
            <a:pPr>
              <a:spcAft>
                <a:spcPts val="600"/>
              </a:spcAft>
              <a:buNone/>
            </a:pPr>
            <a:r>
              <a:rPr lang="en-US" sz="1400" u="sng" dirty="0">
                <a:hlinkClick r:id="rId12"/>
              </a:rPr>
              <a:t>Capacitor image 1</a:t>
            </a:r>
          </a:p>
          <a:p>
            <a:pPr>
              <a:spcAft>
                <a:spcPts val="600"/>
              </a:spcAft>
              <a:buNone/>
            </a:pPr>
            <a:r>
              <a:rPr lang="en-US" sz="1400" u="sng" dirty="0">
                <a:hlinkClick r:id="rId13"/>
              </a:rPr>
              <a:t>Capacitor image 2</a:t>
            </a:r>
          </a:p>
          <a:p>
            <a:pPr>
              <a:spcAft>
                <a:spcPts val="600"/>
              </a:spcAft>
              <a:buNone/>
            </a:pPr>
            <a:r>
              <a:rPr lang="en-US" sz="1400" u="sng" dirty="0">
                <a:hlinkClick r:id="rId14"/>
              </a:rPr>
              <a:t>Inductor image 1</a:t>
            </a:r>
          </a:p>
          <a:p>
            <a:pPr>
              <a:spcAft>
                <a:spcPts val="600"/>
              </a:spcAft>
              <a:buNone/>
            </a:pPr>
            <a:r>
              <a:rPr lang="en-US" sz="1400" u="sng" dirty="0">
                <a:hlinkClick r:id="rId15"/>
              </a:rPr>
              <a:t>Inductor image 2</a:t>
            </a:r>
          </a:p>
          <a:p>
            <a:pPr>
              <a:spcAft>
                <a:spcPts val="600"/>
              </a:spcAft>
              <a:buNone/>
            </a:pPr>
            <a:r>
              <a:rPr lang="en-US" sz="1400" u="sng" dirty="0">
                <a:hlinkClick r:id="rId16"/>
              </a:rPr>
              <a:t>Transformer image</a:t>
            </a:r>
          </a:p>
        </p:txBody>
      </p:sp>
    </p:spTree>
    <p:extLst>
      <p:ext uri="{BB962C8B-B14F-4D97-AF65-F5344CB8AC3E}">
        <p14:creationId xmlns:p14="http://schemas.microsoft.com/office/powerpoint/2010/main" val="953173253"/>
      </p:ext>
    </p:extLst>
  </p:cSld>
  <p:clrMapOvr>
    <a:masterClrMapping/>
  </p:clrMapOvr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4829</TotalTime>
  <Words>1494</Words>
  <Application>Microsoft Macintosh PowerPoint</Application>
  <PresentationFormat>Widescreen</PresentationFormat>
  <Paragraphs>232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Cambria Math</vt:lpstr>
      <vt:lpstr>Georgia</vt:lpstr>
      <vt:lpstr>System Font Regular</vt:lpstr>
      <vt:lpstr>UB Unit Presentation Template</vt:lpstr>
      <vt:lpstr>Lecture 2 — Energy generation</vt:lpstr>
      <vt:lpstr>Electricity generation :  The physics</vt:lpstr>
      <vt:lpstr>Turbines and Motors</vt:lpstr>
      <vt:lpstr>Circuits</vt:lpstr>
      <vt:lpstr>Electricity</vt:lpstr>
      <vt:lpstr>Capacitance</vt:lpstr>
      <vt:lpstr>Induction</vt:lpstr>
      <vt:lpstr>Inductance</vt:lpstr>
      <vt:lpstr>Resistance</vt:lpstr>
      <vt:lpstr>RLC Circuits</vt:lpstr>
      <vt:lpstr>RLC Circuits</vt:lpstr>
      <vt:lpstr>Current : Damped Cosine Wave</vt:lpstr>
      <vt:lpstr>AC Current</vt:lpstr>
      <vt:lpstr>Turbines and Motors</vt:lpstr>
      <vt:lpstr>AC vs DC</vt:lpstr>
      <vt:lpstr>AC vs DC</vt:lpstr>
      <vt:lpstr>Why AC won : Resistive Losses</vt:lpstr>
      <vt:lpstr>Why AC Won: Transformers</vt:lpstr>
      <vt:lpstr>Why AC Won: Transformers</vt:lpstr>
      <vt:lpstr>Tophat question</vt:lpstr>
      <vt:lpstr>Tophat question</vt:lpstr>
      <vt:lpstr>Now You Understand The Grid</vt:lpstr>
      <vt:lpstr>To remember</vt:lpstr>
      <vt:lpstr>Links &amp; 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761</TotalTime>
  <Words>1069</Words>
  <Application>Microsoft Macintosh PowerPoint</Application>
  <PresentationFormat>Widescreen</PresentationFormat>
  <Paragraphs>127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Georgia</vt:lpstr>
      <vt:lpstr>System Font Regular</vt:lpstr>
      <vt:lpstr>UB Unit Presentation Template</vt:lpstr>
      <vt:lpstr>Presentation Title</vt:lpstr>
      <vt:lpstr>Divider Slide Title</vt:lpstr>
      <vt:lpstr>Title and 1-Column Content</vt:lpstr>
      <vt:lpstr>Title and 2-Column Content</vt:lpstr>
      <vt:lpstr>Title and 1-Column Bulleted List</vt:lpstr>
      <vt:lpstr>Title and 1-Column Bulleted List (no crest)</vt:lpstr>
      <vt:lpstr>Title and 2-Column Bulleted List</vt:lpstr>
      <vt:lpstr>Title, Sub-title and 1-Column Bulleted List</vt:lpstr>
      <vt:lpstr>Title, Sub-title and 2-Column Bulleted List</vt:lpstr>
      <vt:lpstr>Title, Content and Graph</vt:lpstr>
      <vt:lpstr>Title, Content and Photo</vt:lpstr>
      <vt:lpstr>Title, Content and Photos</vt:lpstr>
      <vt:lpstr>Full-width Photo</vt:lpstr>
      <vt:lpstr>Graphic Elements</vt:lpstr>
      <vt:lpstr>Accessibility Tips</vt:lpstr>
      <vt:lpstr>Accessibility Tips (continued)</vt:lpstr>
      <vt:lpstr>Accessibility Tips (continued again)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— Energy generation</dc:title>
  <dc:creator>Dr. Salvatore Rappoccio</dc:creator>
  <cp:keywords/>
  <cp:lastModifiedBy>Salvatore Rappoccio</cp:lastModifiedBy>
  <cp:revision>39</cp:revision>
  <dcterms:created xsi:type="dcterms:W3CDTF">2026-08-28T18:45:34Z</dcterms:created>
  <dcterms:modified xsi:type="dcterms:W3CDTF">2026-09-09T19:39:27Z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signment">
    <vt:lpwstr>Academic Integrity at UB course on UBLearns, with quiz. Share badge on UBLearns.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date">
    <vt:lpwstr>2026-08-31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aterial">
    <vt:lpwstr>Lecture notes on electricity and magnetism, nuclear fission and fusion, Levelized Cost, the grid. Skill taught: note-taking.</vt:lpwstr>
  </property>
  <property fmtid="{D5CDD505-2E9C-101B-9397-08002B2CF9AE}" pid="12" name="subtitle">
    <vt:lpwstr>PHY199-RAP · Energy in the 21st Century</vt:lpwstr>
  </property>
  <property fmtid="{D5CDD505-2E9C-101B-9397-08002B2CF9AE}" pid="13" name="toc-title">
    <vt:lpwstr>Table of contents</vt:lpwstr>
  </property>
</Properties>
</file>