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70" r:id="rId6"/>
    <p:sldId id="261" r:id="rId7"/>
    <p:sldId id="274" r:id="rId8"/>
    <p:sldId id="271" r:id="rId9"/>
    <p:sldId id="262" r:id="rId10"/>
    <p:sldId id="272" r:id="rId11"/>
    <p:sldId id="273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78"/>
    <p:restoredTop sz="96405"/>
  </p:normalViewPr>
  <p:slideViewPr>
    <p:cSldViewPr snapToGrid="0">
      <p:cViewPr varScale="1">
        <p:scale>
          <a:sx n="140" d="100"/>
          <a:sy n="140" d="100"/>
        </p:scale>
        <p:origin x="224" y="5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Callback to Lecture 1’s “process, don’t transcribe” slide, now the formal skill of the week (course schedule </a:t>
            </a:r>
            <a:r>
              <a:rPr dirty="0" err="1"/>
              <a:t>Wk</a:t>
            </a:r>
            <a:r>
              <a:rPr dirty="0"/>
              <a:t> 2 lists “Skill: note-taking”; </a:t>
            </a:r>
            <a:r>
              <a:rPr dirty="0" err="1"/>
              <a:t>Wk</a:t>
            </a:r>
            <a:r>
              <a:rPr dirty="0"/>
              <a:t> 3 quiz is on it). Model the course’s sourcing ethic again: cite the original AND the replication, don’t oversell. Sources: Mueller &amp; Oppenheimer (2014, Psychological Science); Urry et al. (2021, Psychological Science) — registered direct replication + mini meta-analysis.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Pauk formalized this at Cornell (his book </a:t>
            </a:r>
            <a:r>
              <a:rPr i="1" dirty="0"/>
              <a:t>How to Study in College</a:t>
            </a:r>
            <a:r>
              <a:rPr dirty="0"/>
              <a:t>, 1962, is the primary source). Keep it concrete — maybe show my own handwritten page. The point isn’t the exact layout, it’s that the layout forces you to (a) write questions and (b) summarize. Source: Pauk &amp; Owens, </a:t>
            </a:r>
            <a:r>
              <a:rPr i="1" dirty="0"/>
              <a:t>How to Study in College</a:t>
            </a:r>
            <a:r>
              <a:rPr dirty="0"/>
              <a:t>; Cornell Learning Strategies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Dunlosky</a:t>
            </a:r>
            <a:r>
              <a:rPr dirty="0"/>
              <a:t> et al. (2013, Psychological Science in the Public Interest) reviewed 10 techniques; practice testing + distributed practice came out on top, highlighting/rereading at the bottom. Tie explicitly to our grading structure (quizzes = retrieval practice). Accessible version: “Strengthening the Student Toolbox,” American Educator (2013).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Deliberately a non-physics, everyday topic so the </a:t>
            </a:r>
            <a:r>
              <a:rPr i="1" dirty="0"/>
              <a:t>method</a:t>
            </a:r>
            <a:r>
              <a:rPr dirty="0"/>
              <a:t> is the star, not the content. Bonus: it has a satisfying “the folk wisdom is wrong” turn, which is exactly what good notes should capture — a claim AND its correction. Narrate what I’d write as if it were a real mini-lecture. Rice-fact sources are in the notes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Model the shorthand out loud: arrows for “leads to / because,” “ppl” for people, dropping vowels. The point is that I’m writing the </a:t>
            </a:r>
            <a:r>
              <a:rPr i="1" dirty="0"/>
              <a:t>logic</a:t>
            </a:r>
            <a:r>
              <a:rPr dirty="0"/>
              <a:t>, not the sentences. Facts: The Conversation, “Do you need to wash rice before cooking? Here’s the science” (academic-authored), summarizing a study that found washing did not change stickiness/hardness.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C569-3FEE-6187-48F3-CB780B7F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DEEE5-CF6F-93DC-55B7-E18EB0A9D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8AB0C-4DB8-DEF8-0411-CD584607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Model the shorthand out loud: arrows for “leads to / because,” “ppl” for people, dropping vowels. The point is that I’m writing the </a:t>
            </a:r>
            <a:r>
              <a:rPr i="1" dirty="0"/>
              <a:t>logic</a:t>
            </a:r>
            <a:r>
              <a:rPr dirty="0"/>
              <a:t>, not the sentences. Facts: The Conversation, “Do you need to wash rice before cooking? Here’s the science” (academic-authored), summarizing a study that found washing did not change stickiness/hardness.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984A9-B62D-4795-23DF-E8D4DE46F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6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3BF3-332F-3AFC-0944-4D9A2F54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FCC32-E4AC-399B-9C93-BAA91370B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C0AFA-AEB7-3930-2818-089956539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Model the shorthand out loud: arrows for “leads to / because,” “ppl” for people, dropping vowels. The point is that I’m writing the </a:t>
            </a:r>
            <a:r>
              <a:rPr i="1" dirty="0"/>
              <a:t>logic</a:t>
            </a:r>
            <a:r>
              <a:rPr dirty="0"/>
              <a:t>, not the sentences. Facts: The Conversation, “Do you need to wash rice before cooking? Here’s the science” (academic-authored), summarizing a study that found washing did not change stickiness/hardness.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05AE5-6A4D-93B7-79E7-187A988C0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7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83425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73010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4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07200" y="1371600"/>
            <a:ext cx="53848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2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6270493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5029200" cy="405079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878286" y="2451872"/>
            <a:ext cx="5031522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10515600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10515600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831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rnell_Not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q8xvHpPeq10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sciencedirect.com/science/article/pii/S0304389421007421" TargetMode="External"/><Relationship Id="rId5" Type="http://schemas.openxmlformats.org/officeDocument/2006/relationships/hyperlink" Target="https://www.sciencedirect.com/science/article/abs/pii/S0924224416300619" TargetMode="External"/><Relationship Id="rId4" Type="http://schemas.openxmlformats.org/officeDocument/2006/relationships/hyperlink" Target="https://theconversation.com/do-you-need-to-wash-rice-before-cooking-heres-the-science-204692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26515534/" TargetMode="External"/><Relationship Id="rId3" Type="http://schemas.openxmlformats.org/officeDocument/2006/relationships/hyperlink" Target="https://journals.sagepub.com/doi/abs/10.1177/0956797620965541" TargetMode="External"/><Relationship Id="rId7" Type="http://schemas.openxmlformats.org/officeDocument/2006/relationships/hyperlink" Target="https://theconversation.com/do-you-need-to-wash-rice-before-cooking-heres-the-science-204692" TargetMode="External"/><Relationship Id="rId2" Type="http://schemas.openxmlformats.org/officeDocument/2006/relationships/hyperlink" Target="https://journals.sagepub.com/doi/abs/10.1177/0956797614524581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sc.cornell.edu/how-to-study/taking-notes/cornell-note-taking-system/" TargetMode="External"/><Relationship Id="rId5" Type="http://schemas.openxmlformats.org/officeDocument/2006/relationships/hyperlink" Target="https://www.aft.org/ae/fall2013/dunlosky" TargetMode="External"/><Relationship Id="rId4" Type="http://schemas.openxmlformats.org/officeDocument/2006/relationships/hyperlink" Target="https://journals.sagepub.com/doi/abs/10.1177/1529100612453266" TargetMode="External"/><Relationship Id="rId9" Type="http://schemas.openxmlformats.org/officeDocument/2006/relationships/hyperlink" Target="https://www.sciencedirect.com/science/article/pii/S004896972036872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Lecture </a:t>
            </a:r>
            <a:r>
              <a:rPr lang="en-US" dirty="0"/>
              <a:t>2</a:t>
            </a:r>
            <a:r>
              <a:rPr dirty="0"/>
              <a:t> — </a:t>
            </a:r>
            <a:r>
              <a:rPr lang="en-US" dirty="0"/>
              <a:t>Skill of the week: note-taking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PHY199-RAP · Energy in the 21st Century</a:t>
            </a:r>
            <a:br/>
            <a:br/>
            <a:r>
              <a:t>Dr. 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skill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to succeed in college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208" y="2176272"/>
            <a:ext cx="7716520" cy="4394891"/>
          </a:xfrm>
        </p:spPr>
        <p:txBody>
          <a:bodyPr/>
          <a:lstStyle/>
          <a:p>
            <a:pPr lvl="0"/>
            <a:r>
              <a:rPr dirty="0"/>
              <a:t>This is a </a:t>
            </a:r>
            <a:r>
              <a:rPr b="1" dirty="0"/>
              <a:t>UB Seminar</a:t>
            </a:r>
            <a:r>
              <a:rPr dirty="0"/>
              <a:t> </a:t>
            </a:r>
            <a:r>
              <a:rPr lang="en-US" dirty="0"/>
              <a:t>so</a:t>
            </a:r>
            <a:r>
              <a:rPr dirty="0"/>
              <a:t> we teach</a:t>
            </a:r>
            <a:r>
              <a:rPr lang="en-US" dirty="0"/>
              <a:t> “how to college”</a:t>
            </a:r>
          </a:p>
          <a:p>
            <a:pPr lvl="1"/>
            <a:r>
              <a:rPr lang="en-US" dirty="0"/>
              <a:t>This week</a:t>
            </a:r>
            <a:r>
              <a:rPr dirty="0"/>
              <a:t>: </a:t>
            </a:r>
            <a:r>
              <a:rPr b="1" dirty="0"/>
              <a:t>taking notes</a:t>
            </a:r>
          </a:p>
          <a:p>
            <a:pPr lvl="0"/>
            <a:r>
              <a:rPr lang="en-US" dirty="0"/>
              <a:t>Use your brain! </a:t>
            </a:r>
            <a:r>
              <a:rPr lang="en-US" b="1" dirty="0"/>
              <a:t>P</a:t>
            </a:r>
            <a:r>
              <a:rPr b="1" dirty="0"/>
              <a:t>rocess, don’t transcribe</a:t>
            </a:r>
          </a:p>
          <a:p>
            <a:pPr lvl="0"/>
            <a:r>
              <a:rPr lang="en-US" dirty="0"/>
              <a:t>Writing things down helps them be cemented in your brain</a:t>
            </a:r>
          </a:p>
          <a:p>
            <a:pPr lvl="1"/>
            <a:r>
              <a:rPr lang="en-US" dirty="0"/>
              <a:t>Some science behind this: </a:t>
            </a:r>
          </a:p>
          <a:p>
            <a:pPr lvl="1"/>
            <a:r>
              <a:rPr dirty="0"/>
              <a:t>Mueller &amp; Oppenheimer, 2014</a:t>
            </a:r>
            <a:endParaRPr lang="en-US" dirty="0"/>
          </a:p>
          <a:p>
            <a:pPr lvl="1"/>
            <a:r>
              <a:rPr dirty="0"/>
              <a:t> </a:t>
            </a:r>
            <a:r>
              <a:rPr lang="en-US" dirty="0"/>
              <a:t>W</a:t>
            </a:r>
            <a:r>
              <a:rPr dirty="0"/>
              <a:t>eak replication </a:t>
            </a:r>
            <a:r>
              <a:rPr lang="en-US" dirty="0"/>
              <a:t>in </a:t>
            </a:r>
            <a:r>
              <a:rPr dirty="0"/>
              <a:t>Urry et al., 2021</a:t>
            </a:r>
            <a:endParaRPr lang="en-US" dirty="0"/>
          </a:p>
          <a:p>
            <a:pPr lvl="1"/>
            <a:r>
              <a:rPr dirty="0"/>
              <a:t>The real lesson: notes are for </a:t>
            </a:r>
            <a:r>
              <a:rPr b="1" dirty="0"/>
              <a:t>thinking</a:t>
            </a:r>
            <a:r>
              <a:rPr dirty="0"/>
              <a:t>, not stenography. If you’re just copying, you’ve turned your </a:t>
            </a:r>
            <a:r>
              <a:rPr b="1" dirty="0"/>
              <a:t>brain off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80" y="1281441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rPr dirty="0">
                <a:hlinkClick r:id="rId3"/>
              </a:rPr>
              <a:t>The Cornell method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80" y="2150120"/>
            <a:ext cx="6802120" cy="4131807"/>
          </a:xfrm>
        </p:spPr>
        <p:txBody>
          <a:bodyPr/>
          <a:lstStyle/>
          <a:p>
            <a:pPr lvl="0"/>
            <a:r>
              <a:rPr b="1" dirty="0"/>
              <a:t>1950s, Cornell:</a:t>
            </a:r>
            <a:r>
              <a:rPr dirty="0"/>
              <a:t> Walter Pauk designed a page layout that forces processing</a:t>
            </a:r>
            <a:endParaRPr lang="en-US" dirty="0"/>
          </a:p>
          <a:p>
            <a:pPr lvl="1"/>
            <a:r>
              <a:rPr lang="en-US" dirty="0"/>
              <a:t>“How to Study in College”</a:t>
            </a:r>
            <a:endParaRPr dirty="0"/>
          </a:p>
          <a:p>
            <a:pPr lvl="0"/>
            <a:r>
              <a:rPr dirty="0"/>
              <a:t>Split the page: </a:t>
            </a:r>
            <a:r>
              <a:rPr b="1" dirty="0"/>
              <a:t>narrow left column</a:t>
            </a:r>
            <a:r>
              <a:rPr dirty="0"/>
              <a:t> (cues/questions), </a:t>
            </a:r>
            <a:r>
              <a:rPr b="1" dirty="0"/>
              <a:t>wide right column</a:t>
            </a:r>
            <a:r>
              <a:rPr dirty="0"/>
              <a:t> (notes in class), </a:t>
            </a:r>
            <a:r>
              <a:rPr b="1" dirty="0"/>
              <a:t>strip along the bottom</a:t>
            </a:r>
            <a:r>
              <a:rPr dirty="0"/>
              <a:t> (a 2-line summary you write </a:t>
            </a:r>
            <a:r>
              <a:rPr i="1" dirty="0"/>
              <a:t>after</a:t>
            </a:r>
            <a:r>
              <a:rPr dirty="0"/>
              <a:t>)</a:t>
            </a:r>
          </a:p>
          <a:p>
            <a:pPr lvl="0"/>
            <a:r>
              <a:rPr lang="en-US" dirty="0"/>
              <a:t>Can c</a:t>
            </a:r>
            <a:r>
              <a:rPr dirty="0"/>
              <a:t>over the right side, and your left-column questions become a </a:t>
            </a:r>
            <a:r>
              <a:rPr b="1" dirty="0"/>
              <a:t>self-quiz</a:t>
            </a:r>
          </a:p>
          <a:p>
            <a:pPr lvl="0"/>
            <a:r>
              <a:rPr dirty="0"/>
              <a:t>It bakes in the two things that actually work (next slide): </a:t>
            </a:r>
            <a:r>
              <a:rPr b="1" dirty="0"/>
              <a:t>retrieval</a:t>
            </a:r>
            <a:r>
              <a:rPr dirty="0"/>
              <a:t> and </a:t>
            </a:r>
            <a:r>
              <a:rPr b="1" dirty="0"/>
              <a:t>spacing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BA4F1-A993-BF42-5C41-56167C9B3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525" y="757780"/>
            <a:ext cx="4717995" cy="6100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the evidence says actually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336" y="2159264"/>
            <a:ext cx="7177024" cy="4296400"/>
          </a:xfrm>
        </p:spPr>
        <p:txBody>
          <a:bodyPr/>
          <a:lstStyle/>
          <a:p>
            <a:pPr lvl="0"/>
            <a:r>
              <a:rPr sz="1600" dirty="0"/>
              <a:t>Two techniques </a:t>
            </a:r>
            <a:r>
              <a:rPr lang="en-US" sz="1600" dirty="0"/>
              <a:t>that are demonstrated to work</a:t>
            </a:r>
            <a:r>
              <a:rPr sz="1600" dirty="0"/>
              <a:t>: </a:t>
            </a:r>
            <a:r>
              <a:rPr sz="1600" b="1" dirty="0"/>
              <a:t>practice </a:t>
            </a:r>
            <a:r>
              <a:rPr sz="1600" dirty="0"/>
              <a:t>and </a:t>
            </a:r>
            <a:r>
              <a:rPr sz="1600" b="1" dirty="0"/>
              <a:t>spacing</a:t>
            </a:r>
            <a:endParaRPr lang="en-US" sz="1600" dirty="0"/>
          </a:p>
          <a:p>
            <a:pPr lvl="1"/>
            <a:r>
              <a:rPr lang="en-US" sz="1600" dirty="0"/>
              <a:t>Be consistent, let your prefrontal cortex be engaged!</a:t>
            </a:r>
          </a:p>
          <a:p>
            <a:pPr lvl="1"/>
            <a:r>
              <a:rPr lang="en-US" sz="1600" dirty="0"/>
              <a:t>When you’re panicking, you don’t think, reflexes take over </a:t>
            </a:r>
          </a:p>
          <a:p>
            <a:pPr lvl="1"/>
            <a:r>
              <a:rPr lang="en-US" sz="1600" dirty="0"/>
              <a:t>Consistent regular practice cements things in your </a:t>
            </a:r>
            <a:r>
              <a:rPr lang="en-US" sz="1600" b="1" dirty="0"/>
              <a:t>rational mind</a:t>
            </a:r>
            <a:endParaRPr lang="en-US" sz="1600" dirty="0"/>
          </a:p>
          <a:p>
            <a:pPr lvl="0"/>
            <a:r>
              <a:rPr lang="en-US" sz="1600" b="1" dirty="0"/>
              <a:t>Rereading</a:t>
            </a:r>
            <a:r>
              <a:rPr lang="en-US" sz="1600" dirty="0"/>
              <a:t> and </a:t>
            </a:r>
            <a:r>
              <a:rPr lang="en-US" sz="1600" b="1" dirty="0"/>
              <a:t>highlighting</a:t>
            </a:r>
            <a:r>
              <a:rPr lang="en-US" sz="1600" dirty="0"/>
              <a:t> </a:t>
            </a:r>
            <a:r>
              <a:rPr lang="en-US" sz="1600" i="1" dirty="0"/>
              <a:t>feel</a:t>
            </a:r>
            <a:r>
              <a:rPr lang="en-US" sz="1600" dirty="0"/>
              <a:t> productive but doesn’t engage your mind</a:t>
            </a:r>
          </a:p>
          <a:p>
            <a:pPr lvl="0"/>
            <a:r>
              <a:rPr lang="en-US" sz="1600" dirty="0"/>
              <a:t>In this class: </a:t>
            </a:r>
          </a:p>
          <a:p>
            <a:pPr lvl="1"/>
            <a:r>
              <a:rPr lang="en-US" sz="1600" dirty="0"/>
              <a:t>T</a:t>
            </a:r>
            <a:r>
              <a:rPr sz="1600" dirty="0"/>
              <a:t>ake notes you can be </a:t>
            </a:r>
            <a:r>
              <a:rPr sz="1600" b="1" dirty="0"/>
              <a:t>quizzed from</a:t>
            </a:r>
            <a:r>
              <a:rPr sz="1600" dirty="0"/>
              <a:t>, then actually quiz yourself</a:t>
            </a:r>
            <a:endParaRPr lang="en-US" sz="1600" dirty="0"/>
          </a:p>
          <a:p>
            <a:pPr lvl="1"/>
            <a:r>
              <a:rPr lang="en-US" sz="1600" dirty="0"/>
              <a:t>We’re mostly focused on vocab, history, a few concepts of science/engineering</a:t>
            </a:r>
          </a:p>
          <a:p>
            <a:pPr lvl="0"/>
            <a:r>
              <a:rPr lang="en-US" sz="1600" dirty="0"/>
              <a:t>In other classes: </a:t>
            </a:r>
          </a:p>
          <a:p>
            <a:pPr lvl="1"/>
            <a:r>
              <a:rPr lang="en-US" sz="1600" dirty="0"/>
              <a:t>Keep practicing example problems</a:t>
            </a:r>
            <a:endParaRPr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9F8DC-78E9-216D-227F-03ED02C08679}"/>
              </a:ext>
            </a:extLst>
          </p:cNvPr>
          <p:cNvSpPr txBox="1"/>
          <p:nvPr/>
        </p:nvSpPr>
        <p:spPr>
          <a:xfrm>
            <a:off x="7571232" y="2312610"/>
            <a:ext cx="4096512" cy="230832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Practice makes </a:t>
            </a:r>
            <a:r>
              <a:rPr lang="en-US" sz="4800" b="1" dirty="0">
                <a:solidFill>
                  <a:schemeClr val="bg1"/>
                </a:solidFill>
              </a:rPr>
              <a:t>permanent</a:t>
            </a:r>
            <a:r>
              <a:rPr lang="en-US" sz="4800" dirty="0">
                <a:solidFill>
                  <a:schemeClr val="bg1"/>
                </a:solidFill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4CC7-5945-BC6A-5794-9A8A027B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Derivations: Special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18ED-C1B3-FFFE-5C8D-A1F0EA653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451872"/>
            <a:ext cx="4525264" cy="4048171"/>
          </a:xfrm>
        </p:spPr>
        <p:txBody>
          <a:bodyPr/>
          <a:lstStyle/>
          <a:p>
            <a:r>
              <a:rPr lang="en-US" dirty="0"/>
              <a:t>In many classes, you’ll perhaps be asked to follow along with derivations of mathematical formalisms (math, physics, chemistry, engineering) </a:t>
            </a:r>
          </a:p>
          <a:p>
            <a:r>
              <a:rPr lang="en-US" dirty="0"/>
              <a:t>Can adapt the Cornell method to use the left column as a “narration” area so you can understand what’s going on later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C26C2-E173-C5B6-5663-817199A6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C7066A-D276-BA7C-C245-3024B346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7103"/>
            <a:ext cx="5160264" cy="666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4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432" y="1091805"/>
            <a:ext cx="6686296" cy="1066062"/>
          </a:xfrm>
        </p:spPr>
        <p:txBody>
          <a:bodyPr/>
          <a:lstStyle/>
          <a:p>
            <a:pPr marL="0" lvl="0" indent="0">
              <a:buNone/>
            </a:pPr>
            <a:r>
              <a:rPr lang="en-US" sz="2800" dirty="0"/>
              <a:t>Example: Should you wash your rice?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24" y="2157867"/>
            <a:ext cx="6454648" cy="4413296"/>
          </a:xfrm>
        </p:spPr>
        <p:txBody>
          <a:bodyPr/>
          <a:lstStyle/>
          <a:p>
            <a:pPr lvl="0"/>
            <a:r>
              <a:rPr lang="en-US" sz="1800" dirty="0"/>
              <a:t>We’ll do the Cornell method together</a:t>
            </a:r>
            <a:endParaRPr sz="1800" dirty="0"/>
          </a:p>
          <a:p>
            <a:pPr lvl="0"/>
            <a:r>
              <a:rPr lang="en-US" sz="1800" dirty="0"/>
              <a:t>Fill</a:t>
            </a:r>
            <a:r>
              <a:rPr sz="1800" dirty="0"/>
              <a:t> the </a:t>
            </a:r>
            <a:r>
              <a:rPr sz="1800" b="1" dirty="0"/>
              <a:t>right column</a:t>
            </a:r>
            <a:r>
              <a:rPr sz="1800" dirty="0"/>
              <a:t> </a:t>
            </a:r>
            <a:r>
              <a:rPr lang="en-US" sz="1800" dirty="0"/>
              <a:t>first, but </a:t>
            </a:r>
            <a:r>
              <a:rPr sz="1800" b="1" dirty="0"/>
              <a:t>don’t</a:t>
            </a:r>
            <a:r>
              <a:rPr lang="en-US" sz="1800" b="1" dirty="0"/>
              <a:t> just</a:t>
            </a:r>
            <a:r>
              <a:rPr sz="1800" b="1" dirty="0"/>
              <a:t> transcribe</a:t>
            </a:r>
          </a:p>
          <a:p>
            <a:pPr lvl="0"/>
            <a:r>
              <a:rPr sz="1800" dirty="0"/>
              <a:t>The </a:t>
            </a:r>
            <a:r>
              <a:rPr sz="1800" b="1" dirty="0"/>
              <a:t>left column</a:t>
            </a:r>
            <a:r>
              <a:rPr sz="1800" dirty="0"/>
              <a:t> and the </a:t>
            </a:r>
            <a:r>
              <a:rPr sz="1800" b="1" dirty="0"/>
              <a:t>summary</a:t>
            </a:r>
            <a:r>
              <a:rPr sz="1800" dirty="0"/>
              <a:t> come</a:t>
            </a:r>
            <a:r>
              <a:rPr lang="en-US" sz="1800" dirty="0"/>
              <a:t> during a pause or after class</a:t>
            </a:r>
          </a:p>
          <a:p>
            <a:pPr lvl="0"/>
            <a:r>
              <a:rPr lang="en-US" sz="1800" dirty="0"/>
              <a:t>Let’s watch this together: </a:t>
            </a:r>
          </a:p>
          <a:p>
            <a:pPr lvl="1"/>
            <a:r>
              <a:rPr lang="en-US" sz="1800" dirty="0"/>
              <a:t>@</a:t>
            </a:r>
            <a:r>
              <a:rPr lang="en-US" sz="1800" dirty="0" err="1"/>
              <a:t>pbsterra</a:t>
            </a:r>
            <a:r>
              <a:rPr lang="en-US" sz="1800" dirty="0"/>
              <a:t> </a:t>
            </a:r>
            <a:r>
              <a:rPr lang="en-US" sz="1800" dirty="0">
                <a:hlinkClick r:id="rId3"/>
              </a:rPr>
              <a:t>short on washing rice</a:t>
            </a:r>
            <a:endParaRPr lang="en-US" sz="1800" dirty="0"/>
          </a:p>
          <a:p>
            <a:pPr lvl="1"/>
            <a:r>
              <a:rPr lang="en-US" sz="1800" dirty="0">
                <a:hlinkClick r:id="rId4"/>
              </a:rPr>
              <a:t>The Conversation </a:t>
            </a:r>
            <a:r>
              <a:rPr lang="en-US" sz="1800" dirty="0"/>
              <a:t>from Evangeline </a:t>
            </a:r>
            <a:r>
              <a:rPr lang="en-US" sz="1800" dirty="0" err="1"/>
              <a:t>Mantzioris</a:t>
            </a:r>
            <a:r>
              <a:rPr lang="en-US" sz="1800" dirty="0"/>
              <a:t>, Program Director of Nutrition and Food Sciences University of South Australia</a:t>
            </a:r>
          </a:p>
          <a:p>
            <a:pPr lvl="2"/>
            <a:r>
              <a:rPr lang="en-US" sz="1600" dirty="0"/>
              <a:t>Yu et al.: </a:t>
            </a:r>
            <a:r>
              <a:rPr lang="en-US" sz="1600" dirty="0">
                <a:hlinkClick r:id="rId5"/>
              </a:rPr>
              <a:t>Review of the effects of different processing technologies on cooked and convenience rice quality</a:t>
            </a:r>
            <a:r>
              <a:rPr lang="en-US" sz="1600" dirty="0"/>
              <a:t> </a:t>
            </a:r>
          </a:p>
          <a:p>
            <a:pPr lvl="2"/>
            <a:r>
              <a:rPr lang="en-US" sz="1600" dirty="0"/>
              <a:t>Dessi et al.:</a:t>
            </a:r>
            <a:r>
              <a:rPr lang="en-US" sz="1600" dirty="0">
                <a:hlinkClick r:id="rId6"/>
              </a:rPr>
              <a:t> Plastics contamination of store-bought rice</a:t>
            </a:r>
            <a:endParaRPr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8E8BD-0673-4850-59FE-245A6AE1D7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0227" y="1091805"/>
            <a:ext cx="4900060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C805-AC19-298A-437C-DC2FE277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for this week: Note-taking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8FE5-B770-406B-EE61-5169A5FE0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you name (legibly) and UBIT login (legibly) at the top of your notes page</a:t>
            </a:r>
          </a:p>
          <a:p>
            <a:pPr lvl="1"/>
            <a:r>
              <a:rPr lang="en-US" dirty="0"/>
              <a:t>If I can’t read it, I can’t grade it</a:t>
            </a:r>
          </a:p>
          <a:p>
            <a:r>
              <a:rPr lang="en-US" dirty="0"/>
              <a:t>You’ll hand in your notes on washing rice for your quiz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D79D8-CC37-B547-E57B-6745AAB3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9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7485-3074-C23E-3C7D-3462EA4B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Should you wash your rice?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3F22C-F316-8C58-3F45-7BEB4C630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Hints:</a:t>
            </a:r>
          </a:p>
          <a:p>
            <a:pPr lvl="1"/>
            <a:r>
              <a:rPr lang="en-US" dirty="0"/>
              <a:t>Use abbreviations</a:t>
            </a:r>
          </a:p>
          <a:p>
            <a:pPr lvl="1"/>
            <a:r>
              <a:rPr lang="en-US" dirty="0"/>
              <a:t>Draw arrows between concepts</a:t>
            </a:r>
          </a:p>
          <a:p>
            <a:pPr lvl="1"/>
            <a:r>
              <a:rPr lang="en-US" dirty="0"/>
              <a:t>If something confuses you, ask! Then jot down a note on the side column. </a:t>
            </a:r>
          </a:p>
          <a:p>
            <a:pPr lvl="1"/>
            <a:r>
              <a:rPr lang="en-US" dirty="0"/>
              <a:t>At the end, summarize, and if you want to really get it, ask if your summary is the right understanding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61015-6A1F-C35E-48EB-36F8838A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6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Example: Should you wash your rice?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F530B1-B7EA-608D-C7CB-3CCC0D1DC778}"/>
              </a:ext>
            </a:extLst>
          </p:cNvPr>
          <p:cNvSpPr txBox="1">
            <a:spLocks/>
          </p:cNvSpPr>
          <p:nvPr/>
        </p:nvSpPr>
        <p:spPr>
          <a:xfrm>
            <a:off x="3648456" y="2112264"/>
            <a:ext cx="7261352" cy="4387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Font typeface="System Font Regular"/>
              <a:buChar char="−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Raw notes: </a:t>
            </a:r>
          </a:p>
          <a:p>
            <a:r>
              <a:rPr lang="en-US"/>
              <a:t>Washing rice controversial on interwebs</a:t>
            </a:r>
          </a:p>
          <a:p>
            <a:r>
              <a:rPr lang="en-US"/>
              <a:t>Affect stickiness? Studies say no. </a:t>
            </a:r>
          </a:p>
          <a:p>
            <a:r>
              <a:rPr lang="en-US"/>
              <a:t>TYPE of rice matters, washing doesn’t</a:t>
            </a:r>
          </a:p>
          <a:p>
            <a:r>
              <a:rPr lang="en-US"/>
              <a:t>Health: </a:t>
            </a:r>
          </a:p>
          <a:p>
            <a:pPr lvl="1"/>
            <a:r>
              <a:rPr lang="en-US"/>
              <a:t>remove 20% of microplastics, also arsenic</a:t>
            </a:r>
          </a:p>
          <a:p>
            <a:pPr lvl="1"/>
            <a:r>
              <a:rPr lang="en-US"/>
              <a:t>but washes away copper, iron, zinc (nutrients!)</a:t>
            </a:r>
          </a:p>
          <a:p>
            <a:r>
              <a:rPr lang="en-US"/>
              <a:t>Doesn’t remove bacteria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0D3A-F882-2314-9803-028A4F6C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3DC7-0B25-BCCC-A3DF-6AAD08A1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Example: Should you wash your rice?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AA3E8-A7EA-4267-635E-56315AEC7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8456" y="2112264"/>
            <a:ext cx="7261352" cy="4387779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Raw notes</a:t>
            </a:r>
            <a:r>
              <a:rPr lang="en-US" b="1" dirty="0"/>
              <a:t>: </a:t>
            </a:r>
            <a:endParaRPr b="1" dirty="0"/>
          </a:p>
          <a:p>
            <a:pPr lvl="0"/>
            <a:r>
              <a:rPr dirty="0"/>
              <a:t>Wash</a:t>
            </a:r>
            <a:r>
              <a:rPr lang="en-US" dirty="0"/>
              <a:t>ing</a:t>
            </a:r>
            <a:r>
              <a:rPr dirty="0"/>
              <a:t> rice</a:t>
            </a:r>
            <a:r>
              <a:rPr lang="en-US" dirty="0"/>
              <a:t> controversial on interwebs</a:t>
            </a:r>
          </a:p>
          <a:p>
            <a:pPr lvl="0"/>
            <a:r>
              <a:rPr lang="en-US" dirty="0"/>
              <a:t>Affect stickiness? Studies say no. </a:t>
            </a:r>
          </a:p>
          <a:p>
            <a:pPr lvl="0"/>
            <a:r>
              <a:rPr lang="en-US" dirty="0"/>
              <a:t>TYPE of rice matters, washing doesn’t</a:t>
            </a:r>
            <a:endParaRPr dirty="0"/>
          </a:p>
          <a:p>
            <a:pPr lvl="0"/>
            <a:r>
              <a:rPr lang="en-US" dirty="0"/>
              <a:t>Health: </a:t>
            </a:r>
          </a:p>
          <a:p>
            <a:pPr lvl="1"/>
            <a:r>
              <a:rPr lang="en-US" dirty="0"/>
              <a:t>remove 20% of microplastics, also arsenic</a:t>
            </a:r>
          </a:p>
          <a:p>
            <a:pPr lvl="1"/>
            <a:r>
              <a:rPr lang="en-US" dirty="0"/>
              <a:t>but washes away copper, iron, zinc (nutrients!)</a:t>
            </a:r>
          </a:p>
          <a:p>
            <a:pPr lvl="0"/>
            <a:r>
              <a:rPr lang="en-US" dirty="0"/>
              <a:t>Doesn’t remove bacteria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580E6-EF7E-D4D2-635B-C309F481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E1AB-E3E7-0CEE-EC0F-64D5B64DE2A0}"/>
              </a:ext>
            </a:extLst>
          </p:cNvPr>
          <p:cNvSpPr txBox="1"/>
          <p:nvPr/>
        </p:nvSpPr>
        <p:spPr>
          <a:xfrm>
            <a:off x="515460" y="2926080"/>
            <a:ext cx="293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 washing affect stickiness?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8500A-6E39-EB51-0F6B-241DC523C917}"/>
              </a:ext>
            </a:extLst>
          </p:cNvPr>
          <p:cNvSpPr txBox="1"/>
          <p:nvPr/>
        </p:nvSpPr>
        <p:spPr>
          <a:xfrm>
            <a:off x="394208" y="4528937"/>
            <a:ext cx="29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 of washing rice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1108E-EEAC-E312-9D4B-2EEE121CC9F7}"/>
              </a:ext>
            </a:extLst>
          </p:cNvPr>
          <p:cNvSpPr txBox="1"/>
          <p:nvPr/>
        </p:nvSpPr>
        <p:spPr>
          <a:xfrm>
            <a:off x="394208" y="4898269"/>
            <a:ext cx="29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 of washing 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080FA-106D-978A-B09C-135E3586ACFA}"/>
              </a:ext>
            </a:extLst>
          </p:cNvPr>
          <p:cNvSpPr txBox="1"/>
          <p:nvPr/>
        </p:nvSpPr>
        <p:spPr>
          <a:xfrm>
            <a:off x="394208" y="5485463"/>
            <a:ext cx="293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Misconceptions about washing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DE9EA-DC6C-8812-19A5-451783A5BD3A}"/>
              </a:ext>
            </a:extLst>
          </p:cNvPr>
          <p:cNvSpPr txBox="1"/>
          <p:nvPr/>
        </p:nvSpPr>
        <p:spPr>
          <a:xfrm>
            <a:off x="515460" y="2187416"/>
            <a:ext cx="29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Cue Column: </a:t>
            </a:r>
          </a:p>
        </p:txBody>
      </p:sp>
    </p:spTree>
    <p:extLst>
      <p:ext uri="{BB962C8B-B14F-4D97-AF65-F5344CB8AC3E}">
        <p14:creationId xmlns:p14="http://schemas.microsoft.com/office/powerpoint/2010/main" val="229047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F73E-C1E9-3344-3747-F66F4AE0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6DCB-73A8-2BA4-4568-720F02C1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Example: Should you wash your rice?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74767-37D8-9285-CC3B-245A9E8B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8456" y="2112264"/>
            <a:ext cx="7261352" cy="4387779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Raw notes</a:t>
            </a:r>
            <a:r>
              <a:rPr lang="en-US" b="1" dirty="0"/>
              <a:t>: </a:t>
            </a:r>
            <a:endParaRPr b="1" dirty="0"/>
          </a:p>
          <a:p>
            <a:pPr lvl="0"/>
            <a:r>
              <a:rPr dirty="0"/>
              <a:t>Wash</a:t>
            </a:r>
            <a:r>
              <a:rPr lang="en-US" dirty="0"/>
              <a:t>ing</a:t>
            </a:r>
            <a:r>
              <a:rPr dirty="0"/>
              <a:t> rice</a:t>
            </a:r>
            <a:r>
              <a:rPr lang="en-US" dirty="0"/>
              <a:t> controversial on interwebs</a:t>
            </a:r>
          </a:p>
          <a:p>
            <a:pPr lvl="0"/>
            <a:r>
              <a:rPr lang="en-US" dirty="0"/>
              <a:t>Affect stickiness? Studies say no. </a:t>
            </a:r>
          </a:p>
          <a:p>
            <a:pPr lvl="0"/>
            <a:r>
              <a:rPr lang="en-US" dirty="0"/>
              <a:t>TYPE of rice matters, washing doesn’t</a:t>
            </a:r>
            <a:endParaRPr dirty="0"/>
          </a:p>
          <a:p>
            <a:pPr lvl="0"/>
            <a:r>
              <a:rPr lang="en-US" dirty="0"/>
              <a:t>Health: </a:t>
            </a:r>
          </a:p>
          <a:p>
            <a:pPr lvl="1"/>
            <a:r>
              <a:rPr lang="en-US" dirty="0"/>
              <a:t>remove 20% of microplastics, also arsenic</a:t>
            </a:r>
          </a:p>
          <a:p>
            <a:pPr lvl="1"/>
            <a:r>
              <a:rPr lang="en-US" dirty="0"/>
              <a:t>but washes away copper, iron, zinc (nutrients!)</a:t>
            </a:r>
          </a:p>
          <a:p>
            <a:pPr lvl="0"/>
            <a:r>
              <a:rPr lang="en-US" dirty="0"/>
              <a:t>Doesn’t remove bacteria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CBDEA-80D7-FA6B-CBC6-91927779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04A6C8-4CAB-ACE4-E2AC-92548346030D}"/>
              </a:ext>
            </a:extLst>
          </p:cNvPr>
          <p:cNvSpPr txBox="1"/>
          <p:nvPr/>
        </p:nvSpPr>
        <p:spPr>
          <a:xfrm>
            <a:off x="515460" y="2926080"/>
            <a:ext cx="293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 washing affect stickiness?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472BE-E673-EF32-FC9E-658CE080490D}"/>
              </a:ext>
            </a:extLst>
          </p:cNvPr>
          <p:cNvSpPr txBox="1"/>
          <p:nvPr/>
        </p:nvSpPr>
        <p:spPr>
          <a:xfrm>
            <a:off x="394208" y="4528937"/>
            <a:ext cx="29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 of washing rice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2EBD5-2CB9-0F72-EA6C-E2B505B8DB23}"/>
              </a:ext>
            </a:extLst>
          </p:cNvPr>
          <p:cNvSpPr txBox="1"/>
          <p:nvPr/>
        </p:nvSpPr>
        <p:spPr>
          <a:xfrm>
            <a:off x="394208" y="4898269"/>
            <a:ext cx="29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 of washing 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2F3E8-FA81-C2B0-964F-9ECBFB7D195B}"/>
              </a:ext>
            </a:extLst>
          </p:cNvPr>
          <p:cNvSpPr txBox="1"/>
          <p:nvPr/>
        </p:nvSpPr>
        <p:spPr>
          <a:xfrm>
            <a:off x="394208" y="5485463"/>
            <a:ext cx="293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Misconceptions about washing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BC68D-D159-BDEC-5079-C9527ADB504D}"/>
              </a:ext>
            </a:extLst>
          </p:cNvPr>
          <p:cNvSpPr txBox="1"/>
          <p:nvPr/>
        </p:nvSpPr>
        <p:spPr>
          <a:xfrm>
            <a:off x="2971800" y="5926935"/>
            <a:ext cx="8257032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Summary: </a:t>
            </a:r>
          </a:p>
          <a:p>
            <a:r>
              <a:rPr lang="en-US" dirty="0"/>
              <a:t>Washing doesn’t affect stickiness. Contaminants removed but also nutrients.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ABBF99-C2E2-A8C1-F580-9431DF22759F}"/>
              </a:ext>
            </a:extLst>
          </p:cNvPr>
          <p:cNvSpPr txBox="1"/>
          <p:nvPr/>
        </p:nvSpPr>
        <p:spPr>
          <a:xfrm>
            <a:off x="515460" y="2187416"/>
            <a:ext cx="29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Cue Column: </a:t>
            </a:r>
          </a:p>
        </p:txBody>
      </p:sp>
    </p:spTree>
    <p:extLst>
      <p:ext uri="{BB962C8B-B14F-4D97-AF65-F5344CB8AC3E}">
        <p14:creationId xmlns:p14="http://schemas.microsoft.com/office/powerpoint/2010/main" val="2557665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Note-taking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hlinkClick r:id="rId2"/>
              </a:rPr>
              <a:t>Mueller &amp; Oppenheimer (2014), </a:t>
            </a:r>
            <a:r>
              <a:rPr i="1" dirty="0">
                <a:hlinkClick r:id="rId2"/>
              </a:rPr>
              <a:t>Psychological Science</a:t>
            </a:r>
            <a:r>
              <a:rPr dirty="0"/>
              <a:t> · </a:t>
            </a:r>
            <a:r>
              <a:rPr dirty="0">
                <a:hlinkClick r:id="rId3"/>
              </a:rPr>
              <a:t>Urry et al. (2021) — replication</a:t>
            </a:r>
          </a:p>
          <a:p>
            <a:pPr lvl="0"/>
            <a:r>
              <a:rPr dirty="0">
                <a:hlinkClick r:id="rId4"/>
              </a:rPr>
              <a:t>Dunlosky et al. (2013), </a:t>
            </a:r>
            <a:r>
              <a:rPr i="1" dirty="0">
                <a:hlinkClick r:id="rId4"/>
              </a:rPr>
              <a:t>Psych. Science in the Public Interest</a:t>
            </a:r>
            <a:r>
              <a:rPr dirty="0"/>
              <a:t> · </a:t>
            </a:r>
            <a:r>
              <a:rPr dirty="0">
                <a:hlinkClick r:id="rId5"/>
              </a:rPr>
              <a:t>accessible version, </a:t>
            </a:r>
            <a:r>
              <a:rPr i="1" dirty="0">
                <a:hlinkClick r:id="rId5"/>
              </a:rPr>
              <a:t>American Educator</a:t>
            </a:r>
          </a:p>
          <a:p>
            <a:pPr lvl="0"/>
            <a:r>
              <a:rPr dirty="0"/>
              <a:t>Cornell method: Pauk &amp; Owens, </a:t>
            </a:r>
            <a:r>
              <a:rPr i="1" dirty="0"/>
              <a:t>How to Study in College</a:t>
            </a:r>
            <a:r>
              <a:rPr dirty="0"/>
              <a:t>; </a:t>
            </a:r>
            <a:r>
              <a:rPr dirty="0">
                <a:hlinkClick r:id="rId6"/>
              </a:rPr>
              <a:t>Cornell Learning Strategies Center</a:t>
            </a:r>
          </a:p>
          <a:p>
            <a:pPr lvl="0"/>
            <a:r>
              <a:rPr dirty="0"/>
              <a:t>Worked example (washing rice): </a:t>
            </a:r>
            <a:r>
              <a:rPr dirty="0">
                <a:hlinkClick r:id="rId7"/>
              </a:rPr>
              <a:t>The Conversation — “Do you need to wash rice? Here’s the science”</a:t>
            </a:r>
            <a:r>
              <a:rPr dirty="0"/>
              <a:t> · arsenic/nutrient tradeoff: </a:t>
            </a:r>
            <a:r>
              <a:rPr dirty="0">
                <a:hlinkClick r:id="rId8"/>
              </a:rPr>
              <a:t>“Cooking rice in excess water reduces both arsenic and enriched vitamins…” (2016)</a:t>
            </a:r>
            <a:r>
              <a:rPr dirty="0"/>
              <a:t>; </a:t>
            </a:r>
            <a:r>
              <a:rPr dirty="0">
                <a:hlinkClick r:id="rId9"/>
              </a:rPr>
              <a:t>Menon et al. 2020, </a:t>
            </a:r>
            <a:r>
              <a:rPr i="1" dirty="0">
                <a:hlinkClick r:id="rId9"/>
              </a:rPr>
              <a:t>Sci. Total Environ.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5915</TotalTime>
  <Words>1388</Words>
  <Application>Microsoft Macintosh PowerPoint</Application>
  <PresentationFormat>Widescreen</PresentationFormat>
  <Paragraphs>120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Georgia</vt:lpstr>
      <vt:lpstr>System Font Regular</vt:lpstr>
      <vt:lpstr>UB Unit Presentation Template</vt:lpstr>
      <vt:lpstr>Lecture 2 — Skill of the week: note-taking</vt:lpstr>
      <vt:lpstr>The skills to succeed in college</vt:lpstr>
      <vt:lpstr>The Cornell method</vt:lpstr>
      <vt:lpstr>What the evidence says actually works</vt:lpstr>
      <vt:lpstr>Derivations: Special Case</vt:lpstr>
      <vt:lpstr>Example: Should you wash your rice?</vt:lpstr>
      <vt:lpstr>Quiz for this week: Note-taking</vt:lpstr>
      <vt:lpstr>Example: Should you wash your rice?</vt:lpstr>
      <vt:lpstr>Example: Should you wash your rice?</vt:lpstr>
      <vt:lpstr>Example: Should you wash your rice?</vt:lpstr>
      <vt:lpstr>Example: Should you wash your rice?</vt:lpstr>
      <vt:lpstr>Note-taking — sources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64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Aptos</vt:lpstr>
      <vt:lpstr>Arial</vt:lpstr>
      <vt:lpstr>Georgia</vt:lpstr>
      <vt:lpstr>System Font Regular</vt:lpstr>
      <vt:lpstr>UB Unit Presentation Template</vt:lpstr>
      <vt:lpstr>Lecture 1 — Introduction</vt:lpstr>
      <vt:lpstr>Code of Conduct</vt:lpstr>
      <vt:lpstr>We all must abide by UB’s </vt:lpstr>
      <vt:lpstr>Welcome to Buffalo</vt:lpstr>
      <vt:lpstr>335 Mya : Buffalandinavia?</vt:lpstr>
      <vt:lpstr>335 Mya : Buffalandinavia?</vt:lpstr>
      <vt:lpstr>Utica Shale</vt:lpstr>
      <vt:lpstr>A fifth of Earth’s surface fresh water is right here</vt:lpstr>
      <vt:lpstr>The original people: the Haudenosaunee and Seneca</vt:lpstr>
      <vt:lpstr>Treaties, and a promise on paper</vt:lpstr>
      <vt:lpstr>The city the canal built</vt:lpstr>
      <vt:lpstr>Buffalo and the long fight for equity</vt:lpstr>
      <vt:lpstr>Things to actually do here</vt:lpstr>
      <vt:lpstr>Welcome to Buffalo — sources</vt:lpstr>
      <vt:lpstr>Welcome to UB</vt:lpstr>
      <vt:lpstr>Why public universities exist</vt:lpstr>
      <vt:lpstr>UB: 180 years on the Niagara Frontier</vt:lpstr>
      <vt:lpstr>The cost of college: two ways to carry a loan</vt:lpstr>
      <vt:lpstr>If you borrow it all — federal rate (6.52%)</vt:lpstr>
      <vt:lpstr>“Pay in school” also costs interest during the 4 enrolled years (not shown) — it still ends up cheaper.</vt:lpstr>
      <vt:lpstr>The same, at a private / PLUS rate (9.84%)</vt:lpstr>
      <vt:lpstr>“Pay in school” also costs interest during the 4 enrolled years (~$11k–$98k, not shown).</vt:lpstr>
      <vt:lpstr>Takeaway: pay the interest now if you can</vt:lpstr>
      <vt:lpstr>Welcome to UB — sources</vt:lpstr>
      <vt:lpstr>Welcome to College</vt:lpstr>
      <vt:lpstr>You’re here to learn how to </vt:lpstr>
      <vt:lpstr>Take notes to </vt:lpstr>
      <vt:lpstr>Study what actually works: test yourself, space it out</vt:lpstr>
      <vt:lpstr>Manage your time; learn to research</vt:lpstr>
      <vt:lpstr>Two skills we’ll build later</vt:lpstr>
      <vt:lpstr>Welcome to College — sources</vt:lpstr>
      <vt:lpstr>Welcome to this Course</vt:lpstr>
      <vt:lpstr>Two ways to make electricity</vt:lpstr>
      <vt:lpstr>The menu of energy sources</vt:lpstr>
      <vt:lpstr>It started here — and it was clean</vt:lpstr>
      <vt:lpstr>The Current Wars: AC vs DC</vt:lpstr>
      <vt:lpstr>But energy is never free</vt:lpstr>
      <vt:lpstr>Anthropogenic climate change</vt:lpstr>
      <vt:lpstr>Even “clean” energy has victims: the Kinzua Dam</vt:lpstr>
      <vt:lpstr>The human cost of fossil fuels: Appalachia</vt:lpstr>
      <vt:lpstr>Catastrophe in our backyard: Love Canal</vt:lpstr>
      <vt:lpstr>Which energy actually kills people?</vt:lpstr>
      <vt:lpstr>The frontier: nuclear fusion</vt:lpstr>
      <vt:lpstr>The map for the semester</vt:lpstr>
      <vt:lpstr>Welcome to this Course — sources</vt:lpstr>
      <vt:lpstr>Welcome to College in the post-AI Era</vt:lpstr>
      <vt:lpstr>The new tools</vt:lpstr>
      <vt:lpstr>I’m not fighting the tide — here’s the policy</vt:lpstr>
      <vt:lpstr>How an LLM “thinks”: the goldfish</vt:lpstr>
      <vt:lpstr>Good uses of AI — with honest evidence</vt:lpstr>
      <vt:lpstr>Bad uses of AI</vt:lpstr>
      <vt:lpstr>AI isn’t free — it eats energy</vt:lpstr>
      <vt:lpstr>…and it drinks water</vt:lpstr>
      <vt:lpstr>Where does the answer come from — and from where?</vt:lpstr>
      <vt:lpstr>Can we tell you used AI? Make it a coin flip</vt:lpstr>
      <vt:lpstr>The test — one line of statistics</vt:lpstr>
      <vt:lpstr>A big </vt:lpstr>
      <vt:lpstr>Why it’s not foolproof</vt:lpstr>
      <vt:lpstr>The worked example: this deck’s AI disclosure</vt:lpstr>
      <vt:lpstr>How that estimate was made (and why it’s fuzzy)</vt:lpstr>
      <vt:lpstr>Post-AI era — sources</vt:lpstr>
      <vt:lpstr>The Syllabus</vt:lpstr>
      <vt:lpstr>Let’s look at the syllabus</vt:lpstr>
      <vt:lpstr>Welcome to Energy in the 21st Century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Introduction</dc:title>
  <dc:creator>Dr. Salvatore Rappoccio</dc:creator>
  <cp:keywords/>
  <cp:lastModifiedBy>Salvatore Rappoccio</cp:lastModifiedBy>
  <cp:revision>82</cp:revision>
  <cp:lastPrinted>2026-08-18T15:19:26Z</cp:lastPrinted>
  <dcterms:created xsi:type="dcterms:W3CDTF">2026-08-17T20:32:41Z</dcterms:created>
  <dcterms:modified xsi:type="dcterms:W3CDTF">2026-09-02T19:12:01Z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signment">
    <vt:lpwstr>Syllabus quiz.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date">
    <vt:lpwstr>2026-08-24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terial">
    <vt:lpwstr>Syllabus, lecture notes.</vt:lpwstr>
  </property>
  <property fmtid="{D5CDD505-2E9C-101B-9397-08002B2CF9AE}" pid="12" name="subtitle">
    <vt:lpwstr>PHY199-RAP · Energy in the 21st Century</vt:lpwstr>
  </property>
  <property fmtid="{D5CDD505-2E9C-101B-9397-08002B2CF9AE}" pid="13" name="toc-title">
    <vt:lpwstr>Table of contents</vt:lpwstr>
  </property>
</Properties>
</file>