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78"/>
    <p:restoredTop sz="96405"/>
  </p:normalViewPr>
  <p:slideViewPr>
    <p:cSldViewPr snapToGrid="0">
      <p:cViewPr varScale="1">
        <p:scale>
          <a:sx n="140" d="100"/>
          <a:sy n="140" d="100"/>
        </p:scale>
        <p:origin x="224" y="9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D5BA36-2DBA-8E4B-A80F-E09890FEEA5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5E1F8-3717-4041-B345-9C118A1FF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3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Keep it plain. Sources: Vaswani et al. (2017) “Attention Is All You Need” — the transformer paper behind every LLM; 3Blue1Brown’s neural-network / LLM series (rigorous and student-friendly).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Read it aloud, verbatim. This is the contract for the semester.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Anchor the analogy in the real mechanism: stateless next-token prediction + a context window. This is </a:t>
            </a:r>
            <a:r>
              <a:rPr i="1"/>
              <a:t>why</a:t>
            </a:r>
            <a:r>
              <a:t> planning docs and saved context matter — and why it “forgets.”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Model skepticism. Sources: Peng et al. (2023) GitHub Copilot RCT (speed-up on a set task); METR (2025) — experienced OSS devs ~19% slower on real codebases. Both true; context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Sources: OpenAI’s own incident disclosure + Hugging Face technical timeline; UB Office of Academic Integrity (their “nine common infractions” page).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Sources (peer-reviewed + international): de Vries (2023, </a:t>
            </a:r>
            <a:r>
              <a:rPr i="1"/>
              <a:t>Joule</a:t>
            </a:r>
            <a:r>
              <a:t>) “The growing energy footprint of AI”; Strubell et al. (2019, ACL) training carbon; IEA “Energy and AI” (2025).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payoff of the Buffalo water flag. Teach them to interrogate a viral number rather than repeat it. Source: Li et al., “Making AI Less Thirsty” (arXiv 2304.03271); note the contested popular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Bridge to the disclosure example. Two senses of “source”: intellectual and physical.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Anthropic’s own analogy: advance by the digits of pi instead of rolling dice — looks random, but provable if you know to check. Origin: Aaronson (2022); deployed as SynthID-Text (</a:t>
            </a:r>
            <a:r>
              <a:rPr i="1"/>
              <a:t>Nature</a:t>
            </a:r>
            <a:r>
              <a:t> 2024); in Claude since Aug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z = 3 → one-tailed p ≈ 0.0013. This is just a fairness-of-a-coin test — our first “simple statistics”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Land the ethics: don’t police with detection, rely on understanding. Sources: Anthropic (Aug 2026); Kirchenbauer et al. (2023); SynthID-Text (</a:t>
            </a:r>
            <a:r>
              <a:rPr i="1"/>
              <a:t>Nature</a:t>
            </a:r>
            <a:r>
              <a:t> 2024); Liang et al. (2023) on detector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is the capstone — the answer to “show us acceptable AI use.” Numbers finalized from this session’s usage data. Emphasize: the human (you) verified every source and did the physics/finance; AI was a research-and-drafting tool, disclosed and quantified.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slide models the course’s whole ethic: be transparent, show your assumptions, give a range, and distrust false precision. The honest answer to “what did this cost?” is a bounded estimate, not a single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184" y="1690710"/>
            <a:ext cx="9144000" cy="2405802"/>
          </a:xfrm>
        </p:spPr>
        <p:txBody>
          <a:bodyPr anchor="b"/>
          <a:lstStyle>
            <a:lvl1pPr algn="l">
              <a:lnSpc>
                <a:spcPts val="6000"/>
              </a:lnSpc>
              <a:defRPr sz="6000" b="1" i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184" y="4216314"/>
            <a:ext cx="9144000" cy="14900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 text goes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392352-7DF4-5EB6-32FA-9FB7E764D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347064" y="5932815"/>
            <a:ext cx="5492824" cy="6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16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E03B264A-5859-DC5E-8BB3-FDCEFB5151C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184" y="4216314"/>
            <a:ext cx="9144000" cy="183425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 text goes here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6121344-8E5D-8C90-90D5-425531E533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184" y="1690710"/>
            <a:ext cx="9144000" cy="2405802"/>
          </a:xfrm>
        </p:spPr>
        <p:txBody>
          <a:bodyPr anchor="b"/>
          <a:lstStyle>
            <a:lvl1pPr algn="l">
              <a:lnSpc>
                <a:spcPts val="6000"/>
              </a:lnSpc>
              <a:defRPr sz="6000" b="1" i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Divider Slide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730102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3510E-E52A-43D2-D96B-9045F9A06C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8" y="2451872"/>
            <a:ext cx="10515600" cy="404817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4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Bulleted List (No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8994E2-EA49-29ED-92E0-393343750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07200" y="1371600"/>
            <a:ext cx="53848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00E64E3-43AA-E108-65B7-E60FA7F2EC8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8" y="2451872"/>
            <a:ext cx="10515600" cy="404817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2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2111FF-5304-D6B1-8333-440DC4F512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A9F8A-F58D-4DBE-FAEF-CB216CFAB2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6270493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 vitae dapibus elit ligula vel urna. Integer mollis elit vel justo bibendum vitae et efficitur arcu bibendum. consectetur adipiscing elit. Vivamus euismod, leo a condimentum pretium.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7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2111FF-5304-D6B1-8333-440DC4F512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A9F8A-F58D-4DBE-FAEF-CB216CFAB2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5" y="2410823"/>
            <a:ext cx="4245750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29B7451-E98E-FC17-C95F-97570ABD4F77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4909137" y="2410823"/>
            <a:ext cx="4245750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39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13FBDA0-6DAD-2BD7-8995-0DD004DCD4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D848CF-329C-12E6-A53F-3C3893FC544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8" y="2451872"/>
            <a:ext cx="5029200" cy="405079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E746082-11FB-1BAB-9564-CFA32F2BC5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878286" y="2451872"/>
            <a:ext cx="5031522" cy="404817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6837F-65A2-482E-691B-FA0A12696B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Sub-title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E57A07-9930-44A5-B8A4-E2B0497B97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6" y="2456033"/>
            <a:ext cx="10515600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2FF8DBE-F14C-4661-C6FB-66F0BEF559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4208" y="3095375"/>
            <a:ext cx="10515600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8311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30A87E8-FC38-EF63-519A-A20B6C53B42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6" y="2456033"/>
            <a:ext cx="4939792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372A22-8E95-EEF5-A75E-63F3C0F2C2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4208" y="3095375"/>
            <a:ext cx="4939792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856CF4B-B17A-2337-0D52-61EC19AA7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977588" y="2456033"/>
            <a:ext cx="4939792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3825F99-D766-A623-5D1B-AE0CC6933E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977590" y="3095375"/>
            <a:ext cx="4939792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391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09B8DD2A-7177-2E52-DD5A-3EAE044C53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834743" y="1433506"/>
            <a:ext cx="5963049" cy="432044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4D129EA-B4FE-13E2-9E6F-CFD7407BEA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7580" y="6206038"/>
            <a:ext cx="692856" cy="365125"/>
          </a:xfrm>
        </p:spPr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0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7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(No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871AB5E-101C-7C13-4D65-215EA69060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7580" y="6206038"/>
            <a:ext cx="692856" cy="365125"/>
          </a:xfrm>
        </p:spPr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60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18212" y="1175657"/>
            <a:ext cx="6172200" cy="5682343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00392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13295" y="1175657"/>
            <a:ext cx="6175025" cy="2841171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855A2D2-CB1F-E260-6EEA-7E2D6D512F1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013295" y="4016828"/>
            <a:ext cx="3090672" cy="2843784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9823783-F8CE-C00A-E2E8-141FB0CBA29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097648" y="4016829"/>
            <a:ext cx="3090672" cy="2841171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984944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-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50CA1-FF95-DB59-A307-6E7802C571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50462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11997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A19231-8A35-C0C4-A52C-FD510095F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08" y="1504626"/>
            <a:ext cx="10515600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E5F18-0F44-D0C4-865B-4F1686C2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4208" y="2522992"/>
            <a:ext cx="10515600" cy="40481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text level</a:t>
            </a:r>
          </a:p>
          <a:p>
            <a:pPr lvl="1"/>
            <a:r>
              <a:rPr lang="en-US" dirty="0"/>
              <a:t>Second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3"/>
            <a:r>
              <a:rPr lang="en-US" dirty="0"/>
              <a:t>Fourth text level</a:t>
            </a:r>
          </a:p>
          <a:p>
            <a:pPr lvl="4"/>
            <a:r>
              <a:rPr lang="en-US" dirty="0"/>
              <a:t>Fifth text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7C836-75E5-4C64-D3C5-1D1833BAD8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7580" y="6206038"/>
            <a:ext cx="6928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B670C77-F8D5-0D45-BCC6-7287AA83D132}" type="slidenum">
              <a:rPr lang="en-US" smtClean="0"/>
              <a:pPr/>
              <a:t>‹#›</a:t>
            </a:fld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DEE38-7B4E-C8A4-CC0C-614E4A2B6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219918" y="231495"/>
            <a:ext cx="5492824" cy="6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6813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49" r:id="rId2"/>
    <p:sldLayoutId id="2147483660" r:id="rId3"/>
    <p:sldLayoutId id="2147483658" r:id="rId4"/>
    <p:sldLayoutId id="2147483656" r:id="rId5"/>
    <p:sldLayoutId id="2147483665" r:id="rId6"/>
    <p:sldLayoutId id="2147483652" r:id="rId7"/>
    <p:sldLayoutId id="2147483666" r:id="rId8"/>
    <p:sldLayoutId id="2147483667" r:id="rId9"/>
    <p:sldLayoutId id="2147483664" r:id="rId10"/>
    <p:sldLayoutId id="2147483669" r:id="rId11"/>
    <p:sldLayoutId id="2147483668" r:id="rId12"/>
    <p:sldLayoutId id="2147483657" r:id="rId13"/>
    <p:sldLayoutId id="2147483663" r:id="rId14"/>
    <p:sldLayoutId id="2147483662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2"/>
          </a:solidFill>
          <a:latin typeface="Georgia" panose="02040502050405020303" pitchFamily="18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System Font Regular"/>
        <a:buChar char="−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ell.com/joule/fulltext/S2542-4351(23)00365-3" TargetMode="External"/><Relationship Id="rId13" Type="http://schemas.openxmlformats.org/officeDocument/2006/relationships/hyperlink" Target="https://www.nature.com/articles/s41586-024-08025-4" TargetMode="External"/><Relationship Id="rId3" Type="http://schemas.openxmlformats.org/officeDocument/2006/relationships/hyperlink" Target="https://www.3blue1brown.com/topics/neural-networks" TargetMode="External"/><Relationship Id="rId7" Type="http://schemas.openxmlformats.org/officeDocument/2006/relationships/hyperlink" Target="https://www.buffalo.edu/academic-integrity.html" TargetMode="External"/><Relationship Id="rId12" Type="http://schemas.openxmlformats.org/officeDocument/2006/relationships/hyperlink" Target="https://arxiv.org/abs/2301.10226" TargetMode="External"/><Relationship Id="rId2" Type="http://schemas.openxmlformats.org/officeDocument/2006/relationships/hyperlink" Target="https://arxiv.org/abs/1706.03762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openai.com/index/hugging-face-model-evaluation-security-incident/" TargetMode="External"/><Relationship Id="rId11" Type="http://schemas.openxmlformats.org/officeDocument/2006/relationships/hyperlink" Target="https://www.anthropic.com/news/claude-text-watermark" TargetMode="External"/><Relationship Id="rId5" Type="http://schemas.openxmlformats.org/officeDocument/2006/relationships/hyperlink" Target="https://metr.org/blog/2025-07-10-early-2025-ai-experienced-os-dev-study/" TargetMode="External"/><Relationship Id="rId10" Type="http://schemas.openxmlformats.org/officeDocument/2006/relationships/hyperlink" Target="https://arxiv.org/abs/2304.03271" TargetMode="External"/><Relationship Id="rId4" Type="http://schemas.openxmlformats.org/officeDocument/2006/relationships/hyperlink" Target="https://arxiv.org/abs/2302.06590" TargetMode="External"/><Relationship Id="rId9" Type="http://schemas.openxmlformats.org/officeDocument/2006/relationships/hyperlink" Target="https://www.iea.org/reports/energy-and-ai/executive-summary" TargetMode="External"/><Relationship Id="rId14" Type="http://schemas.openxmlformats.org/officeDocument/2006/relationships/hyperlink" Target="https://www.sciencedirect.com/science/article/pii/S266638992300130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184" y="1690710"/>
            <a:ext cx="9144000" cy="2405802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Lecture </a:t>
            </a:r>
            <a:r>
              <a:rPr lang="en-US" dirty="0"/>
              <a:t>2</a:t>
            </a:r>
            <a:r>
              <a:rPr dirty="0"/>
              <a:t> — </a:t>
            </a:r>
            <a:r>
              <a:rPr lang="en-US" dirty="0"/>
              <a:t>Physics of energy generation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184" y="4216314"/>
            <a:ext cx="9144000" cy="1490005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PHY199-RAP · Energy in the 21st Century</a:t>
            </a:r>
            <a:br/>
            <a:br/>
            <a:r>
              <a:t>Dr. Salvatore Rappoccio</a:t>
            </a:r>
          </a:p>
        </p:txBody>
      </p:sp>
      <p:sp>
        <p:nvSpPr>
          <p:cNvPr id="4" name=" 3"/>
          <p:cNvSpPr/>
          <p:nvPr/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6121344-8E5D-8C90-90D5-425531E533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184" y="1690710"/>
            <a:ext cx="9144000" cy="2405802"/>
          </a:xfrm>
        </p:spPr>
        <p:txBody>
          <a:bodyPr/>
          <a:lstStyle/>
          <a:p>
            <a:pPr marL="0" lvl="0" indent="0">
              <a:buNone/>
            </a:pPr>
            <a:r>
              <a:t>Welcome to College in the post-AI Era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pPr marL="0" lvl="0" indent="0">
              <a:buNone/>
            </a:pPr>
            <a:r>
              <a:t>The new tools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3510E-E52A-43D2-D96B-9045F9A06C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b="1"/>
              <a:t>Artificial neural networks:</a:t>
            </a:r>
            <a:r>
              <a:t> software loosely inspired by brain cells</a:t>
            </a:r>
          </a:p>
          <a:p>
            <a:pPr lvl="0"/>
            <a:r>
              <a:rPr b="1"/>
              <a:t>Machine learning:</a:t>
            </a:r>
            <a:r>
              <a:t> systems that learn patterns from </a:t>
            </a:r>
            <a:r>
              <a:rPr b="1"/>
              <a:t>training data</a:t>
            </a:r>
          </a:p>
          <a:p>
            <a:pPr lvl="0"/>
            <a:r>
              <a:rPr b="1"/>
              <a:t>Large language models:</a:t>
            </a:r>
            <a:r>
              <a:t> trained to predict the </a:t>
            </a:r>
            <a:r>
              <a:rPr b="1"/>
              <a:t>next word (token)</a:t>
            </a:r>
            <a:r>
              <a:t> — that’s the whole trick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pPr marL="0" lvl="0" indent="0">
              <a:buNone/>
            </a:pPr>
            <a:r>
              <a:t>I’m not fighting the tide — here’s the policy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3510E-E52A-43D2-D96B-9045F9A06C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2000"/>
              <a:t>You may use AI for study material as you wish. Quizzes and the midterm are in-class — no AI. For your final project, you may use AI </a:t>
            </a:r>
            <a:r>
              <a:rPr sz="2000" b="1"/>
              <a:t>only with citation of all PRIMARY sources</a:t>
            </a:r>
            <a:r>
              <a:rPr sz="2000"/>
              <a:t> and if you </a:t>
            </a:r>
            <a:r>
              <a:rPr sz="2000" b="1"/>
              <a:t>quantify the ecological and social implications</a:t>
            </a:r>
            <a:r>
              <a:rPr sz="2000"/>
              <a:t> of your use: the model, the company, the source material it drew from, where the data centers are, and an estimate of the compute time. You’ll face probing Q&amp;A — if you don’t understand what you present, you won’t pass.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pPr marL="0" lvl="0" indent="0">
              <a:buNone/>
            </a:pPr>
            <a:r>
              <a:t>How an LLM “thinks”: the goldfish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3510E-E52A-43D2-D96B-9045F9A06C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Imagine </a:t>
            </a:r>
            <a:r>
              <a:rPr b="1"/>
              <a:t>millions of tiny goldfish</a:t>
            </a:r>
            <a:r>
              <a:t>, each guessing the most likely next word from everything it read on the internet</a:t>
            </a:r>
          </a:p>
          <a:p>
            <a:pPr lvl="0"/>
            <a:r>
              <a:t>Each goldfish lives a few minutes, then </a:t>
            </a:r>
            <a:r>
              <a:rPr b="1"/>
              <a:t>dies</a:t>
            </a:r>
            <a:r>
              <a:t> — the next one starts fresh</a:t>
            </a:r>
          </a:p>
          <a:p>
            <a:pPr lvl="0"/>
            <a:r>
              <a:t>So: </a:t>
            </a:r>
            <a:r>
              <a:rPr b="1"/>
              <a:t>it has no memory between sessions</a:t>
            </a:r>
            <a:r>
              <a:t> — storing </a:t>
            </a:r>
            <a:r>
              <a:rPr b="1"/>
              <a:t>context and rules</a:t>
            </a:r>
            <a:r>
              <a:t> is on </a:t>
            </a:r>
            <a:r>
              <a:rPr i="1"/>
              <a:t>you</a:t>
            </a:r>
          </a:p>
          <a:p>
            <a:pPr lvl="0"/>
            <a:r>
              <a:t>Do the </a:t>
            </a:r>
            <a:r>
              <a:rPr b="1"/>
              <a:t>thinking stage first</a:t>
            </a:r>
            <a:r>
              <a:t>: write a plan (planning modes help)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pPr marL="0" lvl="0" indent="0">
              <a:buNone/>
            </a:pPr>
            <a:r>
              <a:t>Good uses of AI — with honest evidence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3510E-E52A-43D2-D96B-9045F9A06C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b="1"/>
              <a:t>Coding</a:t>
            </a:r>
            <a:r>
              <a:t> (powerful — but the evidence is </a:t>
            </a:r>
            <a:r>
              <a:rPr i="1"/>
              <a:t>mixed</a:t>
            </a:r>
            <a:r>
              <a:t>), </a:t>
            </a:r>
            <a:r>
              <a:rPr b="1"/>
              <a:t>study guides</a:t>
            </a:r>
            <a:r>
              <a:t>, </a:t>
            </a:r>
            <a:r>
              <a:rPr b="1"/>
              <a:t>finding citations</a:t>
            </a:r>
            <a:r>
              <a:t>, </a:t>
            </a:r>
            <a:r>
              <a:rPr b="1"/>
              <a:t>proofreading</a:t>
            </a:r>
            <a:r>
              <a:t>, </a:t>
            </a:r>
            <a:r>
              <a:rPr b="1"/>
              <a:t>checking your logic</a:t>
            </a:r>
            <a:r>
              <a:t>, </a:t>
            </a:r>
            <a:r>
              <a:rPr b="1"/>
              <a:t>understanding hard readings</a:t>
            </a:r>
          </a:p>
          <a:p>
            <a:pPr lvl="0"/>
            <a:r>
              <a:t>Reality check: one trial found a </a:t>
            </a:r>
            <a:r>
              <a:rPr b="1"/>
              <a:t>speed-up</a:t>
            </a:r>
            <a:r>
              <a:t>; another found experienced developers were </a:t>
            </a:r>
            <a:r>
              <a:rPr b="1"/>
              <a:t>~19% slower</a:t>
            </a:r>
            <a:r>
              <a:t> while </a:t>
            </a:r>
            <a:r>
              <a:rPr i="1"/>
              <a:t>feeling</a:t>
            </a:r>
            <a:r>
              <a:t> faster</a:t>
            </a:r>
          </a:p>
          <a:p>
            <a:pPr lvl="0"/>
            <a:r>
              <a:t>Use it as a </a:t>
            </a:r>
            <a:r>
              <a:rPr b="1"/>
              <a:t>tool</a:t>
            </a:r>
            <a:r>
              <a:t>, verify its output — it is confidently wrong all the time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pPr marL="0" lvl="0" indent="0">
              <a:buNone/>
            </a:pPr>
            <a:r>
              <a:t>Bad uses of AI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3510E-E52A-43D2-D96B-9045F9A06C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b="1"/>
              <a:t>Plagiarism</a:t>
            </a:r>
            <a:r>
              <a:t> — passing AI (or anyone’s) work off as your own</a:t>
            </a:r>
          </a:p>
          <a:p>
            <a:pPr lvl="0"/>
            <a:r>
              <a:rPr b="1"/>
              <a:t>Attacking systems</a:t>
            </a:r>
            <a:r>
              <a:t> — e.g., the July 2026 incident where an OpenAI agent broke out of testing and compromised </a:t>
            </a:r>
            <a:r>
              <a:rPr b="1"/>
              <a:t>Hugging Face</a:t>
            </a:r>
          </a:p>
          <a:p>
            <a:pPr lvl="0"/>
            <a:r>
              <a:rPr b="1"/>
              <a:t>Violating UB academic integrity</a:t>
            </a:r>
            <a:r>
              <a:t> — know the rules before you’re tempted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pPr marL="0" lvl="0" indent="0">
              <a:buNone/>
            </a:pPr>
            <a:r>
              <a:t>AI isn’t free — it eats energy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3510E-E52A-43D2-D96B-9045F9A06C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Training and running big models takes </a:t>
            </a:r>
            <a:r>
              <a:rPr b="1"/>
              <a:t>serious electricity</a:t>
            </a:r>
          </a:p>
          <a:p>
            <a:pPr lvl="0"/>
            <a:r>
              <a:t>Global </a:t>
            </a:r>
            <a:r>
              <a:rPr b="1"/>
              <a:t>data-center demand is projected to roughly double by 2030</a:t>
            </a:r>
            <a:r>
              <a:t>, largely on AI</a:t>
            </a:r>
          </a:p>
          <a:p>
            <a:pPr lvl="0"/>
            <a:r>
              <a:t>Every answer you generate has a </a:t>
            </a:r>
            <a:r>
              <a:rPr b="1"/>
              <a:t>power bill</a:t>
            </a:r>
            <a:r>
              <a:t> attached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pPr marL="0" lvl="0" indent="0">
              <a:buNone/>
            </a:pPr>
            <a:r>
              <a:t>…and it drinks water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3510E-E52A-43D2-D96B-9045F9A06C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Data centers </a:t>
            </a:r>
            <a:r>
              <a:rPr b="1"/>
              <a:t>evaporate water</a:t>
            </a:r>
            <a:r>
              <a:t> to stay cool</a:t>
            </a:r>
          </a:p>
          <a:p>
            <a:pPr lvl="0"/>
            <a:r>
              <a:t>Remember the Great Lakes — </a:t>
            </a:r>
            <a:r>
              <a:rPr b="1"/>
              <a:t>21% of the world’s surface fresh water, right here?</a:t>
            </a:r>
            <a:r>
              <a:t> This is where that matters</a:t>
            </a:r>
          </a:p>
          <a:p>
            <a:pPr lvl="0"/>
            <a:r>
              <a:rPr b="1"/>
              <a:t>Scrutinize the scary stat:</a:t>
            </a:r>
            <a:r>
              <a:t> the viral “a bottle of water per email” figure is </a:t>
            </a:r>
            <a:r>
              <a:rPr b="1"/>
              <a:t>contested</a:t>
            </a:r>
            <a:r>
              <a:t> (critics estimate closer to ~5 mL) — check claims before you repeat them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pPr marL="0" lvl="0" indent="0">
              <a:buNone/>
            </a:pPr>
            <a:r>
              <a:t>Where does the answer come from — and from where?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3510E-E52A-43D2-D96B-9045F9A06C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b="1"/>
              <a:t>What:</a:t>
            </a:r>
            <a:r>
              <a:t> the answer is stitched from </a:t>
            </a:r>
            <a:r>
              <a:rPr b="1"/>
              <a:t>training data</a:t>
            </a:r>
            <a:r>
              <a:t> — so you must cite the </a:t>
            </a:r>
            <a:r>
              <a:rPr b="1"/>
              <a:t>primary sources</a:t>
            </a:r>
            <a:r>
              <a:t> behind it</a:t>
            </a:r>
          </a:p>
          <a:p>
            <a:pPr lvl="0"/>
            <a:r>
              <a:rPr b="1"/>
              <a:t>Where:</a:t>
            </a:r>
            <a:r>
              <a:t> it’s computed in </a:t>
            </a:r>
            <a:r>
              <a:rPr b="1"/>
              <a:t>data centers somewhere</a:t>
            </a:r>
            <a:r>
              <a:t> — geography sets the footprint</a:t>
            </a:r>
          </a:p>
          <a:p>
            <a:pPr lvl="0"/>
            <a:r>
              <a:t>This is exactly what the AI policy asks you to disclose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pPr marL="0" lvl="0" indent="0">
              <a:buNone/>
            </a:pPr>
            <a:r>
              <a:t>Can we tell you used AI? Make it a coin flip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3510E-E52A-43D2-D96B-9045F9A06C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Every “low-stakes” word choice is one </a:t>
            </a:r>
            <a:r>
              <a:rPr b="1"/>
              <a:t>coin flip</a:t>
            </a:r>
          </a:p>
          <a:p>
            <a:pPr lvl="0"/>
            <a:r>
              <a:rPr b="1"/>
              <a:t>Heads</a:t>
            </a:r>
            <a:r>
              <a:t> = the word a secret key nudges the model toward</a:t>
            </a:r>
          </a:p>
          <a:p>
            <a:pPr lvl="0"/>
            <a:r>
              <a:t>No watermark → a </a:t>
            </a:r>
            <a:r>
              <a:rPr b="1"/>
              <a:t>fair coin</a:t>
            </a:r>
            <a:r>
              <a:t> (50/50); watermark → a </a:t>
            </a:r>
            <a:r>
              <a:rPr b="1"/>
              <a:t>subtly loaded coin</a:t>
            </a:r>
          </a:p>
          <a:p>
            <a:pPr lvl="0"/>
            <a:r>
              <a:t>The detector just </a:t>
            </a:r>
            <a:r>
              <a:rPr b="1"/>
              <a:t>counts heads</a:t>
            </a:r>
            <a:r>
              <a:t> and asks: </a:t>
            </a:r>
            <a:r>
              <a:rPr i="1"/>
              <a:t>too many to be luck?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pPr marL="0" lvl="0" indent="0">
              <a:buNone/>
            </a:pPr>
            <a:r>
              <a:t>The test — one line of statistics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3">
                <a:extLst>
                  <a:ext uri="{FF2B5EF4-FFF2-40B4-BE49-F238E27FC236}">
                    <a16:creationId xmlns:a16="http://schemas.microsoft.com/office/drawing/2014/main" id="{79FC7291-FE51-B6E9-4282-93216FB48CDA}"/>
                  </a:ext>
                </a:extLst>
              </p:cNvPr>
              <p:cNvSpPr>
                <a:spLocks noGrp="1"/>
              </p:cNvSpPr>
              <p:nvPr>
                <p:ph type="body" sz="half" idx="2" hasCustomPrompt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For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t> word-choices, count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t> “heads.” A fair coin expects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𝑁</m:t>
                    </m:r>
                    <m:r>
                      <a:rPr>
                        <a:latin typeface="Cambria Math" panose="02040503050406030204" pitchFamily="18" charset="0"/>
                      </a:rPr>
                      <m:t>/2±</m:t>
                    </m:r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Text Placeholder 3">
                <a:extLst>
                  <a:ext uri="{FF2B5EF4-FFF2-40B4-BE49-F238E27FC236}">
                    <a16:creationId xmlns:a16="http://schemas.microsoft.com/office/drawing/2014/main" id="{79FC7291-FE51-B6E9-4282-93216FB48C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 hasCustomPrompt="1"/>
              </p:nvPr>
            </p:nvSpPr>
            <p:spPr>
              <a:blipFill>
                <a:blip r:embed="rId2"/>
                <a:stretch>
                  <a:fillRect l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heads 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fair-coin odds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Human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ordinary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Watermarked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b="1"/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b="1"/>
                        <a:t>~0.1%</a:t>
                      </a:r>
                      <a:r>
                        <a:t> (1 in 750)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693510E-E52A-43D2-D96B-9045F9A06C1D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A big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t> = the coin is loaded = the text is watermarked.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693510E-E52A-43D2-D96B-9045F9A06C1D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3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pPr marL="0" lvl="0" indent="0">
              <a:buNone/>
            </a:pPr>
            <a:r>
              <a:t>Why it’s not foolproof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693510E-E52A-43D2-D96B-9045F9A06C1D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Short text loses:</a:t>
                </a:r>
                <a:r>
                  <a:t> 8 of 10 heads (z≈1.9) happens ~5.5% of the time by luck — signal grows only like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endParaRPr/>
              </a:p>
              <a:p>
                <a:pPr lvl="0"/>
                <a:r>
                  <a:t>A </a:t>
                </a:r>
                <a:r>
                  <a:rPr b="1"/>
                  <a:t>full rewrite erases</a:t>
                </a:r>
                <a:r>
                  <a:t> it; factual passages carry little of it</a:t>
                </a:r>
              </a:p>
              <a:p>
                <a:pPr lvl="0"/>
                <a:r>
                  <a:t>Only whoever holds the </a:t>
                </a:r>
                <a:r>
                  <a:rPr b="1"/>
                  <a:t>detector</a:t>
                </a:r>
                <a:r>
                  <a:t> can check; naïve “AI detectors” wrongly flag </a:t>
                </a:r>
                <a:r>
                  <a:rPr b="1"/>
                  <a:t>non-native English writers</a:t>
                </a:r>
              </a:p>
              <a:p>
                <a:pPr lvl="0"/>
                <a:r>
                  <a:t>⇒ It can show AI </a:t>
                </a:r>
                <a:r>
                  <a:rPr i="1"/>
                  <a:t>was</a:t>
                </a:r>
                <a:r>
                  <a:t> used — never that it </a:t>
                </a:r>
                <a:r>
                  <a:rPr i="1"/>
                  <a:t>wasn’t</a:t>
                </a:r>
                <a:r>
                  <a:t>. </a:t>
                </a:r>
                <a:r>
                  <a:rPr b="1"/>
                  <a:t>The Q&amp;A is the real check.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693510E-E52A-43D2-D96B-9045F9A06C1D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3"/>
                <a:stretch>
                  <a:fillRect l="-483" r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pPr marL="0" lvl="0" indent="0">
              <a:buNone/>
            </a:pPr>
            <a:r>
              <a:t>The worked example: this deck’s AI disclosure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3510E-E52A-43D2-D96B-9045F9A06C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Built in accordance with our own policy:</a:t>
            </a:r>
          </a:p>
          <a:p>
            <a:pPr lvl="0"/>
            <a:r>
              <a:rPr b="1"/>
              <a:t>Model / company:</a:t>
            </a:r>
            <a:r>
              <a:t> Claude (Anthropic)</a:t>
            </a:r>
          </a:p>
          <a:p>
            <a:pPr lvl="0"/>
            <a:r>
              <a:rPr b="1"/>
              <a:t>What it drew from:</a:t>
            </a:r>
            <a:r>
              <a:t> the </a:t>
            </a:r>
            <a:r>
              <a:rPr b="1"/>
              <a:t>primary sources cited on every section’s Sources slide</a:t>
            </a:r>
          </a:p>
          <a:p>
            <a:pPr lvl="0"/>
            <a:r>
              <a:rPr b="1"/>
              <a:t>Where:</a:t>
            </a:r>
            <a:r>
              <a:t> Anthropic compute runs on major U.S. cloud regions </a:t>
            </a:r>
            <a:r>
              <a:rPr i="1"/>
              <a:t>(exact region confirmed at build)</a:t>
            </a:r>
          </a:p>
          <a:p>
            <a:pPr lvl="0"/>
            <a:r>
              <a:rPr b="1"/>
              <a:t>Compute / tokens:</a:t>
            </a:r>
            <a:r>
              <a:t> </a:t>
            </a:r>
            <a:r>
              <a:rPr b="1"/>
              <a:t>≈ 1.2 million tokens</a:t>
            </a:r>
            <a:r>
              <a:t> (estimate) to research, calculate, and assemble this deck</a:t>
            </a:r>
          </a:p>
          <a:p>
            <a:pPr lvl="0"/>
            <a:r>
              <a:rPr b="1"/>
              <a:t>Energy / water estimate:</a:t>
            </a:r>
            <a:r>
              <a:t> </a:t>
            </a:r>
            <a:r>
              <a:rPr b="1"/>
              <a:t>≈ 0.35 kWh</a:t>
            </a:r>
            <a:r>
              <a:t> and </a:t>
            </a:r>
            <a:r>
              <a:rPr b="1"/>
              <a:t>≈ 0.4 L</a:t>
            </a:r>
            <a:r>
              <a:t> — </a:t>
            </a:r>
            <a:r>
              <a:rPr i="1"/>
              <a:t>(method and honest uncertainty on the next slide)</a:t>
            </a:r>
          </a:p>
          <a:p>
            <a:pPr lvl="0"/>
            <a:r>
              <a:t>≈ </a:t>
            </a:r>
            <a:r>
              <a:rPr b="1"/>
              <a:t>29 phone charges</a:t>
            </a:r>
            <a:r>
              <a:t> of electricity, and about </a:t>
            </a:r>
            <a:r>
              <a:rPr b="1"/>
              <a:t>a large glass</a:t>
            </a:r>
            <a:r>
              <a:t> of water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pPr marL="0" lvl="0" indent="0">
              <a:buNone/>
            </a:pPr>
            <a:r>
              <a:t>How that estimate was made (and why it’s fuzzy)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3510E-E52A-43D2-D96B-9045F9A06C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b="1"/>
              <a:t>Tokens:</a:t>
            </a:r>
            <a:r>
              <a:t> ~1.2M is an </a:t>
            </a:r>
            <a:r>
              <a:rPr i="1"/>
              <a:t>estimate</a:t>
            </a:r>
            <a:r>
              <a:t> of total input+output for the session (I can substitute the exact figure from the usage log)</a:t>
            </a:r>
          </a:p>
          <a:p>
            <a:pPr lvl="0"/>
            <a:r>
              <a:rPr b="1"/>
              <a:t>Energy:</a:t>
            </a:r>
            <a:r>
              <a:t> ~0.15–0.45 Wh per 1,000 tokens (anchored to Google’s 2025 ~0.24 Wh/prompt) → </a:t>
            </a:r>
            <a:r>
              <a:rPr b="1"/>
              <a:t>~0.2–0.5 kWh</a:t>
            </a:r>
          </a:p>
          <a:p>
            <a:pPr lvl="0"/>
            <a:r>
              <a:rPr b="1"/>
              <a:t>Water:</a:t>
            </a:r>
            <a:r>
              <a:t> ~0.3 mL/Wh (efficient) to ~1.8 mL/Wh (thirsty region) → </a:t>
            </a:r>
            <a:r>
              <a:rPr b="1"/>
              <a:t>~0.05–1 L</a:t>
            </a:r>
          </a:p>
          <a:p>
            <a:pPr lvl="0"/>
            <a:r>
              <a:t>The </a:t>
            </a:r>
            <a:r>
              <a:rPr b="1"/>
              <a:t>range is the point</a:t>
            </a:r>
            <a:r>
              <a:t>: providers report differently and rarely fully — </a:t>
            </a:r>
            <a:r>
              <a:rPr i="1"/>
              <a:t>scrutinize any single scary number</a:t>
            </a:r>
            <a:r>
              <a:t> (just like the “bottle per email” stat)</a:t>
            </a:r>
          </a:p>
          <a:p>
            <a:pPr marL="0" lvl="0" indent="0">
              <a:buNone/>
            </a:pPr>
            <a:r>
              <a:rPr i="1"/>
              <a:t>Sources: Google environmental disclosures (2025); Li et al., “Making AI Less Thirsty”; IEA, “Energy and AI”; de Vries (2023), Joule.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pPr marL="0" lvl="0" indent="0">
              <a:buNone/>
            </a:pPr>
            <a:r>
              <a:t>Post-AI era — sources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3510E-E52A-43D2-D96B-9045F9A06C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LLMs: </a:t>
            </a:r>
            <a:r>
              <a:rPr>
                <a:hlinkClick r:id="rId2"/>
              </a:rPr>
              <a:t>Vaswani et al. (2017)</a:t>
            </a:r>
            <a:r>
              <a:t>; </a:t>
            </a:r>
            <a:r>
              <a:rPr>
                <a:hlinkClick r:id="rId3"/>
              </a:rPr>
              <a:t>3Blue1Brown</a:t>
            </a:r>
          </a:p>
          <a:p>
            <a:pPr lvl="0"/>
            <a:r>
              <a:t>Coding evidence: </a:t>
            </a:r>
            <a:r>
              <a:rPr>
                <a:hlinkClick r:id="rId4"/>
              </a:rPr>
              <a:t>Peng et al. (2023)</a:t>
            </a:r>
            <a:r>
              <a:t>; </a:t>
            </a:r>
            <a:r>
              <a:rPr>
                <a:hlinkClick r:id="rId5"/>
              </a:rPr>
              <a:t>METR (2025)</a:t>
            </a:r>
          </a:p>
          <a:p>
            <a:pPr lvl="0"/>
            <a:r>
              <a:t>Bad uses: </a:t>
            </a:r>
            <a:r>
              <a:rPr>
                <a:hlinkClick r:id="rId6"/>
              </a:rPr>
              <a:t>OpenAI–Hugging Face disclosure</a:t>
            </a:r>
            <a:r>
              <a:t>; </a:t>
            </a:r>
            <a:r>
              <a:rPr>
                <a:hlinkClick r:id="rId7"/>
              </a:rPr>
              <a:t>UB Academic Integrity</a:t>
            </a:r>
          </a:p>
          <a:p>
            <a:pPr lvl="0"/>
            <a:r>
              <a:t>Energy: </a:t>
            </a:r>
            <a:r>
              <a:rPr>
                <a:hlinkClick r:id="rId8"/>
              </a:rPr>
              <a:t>de Vries (2023), </a:t>
            </a:r>
            <a:r>
              <a:rPr i="1">
                <a:hlinkClick r:id="rId8"/>
              </a:rPr>
              <a:t>Joule</a:t>
            </a:r>
            <a:r>
              <a:t>; </a:t>
            </a:r>
            <a:r>
              <a:rPr>
                <a:hlinkClick r:id="rId9"/>
              </a:rPr>
              <a:t>IEA — Energy and AI</a:t>
            </a:r>
          </a:p>
          <a:p>
            <a:pPr lvl="0"/>
            <a:r>
              <a:t>Water: </a:t>
            </a:r>
            <a:r>
              <a:rPr>
                <a:hlinkClick r:id="rId10"/>
              </a:rPr>
              <a:t>Li et al., “Making AI Less Thirsty”</a:t>
            </a:r>
          </a:p>
          <a:p>
            <a:pPr lvl="0"/>
            <a:r>
              <a:t>Watermarking: </a:t>
            </a:r>
            <a:r>
              <a:rPr>
                <a:hlinkClick r:id="rId11"/>
              </a:rPr>
              <a:t>Anthropic (2026)</a:t>
            </a:r>
            <a:r>
              <a:t>; </a:t>
            </a:r>
            <a:r>
              <a:rPr>
                <a:hlinkClick r:id="rId12"/>
              </a:rPr>
              <a:t>Kirchenbauer et al. (2023)</a:t>
            </a:r>
            <a:r>
              <a:t>; </a:t>
            </a:r>
            <a:r>
              <a:rPr>
                <a:hlinkClick r:id="rId13"/>
              </a:rPr>
              <a:t>SynthID-Text, </a:t>
            </a:r>
            <a:r>
              <a:rPr i="1">
                <a:hlinkClick r:id="rId13"/>
              </a:rPr>
              <a:t>Nature</a:t>
            </a:r>
            <a:r>
              <a:rPr>
                <a:hlinkClick r:id="rId13"/>
              </a:rPr>
              <a:t> (2024)</a:t>
            </a:r>
            <a:r>
              <a:t>; </a:t>
            </a:r>
            <a:r>
              <a:rPr>
                <a:hlinkClick r:id="rId14"/>
              </a:rPr>
              <a:t>Liang et al. (2023)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B Unit Presentation Template">
  <a:themeElements>
    <a:clrScheme name="UB Brand Colors">
      <a:dk1>
        <a:srgbClr val="FFFFFF"/>
      </a:dk1>
      <a:lt1>
        <a:srgbClr val="4D4D4D"/>
      </a:lt1>
      <a:dk2>
        <a:srgbClr val="FFFFFF"/>
      </a:dk2>
      <a:lt2>
        <a:srgbClr val="005BBB"/>
      </a:lt2>
      <a:accent1>
        <a:srgbClr val="005BBB"/>
      </a:accent1>
      <a:accent2>
        <a:srgbClr val="2F9FD0"/>
      </a:accent2>
      <a:accent3>
        <a:srgbClr val="E56954"/>
      </a:accent3>
      <a:accent4>
        <a:srgbClr val="002F56"/>
      </a:accent4>
      <a:accent5>
        <a:srgbClr val="E3E3E3"/>
      </a:accent5>
      <a:accent6>
        <a:srgbClr val="006570"/>
      </a:accent6>
      <a:hlink>
        <a:srgbClr val="005BBB"/>
      </a:hlink>
      <a:folHlink>
        <a:srgbClr val="2F9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2738</TotalTime>
  <Words>1400</Words>
  <Application>Microsoft Macintosh PowerPoint</Application>
  <PresentationFormat>Widescreen</PresentationFormat>
  <Paragraphs>124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Cambria Math</vt:lpstr>
      <vt:lpstr>Georgia</vt:lpstr>
      <vt:lpstr>System Font Regular</vt:lpstr>
      <vt:lpstr>UB Unit Presentation Template</vt:lpstr>
      <vt:lpstr>Lecture 2 — Physics of energy generation</vt:lpstr>
      <vt:lpstr>Welcome to College in the post-AI Era</vt:lpstr>
      <vt:lpstr>The new tools</vt:lpstr>
      <vt:lpstr>I’m not fighting the tide — here’s the policy</vt:lpstr>
      <vt:lpstr>How an LLM “thinks”: the goldfish</vt:lpstr>
      <vt:lpstr>Good uses of AI — with honest evidence</vt:lpstr>
      <vt:lpstr>Bad uses of AI</vt:lpstr>
      <vt:lpstr>AI isn’t free — it eats energy</vt:lpstr>
      <vt:lpstr>…and it drinks water</vt:lpstr>
      <vt:lpstr>Where does the answer come from — and from where?</vt:lpstr>
      <vt:lpstr>Can we tell you used AI? Make it a coin flip</vt:lpstr>
      <vt:lpstr>The test — one line of statistics</vt:lpstr>
      <vt:lpstr>PowerPoint Presentation</vt:lpstr>
      <vt:lpstr>Why it’s not foolproof</vt:lpstr>
      <vt:lpstr>The worked example: this deck’s AI disclosure</vt:lpstr>
      <vt:lpstr>How that estimate was made (and why it’s fuzzy)</vt:lpstr>
      <vt:lpstr>Post-AI era — sources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64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9" baseType="lpstr">
      <vt:lpstr>Aptos</vt:lpstr>
      <vt:lpstr>Arial</vt:lpstr>
      <vt:lpstr>Georgia</vt:lpstr>
      <vt:lpstr>System Font Regular</vt:lpstr>
      <vt:lpstr>UB Unit Presentation Template</vt:lpstr>
      <vt:lpstr>Lecture 1 — Introduction</vt:lpstr>
      <vt:lpstr>Code of Conduct</vt:lpstr>
      <vt:lpstr>We all must abide by UB’s </vt:lpstr>
      <vt:lpstr>Welcome to Buffalo</vt:lpstr>
      <vt:lpstr>335 Mya : Buffalandinavia?</vt:lpstr>
      <vt:lpstr>335 Mya : Buffalandinavia?</vt:lpstr>
      <vt:lpstr>Utica Shale</vt:lpstr>
      <vt:lpstr>A fifth of Earth’s surface fresh water is right here</vt:lpstr>
      <vt:lpstr>The original people: the Haudenosaunee and Seneca</vt:lpstr>
      <vt:lpstr>Treaties, and a promise on paper</vt:lpstr>
      <vt:lpstr>The city the canal built</vt:lpstr>
      <vt:lpstr>Buffalo and the long fight for equity</vt:lpstr>
      <vt:lpstr>Things to actually do here</vt:lpstr>
      <vt:lpstr>Welcome to Buffalo — sources</vt:lpstr>
      <vt:lpstr>Welcome to UB</vt:lpstr>
      <vt:lpstr>Why public universities exist</vt:lpstr>
      <vt:lpstr>UB: 180 years on the Niagara Frontier</vt:lpstr>
      <vt:lpstr>The cost of college: two ways to carry a loan</vt:lpstr>
      <vt:lpstr>If you borrow it all — federal rate (6.52%)</vt:lpstr>
      <vt:lpstr>“Pay in school” also costs interest during the 4 enrolled years (not shown) — it still ends up cheaper.</vt:lpstr>
      <vt:lpstr>The same, at a private / PLUS rate (9.84%)</vt:lpstr>
      <vt:lpstr>“Pay in school” also costs interest during the 4 enrolled years (~$11k–$98k, not shown).</vt:lpstr>
      <vt:lpstr>Takeaway: pay the interest now if you can</vt:lpstr>
      <vt:lpstr>Welcome to UB — sources</vt:lpstr>
      <vt:lpstr>Welcome to College</vt:lpstr>
      <vt:lpstr>You’re here to learn how to </vt:lpstr>
      <vt:lpstr>Take notes to </vt:lpstr>
      <vt:lpstr>Study what actually works: test yourself, space it out</vt:lpstr>
      <vt:lpstr>Manage your time; learn to research</vt:lpstr>
      <vt:lpstr>Two skills we’ll build later</vt:lpstr>
      <vt:lpstr>Welcome to College — sources</vt:lpstr>
      <vt:lpstr>Welcome to this Course</vt:lpstr>
      <vt:lpstr>Two ways to make electricity</vt:lpstr>
      <vt:lpstr>The menu of energy sources</vt:lpstr>
      <vt:lpstr>It started here — and it was clean</vt:lpstr>
      <vt:lpstr>The Current Wars: AC vs DC</vt:lpstr>
      <vt:lpstr>But energy is never free</vt:lpstr>
      <vt:lpstr>Anthropogenic climate change</vt:lpstr>
      <vt:lpstr>Even “clean” energy has victims: the Kinzua Dam</vt:lpstr>
      <vt:lpstr>The human cost of fossil fuels: Appalachia</vt:lpstr>
      <vt:lpstr>Catastrophe in our backyard: Love Canal</vt:lpstr>
      <vt:lpstr>Which energy actually kills people?</vt:lpstr>
      <vt:lpstr>The frontier: nuclear fusion</vt:lpstr>
      <vt:lpstr>The map for the semester</vt:lpstr>
      <vt:lpstr>Welcome to this Course — sources</vt:lpstr>
      <vt:lpstr>Welcome to College in the post-AI Era</vt:lpstr>
      <vt:lpstr>The new tools</vt:lpstr>
      <vt:lpstr>I’m not fighting the tide — here’s the policy</vt:lpstr>
      <vt:lpstr>How an LLM “thinks”: the goldfish</vt:lpstr>
      <vt:lpstr>Good uses of AI — with honest evidence</vt:lpstr>
      <vt:lpstr>Bad uses of AI</vt:lpstr>
      <vt:lpstr>AI isn’t free — it eats energy</vt:lpstr>
      <vt:lpstr>…and it drinks water</vt:lpstr>
      <vt:lpstr>Where does the answer come from — and from where?</vt:lpstr>
      <vt:lpstr>Can we tell you used AI? Make it a coin flip</vt:lpstr>
      <vt:lpstr>The test — one line of statistics</vt:lpstr>
      <vt:lpstr>A big </vt:lpstr>
      <vt:lpstr>Why it’s not foolproof</vt:lpstr>
      <vt:lpstr>The worked example: this deck’s AI disclosure</vt:lpstr>
      <vt:lpstr>How that estimate was made (and why it’s fuzzy)</vt:lpstr>
      <vt:lpstr>Post-AI era — sources</vt:lpstr>
      <vt:lpstr>The Syllabus</vt:lpstr>
      <vt:lpstr>Let’s look at the syllabus</vt:lpstr>
      <vt:lpstr>Welcome to Energy in the 21st Century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— Introduction</dc:title>
  <dc:creator>Dr. Salvatore Rappoccio</dc:creator>
  <cp:keywords/>
  <cp:lastModifiedBy>Salvatore Rappoccio</cp:lastModifiedBy>
  <cp:revision>71</cp:revision>
  <cp:lastPrinted>2026-08-18T15:19:26Z</cp:lastPrinted>
  <dcterms:created xsi:type="dcterms:W3CDTF">2026-08-17T20:32:41Z</dcterms:created>
  <dcterms:modified xsi:type="dcterms:W3CDTF">2026-08-26T18:10:59Z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signment">
    <vt:lpwstr>Syllabus quiz.</vt:lpwstr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uthor">
    <vt:lpwstr/>
  </property>
  <property fmtid="{D5CDD505-2E9C-101B-9397-08002B2CF9AE}" pid="6" name="date">
    <vt:lpwstr>2026-08-24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material">
    <vt:lpwstr>Syllabus, lecture notes.</vt:lpwstr>
  </property>
  <property fmtid="{D5CDD505-2E9C-101B-9397-08002B2CF9AE}" pid="12" name="subtitle">
    <vt:lpwstr>PHY199-RAP · Energy in the 21st Century</vt:lpwstr>
  </property>
  <property fmtid="{D5CDD505-2E9C-101B-9397-08002B2CF9AE}" pid="13" name="toc-title">
    <vt:lpwstr>Table of contents</vt:lpwstr>
  </property>
</Properties>
</file>