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7469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to the electricity deck. We pick up exactly where the electricity lecture ended (P=VI, I^2R losses, the War of the Currents) and show how magnetism is what actually GENERATES and MOVES electricity. Magnitudes only — no 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Callback slide. The electricity deck ended at I^2R and 'this sets up the War of the Currents.' Magnetism is the missing piece: it's the source of the EMF. Tease: batteries/solar are DC, but the grid is AC — why? Magnetism answers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to magnitudes and pictures. Key intuitions: two poles, like repels/opposite attracts, field fills space and falls off with distance, no magnetic monopoles. Unit is the Tesla — a big unit: Earth's field is ~50 microtesla, a fridge magnet ~5 milliteslas, an MRI ~1.5-3 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founding accident of E&amp;M. Emphasize the unification: current -&gt; magnetic field. Coil = electromagnet you can turn on/off, which is what makes controllable machines possible. This is the same Ørsted-&gt;Faraday-&gt;Maxwell chain named in the electricity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motor principle. Units check: T·A·m = N, so the salmon box ties back to the derive-your-units style of the electricity deck. Keep it magnitudes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Motor = loop in a field + commutator. Electrical -&gt; mechanical. Give everyday examples so first-years feel it's everywhere. We'll flip this exact machine around in two slides to make a generator.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 = B x A (magnitude, field perpendicular to the loop). The rain-in-a-bucket analogy makes it concrete. We only need flux so we can talk about it CHANGING on the next slide — that's Faraday.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slide. Units: Wb/s = V ties straight back to volts from the electricity deck. Emphasize 'changing' — a static field does nothing. Faster change and more turns =&gt; more voltage. Everything after this is applications of this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ways to change flux; the fourth (rotating the loop) is the generator, which we build next. Foreshadow: this will be relevant for turbines and for 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unifying idea of the course (echoes the electricity deck's 'every plant is one machine'). Coal/nuclear/gas/hydro/wind all just spin a magnet past a coil; only the energy source that does the spinning differs. Solar PV is the exception — no spinning — which is why it's DC, tie-in to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Turbine = the thing that spins the generator. Callback to Niagara/hydro from Lecture 1 and the water-mill lineage from the electricity deck. Coal/nuclear boil water to make steam to spin it; hydro uses falling water; wind uses air. The generator step is always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elegant symmetry: motor and generator are the same device. Regenerative braking in EVs is the everyday proof — the drive motor becomes a generator when you slow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Crucial 'aha': AC is not arbitrary. A rotating coil produces a sinusoidal voltage automatically. DC would actually require extra hardware (the commutator) to force it. This is half the reason AC won the War of the Currents.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Hz US / 50 Hz much of the world — arbitrary standards. All generators must stay phase-locked. 120 V wall outlet at 60 Hz. Forward-reference to the grid/blackout material in the main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Ampère quantifies Ørsted: B grows with current, falls with distance. Solenoid = coil that concentrates the field. Keep the proportionality qualitative (magnitudes/scaling only). This is 'enrichment'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Faraday + Maxwell together close the loop and predict light. Keep it conceptual — no wave equations. The payoff line: everything from radio to sunlight is the same phenomenon. This is the intellectual summit of classical physics; deliver it with a bit of awe.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Transformer = two coils, one core, Faraday's law. Turns ratio sets voltage ratio. The killer point: it needs CHANGING flux, so it only works with AC. This is the hinge of the whole War of the Currents argument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synthesis. I^2R (from the electricity deck) + transformers (this deck) = why the grid is AC. High-voltage/low-current transmission minimizes I^2R loss; transformers make voltage conversion trivial, and they only work on AC. Sets up the AC/DC 'Current Wars' politics in Week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Authentic Sal tie-in (per project style notes: lean into CMS/CERN). The magnet is literally in the name. 3.8 T ~ 100,000x Earth's ~50 microtesla field. Same 'force on a current' physics as the motor slide, applied to particle tracking. Keep it warm and a little funny.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takeaways, matching the electricity deck's 'To remember' closer. These are the responsible-for items. Faraday's law is the one they must not forget.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reference list. Every reference cited on a slide appears here as a clickable link (1–3 word anchors), grouped by source: primary sources, HyperPhysics topic pages, Britannica topic pages, other cited items (War of the Currents, CMS solenoid, NYISO), and the vetted video creators from the project's trusted list. Confirm creator/video URLs still resolve before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hyperlink" Target="http://hyperphysics.phy-astr.gsu.edu/hbase/magnetic/genwir2.html" TargetMode="External"/><Relationship Id="rId18" Type="http://schemas.openxmlformats.org/officeDocument/2006/relationships/hyperlink" Target="http://hyperphysics.phy-astr.gsu.edu/hbase/Waves/emwv.html" TargetMode="External"/><Relationship Id="rId26" Type="http://schemas.openxmlformats.org/officeDocument/2006/relationships/hyperlink" Target="https://www.britannica.com/technology/turbine" TargetMode="External"/><Relationship Id="rId21" Type="http://schemas.openxmlformats.org/officeDocument/2006/relationships/hyperlink" Target="https://www.britannica.com/science/magnetism" TargetMode="External"/><Relationship Id="rId34" Type="http://schemas.openxmlformats.org/officeDocument/2006/relationships/hyperlink" Target="https://www.youtube.com/watch?v=oI_X2cMHNe0" TargetMode="External"/><Relationship Id="rId7" Type="http://schemas.openxmlformats.org/officeDocument/2006/relationships/hyperlink" Target="https://en.wikisource.org/wiki/A_Dynamical_Theory_of_the_Electromagnetic_Field" TargetMode="External"/><Relationship Id="rId12" Type="http://schemas.openxmlformats.org/officeDocument/2006/relationships/hyperlink" Target="http://hyperphysics.phy-astr.gsu.edu/hbase/electric/farlaw2.html" TargetMode="External"/><Relationship Id="rId17" Type="http://schemas.openxmlformats.org/officeDocument/2006/relationships/hyperlink" Target="http://hyperphysics.phy-astr.gsu.edu/hbase/magnetic/amplaw.html" TargetMode="External"/><Relationship Id="rId25" Type="http://schemas.openxmlformats.org/officeDocument/2006/relationships/hyperlink" Target="https://www.britannica.com/technology/electric-generator" TargetMode="External"/><Relationship Id="rId33" Type="http://schemas.openxmlformats.org/officeDocument/2006/relationships/hyperlink" Target="https://www.youtube.com/@3blue1brown" TargetMode="External"/><Relationship Id="rId38" Type="http://schemas.openxmlformats.org/officeDocument/2006/relationships/hyperlink" Target="https://en.wikipedia.org/wiki/Brian_Cox_(physicist)" TargetMode="External"/><Relationship Id="rId2" Type="http://schemas.openxmlformats.org/officeDocument/2006/relationships/notesSlide" Target="../notesSlides/notesSlide26.xml"/><Relationship Id="rId16" Type="http://schemas.openxmlformats.org/officeDocument/2006/relationships/hyperlink" Target="http://hyperphysics.phy-astr.gsu.edu/hbase/magnetic/solenoid.html" TargetMode="External"/><Relationship Id="rId20" Type="http://schemas.openxmlformats.org/officeDocument/2006/relationships/hyperlink" Target="http://hyperphysics.phy-astr.gsu.edu/hbase/electric/powerp.html" TargetMode="External"/><Relationship Id="rId29" Type="http://schemas.openxmlformats.org/officeDocument/2006/relationships/hyperlink" Target="https://www.britannica.com/biography/Andre-Marie-Ampere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utenberg.org/ebooks/14986" TargetMode="External"/><Relationship Id="rId11" Type="http://schemas.openxmlformats.org/officeDocument/2006/relationships/hyperlink" Target="http://hyperphysics.phy-astr.gsu.edu/hbase/magnetic/fluxmg.html" TargetMode="External"/><Relationship Id="rId24" Type="http://schemas.openxmlformats.org/officeDocument/2006/relationships/hyperlink" Target="https://www.britannica.com/technology/electric-motor" TargetMode="External"/><Relationship Id="rId32" Type="http://schemas.openxmlformats.org/officeDocument/2006/relationships/hyperlink" Target="https://www.nyiso.com" TargetMode="External"/><Relationship Id="rId37" Type="http://schemas.openxmlformats.org/officeDocument/2006/relationships/hyperlink" Target="https://home.cern/science/experiments/cms" TargetMode="External"/><Relationship Id="rId5" Type="http://schemas.openxmlformats.org/officeDocument/2006/relationships/hyperlink" Target="https://erenow.org/common/history-philosophy-science-reader/54.php" TargetMode="External"/><Relationship Id="rId15" Type="http://schemas.openxmlformats.org/officeDocument/2006/relationships/hyperlink" Target="http://hyperphysics.phy-astr.gsu.edu/hbase/magnetic/motorac.html" TargetMode="External"/><Relationship Id="rId23" Type="http://schemas.openxmlformats.org/officeDocument/2006/relationships/hyperlink" Target="https://www.britannica.com/biography/Hans-Christian-Orsted" TargetMode="External"/><Relationship Id="rId28" Type="http://schemas.openxmlformats.org/officeDocument/2006/relationships/hyperlink" Target="https://www.britannica.com/technology/transformer-electronics" TargetMode="External"/><Relationship Id="rId36" Type="http://schemas.openxmlformats.org/officeDocument/2006/relationships/hyperlink" Target="https://www.instagram.com/particleclara/" TargetMode="External"/><Relationship Id="rId10" Type="http://schemas.openxmlformats.org/officeDocument/2006/relationships/hyperlink" Target="http://hyperphysics.phy-astr.gsu.edu/hbase/magnetic/motdc.html" TargetMode="External"/><Relationship Id="rId19" Type="http://schemas.openxmlformats.org/officeDocument/2006/relationships/hyperlink" Target="http://hyperphysics.phy-astr.gsu.edu/hbase/magnetic/transf.html" TargetMode="External"/><Relationship Id="rId31" Type="http://schemas.openxmlformats.org/officeDocument/2006/relationships/hyperlink" Target="https://cms.cern/detector/bending-particles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://hyperphysics.phy-astr.gsu.edu/hbase/magnetic/forwir2.html" TargetMode="External"/><Relationship Id="rId14" Type="http://schemas.openxmlformats.org/officeDocument/2006/relationships/hyperlink" Target="http://hyperphysics.phy-astr.gsu.edu/hbase/magnetic/genhow.html" TargetMode="External"/><Relationship Id="rId22" Type="http://schemas.openxmlformats.org/officeDocument/2006/relationships/hyperlink" Target="https://www.britannica.com/science/magnetic-field" TargetMode="External"/><Relationship Id="rId27" Type="http://schemas.openxmlformats.org/officeDocument/2006/relationships/hyperlink" Target="https://www.britannica.com/science/alternating-current" TargetMode="External"/><Relationship Id="rId30" Type="http://schemas.openxmlformats.org/officeDocument/2006/relationships/hyperlink" Target="https://en.wikipedia.org/wiki/War_of_the_currents" TargetMode="External"/><Relationship Id="rId35" Type="http://schemas.openxmlformats.org/officeDocument/2006/relationships/hyperlink" Target="https://www.youtube.com/@PracticalEngineeringChannel" TargetMode="External"/><Relationship Id="rId8" Type="http://schemas.openxmlformats.org/officeDocument/2006/relationships/hyperlink" Target="http://hyperphysics.phy-astr.gsu.edu/hbase/magnetic/magfie.html" TargetMode="External"/><Relationship Id="rId3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02920"/>
            <a:ext cx="3291840" cy="38221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4688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 2 — Magnetism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PHY199-RAP · Energy in the 21st Century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Salvatore Rappoccio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88036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MAGNETISM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3840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half of electricity — and how we make it move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left off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65836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electricity lecture we built up direct current (DC):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 — charges per second (amperes)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Voltage V — energy per charge that pushes them (volts)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P = V · I,  and resistive loss  P = I² · R</a:t>
            </a:r>
            <a:endParaRPr lang="en-US" sz="1800" dirty="0"/>
          </a:p>
          <a:p>
            <a:pPr marL="0" indent="0" algn="l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56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last equation started the War of the Currents.</a:t>
            </a:r>
            <a:endParaRPr lang="en-US" sz="18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one thing was missing: where does the voltage come from in the first place? Batteries and solar are DC — yet the whole grid runs on something else.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80960" y="2103120"/>
            <a:ext cx="3931920" cy="822960"/>
          </a:xfrm>
          <a:prstGeom prst="rect">
            <a:avLst/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754112" y="2103120"/>
            <a:ext cx="3785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is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MAGNETISM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32004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every electron on the grid was pushed by a magnet.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magnetic field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6035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magnet has two poles: North and South.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poles push apart; opposite poles pull together — just like electric charges.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magnet fills the space around it with a magnetic field, B — the magnetic version of the electric field.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field is strong near the poles and weakens with distance.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weird rule: you can never get a single pole. Cut a magnet in half and each piece grows its own N and 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772400" y="4480560"/>
            <a:ext cx="3840480" cy="777240"/>
          </a:xfrm>
          <a:prstGeom prst="rect">
            <a:avLst/>
          </a:prstGeom>
          <a:solidFill>
            <a:srgbClr val="E56954"/>
          </a:solidFill>
          <a:ln w="1270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827264" y="4480560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Magnetic field B: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in Tesla (T)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823960" y="2697480"/>
            <a:ext cx="868680" cy="548640"/>
          </a:xfrm>
          <a:prstGeom prst="rect">
            <a:avLst/>
          </a:prstGeom>
          <a:solidFill>
            <a:srgbClr val="E5695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692640" y="2697480"/>
            <a:ext cx="868680" cy="548640"/>
          </a:xfrm>
          <a:prstGeom prst="rect">
            <a:avLst/>
          </a:prstGeom>
          <a:solidFill>
            <a:srgbClr val="005BB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823960" y="26974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692640" y="26974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439912" y="2587752"/>
            <a:ext cx="2505456" cy="768096"/>
          </a:xfrm>
          <a:prstGeom prst="arc">
            <a:avLst>
              <a:gd name="adj1" fmla="val 10800000"/>
              <a:gd name="adj2" fmla="val 21600000"/>
            </a:avLst>
          </a:prstGeom>
          <a:noFill/>
          <a:ln w="19050">
            <a:solidFill>
              <a:srgbClr val="2F9FD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439912" y="2587752"/>
            <a:ext cx="2505456" cy="768096"/>
          </a:xfrm>
          <a:prstGeom prst="arc">
            <a:avLst>
              <a:gd name="adj1" fmla="val 0"/>
              <a:gd name="adj2" fmla="val 10800000"/>
            </a:avLst>
          </a:prstGeom>
          <a:noFill/>
          <a:ln w="19050">
            <a:solidFill>
              <a:srgbClr val="2F9FD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055864" y="2203704"/>
            <a:ext cx="3273552" cy="1536192"/>
          </a:xfrm>
          <a:prstGeom prst="arc">
            <a:avLst>
              <a:gd name="adj1" fmla="val 10800000"/>
              <a:gd name="adj2" fmla="val 21600000"/>
            </a:avLst>
          </a:prstGeom>
          <a:noFill/>
          <a:ln w="19050">
            <a:solidFill>
              <a:srgbClr val="2F9FD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055864" y="2203704"/>
            <a:ext cx="3273552" cy="1536192"/>
          </a:xfrm>
          <a:prstGeom prst="arc">
            <a:avLst>
              <a:gd name="adj1" fmla="val 0"/>
              <a:gd name="adj2" fmla="val 10800000"/>
            </a:avLst>
          </a:prstGeom>
          <a:noFill/>
          <a:ln w="19050">
            <a:solidFill>
              <a:srgbClr val="2F9FD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671816" y="1819656"/>
            <a:ext cx="4041648" cy="2304288"/>
          </a:xfrm>
          <a:prstGeom prst="arc">
            <a:avLst>
              <a:gd name="adj1" fmla="val 10800000"/>
              <a:gd name="adj2" fmla="val 21600000"/>
            </a:avLst>
          </a:prstGeom>
          <a:noFill/>
          <a:ln w="19050">
            <a:solidFill>
              <a:srgbClr val="2F9FD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671816" y="1819656"/>
            <a:ext cx="4041648" cy="2304288"/>
          </a:xfrm>
          <a:prstGeom prst="arc">
            <a:avLst>
              <a:gd name="adj1" fmla="val 0"/>
              <a:gd name="adj2" fmla="val 10800000"/>
            </a:avLst>
          </a:prstGeom>
          <a:noFill/>
          <a:ln w="19050">
            <a:solidFill>
              <a:srgbClr val="2F9FD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548640" y="6172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Encyclopædia Britannica, “magnetism” &amp; “magnetic field”; HyperPhysics (Georgia State University), Magnetic Field.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1820: Electricity IS magnetism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6126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 Christian Ørsted was lecturing when he noticed a compass needle twitch every time he switched on a current.</a:t>
            </a:r>
            <a:endParaRPr lang="en-US" sz="18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56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electric current creates a magnetic field around the wire.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and magnetism are not two subjects — they are one thing: electromagnetism.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the wire into a coil and the fields add up: you have built an electromagnet — a magnet you can switch on and off.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509760" y="1920240"/>
            <a:ext cx="0" cy="3108960"/>
          </a:xfrm>
          <a:prstGeom prst="line">
            <a:avLst/>
          </a:prstGeom>
          <a:noFill/>
          <a:ln w="50800">
            <a:solidFill>
              <a:srgbClr val="4D4D4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60120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052560" y="3017520"/>
            <a:ext cx="914400" cy="914400"/>
          </a:xfrm>
          <a:prstGeom prst="ellipse">
            <a:avLst/>
          </a:prstGeom>
          <a:ln w="190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595360" y="2560320"/>
            <a:ext cx="1828800" cy="1828800"/>
          </a:xfrm>
          <a:prstGeom prst="ellipse">
            <a:avLst/>
          </a:prstGeom>
          <a:ln w="190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138160" y="2103120"/>
            <a:ext cx="2743200" cy="2743200"/>
          </a:xfrm>
          <a:prstGeom prst="ellipse">
            <a:avLst/>
          </a:prstGeom>
          <a:ln w="190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589520" y="4709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magnetic field circles the wire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394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seed of every motor, generator, and transformer in this lecture.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172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Ørsted (1820), reported in Thomson's Annals of Philosophy; Encyclopædia Britannica, “Hans Christian Ørsted.”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magnet can push a current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6035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Ørsted: a current makes a magnetic field. So a current-carrying wire is itself a little magnet.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that wire inside another magnet's field and the two fields push on each other — the wire feels a force.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Magnitude (no vectors): the force grows with the field, the current, and the length of wire in the field.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4160520"/>
            <a:ext cx="5120640" cy="868680"/>
          </a:xfrm>
          <a:prstGeom prst="rect">
            <a:avLst/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21792" y="4160520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 =  B × I × 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(field × current × wire length)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5166360"/>
            <a:ext cx="5120640" cy="640080"/>
          </a:xfrm>
          <a:prstGeom prst="rect">
            <a:avLst/>
          </a:prstGeom>
          <a:solidFill>
            <a:srgbClr val="E56954"/>
          </a:solidFill>
          <a:ln w="1270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03504" y="5166360"/>
            <a:ext cx="5010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Units:  Tesla × Ampere × meter  =  Newton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06640" y="2217420"/>
            <a:ext cx="457200" cy="2011680"/>
          </a:xfrm>
          <a:prstGeom prst="rect">
            <a:avLst/>
          </a:prstGeom>
          <a:solidFill>
            <a:srgbClr val="E56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406640" y="2217420"/>
            <a:ext cx="457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064240" y="2217420"/>
            <a:ext cx="457200" cy="2011680"/>
          </a:xfrm>
          <a:prstGeom prst="rect">
            <a:avLst/>
          </a:prstGeom>
          <a:solidFill>
            <a:srgbClr val="005B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1064240" y="2217420"/>
            <a:ext cx="457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317736" y="3076956"/>
            <a:ext cx="292608" cy="292608"/>
          </a:xfrm>
          <a:prstGeom prst="ellipse">
            <a:avLst/>
          </a:prstGeom>
          <a:solidFill>
            <a:srgbClr val="4D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8641080" y="34061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(current)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464040" y="3223260"/>
            <a:ext cx="0" cy="0"/>
          </a:xfrm>
          <a:prstGeom prst="line">
            <a:avLst/>
          </a:prstGeom>
          <a:noFill/>
          <a:ln w="50800">
            <a:solidFill>
              <a:srgbClr val="E5695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01200" y="21259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6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80960" y="896112"/>
            <a:ext cx="4160520" cy="566928"/>
          </a:xfrm>
          <a:prstGeom prst="rect">
            <a:avLst/>
          </a:prstGeom>
          <a:solidFill>
            <a:srgbClr val="E56954"/>
          </a:solidFill>
          <a:ln w="1270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772400" y="89611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responsible to understand that a magnetic field pushes on a current — this is how a motor works.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172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HyperPhysics (Georgia State University), Magnetic Force on a Current-Carrying Wire.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motor works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6035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Bend the wire into a loop and place it between magnet poles.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up one side, down the other — so the two sides feel forces in opposite directions.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Opposite forces on opposite sides = a twist. The loop spins.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switch (the commutator) flips the current each half-turn so it keeps spinning the same way.</a:t>
            </a:r>
            <a:endParaRPr lang="en-US" sz="1800" dirty="0"/>
          </a:p>
          <a:p>
            <a:pPr marL="0" indent="0" algn="l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E56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energy → motion. Fans, drills, hard drives, electric cars, the pump on your furnace.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406640" y="2377440"/>
            <a:ext cx="457200" cy="2194560"/>
          </a:xfrm>
          <a:prstGeom prst="rect">
            <a:avLst/>
          </a:prstGeom>
          <a:solidFill>
            <a:srgbClr val="E56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406640" y="2377440"/>
            <a:ext cx="457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155680" y="2377440"/>
            <a:ext cx="457200" cy="2194560"/>
          </a:xfrm>
          <a:prstGeom prst="rect">
            <a:avLst/>
          </a:prstGeom>
          <a:solidFill>
            <a:srgbClr val="005B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1155680" y="2377440"/>
            <a:ext cx="457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595360" y="2743200"/>
            <a:ext cx="1828800" cy="1463040"/>
          </a:xfrm>
          <a:prstGeom prst="rect">
            <a:avLst/>
          </a:prstGeom>
          <a:ln w="381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595360" y="2743200"/>
            <a:ext cx="0" cy="0"/>
          </a:xfrm>
          <a:prstGeom prst="line">
            <a:avLst/>
          </a:prstGeom>
          <a:noFill/>
          <a:ln w="38100">
            <a:solidFill>
              <a:srgbClr val="005BB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424160" y="4206240"/>
            <a:ext cx="0" cy="822960"/>
          </a:xfrm>
          <a:prstGeom prst="line">
            <a:avLst/>
          </a:prstGeom>
          <a:noFill/>
          <a:ln w="38100">
            <a:solidFill>
              <a:srgbClr val="005BB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406640" y="4846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opposite forces → it spins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172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HyperPhysics (Georgia State University), DC Motor; Encyclopædia Britannica, “electric motor.”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88036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FARADAY’S LAW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important equation in this whole course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First: magnetic flux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6035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is just “how much magnetic field passes through a loop.”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field, or a bigger loop, means more flux through it.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rain falling into a bucket: a stronger downpour, or a wider bucket, catches more.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4846320" cy="822960"/>
          </a:xfrm>
          <a:prstGeom prst="rect">
            <a:avLst/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21792" y="3840480"/>
            <a:ext cx="4700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 =  B × 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(field × loop area)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4846320"/>
            <a:ext cx="4846320" cy="640080"/>
          </a:xfrm>
          <a:prstGeom prst="rect">
            <a:avLst/>
          </a:prstGeom>
          <a:solidFill>
            <a:srgbClr val="E56954"/>
          </a:solidFill>
          <a:ln w="1270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03504" y="4846320"/>
            <a:ext cx="4736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Units:  Tesla × meter²  =  Weber (Wb)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503920" y="2446020"/>
            <a:ext cx="2011680" cy="1645920"/>
          </a:xfrm>
          <a:prstGeom prst="ellipse">
            <a:avLst/>
          </a:prstGeom>
          <a:solidFill>
            <a:srgbClr val="EAF2FB"/>
          </a:solidFill>
          <a:ln w="381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778240" y="1897380"/>
            <a:ext cx="0" cy="274320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144000" y="1897380"/>
            <a:ext cx="0" cy="274320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509760" y="1897380"/>
            <a:ext cx="0" cy="274320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9875520" y="1897380"/>
            <a:ext cx="0" cy="274320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0241280" y="1897380"/>
            <a:ext cx="0" cy="274320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595360" y="15773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9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B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0" y="4800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loop, area A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172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HyperPhysics (Georgia State University), Magnetic Flux.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Faraday’s law (1831)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6126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Ørsted: a current makes a magnetic field. Faraday asked the reverse — can a magnetic field make a current?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56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answer: only if the flux is CHANGING.</a:t>
            </a:r>
            <a:endParaRPr lang="en-US" sz="160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steady magnet next to a coil does nothing. Move it, and the changing flux pushes a voltage — an EMF — around the coil.</a:t>
            </a:r>
            <a:endParaRPr lang="en-US" sz="160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change → bigger voltage. More turns of wire → bigger voltage.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4526280"/>
            <a:ext cx="5486400" cy="822960"/>
          </a:xfrm>
          <a:prstGeom prst="rect">
            <a:avLst/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21792" y="4526280"/>
            <a:ext cx="5340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Voltage  =  (change in flux) ÷ (change in time)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5486400"/>
            <a:ext cx="5486400" cy="594360"/>
          </a:xfrm>
          <a:prstGeom prst="rect">
            <a:avLst/>
          </a:prstGeom>
          <a:solidFill>
            <a:srgbClr val="E56954"/>
          </a:solidFill>
          <a:ln w="1270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03504" y="5486400"/>
            <a:ext cx="5376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Units:  Weber ÷ second  =  Volt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80960" y="896112"/>
            <a:ext cx="4160520" cy="566928"/>
          </a:xfrm>
          <a:prstGeom prst="rect">
            <a:avLst/>
          </a:prstGeom>
          <a:solidFill>
            <a:srgbClr val="E56954"/>
          </a:solidFill>
          <a:ln w="1270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772400" y="89611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responsible: a CHANGING magnetic flux creates a voltage. This is how ALL electricity is generated.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961120" y="2697480"/>
            <a:ext cx="457200" cy="914400"/>
          </a:xfrm>
          <a:prstGeom prst="ellipse">
            <a:avLst/>
          </a:prstGeom>
          <a:ln w="254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217152" y="2697480"/>
            <a:ext cx="457200" cy="914400"/>
          </a:xfrm>
          <a:prstGeom prst="ellipse">
            <a:avLst/>
          </a:prstGeom>
          <a:ln w="254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9473184" y="2697480"/>
            <a:ext cx="457200" cy="914400"/>
          </a:xfrm>
          <a:prstGeom prst="ellipse">
            <a:avLst/>
          </a:prstGeom>
          <a:ln w="254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9729216" y="2697480"/>
            <a:ext cx="457200" cy="914400"/>
          </a:xfrm>
          <a:prstGeom prst="ellipse">
            <a:avLst/>
          </a:prstGeom>
          <a:ln w="254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680960" y="2926080"/>
            <a:ext cx="1005840" cy="457200"/>
          </a:xfrm>
          <a:prstGeom prst="rect">
            <a:avLst/>
          </a:prstGeom>
          <a:solidFill>
            <a:srgbClr val="E56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183880" y="2926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732520" y="3154680"/>
            <a:ext cx="457200" cy="0"/>
          </a:xfrm>
          <a:prstGeom prst="line">
            <a:avLst/>
          </a:prstGeom>
          <a:noFill/>
          <a:ln w="38100">
            <a:solidFill>
              <a:srgbClr val="002F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7680960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the magnet → voltage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172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Faraday, Experimental Researches in Electricity (1831–32); HyperPhysics (Georgia State University), Faraday's Law.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you change the flux?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67665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that changes B × A through the loop makes a voltage: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a magnet toward or away from the coil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the coil instead of the magnet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strength of the field (e.g., ramp a current up and down)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56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 the loop so its face turns toward and away from the field</a:t>
            </a:r>
            <a:endParaRPr lang="en-US" sz="1800" dirty="0"/>
          </a:p>
          <a:p>
            <a:pPr marL="0" indent="0" algn="l">
              <a:spcBef>
                <a:spcPts val="600"/>
              </a:spcBef>
              <a:spcAft>
                <a:spcPts val="1000"/>
              </a:spcAft>
              <a:buNone/>
            </a:pPr>
            <a:r>
              <a:rPr lang="en-US" sz="1800" i="1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last one — spinning a loop — is the entire electric-power industry.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595360" y="2011680"/>
            <a:ext cx="3017520" cy="1371600"/>
          </a:xfrm>
          <a:prstGeom prst="rect">
            <a:avLst/>
          </a:prstGeom>
          <a:solidFill>
            <a:srgbClr val="E56954"/>
          </a:solidFill>
          <a:ln w="1270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650224" y="2011680"/>
            <a:ext cx="2907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 a loop in a magnet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a GENERATOR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72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HyperPhysics (Georgia State University), Faraday's Law / Motional EMF.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generator: one machine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6126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 a coil inside a magnet. As it turns, the flux through it rises and falls, so Faraday’s law pumps out a voltage.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generator: motion → electricity. It is a motor run backwards.</a:t>
            </a:r>
            <a:endParaRPr lang="en-US" sz="1800" dirty="0"/>
          </a:p>
          <a:p>
            <a:pPr marL="0" indent="0" algn="l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E56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gas, nuclear, hydro, wind, geothermal — underneath, every one of them is the SAME machine: something spins a magnet past a coil.</a:t>
            </a:r>
            <a:endParaRPr lang="en-US" sz="1800" dirty="0"/>
          </a:p>
          <a:p>
            <a:pPr marL="342900" indent="-342900" algn="l"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differ only in what does the spinning. The physics of the last step is identical.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406640" y="2275027"/>
            <a:ext cx="411480" cy="2011680"/>
          </a:xfrm>
          <a:prstGeom prst="rect">
            <a:avLst/>
          </a:prstGeom>
          <a:solidFill>
            <a:srgbClr val="E56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406640" y="2275027"/>
            <a:ext cx="411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528402" y="2275027"/>
            <a:ext cx="411480" cy="2011680"/>
          </a:xfrm>
          <a:prstGeom prst="rect">
            <a:avLst/>
          </a:prstGeom>
          <a:solidFill>
            <a:srgbClr val="005B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0528402" y="2275027"/>
            <a:ext cx="411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533181" y="2457907"/>
            <a:ext cx="1280160" cy="1645920"/>
          </a:xfrm>
          <a:prstGeom prst="rect">
            <a:avLst/>
          </a:prstGeom>
          <a:ln w="381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258861" y="3829507"/>
            <a:ext cx="1828800" cy="914400"/>
          </a:xfrm>
          <a:prstGeom prst="arc">
            <a:avLst>
              <a:gd name="adj1" fmla="val 12000000"/>
              <a:gd name="adj2" fmla="val 20400000"/>
            </a:avLst>
          </a:prstGeom>
          <a:noFill/>
          <a:ln w="31750">
            <a:solidFill>
              <a:srgbClr val="002F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8716061" y="4378147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589520" y="4732020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653528" y="4651221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717536" y="4573954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781544" y="4503595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845552" y="4443219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909560" y="4395465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973568" y="4362420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037576" y="4345529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101584" y="4345529"/>
            <a:ext cx="64008" cy="16892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165592" y="4362420"/>
            <a:ext cx="64008" cy="33045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229600" y="4395465"/>
            <a:ext cx="64008" cy="47754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293608" y="4443219"/>
            <a:ext cx="64008" cy="60376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357616" y="4503595"/>
            <a:ext cx="64008" cy="70359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421624" y="4573954"/>
            <a:ext cx="64008" cy="77267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8485632" y="4651221"/>
            <a:ext cx="64008" cy="80799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8549640" y="4732020"/>
            <a:ext cx="64008" cy="80799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613648" y="4812819"/>
            <a:ext cx="64008" cy="77267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677656" y="4890086"/>
            <a:ext cx="64008" cy="70359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741664" y="4960445"/>
            <a:ext cx="64008" cy="60376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8805672" y="5020821"/>
            <a:ext cx="64008" cy="47754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8869680" y="5068575"/>
            <a:ext cx="64008" cy="33045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8933688" y="5101620"/>
            <a:ext cx="64008" cy="16892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8997696" y="5118511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9061704" y="5118511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9125712" y="5101620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9189720" y="5068575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9253728" y="5020821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9317736" y="4960445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9381744" y="4890086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9445752" y="4812819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9509760" y="4732020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9573768" y="4651221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9637776" y="4573954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9701784" y="4503595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9765792" y="4443219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9829800" y="4395465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9893808" y="4362420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9957816" y="4345529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10021824" y="4345529"/>
            <a:ext cx="64008" cy="16892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10085832" y="4362420"/>
            <a:ext cx="64008" cy="33045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10149840" y="4395465"/>
            <a:ext cx="64008" cy="47754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10213848" y="4443219"/>
            <a:ext cx="64008" cy="60376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10277856" y="4503595"/>
            <a:ext cx="64008" cy="70359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10341864" y="4573954"/>
            <a:ext cx="64008" cy="77267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10405872" y="4651221"/>
            <a:ext cx="64008" cy="80799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10469880" y="4732020"/>
            <a:ext cx="64008" cy="80799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10533888" y="4812819"/>
            <a:ext cx="64008" cy="77267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10597896" y="4890086"/>
            <a:ext cx="64008" cy="70359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10661904" y="4960445"/>
            <a:ext cx="64008" cy="60376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10725912" y="5020821"/>
            <a:ext cx="64008" cy="47754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10789920" y="5068575"/>
            <a:ext cx="64008" cy="33045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10853928" y="5101620"/>
            <a:ext cx="64008" cy="16892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10917936" y="5118511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10981944" y="5118511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11045952" y="5101620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11109960" y="5068575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11173968" y="5020821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11237976" y="4960445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8"/>
          <p:cNvSpPr/>
          <p:nvPr/>
        </p:nvSpPr>
        <p:spPr>
          <a:xfrm>
            <a:off x="11301984" y="4890086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9"/>
          <p:cNvSpPr/>
          <p:nvPr/>
        </p:nvSpPr>
        <p:spPr>
          <a:xfrm>
            <a:off x="11365992" y="4812819"/>
            <a:ext cx="64008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0"/>
          <p:cNvSpPr/>
          <p:nvPr/>
        </p:nvSpPr>
        <p:spPr>
          <a:xfrm>
            <a:off x="7589520" y="4732020"/>
            <a:ext cx="3840480" cy="0"/>
          </a:xfrm>
          <a:prstGeom prst="line">
            <a:avLst/>
          </a:prstGeom>
          <a:noFill/>
          <a:ln w="12700">
            <a:solidFill>
              <a:srgbClr val="4D4D4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 txBox="1"/>
          <p:nvPr/>
        </p:nvSpPr>
        <p:spPr>
          <a:xfrm>
            <a:off x="7406640" y="5166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voltage out (AC)</a:t>
            </a:r>
            <a:endParaRPr lang="en-US" sz="1100" dirty="0"/>
          </a:p>
        </p:txBody>
      </p:sp>
      <p:sp>
        <p:nvSpPr>
          <p:cNvPr id="75" name="Text 72"/>
          <p:cNvSpPr txBox="1"/>
          <p:nvPr/>
        </p:nvSpPr>
        <p:spPr>
          <a:xfrm>
            <a:off x="548640" y="6172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HyperPhysics (Georgia State University), Electric Generator; Encyclopædia Britannica, “electric generator.”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the spinning? Turbines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6949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turbine is a fancy pinwheel: a fluid pushes angled blades on a shaft and the shaft spins.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shaft turns the generator’s coil → Faraday’s law → electricity.</a:t>
            </a:r>
            <a:endParaRPr lang="en-US" sz="1800" dirty="0"/>
          </a:p>
          <a:p>
            <a:pPr marL="0" indent="0" algn="l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chain:</a:t>
            </a:r>
            <a:endParaRPr lang="en-US" sz="18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E56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/ falling water / wind  →  spin turbine  →  spin coil in magnet  →  voltage  →  grid</a:t>
            </a:r>
            <a:endParaRPr lang="en-US" sz="1800" dirty="0"/>
          </a:p>
          <a:p>
            <a:pPr marL="342900" indent="-342900" algn="l">
              <a:spcBef>
                <a:spcPts val="600"/>
              </a:spcBef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Niagara Falls (from Lecture 1): gravity pulls water down → turbine → generator. Same last step as a coal plant, no carbon.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5074920"/>
            <a:ext cx="2526030" cy="877824"/>
          </a:xfrm>
          <a:prstGeom prst="rect">
            <a:avLst/>
          </a:prstGeom>
          <a:solidFill>
            <a:srgbClr val="005B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94360" y="5074920"/>
            <a:ext cx="243459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/ water / wind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092958" y="5513832"/>
            <a:ext cx="283464" cy="0"/>
          </a:xfrm>
          <a:prstGeom prst="line">
            <a:avLst/>
          </a:prstGeom>
          <a:noFill/>
          <a:ln w="38100">
            <a:solidFill>
              <a:srgbClr val="002F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394710" y="5074920"/>
            <a:ext cx="2526030" cy="877824"/>
          </a:xfrm>
          <a:prstGeom prst="rect">
            <a:avLst/>
          </a:prstGeom>
          <a:solidFill>
            <a:srgbClr val="005B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3440430" y="5074920"/>
            <a:ext cx="243459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turbine spins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39028" y="5513832"/>
            <a:ext cx="283464" cy="0"/>
          </a:xfrm>
          <a:prstGeom prst="line">
            <a:avLst/>
          </a:prstGeom>
          <a:noFill/>
          <a:ln w="38100">
            <a:solidFill>
              <a:srgbClr val="002F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240780" y="5074920"/>
            <a:ext cx="2526030" cy="877824"/>
          </a:xfrm>
          <a:prstGeom prst="rect">
            <a:avLst/>
          </a:prstGeom>
          <a:solidFill>
            <a:srgbClr val="005B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286500" y="5074920"/>
            <a:ext cx="243459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coil in magnet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785098" y="5513832"/>
            <a:ext cx="283464" cy="0"/>
          </a:xfrm>
          <a:prstGeom prst="line">
            <a:avLst/>
          </a:prstGeom>
          <a:noFill/>
          <a:ln w="38100">
            <a:solidFill>
              <a:srgbClr val="002F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9086850" y="5074920"/>
            <a:ext cx="2526030" cy="877824"/>
          </a:xfrm>
          <a:prstGeom prst="rect">
            <a:avLst/>
          </a:prstGeom>
          <a:solidFill>
            <a:srgbClr val="E56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9132570" y="5074920"/>
            <a:ext cx="243459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voltage → grid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172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HyperPhysics (Georgia State University); Encyclopædia Britannica, “turbine.”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machine, both directions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5303520" cy="3383280"/>
          </a:xfrm>
          <a:prstGeom prst="rect">
            <a:avLst/>
          </a:prstGeom>
          <a:solidFill>
            <a:srgbClr val="EAF2FB"/>
          </a:solidFill>
          <a:ln w="12700">
            <a:solidFill>
              <a:srgbClr val="005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309360" y="1828800"/>
            <a:ext cx="5303520" cy="3383280"/>
          </a:xfrm>
          <a:prstGeom prst="rect">
            <a:avLst/>
          </a:prstGeom>
          <a:solidFill>
            <a:srgbClr val="FBEDEA"/>
          </a:solidFill>
          <a:ln w="1270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48640" y="19659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5B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0604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electricity IN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pushes the current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motion OUT</a:t>
            </a:r>
            <a:endParaRPr lang="en-US" sz="1700" dirty="0"/>
          </a:p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→ motion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19659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56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GENERATOR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60604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motion IN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flux makes a voltage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electricity OUT</a:t>
            </a:r>
            <a:endParaRPr lang="en-US" sz="1700" dirty="0"/>
          </a:p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E56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→ electricity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electric car uses this: motor to drive, generator to brake (regenerative braking recharges the battery).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88036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 CURRENTS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grid’s voltage goes up and down 60 times a second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spinning loop makes AC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6126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loop spins, its face turns toward the field, then edge-on, then toward the other pole.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flux goes up, down, up, down — and by Faraday, the voltage does too.</a:t>
            </a:r>
            <a:endParaRPr lang="en-US" sz="1800" dirty="0"/>
          </a:p>
          <a:p>
            <a:pPr marL="0" indent="0" algn="l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E56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voltage smoothly swings positive, then negative, then positive: alternating current (AC).</a:t>
            </a:r>
            <a:endParaRPr lang="en-US" sz="1800" dirty="0"/>
          </a:p>
          <a:p>
            <a:pPr marL="342900" indent="-342900" algn="l"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isn’t a design choice — it’s what a rotating generator naturally produces.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498080" y="3383280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565136" y="3145637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632192" y="2918380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699248" y="2711441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766304" y="2533865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833360" y="2393413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900416" y="2296222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967472" y="2246541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034528" y="2246541"/>
            <a:ext cx="67056" cy="49681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101584" y="2296222"/>
            <a:ext cx="67056" cy="97191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168640" y="2393413"/>
            <a:ext cx="67056" cy="140453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235696" y="2533865"/>
            <a:ext cx="67056" cy="177576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302752" y="2711441"/>
            <a:ext cx="67056" cy="206939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369808" y="2918380"/>
            <a:ext cx="67056" cy="227257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436864" y="3145637"/>
            <a:ext cx="67056" cy="237643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503920" y="3383280"/>
            <a:ext cx="67056" cy="237643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570976" y="3620923"/>
            <a:ext cx="67056" cy="227257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638032" y="3848180"/>
            <a:ext cx="67056" cy="206939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705088" y="4055119"/>
            <a:ext cx="67056" cy="177576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772144" y="4232695"/>
            <a:ext cx="67056" cy="140453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839200" y="4373147"/>
            <a:ext cx="67056" cy="97191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8906256" y="4470338"/>
            <a:ext cx="67056" cy="49681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8973312" y="4520019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9040368" y="4520019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9107424" y="4470338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9174480" y="4373147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241536" y="4232695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9308592" y="4055119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9375648" y="3848180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442704" y="3620923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9509760" y="3383280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9576816" y="3145637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9643872" y="2918380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9710928" y="2711441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9777984" y="2533865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9845040" y="2393413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9912096" y="2296222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9979152" y="2246541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10046208" y="2246541"/>
            <a:ext cx="67056" cy="49681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10113264" y="2296222"/>
            <a:ext cx="67056" cy="97191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10180320" y="2393413"/>
            <a:ext cx="67056" cy="140453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10247376" y="2533865"/>
            <a:ext cx="67056" cy="177576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10314432" y="2711441"/>
            <a:ext cx="67056" cy="206939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10381488" y="2918380"/>
            <a:ext cx="67056" cy="227257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10448544" y="3145637"/>
            <a:ext cx="67056" cy="237643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10515600" y="3383280"/>
            <a:ext cx="67056" cy="237643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10582656" y="3620923"/>
            <a:ext cx="67056" cy="227257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10649712" y="3848180"/>
            <a:ext cx="67056" cy="206939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10716768" y="4055119"/>
            <a:ext cx="67056" cy="177576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10783824" y="4232695"/>
            <a:ext cx="67056" cy="140453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10850880" y="4373147"/>
            <a:ext cx="67056" cy="97191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10917936" y="4470338"/>
            <a:ext cx="67056" cy="49681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10984992" y="4520019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11052048" y="4520019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11119104" y="4470338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11186160" y="4373147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11253216" y="4232695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11320272" y="4055119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11387328" y="3848180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11454384" y="3620923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7498080" y="3383280"/>
            <a:ext cx="4023360" cy="0"/>
          </a:xfrm>
          <a:prstGeom prst="line">
            <a:avLst/>
          </a:prstGeom>
          <a:noFill/>
          <a:ln w="12700">
            <a:solidFill>
              <a:srgbClr val="4D4D4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 txBox="1"/>
          <p:nvPr/>
        </p:nvSpPr>
        <p:spPr>
          <a:xfrm>
            <a:off x="548640" y="6172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HyperPhysics (Georgia State University), AC Generator; Encyclopædia Britannica, “alternating current.”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times a second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6400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North America the grid completes 60 full swings every second: 60 hertz (Hz).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the rest of the world uses 50 Hz. Neither is “right” — they’re just standards everyone agreed to keep in step.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generator on the grid must spin in lockstep at that frequency, or the system tears itself apart.</a:t>
            </a:r>
            <a:endParaRPr lang="en-US" sz="1800" dirty="0"/>
          </a:p>
          <a:p>
            <a:pPr marL="0" indent="0" algn="l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E56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wall outlet: about 120 volts, alternating at 60 Hz.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686800" y="2011680"/>
            <a:ext cx="2926080" cy="1280160"/>
          </a:xfrm>
          <a:prstGeom prst="rect">
            <a:avLst/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759952" y="2011680"/>
            <a:ext cx="27797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Hz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120 V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3949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We’ll come back to keeping the whole grid in sync when we talk about blackouts.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172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Encyclopædia Britannica, “alternating current”; NYISO (grid frequency operations).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88036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AMPÈRE–MAXWELL LAW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3657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Finishing the loop between electricity and magnetism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Ampère: how much field?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6126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Ørsted showed a current makes a magnetic field. André-Marie Ampère measured how much.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a straight wire: more current makes a stronger field; the field weakens as you move away.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Coil the wire tightly (a solenoid) and the field inside adds up into a strong, uniform electromagnet.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4114800"/>
            <a:ext cx="5486400" cy="822960"/>
          </a:xfrm>
          <a:prstGeom prst="rect">
            <a:avLst/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21792" y="4114800"/>
            <a:ext cx="5340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 ∝  current ÷ distance from the wire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3566160" y="63825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responsible for this, just for enrichment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863840" y="2743200"/>
            <a:ext cx="457200" cy="1280160"/>
          </a:xfrm>
          <a:prstGeom prst="ellipse">
            <a:avLst/>
          </a:prstGeom>
          <a:ln w="254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366760" y="2743200"/>
            <a:ext cx="457200" cy="1280160"/>
          </a:xfrm>
          <a:prstGeom prst="ellipse">
            <a:avLst/>
          </a:prstGeom>
          <a:ln w="254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0" y="2743200"/>
            <a:ext cx="457200" cy="1280160"/>
          </a:xfrm>
          <a:prstGeom prst="ellipse">
            <a:avLst/>
          </a:prstGeom>
          <a:ln w="254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372600" y="2743200"/>
            <a:ext cx="457200" cy="1280160"/>
          </a:xfrm>
          <a:prstGeom prst="ellipse">
            <a:avLst/>
          </a:prstGeom>
          <a:ln w="254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875520" y="2743200"/>
            <a:ext cx="457200" cy="1280160"/>
          </a:xfrm>
          <a:prstGeom prst="ellipse">
            <a:avLst/>
          </a:prstGeom>
          <a:ln w="254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378440" y="2743200"/>
            <a:ext cx="457200" cy="1280160"/>
          </a:xfrm>
          <a:prstGeom prst="ellipse">
            <a:avLst/>
          </a:prstGeom>
          <a:ln w="254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772400" y="3383280"/>
            <a:ext cx="3566160" cy="0"/>
          </a:xfrm>
          <a:prstGeom prst="line">
            <a:avLst/>
          </a:prstGeom>
          <a:noFill/>
          <a:ln w="38100">
            <a:solidFill>
              <a:srgbClr val="2F9FD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589520" y="4617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uniform field inside a coil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172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HyperPhysics (Georgia State University), Ampère's Law / Solenoid; Encyclopædia Britannica, “André-Marie Ampère.”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Maxwell’s twist (1865)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6492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Faraday: a changing magnetic field makes an electric voltage.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E56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Maxwell added the mirror image: a changing electric field makes a magnetic field.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they feed each other: a changing E makes a B, whose change makes an E, and off it goes — a self-sustaining wave that needs no wire and no medium.</a:t>
            </a:r>
            <a:endParaRPr lang="en-US" sz="1800" dirty="0"/>
          </a:p>
          <a:p>
            <a:pPr marL="0" indent="0" algn="l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Maxwell computed its speed and got 300,000 km/s — the speed of light. Light is an electromagnetic wave.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863840" y="4297680"/>
            <a:ext cx="3749040" cy="868680"/>
          </a:xfrm>
          <a:prstGeom prst="rect">
            <a:avLst/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936992" y="4297680"/>
            <a:ext cx="3602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of light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≈ 3 × 10⁸ m/s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680960" y="2491740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48016" y="2391930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815072" y="2296482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882128" y="2209568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949184" y="2134986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016240" y="2075996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083296" y="2035176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150352" y="2014310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17408" y="2014310"/>
            <a:ext cx="67056" cy="20866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284464" y="2035176"/>
            <a:ext cx="67056" cy="4082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351520" y="2075996"/>
            <a:ext cx="67056" cy="5899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418576" y="2134986"/>
            <a:ext cx="67056" cy="74582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485632" y="2209568"/>
            <a:ext cx="67056" cy="86914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552688" y="2296482"/>
            <a:ext cx="67056" cy="95448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619744" y="2391930"/>
            <a:ext cx="67056" cy="9981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686800" y="2491740"/>
            <a:ext cx="67056" cy="9981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753856" y="2591550"/>
            <a:ext cx="67056" cy="95448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820912" y="2686998"/>
            <a:ext cx="67056" cy="86914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887968" y="2773912"/>
            <a:ext cx="67056" cy="74582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8955024" y="2848494"/>
            <a:ext cx="67056" cy="5899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022080" y="2907484"/>
            <a:ext cx="67056" cy="4082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9089136" y="2948304"/>
            <a:ext cx="67056" cy="20866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9156192" y="2969170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9223248" y="2969170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290304" y="2948304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9357360" y="2907484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9424416" y="2848494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491472" y="2773912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9558528" y="2686998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9625584" y="2591550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9692640" y="2491740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9759696" y="2391930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9826752" y="2296482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9893808" y="2209568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9960864" y="2134986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10027920" y="2075996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10094976" y="2035176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10162032" y="2014310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10229088" y="2014310"/>
            <a:ext cx="67056" cy="20866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10296144" y="2035176"/>
            <a:ext cx="67056" cy="4082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10363200" y="2075996"/>
            <a:ext cx="67056" cy="5899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10430256" y="2134986"/>
            <a:ext cx="67056" cy="74582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10497312" y="2209568"/>
            <a:ext cx="67056" cy="86914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10564368" y="2296482"/>
            <a:ext cx="67056" cy="95448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10631424" y="2391930"/>
            <a:ext cx="67056" cy="9981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10698480" y="2491740"/>
            <a:ext cx="67056" cy="9981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10765536" y="2591550"/>
            <a:ext cx="67056" cy="95448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10832592" y="2686998"/>
            <a:ext cx="67056" cy="86914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10899648" y="2773912"/>
            <a:ext cx="67056" cy="74582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10966704" y="2848494"/>
            <a:ext cx="67056" cy="5899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11033760" y="2907484"/>
            <a:ext cx="67056" cy="4082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11100816" y="2948304"/>
            <a:ext cx="67056" cy="20866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11167872" y="2969170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11234928" y="2969170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11301984" y="2948304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11369040" y="2907484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11436096" y="2848494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11503152" y="2773912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11570208" y="2686998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11637264" y="2591550"/>
            <a:ext cx="67056" cy="0"/>
          </a:xfrm>
          <a:prstGeom prst="line">
            <a:avLst/>
          </a:prstGeom>
          <a:noFill/>
          <a:ln w="31750">
            <a:solidFill>
              <a:srgbClr val="2F9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7680960" y="2491740"/>
            <a:ext cx="4023360" cy="0"/>
          </a:xfrm>
          <a:prstGeom prst="line">
            <a:avLst/>
          </a:prstGeom>
          <a:noFill/>
          <a:ln w="12700">
            <a:solidFill>
              <a:srgbClr val="4D4D4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7680960" y="3438144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7748016" y="3338334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8"/>
          <p:cNvSpPr/>
          <p:nvPr/>
        </p:nvSpPr>
        <p:spPr>
          <a:xfrm>
            <a:off x="7815072" y="3242886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9"/>
          <p:cNvSpPr/>
          <p:nvPr/>
        </p:nvSpPr>
        <p:spPr>
          <a:xfrm>
            <a:off x="7882128" y="3155972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0"/>
          <p:cNvSpPr/>
          <p:nvPr/>
        </p:nvSpPr>
        <p:spPr>
          <a:xfrm>
            <a:off x="7949184" y="3081390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1"/>
          <p:cNvSpPr/>
          <p:nvPr/>
        </p:nvSpPr>
        <p:spPr>
          <a:xfrm>
            <a:off x="8016240" y="3022400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2"/>
          <p:cNvSpPr/>
          <p:nvPr/>
        </p:nvSpPr>
        <p:spPr>
          <a:xfrm>
            <a:off x="8083296" y="2981580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3"/>
          <p:cNvSpPr/>
          <p:nvPr/>
        </p:nvSpPr>
        <p:spPr>
          <a:xfrm>
            <a:off x="8150352" y="2960714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4"/>
          <p:cNvSpPr/>
          <p:nvPr/>
        </p:nvSpPr>
        <p:spPr>
          <a:xfrm>
            <a:off x="8217408" y="2960714"/>
            <a:ext cx="67056" cy="20866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5"/>
          <p:cNvSpPr/>
          <p:nvPr/>
        </p:nvSpPr>
        <p:spPr>
          <a:xfrm>
            <a:off x="8284464" y="2981580"/>
            <a:ext cx="67056" cy="4082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6"/>
          <p:cNvSpPr/>
          <p:nvPr/>
        </p:nvSpPr>
        <p:spPr>
          <a:xfrm>
            <a:off x="8351520" y="3022400"/>
            <a:ext cx="67056" cy="5899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7"/>
          <p:cNvSpPr/>
          <p:nvPr/>
        </p:nvSpPr>
        <p:spPr>
          <a:xfrm>
            <a:off x="8418576" y="3081390"/>
            <a:ext cx="67056" cy="74582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8"/>
          <p:cNvSpPr/>
          <p:nvPr/>
        </p:nvSpPr>
        <p:spPr>
          <a:xfrm>
            <a:off x="8485632" y="3155972"/>
            <a:ext cx="67056" cy="86914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9"/>
          <p:cNvSpPr/>
          <p:nvPr/>
        </p:nvSpPr>
        <p:spPr>
          <a:xfrm>
            <a:off x="8552688" y="3242886"/>
            <a:ext cx="67056" cy="95448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0"/>
          <p:cNvSpPr/>
          <p:nvPr/>
        </p:nvSpPr>
        <p:spPr>
          <a:xfrm>
            <a:off x="8619744" y="3338334"/>
            <a:ext cx="67056" cy="9981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1"/>
          <p:cNvSpPr/>
          <p:nvPr/>
        </p:nvSpPr>
        <p:spPr>
          <a:xfrm>
            <a:off x="8686800" y="3438144"/>
            <a:ext cx="67056" cy="9981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2"/>
          <p:cNvSpPr/>
          <p:nvPr/>
        </p:nvSpPr>
        <p:spPr>
          <a:xfrm>
            <a:off x="8753856" y="3537954"/>
            <a:ext cx="67056" cy="95448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3"/>
          <p:cNvSpPr/>
          <p:nvPr/>
        </p:nvSpPr>
        <p:spPr>
          <a:xfrm>
            <a:off x="8820912" y="3633402"/>
            <a:ext cx="67056" cy="86914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4"/>
          <p:cNvSpPr/>
          <p:nvPr/>
        </p:nvSpPr>
        <p:spPr>
          <a:xfrm>
            <a:off x="8887968" y="3720316"/>
            <a:ext cx="67056" cy="74582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5"/>
          <p:cNvSpPr/>
          <p:nvPr/>
        </p:nvSpPr>
        <p:spPr>
          <a:xfrm>
            <a:off x="8955024" y="3794898"/>
            <a:ext cx="67056" cy="5899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6"/>
          <p:cNvSpPr/>
          <p:nvPr/>
        </p:nvSpPr>
        <p:spPr>
          <a:xfrm>
            <a:off x="9022080" y="3853888"/>
            <a:ext cx="67056" cy="4082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7"/>
          <p:cNvSpPr/>
          <p:nvPr/>
        </p:nvSpPr>
        <p:spPr>
          <a:xfrm>
            <a:off x="9089136" y="3894708"/>
            <a:ext cx="67056" cy="20866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8"/>
          <p:cNvSpPr/>
          <p:nvPr/>
        </p:nvSpPr>
        <p:spPr>
          <a:xfrm>
            <a:off x="9156192" y="3915574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89"/>
          <p:cNvSpPr/>
          <p:nvPr/>
        </p:nvSpPr>
        <p:spPr>
          <a:xfrm>
            <a:off x="9223248" y="3915574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0"/>
          <p:cNvSpPr/>
          <p:nvPr/>
        </p:nvSpPr>
        <p:spPr>
          <a:xfrm>
            <a:off x="9290304" y="3894708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1"/>
          <p:cNvSpPr/>
          <p:nvPr/>
        </p:nvSpPr>
        <p:spPr>
          <a:xfrm>
            <a:off x="9357360" y="3853888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2"/>
          <p:cNvSpPr/>
          <p:nvPr/>
        </p:nvSpPr>
        <p:spPr>
          <a:xfrm>
            <a:off x="9424416" y="3794898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3"/>
          <p:cNvSpPr/>
          <p:nvPr/>
        </p:nvSpPr>
        <p:spPr>
          <a:xfrm>
            <a:off x="9491472" y="3720316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4"/>
          <p:cNvSpPr/>
          <p:nvPr/>
        </p:nvSpPr>
        <p:spPr>
          <a:xfrm>
            <a:off x="9558528" y="3633402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5"/>
          <p:cNvSpPr/>
          <p:nvPr/>
        </p:nvSpPr>
        <p:spPr>
          <a:xfrm>
            <a:off x="9625584" y="3537954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6"/>
          <p:cNvSpPr/>
          <p:nvPr/>
        </p:nvSpPr>
        <p:spPr>
          <a:xfrm>
            <a:off x="9692640" y="3438144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7"/>
          <p:cNvSpPr/>
          <p:nvPr/>
        </p:nvSpPr>
        <p:spPr>
          <a:xfrm>
            <a:off x="9759696" y="3338334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8"/>
          <p:cNvSpPr/>
          <p:nvPr/>
        </p:nvSpPr>
        <p:spPr>
          <a:xfrm>
            <a:off x="9826752" y="3242886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99"/>
          <p:cNvSpPr/>
          <p:nvPr/>
        </p:nvSpPr>
        <p:spPr>
          <a:xfrm>
            <a:off x="9893808" y="3155972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0"/>
          <p:cNvSpPr/>
          <p:nvPr/>
        </p:nvSpPr>
        <p:spPr>
          <a:xfrm>
            <a:off x="9960864" y="3081390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1"/>
          <p:cNvSpPr/>
          <p:nvPr/>
        </p:nvSpPr>
        <p:spPr>
          <a:xfrm>
            <a:off x="10027920" y="3022400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2"/>
          <p:cNvSpPr/>
          <p:nvPr/>
        </p:nvSpPr>
        <p:spPr>
          <a:xfrm>
            <a:off x="10094976" y="2981580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3"/>
          <p:cNvSpPr/>
          <p:nvPr/>
        </p:nvSpPr>
        <p:spPr>
          <a:xfrm>
            <a:off x="10162032" y="2960714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4"/>
          <p:cNvSpPr/>
          <p:nvPr/>
        </p:nvSpPr>
        <p:spPr>
          <a:xfrm>
            <a:off x="10229088" y="2960714"/>
            <a:ext cx="67056" cy="20866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5"/>
          <p:cNvSpPr/>
          <p:nvPr/>
        </p:nvSpPr>
        <p:spPr>
          <a:xfrm>
            <a:off x="10296144" y="2981580"/>
            <a:ext cx="67056" cy="4082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6"/>
          <p:cNvSpPr/>
          <p:nvPr/>
        </p:nvSpPr>
        <p:spPr>
          <a:xfrm>
            <a:off x="10363200" y="3022400"/>
            <a:ext cx="67056" cy="5899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7"/>
          <p:cNvSpPr/>
          <p:nvPr/>
        </p:nvSpPr>
        <p:spPr>
          <a:xfrm>
            <a:off x="10430256" y="3081390"/>
            <a:ext cx="67056" cy="74582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8"/>
          <p:cNvSpPr/>
          <p:nvPr/>
        </p:nvSpPr>
        <p:spPr>
          <a:xfrm>
            <a:off x="10497312" y="3155972"/>
            <a:ext cx="67056" cy="86914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09"/>
          <p:cNvSpPr/>
          <p:nvPr/>
        </p:nvSpPr>
        <p:spPr>
          <a:xfrm>
            <a:off x="10564368" y="3242886"/>
            <a:ext cx="67056" cy="95448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0"/>
          <p:cNvSpPr/>
          <p:nvPr/>
        </p:nvSpPr>
        <p:spPr>
          <a:xfrm>
            <a:off x="10631424" y="3338334"/>
            <a:ext cx="67056" cy="9981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1"/>
          <p:cNvSpPr/>
          <p:nvPr/>
        </p:nvSpPr>
        <p:spPr>
          <a:xfrm>
            <a:off x="10698480" y="3438144"/>
            <a:ext cx="67056" cy="9981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2"/>
          <p:cNvSpPr/>
          <p:nvPr/>
        </p:nvSpPr>
        <p:spPr>
          <a:xfrm>
            <a:off x="10765536" y="3537954"/>
            <a:ext cx="67056" cy="95448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3"/>
          <p:cNvSpPr/>
          <p:nvPr/>
        </p:nvSpPr>
        <p:spPr>
          <a:xfrm>
            <a:off x="10832592" y="3633402"/>
            <a:ext cx="67056" cy="86914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4"/>
          <p:cNvSpPr/>
          <p:nvPr/>
        </p:nvSpPr>
        <p:spPr>
          <a:xfrm>
            <a:off x="10899648" y="3720316"/>
            <a:ext cx="67056" cy="74582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5"/>
          <p:cNvSpPr/>
          <p:nvPr/>
        </p:nvSpPr>
        <p:spPr>
          <a:xfrm>
            <a:off x="10966704" y="3794898"/>
            <a:ext cx="67056" cy="5899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6"/>
          <p:cNvSpPr/>
          <p:nvPr/>
        </p:nvSpPr>
        <p:spPr>
          <a:xfrm>
            <a:off x="11033760" y="3853888"/>
            <a:ext cx="67056" cy="4082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7"/>
          <p:cNvSpPr/>
          <p:nvPr/>
        </p:nvSpPr>
        <p:spPr>
          <a:xfrm>
            <a:off x="11100816" y="3894708"/>
            <a:ext cx="67056" cy="20866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8"/>
          <p:cNvSpPr/>
          <p:nvPr/>
        </p:nvSpPr>
        <p:spPr>
          <a:xfrm>
            <a:off x="11167872" y="3915574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19"/>
          <p:cNvSpPr/>
          <p:nvPr/>
        </p:nvSpPr>
        <p:spPr>
          <a:xfrm>
            <a:off x="11234928" y="3915574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0"/>
          <p:cNvSpPr/>
          <p:nvPr/>
        </p:nvSpPr>
        <p:spPr>
          <a:xfrm>
            <a:off x="11301984" y="3894708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1"/>
          <p:cNvSpPr/>
          <p:nvPr/>
        </p:nvSpPr>
        <p:spPr>
          <a:xfrm>
            <a:off x="11369040" y="3853888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2"/>
          <p:cNvSpPr/>
          <p:nvPr/>
        </p:nvSpPr>
        <p:spPr>
          <a:xfrm>
            <a:off x="11436096" y="3794898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3"/>
          <p:cNvSpPr/>
          <p:nvPr/>
        </p:nvSpPr>
        <p:spPr>
          <a:xfrm>
            <a:off x="11503152" y="3720316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4"/>
          <p:cNvSpPr/>
          <p:nvPr/>
        </p:nvSpPr>
        <p:spPr>
          <a:xfrm>
            <a:off x="11570208" y="3633402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5"/>
          <p:cNvSpPr/>
          <p:nvPr/>
        </p:nvSpPr>
        <p:spPr>
          <a:xfrm>
            <a:off x="11637264" y="3537954"/>
            <a:ext cx="67056" cy="0"/>
          </a:xfrm>
          <a:prstGeom prst="line">
            <a:avLst/>
          </a:prstGeom>
          <a:noFill/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6"/>
          <p:cNvSpPr/>
          <p:nvPr/>
        </p:nvSpPr>
        <p:spPr>
          <a:xfrm>
            <a:off x="7680960" y="3438144"/>
            <a:ext cx="4023360" cy="0"/>
          </a:xfrm>
          <a:prstGeom prst="line">
            <a:avLst/>
          </a:prstGeom>
          <a:noFill/>
          <a:ln w="12700">
            <a:solidFill>
              <a:srgbClr val="4D4D4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7"/>
          <p:cNvSpPr txBox="1"/>
          <p:nvPr/>
        </p:nvSpPr>
        <p:spPr>
          <a:xfrm>
            <a:off x="7680960" y="4023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and B waves make each other</a:t>
            </a:r>
            <a:endParaRPr lang="en-US" sz="1100" dirty="0"/>
          </a:p>
        </p:txBody>
      </p:sp>
      <p:sp>
        <p:nvSpPr>
          <p:cNvPr id="131" name="Text 128"/>
          <p:cNvSpPr txBox="1"/>
          <p:nvPr/>
        </p:nvSpPr>
        <p:spPr>
          <a:xfrm>
            <a:off x="548640" y="55321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Radio, Wi-Fi, microwaves, X-rays, the warmth of the sun — all the same wave, different frequency.</a:t>
            </a:r>
            <a:endParaRPr lang="en-US" sz="1400" dirty="0"/>
          </a:p>
        </p:txBody>
      </p:sp>
      <p:sp>
        <p:nvSpPr>
          <p:cNvPr id="132" name="Text 129"/>
          <p:cNvSpPr txBox="1"/>
          <p:nvPr/>
        </p:nvSpPr>
        <p:spPr>
          <a:xfrm>
            <a:off x="548640" y="6172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Maxwell, “A Dynamical Theory of the Electromagnetic Field” (1865); HyperPhysics (Georgia State University), Electromagnetic Waves.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88036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Faraday’s law again — and the reason the grid is AC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transformer works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6035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coils share the same iron core. AC in the first coil makes a constantly changing flux.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changing flux runs through the second coil, so — Faraday again — it develops its own voltage.</a:t>
            </a:r>
            <a:endParaRPr lang="en-US" sz="18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voltage ratio equals the ratio of turns of wire: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3566160"/>
            <a:ext cx="5486400" cy="822960"/>
          </a:xfrm>
          <a:prstGeom prst="rect">
            <a:avLst/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21792" y="3566160"/>
            <a:ext cx="5340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÷ in  =  (turns out) ÷ (turns in)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4526280"/>
            <a:ext cx="5486400" cy="685800"/>
          </a:xfrm>
          <a:prstGeom prst="rect">
            <a:avLst/>
          </a:prstGeom>
          <a:solidFill>
            <a:srgbClr val="E56954"/>
          </a:solidFill>
          <a:ln w="1270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03504" y="4526280"/>
            <a:ext cx="5376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turns out → step UP the voltage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turns out → step DOWN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4406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Catch: it only works if the flux keeps CHANGING — so transformers work on AC, not DC.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20226" y="2304288"/>
            <a:ext cx="687629" cy="2011680"/>
          </a:xfrm>
          <a:prstGeom prst="rect">
            <a:avLst/>
          </a:prstGeom>
          <a:solidFill>
            <a:srgbClr val="D9D9D9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8604504" y="436168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 core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604504" y="2487168"/>
            <a:ext cx="457200" cy="457200"/>
          </a:xfrm>
          <a:prstGeom prst="ellipse">
            <a:avLst/>
          </a:prstGeom>
          <a:ln w="31750">
            <a:solidFill>
              <a:srgbClr val="005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641080" y="3035808"/>
            <a:ext cx="457200" cy="457200"/>
          </a:xfrm>
          <a:prstGeom prst="ellipse">
            <a:avLst/>
          </a:prstGeom>
          <a:ln w="31750">
            <a:solidFill>
              <a:srgbClr val="005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677656" y="3584448"/>
            <a:ext cx="457200" cy="457200"/>
          </a:xfrm>
          <a:prstGeom prst="ellipse">
            <a:avLst/>
          </a:prstGeom>
          <a:ln w="31750">
            <a:solidFill>
              <a:srgbClr val="005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315200" y="3127248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in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979762" y="2395728"/>
            <a:ext cx="457200" cy="384048"/>
          </a:xfrm>
          <a:prstGeom prst="ellipse">
            <a:avLst/>
          </a:prstGeom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007194" y="2779776"/>
            <a:ext cx="457200" cy="384048"/>
          </a:xfrm>
          <a:prstGeom prst="ellipse">
            <a:avLst/>
          </a:prstGeom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0034626" y="3163824"/>
            <a:ext cx="457200" cy="384048"/>
          </a:xfrm>
          <a:prstGeom prst="ellipse">
            <a:avLst/>
          </a:prstGeom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062058" y="3547872"/>
            <a:ext cx="457200" cy="384048"/>
          </a:xfrm>
          <a:prstGeom prst="ellipse">
            <a:avLst/>
          </a:prstGeom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0089490" y="3931920"/>
            <a:ext cx="457200" cy="384048"/>
          </a:xfrm>
          <a:prstGeom prst="ellipse">
            <a:avLst/>
          </a:prstGeom>
          <a:ln w="31750">
            <a:solidFill>
              <a:srgbClr val="E56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0323576" y="3127248"/>
            <a:ext cx="137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6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voltage out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172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HyperPhysics (Georgia State University), Transformer; Encyclopædia Britannica, “transformer.”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AC won the War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6858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 loss equation from the electricity lecture: P = I² × R.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grows with the current SQUARED. Halve the current and you cut losses to a quarter.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power delivered is P = V × I. To move the same power with less current, you must raise the voltage.</a:t>
            </a:r>
            <a:endParaRPr lang="en-US" sz="1800" dirty="0"/>
          </a:p>
          <a:p>
            <a:pPr marL="0" indent="0" algn="l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E56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let you step voltage way UP for the long trip, then back DOWN for your house — but only with AC.</a:t>
            </a:r>
            <a:endParaRPr lang="en-US" sz="1800" dirty="0"/>
          </a:p>
          <a:p>
            <a:pPr marL="342900" indent="-342900" algn="l"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why the grid is AC. Tesla and Westinghouse’s AC beat Edison’s DC because DC couldn’t be transformed.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778240" y="2011680"/>
            <a:ext cx="2834640" cy="566928"/>
          </a:xfrm>
          <a:prstGeom prst="rect">
            <a:avLst/>
          </a:prstGeom>
          <a:solidFill>
            <a:srgbClr val="005B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823960" y="20116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thousands of V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0195560" y="2587752"/>
            <a:ext cx="0" cy="233172"/>
          </a:xfrm>
          <a:prstGeom prst="line">
            <a:avLst/>
          </a:prstGeom>
          <a:noFill/>
          <a:ln w="31750">
            <a:solidFill>
              <a:srgbClr val="002F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778240" y="2830068"/>
            <a:ext cx="2834640" cy="566928"/>
          </a:xfrm>
          <a:prstGeom prst="rect">
            <a:avLst/>
          </a:prstGeom>
          <a:solidFill>
            <a:srgbClr val="E56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823960" y="28300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UP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kV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0195560" y="3406140"/>
            <a:ext cx="0" cy="233172"/>
          </a:xfrm>
          <a:prstGeom prst="line">
            <a:avLst/>
          </a:prstGeom>
          <a:noFill/>
          <a:ln w="31750">
            <a:solidFill>
              <a:srgbClr val="002F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778240" y="3648456"/>
            <a:ext cx="2834640" cy="566928"/>
          </a:xfrm>
          <a:prstGeom prst="rect">
            <a:avLst/>
          </a:prstGeom>
          <a:solidFill>
            <a:srgbClr val="005B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823960" y="36484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lines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current, low loss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0195560" y="4224528"/>
            <a:ext cx="0" cy="233172"/>
          </a:xfrm>
          <a:prstGeom prst="line">
            <a:avLst/>
          </a:prstGeom>
          <a:noFill/>
          <a:ln w="31750">
            <a:solidFill>
              <a:srgbClr val="002F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778240" y="4466844"/>
            <a:ext cx="2834640" cy="566928"/>
          </a:xfrm>
          <a:prstGeom prst="rect">
            <a:avLst/>
          </a:prstGeom>
          <a:solidFill>
            <a:srgbClr val="E56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823960" y="44668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DOWN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 V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0195560" y="5042916"/>
            <a:ext cx="0" cy="233172"/>
          </a:xfrm>
          <a:prstGeom prst="line">
            <a:avLst/>
          </a:prstGeom>
          <a:noFill/>
          <a:ln w="31750">
            <a:solidFill>
              <a:srgbClr val="002F5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778240" y="5285232"/>
            <a:ext cx="2834640" cy="566928"/>
          </a:xfrm>
          <a:prstGeom prst="rect">
            <a:avLst/>
          </a:prstGeom>
          <a:solidFill>
            <a:srgbClr val="005B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8823960" y="52852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house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172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HyperPhysics (Georgia State University), Power Transmission; Encyclopædia Britannica, “War of the Currents.”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 live: inside a magnet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6949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work on the CMS experiment at CERN’s Large Hadron Collider.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stands for Compact Muon Solenoid — the “S” is a magnet: one of the most powerful superconducting solenoids ever built.</a:t>
            </a:r>
            <a:endParaRPr lang="en-US" sz="1800" dirty="0"/>
          </a:p>
          <a:p>
            <a:pPr marL="0" indent="0" algn="l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E56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field is about 3.8 tesla — roughly 100,000× Earth’s magnetic field.</a:t>
            </a:r>
            <a:endParaRPr lang="en-US" sz="1800" dirty="0"/>
          </a:p>
          <a:p>
            <a:pPr marL="342900" indent="-342900" algn="l">
              <a:spcBef>
                <a:spcPts val="400"/>
              </a:spcBef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field bends the paths of particles from proton collisions so we can measure them — the same magnetic force on a current, just aimed at the fundamental building blocks of matter.</a:t>
            </a:r>
            <a:endParaRPr lang="en-US" sz="1800" dirty="0"/>
          </a:p>
          <a:p>
            <a:pPr marL="0" indent="0" algn="l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800" i="1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physics as your ceiling fan. Different stakes.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869680" y="2103120"/>
            <a:ext cx="2743200" cy="1371600"/>
          </a:xfrm>
          <a:prstGeom prst="rect">
            <a:avLst/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942832" y="2103120"/>
            <a:ext cx="2596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solenoid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 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72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CERN, CMS experiment technical documentation (magnet system).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remember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64240" cy="4023360"/>
          </a:xfrm>
          <a:prstGeom prst="rect">
            <a:avLst/>
          </a:prstGeom>
          <a:solidFill>
            <a:srgbClr val="EAF2FB"/>
          </a:solidFill>
          <a:ln w="12700">
            <a:solidFill>
              <a:srgbClr val="005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914400" y="1920240"/>
            <a:ext cx="10332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current makes a magnetic field (Ørsted); a magnetic field pushes on a current (that’s a motor).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Faraday’s law: a CHANGING magnetic flux creates a voltage. This is how all electricity is generated.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generator is a coil spun in a magnet; a turbine is what spins it. Every power plant shares this last step.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spinning generator naturally makes AC — in the US, 60 Hz at ~120 V.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Ampère–Maxwell: changing electric and magnetic fields make each other — and that wave is light.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0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transformer changes AC voltage using the turns ratio — and this is why the grid is AC.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mag/ub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19456"/>
            <a:ext cx="2468880" cy="2862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2F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&amp; references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56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sources 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Ørsted (1820)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Faraday (1831–32)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Maxwell (1865)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48840"/>
            <a:ext cx="11155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HyperPhysics (Georgia State Univ.) 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magnetic field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force on wire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DC motor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magnetic flux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Faraday's law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motional EMF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generator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 generator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solenoid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Ampère's law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 waves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transformer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 distribution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429000"/>
            <a:ext cx="11155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Encyclopædia Britannica 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magnetism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magnetic field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Ørsted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electric motor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electric generator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turbine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alternating current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transformer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Ampère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4348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cited 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Current Wars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CMS solenoid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NYISO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07492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56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Vetted video explainers 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3Blue1Brown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Veritasium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Practical Engineering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particleclara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CERN CMS</a:t>
            </a:r>
            <a:r>
              <a:rPr lang="en-US" sz="13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300" u="sng" dirty="0">
                <a:solidFill>
                  <a:srgbClr val="005BB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Brian Cox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underlined item links to its source. Physics here is settled textbook material; no federal (.gov) source relied upon.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3488</Words>
  <Application>Microsoft Macintosh PowerPoint</Application>
  <PresentationFormat>Widescreen</PresentationFormat>
  <Paragraphs>288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 — Magnetism</dc:title>
  <dc:subject>PptxGenJS Presentation</dc:subject>
  <dc:creator>Dr. Salvatore Rappoccio</dc:creator>
  <cp:lastModifiedBy>Salvatore Rappoccio</cp:lastModifiedBy>
  <cp:revision>2</cp:revision>
  <dcterms:created xsi:type="dcterms:W3CDTF">2026-09-03T16:02:30Z</dcterms:created>
  <dcterms:modified xsi:type="dcterms:W3CDTF">2026-09-03T16:06:56Z</dcterms:modified>
</cp:coreProperties>
</file>