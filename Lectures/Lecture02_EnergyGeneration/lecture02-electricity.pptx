
<file path=[Content_Types].xml><?xml version="1.0" encoding="utf-8"?>
<Types xmlns="http://schemas.openxmlformats.org/package/2006/content-types">
  <Default Extension="gif" ContentType="image/gif"/>
  <Default Extension="jpeg" ContentType="image/jpeg"/>
  <Default Extension="jpg" ContentType="image/jpeg"/>
  <Default Extension="org&amp;utm_campaign=parser&amp;utm_content=thumbnail" ContentType="image/gif"/>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70" r:id="rId3"/>
    <p:sldId id="330" r:id="rId4"/>
    <p:sldId id="337" r:id="rId5"/>
    <p:sldId id="338" r:id="rId6"/>
    <p:sldId id="339" r:id="rId7"/>
    <p:sldId id="312" r:id="rId8"/>
    <p:sldId id="340" r:id="rId9"/>
    <p:sldId id="341" r:id="rId10"/>
    <p:sldId id="346" r:id="rId11"/>
    <p:sldId id="347" r:id="rId12"/>
    <p:sldId id="365" r:id="rId13"/>
    <p:sldId id="366" r:id="rId14"/>
    <p:sldId id="355" r:id="rId15"/>
    <p:sldId id="271" r:id="rId16"/>
    <p:sldId id="342" r:id="rId17"/>
    <p:sldId id="343" r:id="rId18"/>
    <p:sldId id="344" r:id="rId19"/>
    <p:sldId id="345" r:id="rId20"/>
    <p:sldId id="348" r:id="rId21"/>
    <p:sldId id="349" r:id="rId22"/>
    <p:sldId id="357" r:id="rId23"/>
    <p:sldId id="358" r:id="rId24"/>
    <p:sldId id="359" r:id="rId25"/>
    <p:sldId id="360" r:id="rId26"/>
    <p:sldId id="361" r:id="rId27"/>
    <p:sldId id="362" r:id="rId28"/>
    <p:sldId id="353" r:id="rId29"/>
    <p:sldId id="363" r:id="rId30"/>
    <p:sldId id="310" r:id="rId31"/>
    <p:sldId id="350" r:id="rId32"/>
    <p:sldId id="364" r:id="rId33"/>
    <p:sldId id="367" r:id="rId34"/>
    <p:sldId id="368"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73"/>
    <p:restoredTop sz="94658"/>
  </p:normalViewPr>
  <p:slideViewPr>
    <p:cSldViewPr snapToGrid="0">
      <p:cViewPr varScale="1">
        <p:scale>
          <a:sx n="109" d="100"/>
          <a:sy n="109" d="100"/>
        </p:scale>
        <p:origin x="208" y="42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D5BA36-2DBA-8E4B-A80F-E09890FEEA54}" type="datetimeFigureOut">
              <a:rPr lang="en-US" smtClean="0"/>
              <a:t>9/1/26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65E1F8-3717-4041-B345-9C118A1FFFB2}" type="slidenum">
              <a:rPr lang="en-US" smtClean="0"/>
              <a:t>‹#›</a:t>
            </a:fld>
            <a:endParaRPr lang="en-US"/>
          </a:p>
        </p:txBody>
      </p:sp>
    </p:spTree>
    <p:extLst>
      <p:ext uri="{BB962C8B-B14F-4D97-AF65-F5344CB8AC3E}">
        <p14:creationId xmlns:p14="http://schemas.microsoft.com/office/powerpoint/2010/main" val="3507239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65E1F8-3717-4041-B345-9C118A1FFFB2}" type="slidenum">
              <a:rPr lang="en-US" smtClean="0"/>
              <a:t>7</a:t>
            </a:fld>
            <a:endParaRPr lang="en-US"/>
          </a:p>
        </p:txBody>
      </p:sp>
    </p:spTree>
    <p:extLst>
      <p:ext uri="{BB962C8B-B14F-4D97-AF65-F5344CB8AC3E}">
        <p14:creationId xmlns:p14="http://schemas.microsoft.com/office/powerpoint/2010/main" val="3717080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Keep the water analogy honest but don’t oversell it (it breaks for AC/reactance later). P=VI is the one equation they should leave with. A US wall outlet is ~120 V; a phone charger pulls ~0.15 A → ~18 W. Source: Britannica (electric current, voltage); </a:t>
            </a:r>
            <a:r>
              <a:rPr dirty="0" err="1"/>
              <a:t>HyperPhysics</a:t>
            </a:r>
            <a:r>
              <a:rPr dirty="0"/>
              <a:t> (Georgia State) for the water analogy done carefully.</a:t>
            </a:r>
          </a:p>
        </p:txBody>
      </p:sp>
      <p:sp>
        <p:nvSpPr>
          <p:cNvPr id="4" name="Slide Number Placeholder 3"/>
          <p:cNvSpPr>
            <a:spLocks noGrp="1"/>
          </p:cNvSpPr>
          <p:nvPr>
            <p:ph type="sldNum" sz="quarter" idx="10"/>
          </p:nvPr>
        </p:nvSpPr>
        <p:spPr/>
        <p:txBody>
          <a:bodyPr/>
          <a:lstStyle/>
          <a:p>
            <a:fld id="{8665E1F8-3717-4041-B345-9C118A1FFFB2}" type="slidenum">
              <a:rPr lang="en-US"/>
              <a:t>15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410FA-7ECD-D4D9-D377-60E0FE6A9038}"/>
              </a:ext>
              <a:ext uri="{C183D7F6-B498-43B3-948B-1728B52AA6E4}">
                <adec:decorative xmlns:adec="http://schemas.microsoft.com/office/drawing/2017/decorative" val="0"/>
              </a:ext>
            </a:extLst>
          </p:cNvPr>
          <p:cNvSpPr>
            <a:spLocks noGrp="1"/>
          </p:cNvSpPr>
          <p:nvPr>
            <p:ph type="ctrTitle" hasCustomPrompt="1"/>
          </p:nvPr>
        </p:nvSpPr>
        <p:spPr>
          <a:xfrm>
            <a:off x="409184" y="1690710"/>
            <a:ext cx="9144000" cy="2405802"/>
          </a:xfrm>
        </p:spPr>
        <p:txBody>
          <a:bodyPr anchor="b"/>
          <a:lstStyle>
            <a:lvl1pPr algn="l">
              <a:lnSpc>
                <a:spcPts val="6000"/>
              </a:lnSpc>
              <a:defRPr sz="6000" b="1" i="0" cap="all" baseline="0">
                <a:solidFill>
                  <a:schemeClr val="bg1"/>
                </a:solidFill>
                <a:latin typeface="Arial" panose="020B0604020202020204" pitchFamily="34" charset="0"/>
                <a:cs typeface="Arial" panose="020B0604020202020204" pitchFamily="34" charset="0"/>
              </a:defRPr>
            </a:lvl1pPr>
          </a:lstStyle>
          <a:p>
            <a:r>
              <a:rPr lang="en-US" dirty="0"/>
              <a:t>Presentation </a:t>
            </a:r>
            <a:br>
              <a:rPr lang="en-US" dirty="0"/>
            </a:br>
            <a:r>
              <a:rPr lang="en-US" dirty="0"/>
              <a:t>Title</a:t>
            </a:r>
          </a:p>
        </p:txBody>
      </p:sp>
      <p:sp>
        <p:nvSpPr>
          <p:cNvPr id="3" name="Subtitle 2">
            <a:extLst>
              <a:ext uri="{FF2B5EF4-FFF2-40B4-BE49-F238E27FC236}">
                <a16:creationId xmlns:a16="http://schemas.microsoft.com/office/drawing/2014/main" id="{17573CCE-562D-8451-99E0-194B6D8D3B0A}"/>
              </a:ext>
              <a:ext uri="{C183D7F6-B498-43B3-948B-1728B52AA6E4}">
                <adec:decorative xmlns:adec="http://schemas.microsoft.com/office/drawing/2017/decorative" val="0"/>
              </a:ext>
            </a:extLst>
          </p:cNvPr>
          <p:cNvSpPr>
            <a:spLocks noGrp="1"/>
          </p:cNvSpPr>
          <p:nvPr>
            <p:ph type="subTitle" idx="1" hasCustomPrompt="1"/>
          </p:nvPr>
        </p:nvSpPr>
        <p:spPr>
          <a:xfrm>
            <a:off x="409184" y="4216314"/>
            <a:ext cx="9144000" cy="1490005"/>
          </a:xfrm>
          <a:prstGeom prst="rect">
            <a:avLst/>
          </a:prstGeom>
        </p:spPr>
        <p:txBody>
          <a:bodyPr/>
          <a:lstStyle>
            <a:lvl1pPr marL="0" indent="0" algn="l">
              <a:buNone/>
              <a:defRPr sz="2800">
                <a:solidFill>
                  <a:schemeClr val="bg1"/>
                </a:solidFill>
                <a:latin typeface="Georgia" panose="020405020504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 text goes here</a:t>
            </a:r>
          </a:p>
        </p:txBody>
      </p:sp>
      <p:pic>
        <p:nvPicPr>
          <p:cNvPr id="6" name="Picture 5">
            <a:extLst>
              <a:ext uri="{FF2B5EF4-FFF2-40B4-BE49-F238E27FC236}">
                <a16:creationId xmlns:a16="http://schemas.microsoft.com/office/drawing/2014/main" id="{6F392352-7DF4-5EB6-32FA-9FB7E764DB7C}"/>
              </a:ext>
              <a:ext uri="{C183D7F6-B498-43B3-948B-1728B52AA6E4}">
                <adec:decorative xmlns:adec="http://schemas.microsoft.com/office/drawing/2017/decorative" val="1"/>
              </a:ext>
            </a:extLst>
          </p:cNvPr>
          <p:cNvPicPr/>
          <p:nvPr userDrawn="1"/>
        </p:nvPicPr>
        <p:blipFill>
          <a:blip r:embed="rId3"/>
          <a:stretch>
            <a:fillRect/>
          </a:stretch>
        </p:blipFill>
        <p:spPr>
          <a:xfrm>
            <a:off x="347064" y="5932815"/>
            <a:ext cx="5492824" cy="637167"/>
          </a:xfrm>
          <a:prstGeom prst="rect">
            <a:avLst/>
          </a:prstGeom>
        </p:spPr>
      </p:pic>
    </p:spTree>
    <p:extLst>
      <p:ext uri="{BB962C8B-B14F-4D97-AF65-F5344CB8AC3E}">
        <p14:creationId xmlns:p14="http://schemas.microsoft.com/office/powerpoint/2010/main" val="1130816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9/1/26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9/1/26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9/1/26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9/1/26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Column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72111FF-5304-D6B1-8333-440DC4F5129A}"/>
              </a:ext>
            </a:extLst>
          </p:cNvPr>
          <p:cNvSpPr>
            <a:spLocks noGrp="1"/>
          </p:cNvSpPr>
          <p:nvPr>
            <p:ph type="title" hasCustomPrompt="1"/>
          </p:nvPr>
        </p:nvSpPr>
        <p:spPr>
          <a:xfrm>
            <a:off x="394208" y="1433506"/>
            <a:ext cx="10515600" cy="868680"/>
          </a:xfrm>
        </p:spPr>
        <p:txBody>
          <a:bodyPr/>
          <a:lstStyle/>
          <a:p>
            <a:r>
              <a:rPr lang="en-US" dirty="0"/>
              <a:t>Click to edit title</a:t>
            </a:r>
          </a:p>
        </p:txBody>
      </p:sp>
      <p:sp>
        <p:nvSpPr>
          <p:cNvPr id="4" name="Text Placeholder 3">
            <a:extLst>
              <a:ext uri="{FF2B5EF4-FFF2-40B4-BE49-F238E27FC236}">
                <a16:creationId xmlns:a16="http://schemas.microsoft.com/office/drawing/2014/main" id="{735A9F8A-F58D-4DBE-FAEF-CB216CFAB2FF}"/>
              </a:ext>
              <a:ext uri="{C183D7F6-B498-43B3-948B-1728B52AA6E4}">
                <adec:decorative xmlns:adec="http://schemas.microsoft.com/office/drawing/2017/decorative" val="0"/>
              </a:ext>
            </a:extLst>
          </p:cNvPr>
          <p:cNvSpPr>
            <a:spLocks noGrp="1"/>
          </p:cNvSpPr>
          <p:nvPr>
            <p:ph type="body" sz="half" idx="2" hasCustomPrompt="1"/>
          </p:nvPr>
        </p:nvSpPr>
        <p:spPr>
          <a:xfrm>
            <a:off x="391565" y="2410823"/>
            <a:ext cx="4245750" cy="3811588"/>
          </a:xfrm>
          <a:prstGeom prst="rect">
            <a:avLst/>
          </a:prstGeom>
        </p:spPr>
        <p:txBody>
          <a:bodyPr/>
          <a:lstStyle>
            <a:lvl1pPr marL="0" indent="0">
              <a:lnSpc>
                <a:spcPct val="12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Lorem ipsum dolor et unus sit amet consectetur et pretium a adipiscing elit. Vivamus euismod et leo a vitae condimentum mollis pretium nisl est convallis nisl urna vitae dapibus elit ligula vel urna. Integer mollis elit vel justo bibendum vitae.</a:t>
            </a:r>
          </a:p>
        </p:txBody>
      </p:sp>
      <p:sp>
        <p:nvSpPr>
          <p:cNvPr id="2" name="Text Placeholder 3">
            <a:extLst>
              <a:ext uri="{FF2B5EF4-FFF2-40B4-BE49-F238E27FC236}">
                <a16:creationId xmlns:a16="http://schemas.microsoft.com/office/drawing/2014/main" id="{F29B7451-E98E-FC17-C95F-97570ABD4F77}"/>
              </a:ext>
            </a:extLst>
          </p:cNvPr>
          <p:cNvSpPr>
            <a:spLocks noGrp="1"/>
          </p:cNvSpPr>
          <p:nvPr>
            <p:ph type="body" sz="half" idx="13" hasCustomPrompt="1"/>
          </p:nvPr>
        </p:nvSpPr>
        <p:spPr>
          <a:xfrm>
            <a:off x="4909137" y="2410823"/>
            <a:ext cx="4245750" cy="3811588"/>
          </a:xfrm>
          <a:prstGeom prst="rect">
            <a:avLst/>
          </a:prstGeom>
        </p:spPr>
        <p:txBody>
          <a:bodyPr/>
          <a:lstStyle>
            <a:lvl1pPr marL="0" indent="0">
              <a:lnSpc>
                <a:spcPct val="12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Lorem ipsum dolor et unus sit amet consectetur et pretium a adipiscing elit. Vivamus euismod et leo a vitae condimentum mollis pretium nisl est convallis nisl urna vitae dapibus elit ligula vel urna. Integer mollis elit vel justo bibendum vitae.</a:t>
            </a:r>
          </a:p>
        </p:txBody>
      </p:sp>
      <p:sp>
        <p:nvSpPr>
          <p:cNvPr id="7" name="Slide Number Placeholder 6">
            <a:extLst>
              <a:ext uri="{FF2B5EF4-FFF2-40B4-BE49-F238E27FC236}">
                <a16:creationId xmlns:a16="http://schemas.microsoft.com/office/drawing/2014/main" id="{82145E6A-5CC6-3D59-03B2-79BA22BAC1E2}"/>
              </a:ext>
              <a:ext uri="{C183D7F6-B498-43B3-948B-1728B52AA6E4}">
                <adec:decorative xmlns:adec="http://schemas.microsoft.com/office/drawing/2017/decorative" val="0"/>
              </a:ext>
            </a:extLst>
          </p:cNvPr>
          <p:cNvSpPr>
            <a:spLocks noGrp="1"/>
          </p:cNvSpPr>
          <p:nvPr>
            <p:ph type="sldNum" sz="quarter" idx="12"/>
          </p:nvPr>
        </p:nvSpPr>
        <p:spPr/>
        <p:txBody>
          <a:bodyPr/>
          <a:lstStyle/>
          <a:p>
            <a:fld id="{7B670C77-F8D5-0D45-BCC6-7287AA83D132}" type="slidenum">
              <a:rPr lang="en-US" smtClean="0"/>
              <a:t>‹#›</a:t>
            </a:fld>
            <a:endParaRPr lang="en-US"/>
          </a:p>
        </p:txBody>
      </p:sp>
    </p:spTree>
    <p:extLst>
      <p:ext uri="{BB962C8B-B14F-4D97-AF65-F5344CB8AC3E}">
        <p14:creationId xmlns:p14="http://schemas.microsoft.com/office/powerpoint/2010/main" val="14090397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9/1/26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9/1/26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Column Sub-title Bulleted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394208" y="1433506"/>
            <a:ext cx="10515600" cy="868680"/>
          </a:xfrm>
        </p:spPr>
        <p:txBody>
          <a:bodyPr/>
          <a:lstStyle/>
          <a:p>
            <a:r>
              <a:rPr lang="en-US" dirty="0"/>
              <a:t>Click to edit title</a:t>
            </a:r>
          </a:p>
        </p:txBody>
      </p:sp>
      <p:sp>
        <p:nvSpPr>
          <p:cNvPr id="6" name="Slide Number Placeholder 5">
            <a:extLst>
              <a:ext uri="{FF2B5EF4-FFF2-40B4-BE49-F238E27FC236}">
                <a16:creationId xmlns:a16="http://schemas.microsoft.com/office/drawing/2014/main" id="{F00FA020-8573-C593-D6BB-C7397DC3698D}"/>
              </a:ext>
            </a:extLst>
          </p:cNvPr>
          <p:cNvSpPr>
            <a:spLocks noGrp="1"/>
          </p:cNvSpPr>
          <p:nvPr>
            <p:ph type="sldNum" sz="quarter" idx="12"/>
          </p:nvPr>
        </p:nvSpPr>
        <p:spPr/>
        <p:txBody>
          <a:bodyPr/>
          <a:lstStyle/>
          <a:p>
            <a:fld id="{7B670C77-F8D5-0D45-BCC6-7287AA83D132}" type="slidenum">
              <a:rPr lang="en-US" smtClean="0"/>
              <a:t>‹#›</a:t>
            </a:fld>
            <a:endParaRPr lang="en-US"/>
          </a:p>
        </p:txBody>
      </p:sp>
      <p:sp>
        <p:nvSpPr>
          <p:cNvPr id="12" name="Content Placeholder 2">
            <a:extLst>
              <a:ext uri="{FF2B5EF4-FFF2-40B4-BE49-F238E27FC236}">
                <a16:creationId xmlns:a16="http://schemas.microsoft.com/office/drawing/2014/main" id="{430A87E8-FC38-EF63-519A-A20B6C53B421}"/>
              </a:ext>
              <a:ext uri="{C183D7F6-B498-43B3-948B-1728B52AA6E4}">
                <adec:decorative xmlns:adec="http://schemas.microsoft.com/office/drawing/2017/decorative" val="0"/>
              </a:ext>
            </a:extLst>
          </p:cNvPr>
          <p:cNvSpPr>
            <a:spLocks noGrp="1"/>
          </p:cNvSpPr>
          <p:nvPr>
            <p:ph idx="1" hasCustomPrompt="1"/>
          </p:nvPr>
        </p:nvSpPr>
        <p:spPr>
          <a:xfrm>
            <a:off x="394206" y="2456033"/>
            <a:ext cx="4939792" cy="517986"/>
          </a:xfrm>
          <a:prstGeom prst="rect">
            <a:avLst/>
          </a:prstGeom>
        </p:spPr>
        <p:txBody>
          <a:bodyPr anchor="b" anchorCtr="0"/>
          <a:lstStyle>
            <a:lvl1pPr marL="0" indent="0">
              <a:lnSpc>
                <a:spcPct val="100000"/>
              </a:lnSpc>
              <a:spcBef>
                <a:spcPts val="0"/>
              </a:spcBef>
              <a:buFontTx/>
              <a:buNone/>
              <a:defRPr sz="1600" b="1" cap="all" baseline="0">
                <a:solidFill>
                  <a:schemeClr val="tx2"/>
                </a:solidFill>
              </a:defRPr>
            </a:lvl1pPr>
            <a:lvl2pPr>
              <a:buFont typeface="Arial" panose="020B0604020202020204" pitchFamily="34" charset="0"/>
              <a:buChar char="•"/>
              <a:defRPr/>
            </a:lvl2pPr>
            <a:lvl3pPr>
              <a:spcBef>
                <a:spcPts val="400"/>
              </a:spcBef>
              <a:buFont typeface="System Font Regular"/>
              <a:buChar char="−"/>
              <a:defRPr sz="1800"/>
            </a:lvl3pPr>
          </a:lstStyle>
          <a:p>
            <a:pPr lvl="0"/>
            <a:r>
              <a:rPr lang="en-US" dirty="0"/>
              <a:t>Click here to edit Sub-title</a:t>
            </a:r>
          </a:p>
        </p:txBody>
      </p:sp>
      <p:sp>
        <p:nvSpPr>
          <p:cNvPr id="13" name="Content Placeholder 2">
            <a:extLst>
              <a:ext uri="{FF2B5EF4-FFF2-40B4-BE49-F238E27FC236}">
                <a16:creationId xmlns:a16="http://schemas.microsoft.com/office/drawing/2014/main" id="{03372A22-8E95-EEF5-A75E-63F3C0F2C29E}"/>
              </a:ext>
              <a:ext uri="{C183D7F6-B498-43B3-948B-1728B52AA6E4}">
                <adec:decorative xmlns:adec="http://schemas.microsoft.com/office/drawing/2017/decorative" val="0"/>
              </a:ext>
            </a:extLst>
          </p:cNvPr>
          <p:cNvSpPr>
            <a:spLocks noGrp="1"/>
          </p:cNvSpPr>
          <p:nvPr>
            <p:ph idx="14" hasCustomPrompt="1"/>
          </p:nvPr>
        </p:nvSpPr>
        <p:spPr>
          <a:xfrm>
            <a:off x="394208" y="3095375"/>
            <a:ext cx="4939792" cy="3184283"/>
          </a:xfrm>
          <a:prstGeom prst="rect">
            <a:avLst/>
          </a:prstGeom>
        </p:spPr>
        <p:txBody>
          <a:bodyPr/>
          <a:lstStyle>
            <a:lvl1pPr>
              <a:lnSpc>
                <a:spcPct val="120000"/>
              </a:lnSpc>
              <a:defRPr/>
            </a:lvl1pPr>
            <a:lvl2pPr>
              <a:spcBef>
                <a:spcPts val="400"/>
              </a:spcBef>
              <a:defRPr/>
            </a:lvl2pPr>
            <a:lvl3pPr>
              <a:spcBef>
                <a:spcPts val="400"/>
              </a:spcBef>
              <a:defRPr/>
            </a:lvl3pPr>
            <a:lvl4pPr>
              <a:spcBef>
                <a:spcPts val="400"/>
              </a:spcBef>
              <a:defRPr/>
            </a:lvl4pPr>
            <a:lvl5pPr>
              <a:spcBef>
                <a:spcPts val="400"/>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7856CF4B-B17A-2337-0D52-61EC19AA7002}"/>
              </a:ext>
              <a:ext uri="{C183D7F6-B498-43B3-948B-1728B52AA6E4}">
                <adec:decorative xmlns:adec="http://schemas.microsoft.com/office/drawing/2017/decorative" val="0"/>
              </a:ext>
            </a:extLst>
          </p:cNvPr>
          <p:cNvSpPr>
            <a:spLocks noGrp="1"/>
          </p:cNvSpPr>
          <p:nvPr>
            <p:ph idx="15" hasCustomPrompt="1"/>
          </p:nvPr>
        </p:nvSpPr>
        <p:spPr>
          <a:xfrm>
            <a:off x="5977588" y="2456033"/>
            <a:ext cx="4939792" cy="517986"/>
          </a:xfrm>
          <a:prstGeom prst="rect">
            <a:avLst/>
          </a:prstGeom>
        </p:spPr>
        <p:txBody>
          <a:bodyPr anchor="b" anchorCtr="0"/>
          <a:lstStyle>
            <a:lvl1pPr marL="0" indent="0">
              <a:lnSpc>
                <a:spcPct val="100000"/>
              </a:lnSpc>
              <a:spcBef>
                <a:spcPts val="0"/>
              </a:spcBef>
              <a:buFontTx/>
              <a:buNone/>
              <a:defRPr sz="1600" b="1" cap="all" baseline="0">
                <a:solidFill>
                  <a:schemeClr val="tx2"/>
                </a:solidFill>
              </a:defRPr>
            </a:lvl1pPr>
            <a:lvl2pPr>
              <a:buFont typeface="Arial" panose="020B0604020202020204" pitchFamily="34" charset="0"/>
              <a:buChar char="•"/>
              <a:defRPr/>
            </a:lvl2pPr>
            <a:lvl3pPr>
              <a:spcBef>
                <a:spcPts val="400"/>
              </a:spcBef>
              <a:buFont typeface="System Font Regular"/>
              <a:buChar char="−"/>
              <a:defRPr sz="1800"/>
            </a:lvl3pPr>
          </a:lstStyle>
          <a:p>
            <a:pPr lvl="0"/>
            <a:r>
              <a:rPr lang="en-US" dirty="0"/>
              <a:t>Click here to edit Sub-title</a:t>
            </a:r>
          </a:p>
        </p:txBody>
      </p:sp>
      <p:sp>
        <p:nvSpPr>
          <p:cNvPr id="15" name="Content Placeholder 2">
            <a:extLst>
              <a:ext uri="{FF2B5EF4-FFF2-40B4-BE49-F238E27FC236}">
                <a16:creationId xmlns:a16="http://schemas.microsoft.com/office/drawing/2014/main" id="{23825F99-D766-A623-5D1B-AE0CC6933E0B}"/>
              </a:ext>
              <a:ext uri="{C183D7F6-B498-43B3-948B-1728B52AA6E4}">
                <adec:decorative xmlns:adec="http://schemas.microsoft.com/office/drawing/2017/decorative" val="0"/>
              </a:ext>
            </a:extLst>
          </p:cNvPr>
          <p:cNvSpPr>
            <a:spLocks noGrp="1"/>
          </p:cNvSpPr>
          <p:nvPr>
            <p:ph idx="16" hasCustomPrompt="1"/>
          </p:nvPr>
        </p:nvSpPr>
        <p:spPr>
          <a:xfrm>
            <a:off x="5977590" y="3095375"/>
            <a:ext cx="4939792" cy="3184283"/>
          </a:xfrm>
          <a:prstGeom prst="rect">
            <a:avLst/>
          </a:prstGeom>
        </p:spPr>
        <p:txBody>
          <a:bodyPr/>
          <a:lstStyle>
            <a:lvl1pPr>
              <a:lnSpc>
                <a:spcPct val="120000"/>
              </a:lnSpc>
              <a:defRPr/>
            </a:lvl1pPr>
            <a:lvl2pPr>
              <a:lnSpc>
                <a:spcPct val="120000"/>
              </a:lnSpc>
              <a:spcBef>
                <a:spcPts val="400"/>
              </a:spcBef>
              <a:defRPr/>
            </a:lvl2pPr>
            <a:lvl3pPr>
              <a:lnSpc>
                <a:spcPct val="120000"/>
              </a:lnSpc>
              <a:spcBef>
                <a:spcPts val="400"/>
              </a:spcBef>
              <a:defRPr/>
            </a:lvl3pPr>
            <a:lvl4pPr>
              <a:lnSpc>
                <a:spcPct val="120000"/>
              </a:lnSpc>
              <a:spcBef>
                <a:spcPts val="400"/>
              </a:spcBef>
              <a:defRPr/>
            </a:lvl4pPr>
            <a:lvl5pPr>
              <a:lnSpc>
                <a:spcPct val="120000"/>
              </a:lnSpc>
              <a:spcBef>
                <a:spcPts val="400"/>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3391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Column Text + Char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A70E803-0CD4-37E6-6B4A-D7207B5FF5B4}"/>
              </a:ext>
              <a:ext uri="{C183D7F6-B498-43B3-948B-1728B52AA6E4}">
                <adec:decorative xmlns:adec="http://schemas.microsoft.com/office/drawing/2017/decorative" val="0"/>
              </a:ext>
            </a:extLst>
          </p:cNvPr>
          <p:cNvSpPr>
            <a:spLocks noGrp="1"/>
          </p:cNvSpPr>
          <p:nvPr>
            <p:ph type="title" hasCustomPrompt="1"/>
          </p:nvPr>
        </p:nvSpPr>
        <p:spPr>
          <a:xfrm>
            <a:off x="394208" y="1433506"/>
            <a:ext cx="5190163" cy="868680"/>
          </a:xfrm>
        </p:spPr>
        <p:txBody>
          <a:bodyPr/>
          <a:lstStyle/>
          <a:p>
            <a:r>
              <a:rPr lang="en-US" dirty="0"/>
              <a:t>Click to edit title</a:t>
            </a:r>
          </a:p>
        </p:txBody>
      </p:sp>
      <p:sp>
        <p:nvSpPr>
          <p:cNvPr id="6" name="Text Placeholder 3">
            <a:extLst>
              <a:ext uri="{FF2B5EF4-FFF2-40B4-BE49-F238E27FC236}">
                <a16:creationId xmlns:a16="http://schemas.microsoft.com/office/drawing/2014/main" id="{79FC7291-FE51-B6E9-4282-93216FB48CDA}"/>
              </a:ext>
              <a:ext uri="{C183D7F6-B498-43B3-948B-1728B52AA6E4}">
                <adec:decorative xmlns:adec="http://schemas.microsoft.com/office/drawing/2017/decorative" val="0"/>
              </a:ext>
            </a:extLst>
          </p:cNvPr>
          <p:cNvSpPr>
            <a:spLocks noGrp="1"/>
          </p:cNvSpPr>
          <p:nvPr>
            <p:ph type="body" sz="half" idx="2" hasCustomPrompt="1"/>
          </p:nvPr>
        </p:nvSpPr>
        <p:spPr>
          <a:xfrm>
            <a:off x="391564" y="2410823"/>
            <a:ext cx="5192807" cy="3811588"/>
          </a:xfrm>
          <a:prstGeom prst="rect">
            <a:avLst/>
          </a:prstGeom>
        </p:spPr>
        <p:txBody>
          <a:bodyPr/>
          <a:lstStyle>
            <a:lvl1pPr marL="0" indent="0">
              <a:lnSpc>
                <a:spcPct val="12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a:t>
            </a:r>
          </a:p>
        </p:txBody>
      </p:sp>
      <p:sp>
        <p:nvSpPr>
          <p:cNvPr id="4" name="Chart Placeholder 3">
            <a:extLst>
              <a:ext uri="{FF2B5EF4-FFF2-40B4-BE49-F238E27FC236}">
                <a16:creationId xmlns:a16="http://schemas.microsoft.com/office/drawing/2014/main" id="{09B8DD2A-7177-2E52-DD5A-3EAE044C5349}"/>
              </a:ext>
              <a:ext uri="{C183D7F6-B498-43B3-948B-1728B52AA6E4}">
                <adec:decorative xmlns:adec="http://schemas.microsoft.com/office/drawing/2017/decorative" val="0"/>
              </a:ext>
            </a:extLst>
          </p:cNvPr>
          <p:cNvSpPr>
            <a:spLocks noGrp="1"/>
          </p:cNvSpPr>
          <p:nvPr>
            <p:ph type="chart" sz="quarter" idx="10"/>
          </p:nvPr>
        </p:nvSpPr>
        <p:spPr>
          <a:xfrm>
            <a:off x="5834743" y="1433506"/>
            <a:ext cx="5963049" cy="4320441"/>
          </a:xfrm>
          <a:prstGeom prst="rect">
            <a:avLst/>
          </a:prstGeom>
        </p:spPr>
        <p:txBody>
          <a:bodyPr/>
          <a:lstStyle/>
          <a:p>
            <a:endParaRPr lang="en-US"/>
          </a:p>
        </p:txBody>
      </p:sp>
      <p:sp>
        <p:nvSpPr>
          <p:cNvPr id="2" name="Slide Number Placeholder 6">
            <a:extLst>
              <a:ext uri="{FF2B5EF4-FFF2-40B4-BE49-F238E27FC236}">
                <a16:creationId xmlns:a16="http://schemas.microsoft.com/office/drawing/2014/main" id="{24D129EA-B4FE-13E2-9E6F-CFD7407BEA74}"/>
              </a:ext>
              <a:ext uri="{C183D7F6-B498-43B3-948B-1728B52AA6E4}">
                <adec:decorative xmlns:adec="http://schemas.microsoft.com/office/drawing/2017/decorative" val="0"/>
              </a:ext>
            </a:extLst>
          </p:cNvPr>
          <p:cNvSpPr>
            <a:spLocks noGrp="1"/>
          </p:cNvSpPr>
          <p:nvPr>
            <p:ph type="sldNum" sz="quarter" idx="12"/>
          </p:nvPr>
        </p:nvSpPr>
        <p:spPr>
          <a:xfrm>
            <a:off x="11107580" y="6206038"/>
            <a:ext cx="692856" cy="365125"/>
          </a:xfrm>
        </p:spPr>
        <p:txBody>
          <a:bodyPr/>
          <a:lstStyle/>
          <a:p>
            <a:fld id="{7B670C77-F8D5-0D45-BCC6-7287AA83D132}" type="slidenum">
              <a:rPr lang="en-US" smtClean="0"/>
              <a:t>‹#›</a:t>
            </a:fld>
            <a:endParaRPr lang="en-US"/>
          </a:p>
        </p:txBody>
      </p:sp>
    </p:spTree>
    <p:extLst>
      <p:ext uri="{BB962C8B-B14F-4D97-AF65-F5344CB8AC3E}">
        <p14:creationId xmlns:p14="http://schemas.microsoft.com/office/powerpoint/2010/main" val="2229600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2145E6A-5CC6-3D59-03B2-79BA22BAC1E2}"/>
              </a:ext>
              <a:ext uri="{C183D7F6-B498-43B3-948B-1728B52AA6E4}">
                <adec:decorative xmlns:adec="http://schemas.microsoft.com/office/drawing/2017/decorative" val="0"/>
              </a:ext>
            </a:extLst>
          </p:cNvPr>
          <p:cNvSpPr>
            <a:spLocks noGrp="1"/>
          </p:cNvSpPr>
          <p:nvPr>
            <p:ph type="sldNum" sz="quarter" idx="12"/>
          </p:nvPr>
        </p:nvSpPr>
        <p:spPr/>
        <p:txBody>
          <a:bodyPr/>
          <a:lstStyle/>
          <a:p>
            <a:fld id="{7B670C77-F8D5-0D45-BCC6-7287AA83D132}" type="slidenum">
              <a:rPr lang="en-US" smtClean="0"/>
              <a:t>‹#›</a:t>
            </a:fld>
            <a:endParaRPr lang="en-US"/>
          </a:p>
        </p:txBody>
      </p:sp>
    </p:spTree>
    <p:extLst>
      <p:ext uri="{BB962C8B-B14F-4D97-AF65-F5344CB8AC3E}">
        <p14:creationId xmlns:p14="http://schemas.microsoft.com/office/powerpoint/2010/main" val="3302570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Slide (No Backgroun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3871AB5E-101C-7C13-4D65-215EA69060E6}"/>
              </a:ext>
              <a:ext uri="{C183D7F6-B498-43B3-948B-1728B52AA6E4}">
                <adec:decorative xmlns:adec="http://schemas.microsoft.com/office/drawing/2017/decorative" val="0"/>
              </a:ext>
            </a:extLst>
          </p:cNvPr>
          <p:cNvSpPr>
            <a:spLocks noGrp="1"/>
          </p:cNvSpPr>
          <p:nvPr>
            <p:ph type="sldNum" sz="quarter" idx="12"/>
          </p:nvPr>
        </p:nvSpPr>
        <p:spPr>
          <a:xfrm>
            <a:off x="11107580" y="6206038"/>
            <a:ext cx="692856" cy="365125"/>
          </a:xfrm>
        </p:spPr>
        <p:txBody>
          <a:bodyPr/>
          <a:lstStyle/>
          <a:p>
            <a:fld id="{7B670C77-F8D5-0D45-BCC6-7287AA83D132}" type="slidenum">
              <a:rPr lang="en-US" smtClean="0"/>
              <a:t>‹#›</a:t>
            </a:fld>
            <a:endParaRPr lang="en-US"/>
          </a:p>
        </p:txBody>
      </p:sp>
    </p:spTree>
    <p:extLst>
      <p:ext uri="{BB962C8B-B14F-4D97-AF65-F5344CB8AC3E}">
        <p14:creationId xmlns:p14="http://schemas.microsoft.com/office/powerpoint/2010/main" val="29288600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Column Text + Photo">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A70E803-0CD4-37E6-6B4A-D7207B5FF5B4}"/>
              </a:ext>
            </a:extLst>
          </p:cNvPr>
          <p:cNvSpPr>
            <a:spLocks noGrp="1"/>
          </p:cNvSpPr>
          <p:nvPr>
            <p:ph type="title" hasCustomPrompt="1"/>
          </p:nvPr>
        </p:nvSpPr>
        <p:spPr>
          <a:xfrm>
            <a:off x="394208" y="1433506"/>
            <a:ext cx="5190163" cy="868680"/>
          </a:xfrm>
        </p:spPr>
        <p:txBody>
          <a:bodyPr/>
          <a:lstStyle/>
          <a:p>
            <a:r>
              <a:rPr lang="en-US" dirty="0"/>
              <a:t>Click to edit title</a:t>
            </a:r>
          </a:p>
        </p:txBody>
      </p:sp>
      <p:sp>
        <p:nvSpPr>
          <p:cNvPr id="6" name="Text Placeholder 3">
            <a:extLst>
              <a:ext uri="{FF2B5EF4-FFF2-40B4-BE49-F238E27FC236}">
                <a16:creationId xmlns:a16="http://schemas.microsoft.com/office/drawing/2014/main" id="{79FC7291-FE51-B6E9-4282-93216FB48CDA}"/>
              </a:ext>
            </a:extLst>
          </p:cNvPr>
          <p:cNvSpPr>
            <a:spLocks noGrp="1"/>
          </p:cNvSpPr>
          <p:nvPr>
            <p:ph type="body" sz="half" idx="2" hasCustomPrompt="1"/>
          </p:nvPr>
        </p:nvSpPr>
        <p:spPr>
          <a:xfrm>
            <a:off x="391564" y="2410823"/>
            <a:ext cx="5192807" cy="3811588"/>
          </a:xfrm>
          <a:prstGeom prst="rect">
            <a:avLst/>
          </a:prstGeom>
        </p:spPr>
        <p:txBody>
          <a:bodyPr/>
          <a:lstStyle>
            <a:lvl1pPr marL="0" indent="0">
              <a:lnSpc>
                <a:spcPct val="12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a:t>
            </a:r>
          </a:p>
        </p:txBody>
      </p:sp>
      <p:sp>
        <p:nvSpPr>
          <p:cNvPr id="3" name="Picture Placeholder 2">
            <a:extLst>
              <a:ext uri="{FF2B5EF4-FFF2-40B4-BE49-F238E27FC236}">
                <a16:creationId xmlns:a16="http://schemas.microsoft.com/office/drawing/2014/main" id="{0E4453FC-9ACD-2BD9-D95C-9641E9530AEF}"/>
              </a:ext>
              <a:ext uri="{C183D7F6-B498-43B3-948B-1728B52AA6E4}">
                <adec:decorative xmlns:adec="http://schemas.microsoft.com/office/drawing/2017/decorative" val="0"/>
              </a:ext>
            </a:extLst>
          </p:cNvPr>
          <p:cNvSpPr>
            <a:spLocks noGrp="1"/>
          </p:cNvSpPr>
          <p:nvPr>
            <p:ph type="pic" idx="1" hasCustomPrompt="1"/>
          </p:nvPr>
        </p:nvSpPr>
        <p:spPr>
          <a:xfrm>
            <a:off x="6018212" y="1175657"/>
            <a:ext cx="6172200" cy="5682343"/>
          </a:xfrm>
          <a:prstGeom prst="rect">
            <a:avLst/>
          </a:prstGeom>
          <a:solidFill>
            <a:schemeClr val="accent5"/>
          </a:solidFill>
        </p:spPr>
        <p:txBody>
          <a:bodyPr/>
          <a:lstStyle>
            <a:lvl1pPr marL="0" marR="0" indent="0" algn="ctr" defTabSz="914400" rtl="0" eaLnBrk="1" fontAlgn="auto" latinLnBrk="0" hangingPunct="1">
              <a:lnSpc>
                <a:spcPts val="2600"/>
              </a:lnSpc>
              <a:spcBef>
                <a:spcPts val="800"/>
              </a:spcBef>
              <a:spcAft>
                <a:spcPts val="0"/>
              </a:spcAft>
              <a:buClr>
                <a:schemeClr val="tx2"/>
              </a:buClr>
              <a:buSzTx/>
              <a:buFont typeface="Arial" panose="020B0604020202020204" pitchFamily="34" charset="0"/>
              <a:buNone/>
              <a:tabLst/>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ts val="2600"/>
              </a:lnSpc>
              <a:spcBef>
                <a:spcPts val="800"/>
              </a:spcBef>
              <a:spcAft>
                <a:spcPts val="0"/>
              </a:spcAft>
              <a:buClr>
                <a:schemeClr val="tx2"/>
              </a:buClr>
              <a:buSzTx/>
              <a:buFont typeface="Arial" panose="020B0604020202020204" pitchFamily="34" charset="0"/>
              <a:buNone/>
              <a:tabLst/>
              <a:defRPr/>
            </a:pPr>
            <a:r>
              <a:rPr lang="en-US" dirty="0"/>
              <a:t>                 </a:t>
            </a:r>
          </a:p>
        </p:txBody>
      </p:sp>
    </p:spTree>
    <p:extLst>
      <p:ext uri="{BB962C8B-B14F-4D97-AF65-F5344CB8AC3E}">
        <p14:creationId xmlns:p14="http://schemas.microsoft.com/office/powerpoint/2010/main" val="2003926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Column Text + 3 Photos">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A70E803-0CD4-37E6-6B4A-D7207B5FF5B4}"/>
              </a:ext>
            </a:extLst>
          </p:cNvPr>
          <p:cNvSpPr>
            <a:spLocks noGrp="1"/>
          </p:cNvSpPr>
          <p:nvPr>
            <p:ph type="title" hasCustomPrompt="1"/>
          </p:nvPr>
        </p:nvSpPr>
        <p:spPr>
          <a:xfrm>
            <a:off x="394208" y="1433506"/>
            <a:ext cx="5190163" cy="868680"/>
          </a:xfrm>
        </p:spPr>
        <p:txBody>
          <a:bodyPr/>
          <a:lstStyle/>
          <a:p>
            <a:r>
              <a:rPr lang="en-US" dirty="0"/>
              <a:t>Click to edit title</a:t>
            </a:r>
          </a:p>
        </p:txBody>
      </p:sp>
      <p:sp>
        <p:nvSpPr>
          <p:cNvPr id="6" name="Text Placeholder 3">
            <a:extLst>
              <a:ext uri="{FF2B5EF4-FFF2-40B4-BE49-F238E27FC236}">
                <a16:creationId xmlns:a16="http://schemas.microsoft.com/office/drawing/2014/main" id="{79FC7291-FE51-B6E9-4282-93216FB48CDA}"/>
              </a:ext>
            </a:extLst>
          </p:cNvPr>
          <p:cNvSpPr>
            <a:spLocks noGrp="1"/>
          </p:cNvSpPr>
          <p:nvPr>
            <p:ph type="body" sz="half" idx="2" hasCustomPrompt="1"/>
          </p:nvPr>
        </p:nvSpPr>
        <p:spPr>
          <a:xfrm>
            <a:off x="391564" y="2410823"/>
            <a:ext cx="5192807" cy="3811588"/>
          </a:xfrm>
          <a:prstGeom prst="rect">
            <a:avLst/>
          </a:prstGeom>
        </p:spPr>
        <p:txBody>
          <a:bodyPr/>
          <a:lstStyle>
            <a:lvl1pPr marL="0" indent="0">
              <a:lnSpc>
                <a:spcPct val="12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a:t>
            </a:r>
          </a:p>
        </p:txBody>
      </p:sp>
      <p:sp>
        <p:nvSpPr>
          <p:cNvPr id="3" name="Picture Placeholder 2">
            <a:extLst>
              <a:ext uri="{FF2B5EF4-FFF2-40B4-BE49-F238E27FC236}">
                <a16:creationId xmlns:a16="http://schemas.microsoft.com/office/drawing/2014/main" id="{0E4453FC-9ACD-2BD9-D95C-9641E9530AEF}"/>
              </a:ext>
            </a:extLst>
          </p:cNvPr>
          <p:cNvSpPr>
            <a:spLocks noGrp="1"/>
          </p:cNvSpPr>
          <p:nvPr>
            <p:ph type="pic" idx="1" hasCustomPrompt="1"/>
          </p:nvPr>
        </p:nvSpPr>
        <p:spPr>
          <a:xfrm>
            <a:off x="6013295" y="1175657"/>
            <a:ext cx="6175025" cy="2841171"/>
          </a:xfrm>
          <a:prstGeom prst="rect">
            <a:avLst/>
          </a:prstGeom>
          <a:solidFill>
            <a:schemeClr val="accent5"/>
          </a:solidFill>
          <a:ln>
            <a:solidFill>
              <a:schemeClr val="bg1"/>
            </a:solidFill>
          </a:ln>
        </p:spPr>
        <p:txBody>
          <a:bodyPr/>
          <a:lstStyle>
            <a:lvl1pPr marL="0" marR="0" indent="0" algn="ctr" defTabSz="914400" rtl="0" eaLnBrk="1" fontAlgn="auto" latinLnBrk="0" hangingPunct="1">
              <a:lnSpc>
                <a:spcPts val="2600"/>
              </a:lnSpc>
              <a:spcBef>
                <a:spcPts val="800"/>
              </a:spcBef>
              <a:spcAft>
                <a:spcPts val="0"/>
              </a:spcAft>
              <a:buClr>
                <a:schemeClr val="tx2"/>
              </a:buClr>
              <a:buSzTx/>
              <a:buFont typeface="Arial" panose="020B0604020202020204" pitchFamily="34" charset="0"/>
              <a:buNone/>
              <a:tabLst/>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ts val="2600"/>
              </a:lnSpc>
              <a:spcBef>
                <a:spcPts val="800"/>
              </a:spcBef>
              <a:spcAft>
                <a:spcPts val="0"/>
              </a:spcAft>
              <a:buClr>
                <a:schemeClr val="tx2"/>
              </a:buClr>
              <a:buSzTx/>
              <a:buFont typeface="Arial" panose="020B0604020202020204" pitchFamily="34" charset="0"/>
              <a:buNone/>
              <a:tabLst/>
              <a:defRPr/>
            </a:pPr>
            <a:r>
              <a:rPr lang="en-US" dirty="0"/>
              <a:t>                 </a:t>
            </a:r>
          </a:p>
        </p:txBody>
      </p:sp>
      <p:sp>
        <p:nvSpPr>
          <p:cNvPr id="4" name="Picture Placeholder 2">
            <a:extLst>
              <a:ext uri="{FF2B5EF4-FFF2-40B4-BE49-F238E27FC236}">
                <a16:creationId xmlns:a16="http://schemas.microsoft.com/office/drawing/2014/main" id="{1855A2D2-CB1F-E260-6EEA-7E2D6D512F1B}"/>
              </a:ext>
            </a:extLst>
          </p:cNvPr>
          <p:cNvSpPr>
            <a:spLocks noGrp="1"/>
          </p:cNvSpPr>
          <p:nvPr>
            <p:ph type="pic" idx="11" hasCustomPrompt="1"/>
          </p:nvPr>
        </p:nvSpPr>
        <p:spPr>
          <a:xfrm>
            <a:off x="6013295" y="4016828"/>
            <a:ext cx="3090672" cy="2843784"/>
          </a:xfrm>
          <a:prstGeom prst="rect">
            <a:avLst/>
          </a:prstGeom>
          <a:solidFill>
            <a:schemeClr val="accent5"/>
          </a:solidFill>
          <a:ln w="9525">
            <a:solidFill>
              <a:schemeClr val="bg1"/>
            </a:solidFill>
          </a:ln>
        </p:spPr>
        <p:txBody>
          <a:bodyPr/>
          <a:lstStyle>
            <a:lvl1pPr marL="0" marR="0" indent="0" algn="ctr" defTabSz="914400" rtl="0" eaLnBrk="1" fontAlgn="auto" latinLnBrk="0" hangingPunct="1">
              <a:lnSpc>
                <a:spcPts val="2600"/>
              </a:lnSpc>
              <a:spcBef>
                <a:spcPts val="800"/>
              </a:spcBef>
              <a:spcAft>
                <a:spcPts val="0"/>
              </a:spcAft>
              <a:buClr>
                <a:schemeClr val="tx2"/>
              </a:buClr>
              <a:buSzTx/>
              <a:buFont typeface="Arial" panose="020B0604020202020204" pitchFamily="34" charset="0"/>
              <a:buNone/>
              <a:tabLst/>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ts val="2600"/>
              </a:lnSpc>
              <a:spcBef>
                <a:spcPts val="800"/>
              </a:spcBef>
              <a:spcAft>
                <a:spcPts val="0"/>
              </a:spcAft>
              <a:buClr>
                <a:schemeClr val="tx2"/>
              </a:buClr>
              <a:buSzTx/>
              <a:buFont typeface="Arial" panose="020B0604020202020204" pitchFamily="34" charset="0"/>
              <a:buNone/>
              <a:tabLst/>
              <a:defRPr/>
            </a:pPr>
            <a:r>
              <a:rPr lang="en-US" dirty="0"/>
              <a:t>                 </a:t>
            </a:r>
          </a:p>
        </p:txBody>
      </p:sp>
      <p:sp>
        <p:nvSpPr>
          <p:cNvPr id="2" name="Picture Placeholder 2">
            <a:extLst>
              <a:ext uri="{FF2B5EF4-FFF2-40B4-BE49-F238E27FC236}">
                <a16:creationId xmlns:a16="http://schemas.microsoft.com/office/drawing/2014/main" id="{E9823783-F8CE-C00A-E2E8-141FB0CBA29A}"/>
              </a:ext>
            </a:extLst>
          </p:cNvPr>
          <p:cNvSpPr>
            <a:spLocks noGrp="1"/>
          </p:cNvSpPr>
          <p:nvPr>
            <p:ph type="pic" idx="10" hasCustomPrompt="1"/>
          </p:nvPr>
        </p:nvSpPr>
        <p:spPr>
          <a:xfrm>
            <a:off x="9097648" y="4016829"/>
            <a:ext cx="3090672" cy="2841171"/>
          </a:xfrm>
          <a:prstGeom prst="rect">
            <a:avLst/>
          </a:prstGeom>
          <a:solidFill>
            <a:schemeClr val="accent5"/>
          </a:solidFill>
          <a:ln>
            <a:solidFill>
              <a:schemeClr val="bg1"/>
            </a:solidFill>
          </a:ln>
        </p:spPr>
        <p:txBody>
          <a:bodyPr/>
          <a:lstStyle>
            <a:lvl1pPr marL="0" marR="0" indent="0" algn="ctr" defTabSz="914400" rtl="0" eaLnBrk="1" fontAlgn="auto" latinLnBrk="0" hangingPunct="1">
              <a:lnSpc>
                <a:spcPts val="2600"/>
              </a:lnSpc>
              <a:spcBef>
                <a:spcPts val="800"/>
              </a:spcBef>
              <a:spcAft>
                <a:spcPts val="0"/>
              </a:spcAft>
              <a:buClr>
                <a:schemeClr val="tx2"/>
              </a:buClr>
              <a:buSzTx/>
              <a:buFont typeface="Arial" panose="020B0604020202020204" pitchFamily="34" charset="0"/>
              <a:buNone/>
              <a:tabLst/>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ts val="2600"/>
              </a:lnSpc>
              <a:spcBef>
                <a:spcPts val="800"/>
              </a:spcBef>
              <a:spcAft>
                <a:spcPts val="0"/>
              </a:spcAft>
              <a:buClr>
                <a:schemeClr val="tx2"/>
              </a:buClr>
              <a:buSzTx/>
              <a:buFont typeface="Arial" panose="020B0604020202020204" pitchFamily="34" charset="0"/>
              <a:buNone/>
              <a:tabLst/>
              <a:defRPr/>
            </a:pPr>
            <a:r>
              <a:rPr lang="en-US" dirty="0"/>
              <a:t>                 </a:t>
            </a:r>
          </a:p>
        </p:txBody>
      </p:sp>
    </p:spTree>
    <p:extLst>
      <p:ext uri="{BB962C8B-B14F-4D97-AF65-F5344CB8AC3E}">
        <p14:creationId xmlns:p14="http://schemas.microsoft.com/office/powerpoint/2010/main" val="19849443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Full-Width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50CA1-FF95-DB59-A307-6E7802C571C9}"/>
              </a:ext>
            </a:extLst>
          </p:cNvPr>
          <p:cNvSpPr>
            <a:spLocks noGrp="1"/>
          </p:cNvSpPr>
          <p:nvPr>
            <p:ph type="title" hasCustomPrompt="1"/>
          </p:nvPr>
        </p:nvSpPr>
        <p:spPr>
          <a:xfrm>
            <a:off x="394208" y="1504626"/>
            <a:ext cx="5190163" cy="868680"/>
          </a:xfrm>
        </p:spPr>
        <p:txBody>
          <a:bodyPr/>
          <a:lstStyle/>
          <a:p>
            <a:r>
              <a:rPr lang="en-US" dirty="0"/>
              <a:t>Click to edit title</a:t>
            </a:r>
          </a:p>
        </p:txBody>
      </p:sp>
      <p:sp>
        <p:nvSpPr>
          <p:cNvPr id="3" name="Picture Placeholder 2">
            <a:extLst>
              <a:ext uri="{FF2B5EF4-FFF2-40B4-BE49-F238E27FC236}">
                <a16:creationId xmlns:a16="http://schemas.microsoft.com/office/drawing/2014/main" id="{0E4453FC-9ACD-2BD9-D95C-9641E9530AEF}"/>
              </a:ext>
            </a:extLst>
          </p:cNvPr>
          <p:cNvSpPr>
            <a:spLocks noGrp="1"/>
          </p:cNvSpPr>
          <p:nvPr>
            <p:ph type="pic" idx="1" hasCustomPrompt="1"/>
          </p:nvPr>
        </p:nvSpPr>
        <p:spPr>
          <a:xfrm>
            <a:off x="0" y="1"/>
            <a:ext cx="12192000" cy="6858000"/>
          </a:xfrm>
          <a:prstGeom prst="rect">
            <a:avLst/>
          </a:prstGeom>
          <a:solidFill>
            <a:schemeClr val="accent5"/>
          </a:solidFill>
        </p:spPr>
        <p:txBody>
          <a:bodyPr/>
          <a:lstStyle>
            <a:lvl1pPr marL="0" marR="0" indent="0" algn="ctr" defTabSz="914400" rtl="0" eaLnBrk="1" fontAlgn="auto" latinLnBrk="0" hangingPunct="1">
              <a:lnSpc>
                <a:spcPts val="2600"/>
              </a:lnSpc>
              <a:spcBef>
                <a:spcPts val="800"/>
              </a:spcBef>
              <a:spcAft>
                <a:spcPts val="0"/>
              </a:spcAft>
              <a:buClr>
                <a:schemeClr val="tx2"/>
              </a:buClr>
              <a:buSzTx/>
              <a:buFont typeface="Arial" panose="020B0604020202020204" pitchFamily="34" charset="0"/>
              <a:buNone/>
              <a:tabLst/>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ts val="2600"/>
              </a:lnSpc>
              <a:spcBef>
                <a:spcPts val="800"/>
              </a:spcBef>
              <a:spcAft>
                <a:spcPts val="0"/>
              </a:spcAft>
              <a:buClr>
                <a:schemeClr val="tx2"/>
              </a:buClr>
              <a:buSzTx/>
              <a:buFont typeface="Arial" panose="020B0604020202020204" pitchFamily="34" charset="0"/>
              <a:buNone/>
              <a:tabLst/>
              <a:defRPr/>
            </a:pPr>
            <a:r>
              <a:rPr lang="en-US" dirty="0"/>
              <a:t>                  </a:t>
            </a:r>
          </a:p>
        </p:txBody>
      </p:sp>
    </p:spTree>
    <p:extLst>
      <p:ext uri="{BB962C8B-B14F-4D97-AF65-F5344CB8AC3E}">
        <p14:creationId xmlns:p14="http://schemas.microsoft.com/office/powerpoint/2010/main" val="2111997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A19231-8A35-C0C4-A52C-FD510095F937}"/>
              </a:ext>
            </a:extLst>
          </p:cNvPr>
          <p:cNvSpPr>
            <a:spLocks noGrp="1"/>
          </p:cNvSpPr>
          <p:nvPr>
            <p:ph type="title"/>
          </p:nvPr>
        </p:nvSpPr>
        <p:spPr>
          <a:xfrm>
            <a:off x="394208" y="1504626"/>
            <a:ext cx="10515600" cy="868680"/>
          </a:xfrm>
          <a:prstGeom prst="rect">
            <a:avLst/>
          </a:prstGeom>
        </p:spPr>
        <p:txBody>
          <a:bodyPr vert="horz" lIns="91440" tIns="45720" rIns="91440" bIns="45720" rtlCol="0" anchor="ctr" anchorCtr="0">
            <a:noAutofit/>
          </a:bodyPr>
          <a:lstStyle/>
          <a:p>
            <a:r>
              <a:rPr lang="en-US" dirty="0"/>
              <a:t>Click to edit title</a:t>
            </a:r>
          </a:p>
        </p:txBody>
      </p:sp>
      <p:sp>
        <p:nvSpPr>
          <p:cNvPr id="3" name="Text Placeholder 2">
            <a:extLst>
              <a:ext uri="{FF2B5EF4-FFF2-40B4-BE49-F238E27FC236}">
                <a16:creationId xmlns:a16="http://schemas.microsoft.com/office/drawing/2014/main" id="{AE6E5F18-0F44-D0C4-865B-4F1686C20A3A}"/>
              </a:ext>
            </a:extLst>
          </p:cNvPr>
          <p:cNvSpPr>
            <a:spLocks noGrp="1"/>
          </p:cNvSpPr>
          <p:nvPr>
            <p:ph type="body" idx="1"/>
          </p:nvPr>
        </p:nvSpPr>
        <p:spPr>
          <a:xfrm>
            <a:off x="394208" y="2522992"/>
            <a:ext cx="10515600" cy="4048171"/>
          </a:xfrm>
          <a:prstGeom prst="rect">
            <a:avLst/>
          </a:prstGeom>
        </p:spPr>
        <p:txBody>
          <a:bodyPr vert="horz" lIns="91440" tIns="45720" rIns="91440" bIns="45720" rtlCol="0">
            <a:noAutofit/>
          </a:bodyPr>
          <a:lstStyle/>
          <a:p>
            <a:pPr lvl="0"/>
            <a:r>
              <a:rPr lang="en-US" dirty="0"/>
              <a:t>Click here to edit text</a:t>
            </a:r>
          </a:p>
          <a:p>
            <a:pPr lvl="0"/>
            <a:r>
              <a:rPr lang="en-US" dirty="0"/>
              <a:t>Click here to edit text</a:t>
            </a:r>
          </a:p>
          <a:p>
            <a:pPr lvl="1"/>
            <a:r>
              <a:rPr lang="en-US" dirty="0"/>
              <a:t>Second text level</a:t>
            </a:r>
          </a:p>
          <a:p>
            <a:pPr lvl="1"/>
            <a:r>
              <a:rPr lang="en-US" dirty="0"/>
              <a:t>Second text level</a:t>
            </a:r>
          </a:p>
          <a:p>
            <a:pPr lvl="2"/>
            <a:r>
              <a:rPr lang="en-US" dirty="0"/>
              <a:t>Third text level</a:t>
            </a:r>
          </a:p>
          <a:p>
            <a:pPr lvl="2"/>
            <a:r>
              <a:rPr lang="en-US" dirty="0"/>
              <a:t>Third text level</a:t>
            </a:r>
          </a:p>
          <a:p>
            <a:pPr lvl="3"/>
            <a:r>
              <a:rPr lang="en-US" dirty="0"/>
              <a:t>Fourth text level</a:t>
            </a:r>
          </a:p>
          <a:p>
            <a:pPr lvl="4"/>
            <a:r>
              <a:rPr lang="en-US" dirty="0"/>
              <a:t>Fifth text level</a:t>
            </a:r>
          </a:p>
        </p:txBody>
      </p:sp>
      <p:sp>
        <p:nvSpPr>
          <p:cNvPr id="6" name="Slide Number Placeholder 5">
            <a:extLst>
              <a:ext uri="{FF2B5EF4-FFF2-40B4-BE49-F238E27FC236}">
                <a16:creationId xmlns:a16="http://schemas.microsoft.com/office/drawing/2014/main" id="{37C7C836-75E5-4C64-D3C5-1D1833BAD801}"/>
              </a:ext>
              <a:ext uri="{C183D7F6-B498-43B3-948B-1728B52AA6E4}">
                <adec:decorative xmlns:adec="http://schemas.microsoft.com/office/drawing/2017/decorative" val="0"/>
              </a:ext>
            </a:extLst>
          </p:cNvPr>
          <p:cNvSpPr>
            <a:spLocks noGrp="1"/>
          </p:cNvSpPr>
          <p:nvPr>
            <p:ph type="sldNum" sz="quarter" idx="4"/>
          </p:nvPr>
        </p:nvSpPr>
        <p:spPr>
          <a:xfrm>
            <a:off x="11107580" y="6206038"/>
            <a:ext cx="692856" cy="365125"/>
          </a:xfrm>
          <a:prstGeom prst="rect">
            <a:avLst/>
          </a:prstGeom>
        </p:spPr>
        <p:txBody>
          <a:bodyPr vert="horz" lIns="91440" tIns="45720" rIns="91440" bIns="45720" rtlCol="0" anchor="ctr"/>
          <a:lstStyle>
            <a:lvl1pPr algn="r">
              <a:defRPr sz="1200" b="1">
                <a:solidFill>
                  <a:schemeClr val="tx1"/>
                </a:solidFill>
                <a:latin typeface="Arial" panose="020B0604020202020204" pitchFamily="34" charset="0"/>
                <a:cs typeface="Arial" panose="020B0604020202020204" pitchFamily="34" charset="0"/>
              </a:defRPr>
            </a:lvl1pPr>
          </a:lstStyle>
          <a:p>
            <a:fld id="{7B670C77-F8D5-0D45-BCC6-7287AA83D132}" type="slidenum">
              <a:rPr lang="en-US" smtClean="0"/>
              <a:pPr/>
              <a:t>‹#›</a:t>
            </a:fld>
            <a:endParaRPr lang="en-US" b="1" dirty="0"/>
          </a:p>
        </p:txBody>
      </p:sp>
      <p:pic>
        <p:nvPicPr>
          <p:cNvPr id="4" name="Picture 3">
            <a:extLst>
              <a:ext uri="{FF2B5EF4-FFF2-40B4-BE49-F238E27FC236}">
                <a16:creationId xmlns:a16="http://schemas.microsoft.com/office/drawing/2014/main" id="{253DEE38-7B4E-C8A4-CC0C-614E4A2B60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18"/>
          <a:stretch>
            <a:fillRect/>
          </a:stretch>
        </p:blipFill>
        <p:spPr>
          <a:xfrm>
            <a:off x="219918" y="231495"/>
            <a:ext cx="5492824" cy="637167"/>
          </a:xfrm>
          <a:prstGeom prst="rect">
            <a:avLst/>
          </a:prstGeom>
        </p:spPr>
      </p:pic>
    </p:spTree>
    <p:extLst>
      <p:ext uri="{BB962C8B-B14F-4D97-AF65-F5344CB8AC3E}">
        <p14:creationId xmlns:p14="http://schemas.microsoft.com/office/powerpoint/2010/main" val="3964681390"/>
      </p:ext>
    </p:extLst>
  </p:cSld>
  <p:clrMap bg1="dk1" tx1="lt1" bg2="dk2" tx2="lt2" accent1="accent1" accent2="accent2" accent3="accent3" accent4="accent4" accent5="accent5" accent6="accent6" hlink="hlink" folHlink="folHlink"/>
  <p:sldLayoutIdLst>
    <p:sldLayoutId id="2147483659" r:id="rId1"/>
    <p:sldLayoutId id="2147483649" r:id="rId2"/>
    <p:sldLayoutId id="2147483660" r:id="rId3"/>
    <p:sldLayoutId id="2147483658" r:id="rId4"/>
    <p:sldLayoutId id="2147483656" r:id="rId5"/>
    <p:sldLayoutId id="2147483665" r:id="rId6"/>
    <p:sldLayoutId id="2147483652" r:id="rId7"/>
    <p:sldLayoutId id="2147483666" r:id="rId8"/>
    <p:sldLayoutId id="2147483667" r:id="rId9"/>
    <p:sldLayoutId id="2147483664" r:id="rId10"/>
    <p:sldLayoutId id="2147483669" r:id="rId11"/>
    <p:sldLayoutId id="2147483668" r:id="rId12"/>
    <p:sldLayoutId id="2147483657" r:id="rId13"/>
    <p:sldLayoutId id="2147483663" r:id="rId14"/>
    <p:sldLayoutId id="2147483662" r:id="rId15"/>
  </p:sldLayoutIdLst>
  <p:hf hdr="0" ftr="0" dt="0"/>
  <p:txStyles>
    <p:titleStyle>
      <a:lvl1pPr algn="l" defTabSz="914400" rtl="0" eaLnBrk="1" latinLnBrk="0" hangingPunct="1">
        <a:lnSpc>
          <a:spcPct val="90000"/>
        </a:lnSpc>
        <a:spcBef>
          <a:spcPct val="0"/>
        </a:spcBef>
        <a:buNone/>
        <a:defRPr sz="3600" b="0" i="0" kern="1200">
          <a:solidFill>
            <a:schemeClr val="tx2"/>
          </a:solidFill>
          <a:latin typeface="Georgia" panose="02040502050405020303" pitchFamily="18" charset="0"/>
          <a:ea typeface="+mj-ea"/>
          <a:cs typeface="Arial" panose="020B0604020202020204" pitchFamily="34" charset="0"/>
        </a:defRPr>
      </a:lvl1pPr>
    </p:titleStyle>
    <p:bodyStyle>
      <a:lvl1pPr marL="228600" indent="-228600" algn="l" defTabSz="914400" rtl="0" eaLnBrk="1" latinLnBrk="0" hangingPunct="1">
        <a:lnSpc>
          <a:spcPct val="120000"/>
        </a:lnSpc>
        <a:spcBef>
          <a:spcPts val="1000"/>
        </a:spcBef>
        <a:buClr>
          <a:schemeClr val="tx2"/>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20000"/>
        </a:lnSpc>
        <a:spcBef>
          <a:spcPts val="1000"/>
        </a:spcBef>
        <a:buClr>
          <a:schemeClr val="tx2"/>
        </a:buClr>
        <a:buFont typeface="System Font Regular"/>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20000"/>
        </a:lnSpc>
        <a:spcBef>
          <a:spcPts val="1000"/>
        </a:spcBef>
        <a:buClr>
          <a:schemeClr val="tx2"/>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20000"/>
        </a:lnSpc>
        <a:spcBef>
          <a:spcPts val="1000"/>
        </a:spcBef>
        <a:buClr>
          <a:schemeClr val="tx2"/>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20000"/>
        </a:lnSpc>
        <a:spcBef>
          <a:spcPts val="1000"/>
        </a:spcBef>
        <a:buClr>
          <a:schemeClr val="tx2"/>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org&amp;utm_campaign=parser&amp;utm_content=thumbnai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2.g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410FA-7ECD-D4D9-D377-60E0FE6A9038}"/>
              </a:ext>
              <a:ext uri="{C183D7F6-B498-43B3-948B-1728B52AA6E4}">
                <adec:decorative xmlns:adec="http://schemas.microsoft.com/office/drawing/2017/decorative" val="0"/>
              </a:ext>
            </a:extLst>
          </p:cNvPr>
          <p:cNvSpPr>
            <a:spLocks noGrp="1"/>
          </p:cNvSpPr>
          <p:nvPr>
            <p:ph type="ctrTitle" hasCustomPrompt="1"/>
          </p:nvPr>
        </p:nvSpPr>
        <p:spPr>
          <a:xfrm>
            <a:off x="409184" y="1690710"/>
            <a:ext cx="9144000" cy="2405802"/>
          </a:xfrm>
        </p:spPr>
        <p:txBody>
          <a:bodyPr/>
          <a:lstStyle/>
          <a:p>
            <a:pPr marL="0" lvl="0" indent="0">
              <a:buNone/>
            </a:pPr>
            <a:r>
              <a:t>Lecture 2 — Energy generation</a:t>
            </a:r>
          </a:p>
        </p:txBody>
      </p:sp>
      <p:sp>
        <p:nvSpPr>
          <p:cNvPr id="3" name="Subtitle 2">
            <a:extLst>
              <a:ext uri="{FF2B5EF4-FFF2-40B4-BE49-F238E27FC236}">
                <a16:creationId xmlns:a16="http://schemas.microsoft.com/office/drawing/2014/main" id="{17573CCE-562D-8451-99E0-194B6D8D3B0A}"/>
              </a:ext>
              <a:ext uri="{C183D7F6-B498-43B3-948B-1728B52AA6E4}">
                <adec:decorative xmlns:adec="http://schemas.microsoft.com/office/drawing/2017/decorative" val="0"/>
              </a:ext>
            </a:extLst>
          </p:cNvPr>
          <p:cNvSpPr>
            <a:spLocks noGrp="1"/>
          </p:cNvSpPr>
          <p:nvPr>
            <p:ph type="subTitle" idx="1" hasCustomPrompt="1"/>
          </p:nvPr>
        </p:nvSpPr>
        <p:spPr>
          <a:xfrm>
            <a:off x="409184" y="4216314"/>
            <a:ext cx="9144000" cy="1490005"/>
          </a:xfrm>
          <a:prstGeom prst="rect">
            <a:avLst/>
          </a:prstGeom>
        </p:spPr>
        <p:txBody>
          <a:bodyPr/>
          <a:lstStyle/>
          <a:p>
            <a:pPr marL="0" lvl="0" indent="0">
              <a:buNone/>
            </a:pPr>
            <a:r>
              <a:t>PHY199-RAP · Energy in the 21st Century</a:t>
            </a:r>
            <a:br/>
            <a:br/>
            <a:r>
              <a:t>Dr. Salvatore Rappoccio</a:t>
            </a:r>
          </a:p>
        </p:txBody>
      </p:sp>
      <p:sp>
        <p:nvSpPr>
          <p:cNvPr id="4" name=" 3"/>
          <p:cNvSpPr/>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marL="0" lvl="0" indent="0">
              <a:buNone/>
            </a:pPr>
            <a:r>
              <a:rPr lang="en-US" dirty="0"/>
              <a:t>Forces and energy</a:t>
            </a:r>
            <a:endParaRPr dirty="0"/>
          </a:p>
        </p:txBody>
      </p:sp>
      <p:sp>
        <p:nvSpPr>
          <p:cNvPr id="6" name="Slide Number Placeholder 5"/>
          <p:cNvSpPr>
            <a:spLocks noGrp="1"/>
          </p:cNvSpPr>
          <p:nvPr>
            <p:ph type="sldNum" sz="quarter" idx="12"/>
          </p:nvPr>
        </p:nvSpPr>
        <p:spPr/>
        <p:txBody>
          <a:bodyPr/>
          <a:lstStyle/>
          <a:p>
            <a:fld id="{C5EF2332-01BF-834F-8236-50238282D533}"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9E4F8-30AD-A549-B530-FB691D91B616}"/>
              </a:ext>
            </a:extLst>
          </p:cNvPr>
          <p:cNvSpPr>
            <a:spLocks noGrp="1"/>
          </p:cNvSpPr>
          <p:nvPr>
            <p:ph type="title"/>
          </p:nvPr>
        </p:nvSpPr>
        <p:spPr>
          <a:xfrm>
            <a:off x="394208" y="1070144"/>
            <a:ext cx="10515600" cy="868680"/>
          </a:xfrm>
        </p:spPr>
        <p:txBody>
          <a:bodyPr/>
          <a:lstStyle/>
          <a:p>
            <a:r>
              <a:rPr lang="en-US" dirty="0"/>
              <a:t>Energy</a:t>
            </a:r>
          </a:p>
        </p:txBody>
      </p:sp>
      <p:sp>
        <p:nvSpPr>
          <p:cNvPr id="3" name="Content Placeholder 2">
            <a:extLst>
              <a:ext uri="{FF2B5EF4-FFF2-40B4-BE49-F238E27FC236}">
                <a16:creationId xmlns:a16="http://schemas.microsoft.com/office/drawing/2014/main" id="{BBAEDCE6-A4D3-DC4B-9B70-9224B9FEFEC9}"/>
              </a:ext>
            </a:extLst>
          </p:cNvPr>
          <p:cNvSpPr>
            <a:spLocks noGrp="1"/>
          </p:cNvSpPr>
          <p:nvPr>
            <p:ph idx="1"/>
          </p:nvPr>
        </p:nvSpPr>
        <p:spPr>
          <a:xfrm>
            <a:off x="96130" y="1871029"/>
            <a:ext cx="5145037" cy="4558954"/>
          </a:xfrm>
        </p:spPr>
        <p:txBody>
          <a:bodyPr/>
          <a:lstStyle/>
          <a:p>
            <a:r>
              <a:rPr lang="en-US" sz="1800" b="1"/>
              <a:t>Two types </a:t>
            </a:r>
            <a:r>
              <a:rPr lang="en-US" sz="1800"/>
              <a:t>of energy: </a:t>
            </a:r>
          </a:p>
          <a:p>
            <a:pPr lvl="1"/>
            <a:r>
              <a:rPr lang="en-US" sz="1800" b="1"/>
              <a:t>Kinetic : </a:t>
            </a:r>
            <a:r>
              <a:rPr lang="en-US" sz="1800"/>
              <a:t>something in motion</a:t>
            </a:r>
          </a:p>
          <a:p>
            <a:pPr lvl="2"/>
            <a:r>
              <a:rPr lang="en-US" sz="1600"/>
              <a:t>Moving cars, people, electrons, planets, quarks, </a:t>
            </a:r>
            <a:r>
              <a:rPr lang="en-US" sz="1600" err="1"/>
              <a:t>etc</a:t>
            </a:r>
            <a:endParaRPr lang="en-US" sz="1600"/>
          </a:p>
          <a:p>
            <a:pPr lvl="1"/>
            <a:r>
              <a:rPr lang="en-US" sz="1800" b="1"/>
              <a:t>Potential : </a:t>
            </a:r>
            <a:r>
              <a:rPr lang="en-US" sz="1800"/>
              <a:t>something that can be stored to convert into motion later</a:t>
            </a:r>
          </a:p>
          <a:p>
            <a:pPr lvl="2"/>
            <a:r>
              <a:rPr lang="en-US" sz="1600"/>
              <a:t>Electric potential energy, gravitational potential energy</a:t>
            </a:r>
          </a:p>
          <a:p>
            <a:r>
              <a:rPr lang="en-US" sz="1800"/>
              <a:t>This class is about </a:t>
            </a:r>
            <a:r>
              <a:rPr lang="en-US" sz="1800" b="1"/>
              <a:t>energy generation</a:t>
            </a:r>
            <a:r>
              <a:rPr lang="en-US" sz="1800"/>
              <a:t>, i.e. converting potential energy from something into kinetic energy of something else (primarily </a:t>
            </a:r>
            <a:r>
              <a:rPr lang="en-US" sz="1800" b="1"/>
              <a:t>machinery, electronics, or vehicles</a:t>
            </a:r>
            <a:r>
              <a:rPr lang="en-US" sz="1800"/>
              <a:t>)</a:t>
            </a:r>
          </a:p>
        </p:txBody>
      </p:sp>
      <p:sp>
        <p:nvSpPr>
          <p:cNvPr id="4" name="Slide Number Placeholder 3">
            <a:extLst>
              <a:ext uri="{FF2B5EF4-FFF2-40B4-BE49-F238E27FC236}">
                <a16:creationId xmlns:a16="http://schemas.microsoft.com/office/drawing/2014/main" id="{2E57E106-B8CB-E64E-8CA6-69CCFED3C118}"/>
              </a:ext>
            </a:extLst>
          </p:cNvPr>
          <p:cNvSpPr>
            <a:spLocks noGrp="1"/>
          </p:cNvSpPr>
          <p:nvPr>
            <p:ph type="sldNum" sz="quarter" idx="12"/>
          </p:nvPr>
        </p:nvSpPr>
        <p:spPr/>
        <p:txBody>
          <a:bodyPr/>
          <a:lstStyle/>
          <a:p>
            <a:fld id="{7B670C77-F8D5-0D45-BCC6-7287AA83D132}" type="slidenum">
              <a:rPr lang="en-US" smtClean="0"/>
              <a:t>3</a:t>
            </a:fld>
            <a:endParaRPr lang="en-US"/>
          </a:p>
        </p:txBody>
      </p:sp>
      <p:pic>
        <p:nvPicPr>
          <p:cNvPr id="6" name="Picture 5" descr="Stick figure diagram of a person in a cart riding down a roller coaster. ">
            <a:extLst>
              <a:ext uri="{FF2B5EF4-FFF2-40B4-BE49-F238E27FC236}">
                <a16:creationId xmlns:a16="http://schemas.microsoft.com/office/drawing/2014/main" id="{9D3B2DAB-BF48-6546-8A94-12246756CBA5}"/>
              </a:ext>
            </a:extLst>
          </p:cNvPr>
          <p:cNvPicPr>
            <a:picLocks noChangeAspect="1"/>
          </p:cNvPicPr>
          <p:nvPr/>
        </p:nvPicPr>
        <p:blipFill rotWithShape="1">
          <a:blip r:embed="rId2"/>
          <a:srcRect r="2458" b="51202"/>
          <a:stretch/>
        </p:blipFill>
        <p:spPr>
          <a:xfrm>
            <a:off x="5241167" y="1806921"/>
            <a:ext cx="6693487" cy="4324274"/>
          </a:xfrm>
          <a:prstGeom prst="rect">
            <a:avLst/>
          </a:prstGeom>
        </p:spPr>
      </p:pic>
      <p:sp>
        <p:nvSpPr>
          <p:cNvPr id="7" name="TextBox 6">
            <a:extLst>
              <a:ext uri="{FF2B5EF4-FFF2-40B4-BE49-F238E27FC236}">
                <a16:creationId xmlns:a16="http://schemas.microsoft.com/office/drawing/2014/main" id="{27CABD6A-D131-8C41-8252-01F81989FBA4}"/>
              </a:ext>
            </a:extLst>
          </p:cNvPr>
          <p:cNvSpPr txBox="1"/>
          <p:nvPr/>
        </p:nvSpPr>
        <p:spPr>
          <a:xfrm>
            <a:off x="7606371" y="1287903"/>
            <a:ext cx="2543907" cy="369332"/>
          </a:xfrm>
          <a:prstGeom prst="rect">
            <a:avLst/>
          </a:prstGeom>
          <a:noFill/>
        </p:spPr>
        <p:txBody>
          <a:bodyPr wrap="square" rtlCol="0">
            <a:spAutoFit/>
          </a:bodyPr>
          <a:lstStyle/>
          <a:p>
            <a:r>
              <a:rPr lang="en-US"/>
              <a:t>Potential energy</a:t>
            </a:r>
          </a:p>
        </p:txBody>
      </p:sp>
      <p:cxnSp>
        <p:nvCxnSpPr>
          <p:cNvPr id="9" name="Straight Arrow Connector 8">
            <a:extLst>
              <a:ext uri="{FF2B5EF4-FFF2-40B4-BE49-F238E27FC236}">
                <a16:creationId xmlns:a16="http://schemas.microsoft.com/office/drawing/2014/main" id="{322D3B9C-7018-894B-86BC-EF3999D0CF50}"/>
              </a:ext>
            </a:extLst>
          </p:cNvPr>
          <p:cNvCxnSpPr>
            <a:cxnSpLocks/>
            <a:stCxn id="7" idx="1"/>
          </p:cNvCxnSpPr>
          <p:nvPr/>
        </p:nvCxnSpPr>
        <p:spPr>
          <a:xfrm flipH="1">
            <a:off x="7069015" y="1472569"/>
            <a:ext cx="537356" cy="3302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9C2287E5-FD29-3B43-83FD-9FBC2221DE16}"/>
              </a:ext>
            </a:extLst>
          </p:cNvPr>
          <p:cNvSpPr txBox="1"/>
          <p:nvPr/>
        </p:nvSpPr>
        <p:spPr>
          <a:xfrm>
            <a:off x="8601683" y="2814529"/>
            <a:ext cx="3196109" cy="369332"/>
          </a:xfrm>
          <a:prstGeom prst="rect">
            <a:avLst/>
          </a:prstGeom>
          <a:noFill/>
        </p:spPr>
        <p:txBody>
          <a:bodyPr wrap="square" rtlCol="0">
            <a:spAutoFit/>
          </a:bodyPr>
          <a:lstStyle/>
          <a:p>
            <a:r>
              <a:rPr lang="en-US"/>
              <a:t>Converted to kinetic energy</a:t>
            </a:r>
          </a:p>
        </p:txBody>
      </p:sp>
      <p:cxnSp>
        <p:nvCxnSpPr>
          <p:cNvPr id="11" name="Straight Arrow Connector 10">
            <a:extLst>
              <a:ext uri="{FF2B5EF4-FFF2-40B4-BE49-F238E27FC236}">
                <a16:creationId xmlns:a16="http://schemas.microsoft.com/office/drawing/2014/main" id="{013DAF50-F99A-3140-8F01-0FFEC0AF3EAC}"/>
              </a:ext>
            </a:extLst>
          </p:cNvPr>
          <p:cNvCxnSpPr>
            <a:cxnSpLocks/>
            <a:stCxn id="10" idx="1"/>
          </p:cNvCxnSpPr>
          <p:nvPr/>
        </p:nvCxnSpPr>
        <p:spPr>
          <a:xfrm flipH="1">
            <a:off x="7564315" y="2999195"/>
            <a:ext cx="1037368" cy="3821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2C72D5D7-D891-7B48-AB34-62A7F5CD9575}"/>
              </a:ext>
            </a:extLst>
          </p:cNvPr>
          <p:cNvSpPr txBox="1"/>
          <p:nvPr/>
        </p:nvSpPr>
        <p:spPr>
          <a:xfrm>
            <a:off x="6010940" y="5929039"/>
            <a:ext cx="4614530" cy="276999"/>
          </a:xfrm>
          <a:prstGeom prst="rect">
            <a:avLst/>
          </a:prstGeom>
          <a:noFill/>
        </p:spPr>
        <p:txBody>
          <a:bodyPr wrap="square" rtlCol="0">
            <a:spAutoFit/>
          </a:bodyPr>
          <a:lstStyle/>
          <a:p>
            <a:r>
              <a:rPr lang="en-US" sz="1200"/>
              <a:t>I wish I could blame AI, but I’m just bad at drawing </a:t>
            </a:r>
          </a:p>
        </p:txBody>
      </p:sp>
      <p:sp>
        <p:nvSpPr>
          <p:cNvPr id="5" name="TextBox 4">
            <a:extLst>
              <a:ext uri="{FF2B5EF4-FFF2-40B4-BE49-F238E27FC236}">
                <a16:creationId xmlns:a16="http://schemas.microsoft.com/office/drawing/2014/main" id="{7984181C-08DD-7EC5-8925-3743369DB1D8}"/>
              </a:ext>
            </a:extLst>
          </p:cNvPr>
          <p:cNvSpPr txBox="1"/>
          <p:nvPr/>
        </p:nvSpPr>
        <p:spPr>
          <a:xfrm>
            <a:off x="6308651" y="194439"/>
            <a:ext cx="3728484" cy="707886"/>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sz="4000" dirty="0"/>
              <a:t>From Lecture 1</a:t>
            </a:r>
          </a:p>
        </p:txBody>
      </p:sp>
    </p:spTree>
    <p:extLst>
      <p:ext uri="{BB962C8B-B14F-4D97-AF65-F5344CB8AC3E}">
        <p14:creationId xmlns:p14="http://schemas.microsoft.com/office/powerpoint/2010/main" val="2612273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9B77F-78EE-4145-851C-7D44FEB5EDC3}"/>
              </a:ext>
            </a:extLst>
          </p:cNvPr>
          <p:cNvSpPr>
            <a:spLocks noGrp="1"/>
          </p:cNvSpPr>
          <p:nvPr>
            <p:ph type="title"/>
          </p:nvPr>
        </p:nvSpPr>
        <p:spPr/>
        <p:txBody>
          <a:bodyPr/>
          <a:lstStyle/>
          <a:p>
            <a:r>
              <a:rPr lang="en-US"/>
              <a:t>The Four Forces</a:t>
            </a:r>
          </a:p>
        </p:txBody>
      </p:sp>
      <p:sp>
        <p:nvSpPr>
          <p:cNvPr id="3" name="Content Placeholder 2">
            <a:extLst>
              <a:ext uri="{FF2B5EF4-FFF2-40B4-BE49-F238E27FC236}">
                <a16:creationId xmlns:a16="http://schemas.microsoft.com/office/drawing/2014/main" id="{935CEE5A-DC51-DA4F-8DF0-8AF18DE16B84}"/>
              </a:ext>
            </a:extLst>
          </p:cNvPr>
          <p:cNvSpPr>
            <a:spLocks noGrp="1"/>
          </p:cNvSpPr>
          <p:nvPr>
            <p:ph idx="1"/>
          </p:nvPr>
        </p:nvSpPr>
        <p:spPr>
          <a:xfrm>
            <a:off x="391564" y="2863114"/>
            <a:ext cx="4337280" cy="3385402"/>
          </a:xfrm>
        </p:spPr>
        <p:txBody>
          <a:bodyPr/>
          <a:lstStyle/>
          <a:p>
            <a:r>
              <a:rPr lang="en-US"/>
              <a:t>Gravity</a:t>
            </a:r>
          </a:p>
          <a:p>
            <a:r>
              <a:rPr lang="en-US"/>
              <a:t>Electromagnetism</a:t>
            </a:r>
          </a:p>
          <a:p>
            <a:r>
              <a:rPr lang="en-US"/>
              <a:t>Strong nuclear interaction</a:t>
            </a:r>
          </a:p>
          <a:p>
            <a:r>
              <a:rPr lang="en-US"/>
              <a:t>Weak nuclear interaction </a:t>
            </a:r>
          </a:p>
        </p:txBody>
      </p:sp>
      <p:sp>
        <p:nvSpPr>
          <p:cNvPr id="4" name="Slide Number Placeholder 3">
            <a:extLst>
              <a:ext uri="{FF2B5EF4-FFF2-40B4-BE49-F238E27FC236}">
                <a16:creationId xmlns:a16="http://schemas.microsoft.com/office/drawing/2014/main" id="{FA781F1A-E7B3-004C-ABA2-E3C16D1B9CD6}"/>
              </a:ext>
            </a:extLst>
          </p:cNvPr>
          <p:cNvSpPr>
            <a:spLocks noGrp="1"/>
          </p:cNvSpPr>
          <p:nvPr>
            <p:ph type="sldNum" sz="quarter" idx="12"/>
          </p:nvPr>
        </p:nvSpPr>
        <p:spPr/>
        <p:txBody>
          <a:bodyPr/>
          <a:lstStyle/>
          <a:p>
            <a:fld id="{7B670C77-F8D5-0D45-BCC6-7287AA83D132}" type="slidenum">
              <a:rPr lang="en-US" smtClean="0"/>
              <a:t>4</a:t>
            </a:fld>
            <a:endParaRPr lang="en-US"/>
          </a:p>
        </p:txBody>
      </p:sp>
      <p:pic>
        <p:nvPicPr>
          <p:cNvPr id="5" name="Picture 4">
            <a:extLst>
              <a:ext uri="{FF2B5EF4-FFF2-40B4-BE49-F238E27FC236}">
                <a16:creationId xmlns:a16="http://schemas.microsoft.com/office/drawing/2014/main" id="{9DE421CF-1002-E34F-B1A0-E23375A322C7}"/>
              </a:ext>
            </a:extLst>
          </p:cNvPr>
          <p:cNvPicPr>
            <a:picLocks noChangeAspect="1"/>
          </p:cNvPicPr>
          <p:nvPr/>
        </p:nvPicPr>
        <p:blipFill>
          <a:blip r:embed="rId2"/>
          <a:stretch>
            <a:fillRect/>
          </a:stretch>
        </p:blipFill>
        <p:spPr>
          <a:xfrm>
            <a:off x="4357854" y="2451873"/>
            <a:ext cx="6749726" cy="2572193"/>
          </a:xfrm>
          <a:prstGeom prst="rect">
            <a:avLst/>
          </a:prstGeom>
        </p:spPr>
      </p:pic>
      <p:sp>
        <p:nvSpPr>
          <p:cNvPr id="6" name="Rectangle 5">
            <a:extLst>
              <a:ext uri="{FF2B5EF4-FFF2-40B4-BE49-F238E27FC236}">
                <a16:creationId xmlns:a16="http://schemas.microsoft.com/office/drawing/2014/main" id="{0A4A20C2-ECE8-B44D-99C6-33B3EEEECEC3}"/>
              </a:ext>
            </a:extLst>
          </p:cNvPr>
          <p:cNvSpPr/>
          <p:nvPr/>
        </p:nvSpPr>
        <p:spPr>
          <a:xfrm>
            <a:off x="4357853" y="5088975"/>
            <a:ext cx="6870127" cy="923330"/>
          </a:xfrm>
          <a:prstGeom prst="rect">
            <a:avLst/>
          </a:prstGeom>
        </p:spPr>
        <p:txBody>
          <a:bodyPr wrap="square">
            <a:spAutoFit/>
          </a:bodyPr>
          <a:lstStyle/>
          <a:p>
            <a:pPr algn="ctr"/>
            <a:r>
              <a:rPr lang="en-US">
                <a:solidFill>
                  <a:srgbClr val="000000"/>
                </a:solidFill>
                <a:latin typeface="Arial" panose="020B0604020202020204" pitchFamily="34" charset="0"/>
              </a:rPr>
              <a:t>Of these four forces, there's one we don't really understand." </a:t>
            </a:r>
            <a:br>
              <a:rPr lang="en-US">
                <a:solidFill>
                  <a:srgbClr val="000000"/>
                </a:solidFill>
                <a:latin typeface="Arial" panose="020B0604020202020204" pitchFamily="34" charset="0"/>
              </a:rPr>
            </a:br>
            <a:r>
              <a:rPr lang="en-US">
                <a:solidFill>
                  <a:srgbClr val="000000"/>
                </a:solidFill>
                <a:latin typeface="Arial" panose="020B0604020202020204" pitchFamily="34" charset="0"/>
              </a:rPr>
              <a:t>"Is it the weak force or the strong--" </a:t>
            </a:r>
            <a:br>
              <a:rPr lang="en-US">
                <a:solidFill>
                  <a:srgbClr val="000000"/>
                </a:solidFill>
                <a:latin typeface="Arial" panose="020B0604020202020204" pitchFamily="34" charset="0"/>
              </a:rPr>
            </a:br>
            <a:r>
              <a:rPr lang="en-US">
                <a:solidFill>
                  <a:srgbClr val="000000"/>
                </a:solidFill>
                <a:latin typeface="Arial" panose="020B0604020202020204" pitchFamily="34" charset="0"/>
              </a:rPr>
              <a:t>"It's gravity."</a:t>
            </a:r>
            <a:endParaRPr lang="en-US"/>
          </a:p>
        </p:txBody>
      </p:sp>
      <p:sp>
        <p:nvSpPr>
          <p:cNvPr id="7" name="Rectangle 6">
            <a:extLst>
              <a:ext uri="{FF2B5EF4-FFF2-40B4-BE49-F238E27FC236}">
                <a16:creationId xmlns:a16="http://schemas.microsoft.com/office/drawing/2014/main" id="{AFBF4151-28E7-DD49-A479-B3E7311C361B}"/>
              </a:ext>
            </a:extLst>
          </p:cNvPr>
          <p:cNvSpPr/>
          <p:nvPr/>
        </p:nvSpPr>
        <p:spPr>
          <a:xfrm>
            <a:off x="8724982" y="5654843"/>
            <a:ext cx="2729026" cy="369332"/>
          </a:xfrm>
          <a:prstGeom prst="rect">
            <a:avLst/>
          </a:prstGeom>
        </p:spPr>
        <p:txBody>
          <a:bodyPr wrap="square">
            <a:spAutoFit/>
          </a:bodyPr>
          <a:lstStyle/>
          <a:p>
            <a:r>
              <a:rPr lang="en-US"/>
              <a:t>https://</a:t>
            </a:r>
            <a:r>
              <a:rPr lang="en-US" err="1"/>
              <a:t>xkcd.com</a:t>
            </a:r>
            <a:r>
              <a:rPr lang="en-US"/>
              <a:t>/1489/</a:t>
            </a:r>
          </a:p>
        </p:txBody>
      </p:sp>
      <p:sp>
        <p:nvSpPr>
          <p:cNvPr id="8" name="TextBox 7">
            <a:extLst>
              <a:ext uri="{FF2B5EF4-FFF2-40B4-BE49-F238E27FC236}">
                <a16:creationId xmlns:a16="http://schemas.microsoft.com/office/drawing/2014/main" id="{BE5B898B-38A4-9A43-8B3C-9D6A952B718F}"/>
              </a:ext>
            </a:extLst>
          </p:cNvPr>
          <p:cNvSpPr txBox="1"/>
          <p:nvPr/>
        </p:nvSpPr>
        <p:spPr>
          <a:xfrm>
            <a:off x="934393" y="5239344"/>
            <a:ext cx="2604977" cy="120032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n-US">
                <a:solidFill>
                  <a:schemeClr val="bg1"/>
                </a:solidFill>
              </a:rPr>
              <a:t>All energy comes from one of these four sources. We’ll investigate them all. </a:t>
            </a:r>
          </a:p>
        </p:txBody>
      </p:sp>
      <p:sp>
        <p:nvSpPr>
          <p:cNvPr id="9" name="TextBox 8">
            <a:extLst>
              <a:ext uri="{FF2B5EF4-FFF2-40B4-BE49-F238E27FC236}">
                <a16:creationId xmlns:a16="http://schemas.microsoft.com/office/drawing/2014/main" id="{2664B8FB-D15B-0ED3-E24C-A153AFFD1B3E}"/>
              </a:ext>
            </a:extLst>
          </p:cNvPr>
          <p:cNvSpPr txBox="1"/>
          <p:nvPr/>
        </p:nvSpPr>
        <p:spPr>
          <a:xfrm>
            <a:off x="6308651" y="194439"/>
            <a:ext cx="3728484" cy="707886"/>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sz="4000" dirty="0"/>
              <a:t>From Lecture 1</a:t>
            </a:r>
          </a:p>
        </p:txBody>
      </p:sp>
    </p:spTree>
    <p:extLst>
      <p:ext uri="{BB962C8B-B14F-4D97-AF65-F5344CB8AC3E}">
        <p14:creationId xmlns:p14="http://schemas.microsoft.com/office/powerpoint/2010/main" val="3637914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ECAD8-D2FC-088E-3369-47DEEBDC416D}"/>
              </a:ext>
            </a:extLst>
          </p:cNvPr>
          <p:cNvSpPr>
            <a:spLocks noGrp="1"/>
          </p:cNvSpPr>
          <p:nvPr>
            <p:ph type="title"/>
          </p:nvPr>
        </p:nvSpPr>
        <p:spPr/>
        <p:txBody>
          <a:bodyPr/>
          <a:lstStyle/>
          <a:p>
            <a:r>
              <a:rPr lang="en-US" dirty="0"/>
              <a:t>Force</a:t>
            </a:r>
          </a:p>
        </p:txBody>
      </p:sp>
      <p:sp>
        <p:nvSpPr>
          <p:cNvPr id="3" name="Content Placeholder 2">
            <a:extLst>
              <a:ext uri="{FF2B5EF4-FFF2-40B4-BE49-F238E27FC236}">
                <a16:creationId xmlns:a16="http://schemas.microsoft.com/office/drawing/2014/main" id="{421587FE-E7F0-6CDD-6622-CB3E8B5DED69}"/>
              </a:ext>
            </a:extLst>
          </p:cNvPr>
          <p:cNvSpPr>
            <a:spLocks noGrp="1"/>
          </p:cNvSpPr>
          <p:nvPr>
            <p:ph idx="1"/>
          </p:nvPr>
        </p:nvSpPr>
        <p:spPr>
          <a:xfrm>
            <a:off x="394208" y="2157867"/>
            <a:ext cx="10515600" cy="4048171"/>
          </a:xfrm>
        </p:spPr>
        <p:txBody>
          <a:bodyPr/>
          <a:lstStyle/>
          <a:p>
            <a:r>
              <a:rPr lang="en-US" dirty="0"/>
              <a:t>Forces are what act upon bodies to change their acceleration (or shape, or pressure of fluids). In 1 dimension: </a:t>
            </a:r>
          </a:p>
          <a:p>
            <a:endParaRPr lang="en-US" dirty="0"/>
          </a:p>
          <a:p>
            <a:endParaRPr lang="en-US" dirty="0"/>
          </a:p>
          <a:p>
            <a:pPr lvl="1"/>
            <a:r>
              <a:rPr lang="en-US" sz="1400" dirty="0"/>
              <a:t>(Caveat: Force and acceleration are VECTORS. We won’t go into it though)</a:t>
            </a:r>
          </a:p>
          <a:p>
            <a:r>
              <a:rPr lang="en-US" dirty="0"/>
              <a:t>Velocity is how your position changes per unit time (20 miles per hour, 6 meters per second)</a:t>
            </a:r>
          </a:p>
          <a:p>
            <a:r>
              <a:rPr lang="en-US" dirty="0"/>
              <a:t>Acceleration is how your velocity changes per unit time (9.8 meters per second per second, or 9.8 m/s</a:t>
            </a:r>
            <a:r>
              <a:rPr lang="en-US" baseline="30000" dirty="0"/>
              <a:t>2</a:t>
            </a:r>
            <a:r>
              <a:rPr lang="en-US" dirty="0"/>
              <a:t>)</a:t>
            </a:r>
          </a:p>
        </p:txBody>
      </p:sp>
      <p:sp>
        <p:nvSpPr>
          <p:cNvPr id="4" name="Slide Number Placeholder 3">
            <a:extLst>
              <a:ext uri="{FF2B5EF4-FFF2-40B4-BE49-F238E27FC236}">
                <a16:creationId xmlns:a16="http://schemas.microsoft.com/office/drawing/2014/main" id="{F15068FF-2190-7ED0-6370-06218D3AD36F}"/>
              </a:ext>
            </a:extLst>
          </p:cNvPr>
          <p:cNvSpPr>
            <a:spLocks noGrp="1"/>
          </p:cNvSpPr>
          <p:nvPr>
            <p:ph type="sldNum" sz="quarter" idx="12"/>
          </p:nvPr>
        </p:nvSpPr>
        <p:spPr/>
        <p:txBody>
          <a:bodyPr/>
          <a:lstStyle/>
          <a:p>
            <a:fld id="{C5EF2332-01BF-834F-8236-50238282D533}" type="slidenum">
              <a:rPr lang="en-US" smtClean="0"/>
              <a:t>5</a:t>
            </a:fld>
            <a:endParaRPr lang="en-US"/>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D4BA875C-D90A-D7C0-62F9-0E7FC7133BD3}"/>
                  </a:ext>
                </a:extLst>
              </p:cNvPr>
              <p:cNvSpPr txBox="1"/>
              <p:nvPr/>
            </p:nvSpPr>
            <p:spPr>
              <a:xfrm>
                <a:off x="4253023" y="3192877"/>
                <a:ext cx="2030819" cy="707886"/>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14:m>
                  <m:oMathPara xmlns:m="http://schemas.openxmlformats.org/officeDocument/2006/math">
                    <m:oMath>
                      <m:r>
                        <a:rPr lang="en-US" sz="4000" b="0" i="1" smtClean="0">
                          <a:solidFill>
                            <a:schemeClr val="bg1"/>
                          </a:solidFill>
                          <a:latin typeface="Cambria Math" panose="02040503050406030204" pitchFamily="18" charset="0"/>
                        </a:rPr>
                        <m:t>𝐹</m:t>
                      </m:r>
                      <m:r>
                        <a:rPr lang="en-US" sz="4000" b="0" i="1" smtClean="0">
                          <a:solidFill>
                            <a:schemeClr val="bg1"/>
                          </a:solidFill>
                          <a:latin typeface="Cambria Math" panose="02040503050406030204" pitchFamily="18" charset="0"/>
                        </a:rPr>
                        <m:t>=</m:t>
                      </m:r>
                      <m:r>
                        <a:rPr lang="en-US" sz="4000" b="0" i="1" smtClean="0">
                          <a:solidFill>
                            <a:schemeClr val="bg1"/>
                          </a:solidFill>
                          <a:latin typeface="Cambria Math" panose="02040503050406030204" pitchFamily="18" charset="0"/>
                        </a:rPr>
                        <m:t>𝑚𝑎</m:t>
                      </m:r>
                    </m:oMath>
                  </m:oMathPara>
                </a14:m>
                <a:endParaRPr lang="en-US" sz="4000" b="0" dirty="0">
                  <a:solidFill>
                    <a:schemeClr val="bg1"/>
                  </a:solidFill>
                </a:endParaRPr>
              </a:p>
            </p:txBody>
          </p:sp>
        </mc:Choice>
        <mc:Fallback>
          <p:sp>
            <p:nvSpPr>
              <p:cNvPr id="5" name="TextBox 4">
                <a:extLst>
                  <a:ext uri="{FF2B5EF4-FFF2-40B4-BE49-F238E27FC236}">
                    <a16:creationId xmlns:a16="http://schemas.microsoft.com/office/drawing/2014/main" id="{D4BA875C-D90A-D7C0-62F9-0E7FC7133BD3}"/>
                  </a:ext>
                </a:extLst>
              </p:cNvPr>
              <p:cNvSpPr txBox="1">
                <a:spLocks noRot="1" noChangeAspect="1" noMove="1" noResize="1" noEditPoints="1" noAdjustHandles="1" noChangeArrowheads="1" noChangeShapeType="1" noTextEdit="1"/>
              </p:cNvSpPr>
              <p:nvPr/>
            </p:nvSpPr>
            <p:spPr>
              <a:xfrm>
                <a:off x="4253023" y="3192877"/>
                <a:ext cx="2030819" cy="707886"/>
              </a:xfrm>
              <a:prstGeom prst="rect">
                <a:avLst/>
              </a:prstGeom>
              <a:blipFill>
                <a:blip r:embed="rId2"/>
                <a:stretch>
                  <a:fillRect l="-617"/>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4DCEEADC-A0A6-9298-29A8-30779FD97682}"/>
              </a:ext>
            </a:extLst>
          </p:cNvPr>
          <p:cNvSpPr txBox="1"/>
          <p:nvPr/>
        </p:nvSpPr>
        <p:spPr>
          <a:xfrm>
            <a:off x="7734836" y="3038988"/>
            <a:ext cx="2616914"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dirty="0"/>
              <a:t>Acceleration</a:t>
            </a:r>
            <a:r>
              <a:rPr lang="en-US" dirty="0"/>
              <a:t>: </a:t>
            </a:r>
          </a:p>
          <a:p>
            <a:r>
              <a:rPr lang="en-US" dirty="0"/>
              <a:t>distance / time</a:t>
            </a:r>
            <a:r>
              <a:rPr lang="en-US" baseline="30000" dirty="0"/>
              <a:t>2</a:t>
            </a:r>
            <a:r>
              <a:rPr lang="en-US" dirty="0"/>
              <a:t> (m/s</a:t>
            </a:r>
            <a:r>
              <a:rPr lang="en-US" baseline="30000" dirty="0"/>
              <a:t>2</a:t>
            </a:r>
            <a:r>
              <a:rPr lang="en-US" dirty="0"/>
              <a:t>)</a:t>
            </a:r>
            <a:endParaRPr lang="en-US" baseline="30000" dirty="0"/>
          </a:p>
        </p:txBody>
      </p:sp>
      <p:cxnSp>
        <p:nvCxnSpPr>
          <p:cNvPr id="8" name="Straight Arrow Connector 7">
            <a:extLst>
              <a:ext uri="{FF2B5EF4-FFF2-40B4-BE49-F238E27FC236}">
                <a16:creationId xmlns:a16="http://schemas.microsoft.com/office/drawing/2014/main" id="{2173069D-708B-DBF4-7432-D674B1D417D7}"/>
              </a:ext>
            </a:extLst>
          </p:cNvPr>
          <p:cNvCxnSpPr>
            <a:cxnSpLocks/>
            <a:stCxn id="6" idx="1"/>
          </p:cNvCxnSpPr>
          <p:nvPr/>
        </p:nvCxnSpPr>
        <p:spPr>
          <a:xfrm flipH="1">
            <a:off x="6096000" y="3362154"/>
            <a:ext cx="1638836" cy="20706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9" name="TextBox 8">
            <a:extLst>
              <a:ext uri="{FF2B5EF4-FFF2-40B4-BE49-F238E27FC236}">
                <a16:creationId xmlns:a16="http://schemas.microsoft.com/office/drawing/2014/main" id="{E7000181-0666-4BED-33EE-700024B725ED}"/>
              </a:ext>
            </a:extLst>
          </p:cNvPr>
          <p:cNvSpPr txBox="1"/>
          <p:nvPr/>
        </p:nvSpPr>
        <p:spPr>
          <a:xfrm>
            <a:off x="5422605" y="2534200"/>
            <a:ext cx="2030818" cy="36933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dirty="0"/>
              <a:t>mass</a:t>
            </a:r>
            <a:r>
              <a:rPr lang="en-US" dirty="0"/>
              <a:t> (kg)</a:t>
            </a:r>
            <a:endParaRPr lang="en-US" baseline="30000" dirty="0"/>
          </a:p>
        </p:txBody>
      </p:sp>
      <p:cxnSp>
        <p:nvCxnSpPr>
          <p:cNvPr id="10" name="Straight Arrow Connector 9">
            <a:extLst>
              <a:ext uri="{FF2B5EF4-FFF2-40B4-BE49-F238E27FC236}">
                <a16:creationId xmlns:a16="http://schemas.microsoft.com/office/drawing/2014/main" id="{52D0CEFC-B624-44DD-A399-5EED27DAAF2B}"/>
              </a:ext>
            </a:extLst>
          </p:cNvPr>
          <p:cNvCxnSpPr>
            <a:cxnSpLocks/>
          </p:cNvCxnSpPr>
          <p:nvPr/>
        </p:nvCxnSpPr>
        <p:spPr>
          <a:xfrm flipH="1">
            <a:off x="5605130" y="2895838"/>
            <a:ext cx="98887" cy="538478"/>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13" name="TextBox 12">
            <a:extLst>
              <a:ext uri="{FF2B5EF4-FFF2-40B4-BE49-F238E27FC236}">
                <a16:creationId xmlns:a16="http://schemas.microsoft.com/office/drawing/2014/main" id="{E15750CB-5515-B837-0489-D71FC4DA0D2D}"/>
              </a:ext>
            </a:extLst>
          </p:cNvPr>
          <p:cNvSpPr txBox="1"/>
          <p:nvPr/>
        </p:nvSpPr>
        <p:spPr>
          <a:xfrm>
            <a:off x="723014" y="3008211"/>
            <a:ext cx="2589996"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dirty="0"/>
              <a:t>Force</a:t>
            </a:r>
            <a:r>
              <a:rPr lang="en-US" dirty="0"/>
              <a:t>: </a:t>
            </a:r>
          </a:p>
          <a:p>
            <a:r>
              <a:rPr lang="en-US" dirty="0"/>
              <a:t>mass * distance / time</a:t>
            </a:r>
            <a:r>
              <a:rPr lang="en-US" baseline="30000" dirty="0"/>
              <a:t>2</a:t>
            </a:r>
            <a:r>
              <a:rPr lang="en-US" dirty="0"/>
              <a:t> (1 Newton = 1 kg m/s</a:t>
            </a:r>
            <a:r>
              <a:rPr lang="en-US" baseline="30000" dirty="0"/>
              <a:t>2</a:t>
            </a:r>
            <a:r>
              <a:rPr lang="en-US" dirty="0"/>
              <a:t>)</a:t>
            </a:r>
            <a:endParaRPr lang="en-US" baseline="30000" dirty="0"/>
          </a:p>
        </p:txBody>
      </p:sp>
      <p:cxnSp>
        <p:nvCxnSpPr>
          <p:cNvPr id="14" name="Straight Arrow Connector 13">
            <a:extLst>
              <a:ext uri="{FF2B5EF4-FFF2-40B4-BE49-F238E27FC236}">
                <a16:creationId xmlns:a16="http://schemas.microsoft.com/office/drawing/2014/main" id="{9991FE20-CE72-DC97-438C-A13D51CA5D12}"/>
              </a:ext>
            </a:extLst>
          </p:cNvPr>
          <p:cNvCxnSpPr>
            <a:cxnSpLocks/>
          </p:cNvCxnSpPr>
          <p:nvPr/>
        </p:nvCxnSpPr>
        <p:spPr>
          <a:xfrm>
            <a:off x="3313010" y="3362154"/>
            <a:ext cx="1096616" cy="92333"/>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31219511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F52F0-518E-914F-D255-08CF53B5BE46}"/>
              </a:ext>
            </a:extLst>
          </p:cNvPr>
          <p:cNvSpPr>
            <a:spLocks noGrp="1"/>
          </p:cNvSpPr>
          <p:nvPr>
            <p:ph type="title"/>
          </p:nvPr>
        </p:nvSpPr>
        <p:spPr/>
        <p:txBody>
          <a:bodyPr/>
          <a:lstStyle/>
          <a:p>
            <a:r>
              <a:rPr lang="en-US" dirty="0"/>
              <a:t>Work</a:t>
            </a:r>
          </a:p>
        </p:txBody>
      </p:sp>
      <p:sp>
        <p:nvSpPr>
          <p:cNvPr id="3" name="Content Placeholder 2">
            <a:extLst>
              <a:ext uri="{FF2B5EF4-FFF2-40B4-BE49-F238E27FC236}">
                <a16:creationId xmlns:a16="http://schemas.microsoft.com/office/drawing/2014/main" id="{BDFDF5D9-793C-FFB2-32BE-F013CBEE151C}"/>
              </a:ext>
            </a:extLst>
          </p:cNvPr>
          <p:cNvSpPr>
            <a:spLocks noGrp="1"/>
          </p:cNvSpPr>
          <p:nvPr>
            <p:ph idx="1"/>
          </p:nvPr>
        </p:nvSpPr>
        <p:spPr/>
        <p:txBody>
          <a:bodyPr/>
          <a:lstStyle/>
          <a:p>
            <a:r>
              <a:rPr lang="en-US" dirty="0"/>
              <a:t>Applying a FORCE over a DISTANCE means you did WORK</a:t>
            </a:r>
          </a:p>
          <a:p>
            <a:endParaRPr lang="en-US" dirty="0"/>
          </a:p>
          <a:p>
            <a:endParaRPr lang="en-US" dirty="0"/>
          </a:p>
          <a:p>
            <a:endParaRPr lang="en-US" dirty="0"/>
          </a:p>
          <a:p>
            <a:endParaRPr lang="en-US" dirty="0"/>
          </a:p>
          <a:p>
            <a:r>
              <a:rPr lang="en-US" dirty="0"/>
              <a:t>Don’t panic this is going to get easier in a minute, bear with me. </a:t>
            </a:r>
          </a:p>
        </p:txBody>
      </p:sp>
      <p:sp>
        <p:nvSpPr>
          <p:cNvPr id="4" name="Slide Number Placeholder 3">
            <a:extLst>
              <a:ext uri="{FF2B5EF4-FFF2-40B4-BE49-F238E27FC236}">
                <a16:creationId xmlns:a16="http://schemas.microsoft.com/office/drawing/2014/main" id="{863CB87F-7EFA-36F8-9DE7-5479519A9498}"/>
              </a:ext>
            </a:extLst>
          </p:cNvPr>
          <p:cNvSpPr>
            <a:spLocks noGrp="1"/>
          </p:cNvSpPr>
          <p:nvPr>
            <p:ph type="sldNum" sz="quarter" idx="12"/>
          </p:nvPr>
        </p:nvSpPr>
        <p:spPr/>
        <p:txBody>
          <a:bodyPr/>
          <a:lstStyle/>
          <a:p>
            <a:fld id="{C5EF2332-01BF-834F-8236-50238282D533}" type="slidenum">
              <a:rPr lang="en-US" smtClean="0"/>
              <a:t>6</a:t>
            </a:fld>
            <a:endParaRPr lang="en-US"/>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B02F629F-2883-F4CC-FBD8-4B9F1401C4A7}"/>
                  </a:ext>
                </a:extLst>
              </p:cNvPr>
              <p:cNvSpPr txBox="1"/>
              <p:nvPr/>
            </p:nvSpPr>
            <p:spPr>
              <a:xfrm>
                <a:off x="3861318" y="3954148"/>
                <a:ext cx="3164958" cy="707886"/>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14:m>
                  <m:oMathPara xmlns:m="http://schemas.openxmlformats.org/officeDocument/2006/math">
                    <m:oMath>
                      <m:r>
                        <a:rPr lang="en-US" sz="4000" b="0" i="1" smtClean="0">
                          <a:solidFill>
                            <a:schemeClr val="bg1"/>
                          </a:solidFill>
                          <a:latin typeface="Cambria Math" panose="02040503050406030204" pitchFamily="18" charset="0"/>
                        </a:rPr>
                        <m:t>𝑊</m:t>
                      </m:r>
                      <m:r>
                        <a:rPr lang="en-US" sz="4000" b="0" i="1" smtClean="0">
                          <a:solidFill>
                            <a:schemeClr val="bg1"/>
                          </a:solidFill>
                          <a:latin typeface="Cambria Math" panose="02040503050406030204" pitchFamily="18" charset="0"/>
                        </a:rPr>
                        <m:t>=</m:t>
                      </m:r>
                      <m:r>
                        <a:rPr lang="en-US" sz="4000" b="0" i="1" smtClean="0">
                          <a:solidFill>
                            <a:schemeClr val="bg1"/>
                          </a:solidFill>
                          <a:latin typeface="Cambria Math" panose="02040503050406030204" pitchFamily="18" charset="0"/>
                        </a:rPr>
                        <m:t>𝐹</m:t>
                      </m:r>
                      <m:r>
                        <a:rPr lang="en-US" sz="4000" b="0" i="1" smtClean="0">
                          <a:solidFill>
                            <a:schemeClr val="bg1"/>
                          </a:solidFill>
                          <a:latin typeface="Cambria Math" panose="02040503050406030204" pitchFamily="18" charset="0"/>
                        </a:rPr>
                        <m:t>⋅</m:t>
                      </m:r>
                      <m:r>
                        <a:rPr lang="en-US" sz="4000" b="0" i="1" smtClean="0">
                          <a:solidFill>
                            <a:schemeClr val="bg1"/>
                          </a:solidFill>
                          <a:latin typeface="Cambria Math" panose="02040503050406030204" pitchFamily="18" charset="0"/>
                        </a:rPr>
                        <m:t>𝑑</m:t>
                      </m:r>
                    </m:oMath>
                  </m:oMathPara>
                </a14:m>
                <a:endParaRPr lang="en-US" sz="4000" b="0" dirty="0">
                  <a:solidFill>
                    <a:schemeClr val="bg1"/>
                  </a:solidFill>
                </a:endParaRPr>
              </a:p>
            </p:txBody>
          </p:sp>
        </mc:Choice>
        <mc:Fallback>
          <p:sp>
            <p:nvSpPr>
              <p:cNvPr id="6" name="TextBox 5">
                <a:extLst>
                  <a:ext uri="{FF2B5EF4-FFF2-40B4-BE49-F238E27FC236}">
                    <a16:creationId xmlns:a16="http://schemas.microsoft.com/office/drawing/2014/main" id="{B02F629F-2883-F4CC-FBD8-4B9F1401C4A7}"/>
                  </a:ext>
                </a:extLst>
              </p:cNvPr>
              <p:cNvSpPr txBox="1">
                <a:spLocks noRot="1" noChangeAspect="1" noMove="1" noResize="1" noEditPoints="1" noAdjustHandles="1" noChangeArrowheads="1" noChangeShapeType="1" noTextEdit="1"/>
              </p:cNvSpPr>
              <p:nvPr/>
            </p:nvSpPr>
            <p:spPr>
              <a:xfrm>
                <a:off x="3861318" y="3954148"/>
                <a:ext cx="3164958" cy="707886"/>
              </a:xfrm>
              <a:prstGeom prst="rect">
                <a:avLst/>
              </a:prstGeom>
              <a:blipFill>
                <a:blip r:embed="rId2"/>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5F6488EC-15CB-5241-D82F-A7119940CB4C}"/>
              </a:ext>
            </a:extLst>
          </p:cNvPr>
          <p:cNvSpPr txBox="1"/>
          <p:nvPr/>
        </p:nvSpPr>
        <p:spPr>
          <a:xfrm>
            <a:off x="8043281" y="3957920"/>
            <a:ext cx="1504756" cy="36933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dirty="0"/>
              <a:t>distance (m)</a:t>
            </a:r>
            <a:endParaRPr lang="en-US" baseline="30000" dirty="0"/>
          </a:p>
        </p:txBody>
      </p:sp>
      <p:cxnSp>
        <p:nvCxnSpPr>
          <p:cNvPr id="8" name="Straight Arrow Connector 7">
            <a:extLst>
              <a:ext uri="{FF2B5EF4-FFF2-40B4-BE49-F238E27FC236}">
                <a16:creationId xmlns:a16="http://schemas.microsoft.com/office/drawing/2014/main" id="{81ECF6A0-E6E4-CB83-06EF-0C2B7217C34C}"/>
              </a:ext>
            </a:extLst>
          </p:cNvPr>
          <p:cNvCxnSpPr>
            <a:cxnSpLocks/>
            <a:stCxn id="7" idx="1"/>
          </p:cNvCxnSpPr>
          <p:nvPr/>
        </p:nvCxnSpPr>
        <p:spPr>
          <a:xfrm flipH="1">
            <a:off x="6592287" y="4142586"/>
            <a:ext cx="1450994" cy="184666"/>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10" name="Straight Arrow Connector 9">
            <a:extLst>
              <a:ext uri="{FF2B5EF4-FFF2-40B4-BE49-F238E27FC236}">
                <a16:creationId xmlns:a16="http://schemas.microsoft.com/office/drawing/2014/main" id="{5F4B0BA6-2DED-3B0D-62B7-4F421F72811D}"/>
              </a:ext>
            </a:extLst>
          </p:cNvPr>
          <p:cNvCxnSpPr>
            <a:cxnSpLocks/>
          </p:cNvCxnSpPr>
          <p:nvPr/>
        </p:nvCxnSpPr>
        <p:spPr>
          <a:xfrm flipH="1">
            <a:off x="5652008" y="3249867"/>
            <a:ext cx="443991" cy="892719"/>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11" name="TextBox 10">
            <a:extLst>
              <a:ext uri="{FF2B5EF4-FFF2-40B4-BE49-F238E27FC236}">
                <a16:creationId xmlns:a16="http://schemas.microsoft.com/office/drawing/2014/main" id="{D990E372-155A-986E-34BA-22AB42DF2B84}"/>
              </a:ext>
            </a:extLst>
          </p:cNvPr>
          <p:cNvSpPr txBox="1"/>
          <p:nvPr/>
        </p:nvSpPr>
        <p:spPr>
          <a:xfrm>
            <a:off x="196436" y="3819420"/>
            <a:ext cx="3308764"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dirty="0"/>
              <a:t>Work</a:t>
            </a:r>
            <a:r>
              <a:rPr lang="en-US" dirty="0"/>
              <a:t>: </a:t>
            </a:r>
          </a:p>
          <a:p>
            <a:r>
              <a:rPr lang="en-US" dirty="0"/>
              <a:t>mass * distance</a:t>
            </a:r>
            <a:r>
              <a:rPr lang="en-US" baseline="30000" dirty="0"/>
              <a:t>2</a:t>
            </a:r>
            <a:r>
              <a:rPr lang="en-US" dirty="0"/>
              <a:t> / time</a:t>
            </a:r>
            <a:r>
              <a:rPr lang="en-US" baseline="30000" dirty="0"/>
              <a:t>2</a:t>
            </a:r>
            <a:r>
              <a:rPr lang="en-US" dirty="0"/>
              <a:t> (1 Joule = 1 kg m</a:t>
            </a:r>
            <a:r>
              <a:rPr lang="en-US" baseline="30000" dirty="0"/>
              <a:t>2</a:t>
            </a:r>
            <a:r>
              <a:rPr lang="en-US" dirty="0"/>
              <a:t>/s</a:t>
            </a:r>
            <a:r>
              <a:rPr lang="en-US" baseline="30000" dirty="0"/>
              <a:t>2</a:t>
            </a:r>
            <a:r>
              <a:rPr lang="en-US" dirty="0"/>
              <a:t>)</a:t>
            </a:r>
            <a:endParaRPr lang="en-US" baseline="30000" dirty="0"/>
          </a:p>
        </p:txBody>
      </p:sp>
      <p:cxnSp>
        <p:nvCxnSpPr>
          <p:cNvPr id="12" name="Straight Arrow Connector 11">
            <a:extLst>
              <a:ext uri="{FF2B5EF4-FFF2-40B4-BE49-F238E27FC236}">
                <a16:creationId xmlns:a16="http://schemas.microsoft.com/office/drawing/2014/main" id="{303B72A5-46FC-1ABD-8A47-AF449AFB82AF}"/>
              </a:ext>
            </a:extLst>
          </p:cNvPr>
          <p:cNvCxnSpPr>
            <a:cxnSpLocks/>
          </p:cNvCxnSpPr>
          <p:nvPr/>
        </p:nvCxnSpPr>
        <p:spPr>
          <a:xfrm>
            <a:off x="3062012" y="4234919"/>
            <a:ext cx="1116583" cy="73172"/>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16" name="TextBox 15">
            <a:extLst>
              <a:ext uri="{FF2B5EF4-FFF2-40B4-BE49-F238E27FC236}">
                <a16:creationId xmlns:a16="http://schemas.microsoft.com/office/drawing/2014/main" id="{9AB3DC32-CA82-4BEB-CA65-9079A282D5DE}"/>
              </a:ext>
            </a:extLst>
          </p:cNvPr>
          <p:cNvSpPr txBox="1"/>
          <p:nvPr/>
        </p:nvSpPr>
        <p:spPr>
          <a:xfrm>
            <a:off x="6095999" y="2881132"/>
            <a:ext cx="2696309"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dirty="0"/>
              <a:t>Force</a:t>
            </a:r>
            <a:r>
              <a:rPr lang="en-US" dirty="0"/>
              <a:t>: </a:t>
            </a:r>
          </a:p>
          <a:p>
            <a:r>
              <a:rPr lang="en-US" dirty="0"/>
              <a:t>mass * distance / time</a:t>
            </a:r>
            <a:r>
              <a:rPr lang="en-US" baseline="30000" dirty="0"/>
              <a:t>2</a:t>
            </a:r>
            <a:r>
              <a:rPr lang="en-US" dirty="0"/>
              <a:t> (1 Newton = 1 kg m/s</a:t>
            </a:r>
            <a:r>
              <a:rPr lang="en-US" baseline="30000" dirty="0"/>
              <a:t>2</a:t>
            </a:r>
            <a:r>
              <a:rPr lang="en-US" dirty="0"/>
              <a:t>)</a:t>
            </a:r>
            <a:endParaRPr lang="en-US" baseline="30000" dirty="0"/>
          </a:p>
        </p:txBody>
      </p:sp>
      <p:sp>
        <p:nvSpPr>
          <p:cNvPr id="20" name="TextBox 19">
            <a:extLst>
              <a:ext uri="{FF2B5EF4-FFF2-40B4-BE49-F238E27FC236}">
                <a16:creationId xmlns:a16="http://schemas.microsoft.com/office/drawing/2014/main" id="{9910B0E0-AFCD-139C-6790-A40DDC9473C5}"/>
              </a:ext>
            </a:extLst>
          </p:cNvPr>
          <p:cNvSpPr txBox="1"/>
          <p:nvPr/>
        </p:nvSpPr>
        <p:spPr>
          <a:xfrm>
            <a:off x="3162937" y="5577514"/>
            <a:ext cx="4880344"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US" dirty="0"/>
              <a:t>Not responsible for this, just for enrichment</a:t>
            </a:r>
          </a:p>
        </p:txBody>
      </p:sp>
    </p:spTree>
    <p:extLst>
      <p:ext uri="{BB962C8B-B14F-4D97-AF65-F5344CB8AC3E}">
        <p14:creationId xmlns:p14="http://schemas.microsoft.com/office/powerpoint/2010/main" val="3561808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8BB04-1021-9F3D-46B7-720A2FADBCF6}"/>
              </a:ext>
            </a:extLst>
          </p:cNvPr>
          <p:cNvSpPr>
            <a:spLocks noGrp="1"/>
          </p:cNvSpPr>
          <p:nvPr>
            <p:ph type="title"/>
          </p:nvPr>
        </p:nvSpPr>
        <p:spPr/>
        <p:txBody>
          <a:bodyPr/>
          <a:lstStyle/>
          <a:p>
            <a:r>
              <a:rPr lang="en-US" dirty="0"/>
              <a:t>Work and Kinetic Energy</a:t>
            </a:r>
          </a:p>
        </p:txBody>
      </p:sp>
      <p:sp>
        <p:nvSpPr>
          <p:cNvPr id="3" name="Content Placeholder 2">
            <a:extLst>
              <a:ext uri="{FF2B5EF4-FFF2-40B4-BE49-F238E27FC236}">
                <a16:creationId xmlns:a16="http://schemas.microsoft.com/office/drawing/2014/main" id="{D594AEBC-F81D-370F-330C-426D2FD6B087}"/>
              </a:ext>
            </a:extLst>
          </p:cNvPr>
          <p:cNvSpPr>
            <a:spLocks noGrp="1"/>
          </p:cNvSpPr>
          <p:nvPr>
            <p:ph idx="1"/>
          </p:nvPr>
        </p:nvSpPr>
        <p:spPr/>
        <p:txBody>
          <a:bodyPr/>
          <a:lstStyle/>
          <a:p>
            <a:r>
              <a:rPr lang="en-US" dirty="0"/>
              <a:t>Work is the thing that changes KINETIC energy</a:t>
            </a:r>
          </a:p>
          <a:p>
            <a:endParaRPr lang="en-US" dirty="0"/>
          </a:p>
          <a:p>
            <a:endParaRPr lang="en-US" dirty="0"/>
          </a:p>
          <a:p>
            <a:endParaRPr lang="en-US" dirty="0"/>
          </a:p>
          <a:p>
            <a:r>
              <a:rPr lang="en-US" dirty="0"/>
              <a:t>So we see: </a:t>
            </a:r>
          </a:p>
        </p:txBody>
      </p:sp>
      <p:sp>
        <p:nvSpPr>
          <p:cNvPr id="4" name="Slide Number Placeholder 3">
            <a:extLst>
              <a:ext uri="{FF2B5EF4-FFF2-40B4-BE49-F238E27FC236}">
                <a16:creationId xmlns:a16="http://schemas.microsoft.com/office/drawing/2014/main" id="{209E8BA6-6134-976B-6822-6898802EB792}"/>
              </a:ext>
            </a:extLst>
          </p:cNvPr>
          <p:cNvSpPr>
            <a:spLocks noGrp="1"/>
          </p:cNvSpPr>
          <p:nvPr>
            <p:ph type="sldNum" sz="quarter" idx="12"/>
          </p:nvPr>
        </p:nvSpPr>
        <p:spPr/>
        <p:txBody>
          <a:bodyPr/>
          <a:lstStyle/>
          <a:p>
            <a:fld id="{C5EF2332-01BF-834F-8236-50238282D533}" type="slidenum">
              <a:rPr lang="en-US" smtClean="0"/>
              <a:t>7</a:t>
            </a:fld>
            <a:endParaRPr lang="en-US"/>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00A171DD-2FEB-1DF3-52E0-5E2B8B549911}"/>
                  </a:ext>
                </a:extLst>
              </p:cNvPr>
              <p:cNvSpPr txBox="1"/>
              <p:nvPr/>
            </p:nvSpPr>
            <p:spPr>
              <a:xfrm>
                <a:off x="883732" y="3024367"/>
                <a:ext cx="6749975" cy="1244828"/>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14:m>
                  <m:oMathPara xmlns:m="http://schemas.openxmlformats.org/officeDocument/2006/math">
                    <m:oMath>
                      <m:r>
                        <a:rPr lang="en-US" sz="4000" b="0" i="1" smtClean="0">
                          <a:solidFill>
                            <a:schemeClr val="bg1"/>
                          </a:solidFill>
                          <a:latin typeface="Cambria Math" panose="02040503050406030204" pitchFamily="18" charset="0"/>
                        </a:rPr>
                        <m:t>𝑊</m:t>
                      </m:r>
                      <m:r>
                        <a:rPr lang="en-US" sz="4000" b="0" i="1" smtClean="0">
                          <a:solidFill>
                            <a:schemeClr val="bg1"/>
                          </a:solidFill>
                          <a:latin typeface="Cambria Math" panose="02040503050406030204" pitchFamily="18" charset="0"/>
                        </a:rPr>
                        <m:t>=</m:t>
                      </m:r>
                      <m:r>
                        <a:rPr lang="en-US" sz="4000" b="0" i="1" smtClean="0">
                          <a:solidFill>
                            <a:schemeClr val="bg1"/>
                          </a:solidFill>
                          <a:latin typeface="Cambria Math" panose="02040503050406030204" pitchFamily="18" charset="0"/>
                        </a:rPr>
                        <m:t>𝐹</m:t>
                      </m:r>
                      <m:r>
                        <a:rPr lang="en-US" sz="4000" b="0" i="1" smtClean="0">
                          <a:solidFill>
                            <a:schemeClr val="bg1"/>
                          </a:solidFill>
                          <a:latin typeface="Cambria Math" panose="02040503050406030204" pitchFamily="18" charset="0"/>
                        </a:rPr>
                        <m:t>⋅</m:t>
                      </m:r>
                      <m:r>
                        <a:rPr lang="en-US" sz="4000" b="0" i="1" smtClean="0">
                          <a:solidFill>
                            <a:schemeClr val="bg1"/>
                          </a:solidFill>
                          <a:latin typeface="Cambria Math" panose="02040503050406030204" pitchFamily="18" charset="0"/>
                        </a:rPr>
                        <m:t>𝑑</m:t>
                      </m:r>
                      <m:r>
                        <a:rPr lang="en-US" sz="4000" b="0" i="1" smtClean="0">
                          <a:solidFill>
                            <a:schemeClr val="bg1"/>
                          </a:solidFill>
                          <a:latin typeface="Cambria Math" panose="02040503050406030204" pitchFamily="18" charset="0"/>
                        </a:rPr>
                        <m:t>=</m:t>
                      </m:r>
                      <m:r>
                        <a:rPr lang="en-US" sz="4000" b="0" i="1" smtClean="0">
                          <a:solidFill>
                            <a:schemeClr val="bg1"/>
                          </a:solidFill>
                          <a:latin typeface="Cambria Math" panose="02040503050406030204" pitchFamily="18" charset="0"/>
                        </a:rPr>
                        <m:t>𝛥</m:t>
                      </m:r>
                      <m:r>
                        <a:rPr lang="en-US" sz="4000" b="0" i="1" smtClean="0">
                          <a:solidFill>
                            <a:schemeClr val="bg1"/>
                          </a:solidFill>
                          <a:latin typeface="Cambria Math" panose="02040503050406030204" pitchFamily="18" charset="0"/>
                        </a:rPr>
                        <m:t>𝐾𝐸</m:t>
                      </m:r>
                      <m:r>
                        <a:rPr lang="en-US" sz="4000" b="0" i="1" smtClean="0">
                          <a:solidFill>
                            <a:schemeClr val="bg1"/>
                          </a:solidFill>
                          <a:latin typeface="Cambria Math" panose="02040503050406030204" pitchFamily="18" charset="0"/>
                        </a:rPr>
                        <m:t>=</m:t>
                      </m:r>
                      <m:f>
                        <m:fPr>
                          <m:ctrlPr>
                            <a:rPr lang="en-US" sz="4000" b="0" i="1" smtClean="0">
                              <a:solidFill>
                                <a:schemeClr val="bg1"/>
                              </a:solidFill>
                              <a:latin typeface="Cambria Math" panose="02040503050406030204" pitchFamily="18" charset="0"/>
                            </a:rPr>
                          </m:ctrlPr>
                        </m:fPr>
                        <m:num>
                          <m:r>
                            <a:rPr lang="en-US" sz="4000" b="0" i="1" smtClean="0">
                              <a:solidFill>
                                <a:schemeClr val="bg1"/>
                              </a:solidFill>
                              <a:latin typeface="Cambria Math" panose="02040503050406030204" pitchFamily="18" charset="0"/>
                            </a:rPr>
                            <m:t>1</m:t>
                          </m:r>
                        </m:num>
                        <m:den>
                          <m:r>
                            <a:rPr lang="en-US" sz="4000" b="0" i="1" smtClean="0">
                              <a:solidFill>
                                <a:schemeClr val="bg1"/>
                              </a:solidFill>
                              <a:latin typeface="Cambria Math" panose="02040503050406030204" pitchFamily="18" charset="0"/>
                            </a:rPr>
                            <m:t>2</m:t>
                          </m:r>
                        </m:den>
                      </m:f>
                      <m:r>
                        <a:rPr lang="en-US" sz="4000" b="0" i="1" smtClean="0">
                          <a:solidFill>
                            <a:schemeClr val="bg1"/>
                          </a:solidFill>
                          <a:latin typeface="Cambria Math" panose="02040503050406030204" pitchFamily="18" charset="0"/>
                        </a:rPr>
                        <m:t>𝑚</m:t>
                      </m:r>
                      <m:r>
                        <m:rPr>
                          <m:sty m:val="p"/>
                        </m:rPr>
                        <a:rPr lang="en-US" sz="4000" b="0" i="1" smtClean="0">
                          <a:solidFill>
                            <a:schemeClr val="bg1"/>
                          </a:solidFill>
                          <a:latin typeface="Cambria Math" panose="02040503050406030204" pitchFamily="18" charset="0"/>
                        </a:rPr>
                        <m:t>Δ</m:t>
                      </m:r>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𝑣</m:t>
                          </m:r>
                        </m:e>
                        <m:sup>
                          <m:r>
                            <a:rPr lang="en-US" sz="4000" b="0" i="1" smtClean="0">
                              <a:solidFill>
                                <a:schemeClr val="bg1"/>
                              </a:solidFill>
                              <a:latin typeface="Cambria Math" panose="02040503050406030204" pitchFamily="18" charset="0"/>
                            </a:rPr>
                            <m:t>2</m:t>
                          </m:r>
                        </m:sup>
                      </m:sSup>
                    </m:oMath>
                  </m:oMathPara>
                </a14:m>
                <a:endParaRPr lang="en-US" sz="4000" b="0" i="1" dirty="0">
                  <a:solidFill>
                    <a:schemeClr val="bg1"/>
                  </a:solidFill>
                  <a:latin typeface="Cambria Math" panose="02040503050406030204" pitchFamily="18" charset="0"/>
                </a:endParaRPr>
              </a:p>
            </p:txBody>
          </p:sp>
        </mc:Choice>
        <mc:Fallback>
          <p:sp>
            <p:nvSpPr>
              <p:cNvPr id="5" name="TextBox 4">
                <a:extLst>
                  <a:ext uri="{FF2B5EF4-FFF2-40B4-BE49-F238E27FC236}">
                    <a16:creationId xmlns:a16="http://schemas.microsoft.com/office/drawing/2014/main" id="{00A171DD-2FEB-1DF3-52E0-5E2B8B549911}"/>
                  </a:ext>
                </a:extLst>
              </p:cNvPr>
              <p:cNvSpPr txBox="1">
                <a:spLocks noRot="1" noChangeAspect="1" noMove="1" noResize="1" noEditPoints="1" noAdjustHandles="1" noChangeArrowheads="1" noChangeShapeType="1" noTextEdit="1"/>
              </p:cNvSpPr>
              <p:nvPr/>
            </p:nvSpPr>
            <p:spPr>
              <a:xfrm>
                <a:off x="883732" y="3024367"/>
                <a:ext cx="6749975" cy="1244828"/>
              </a:xfrm>
              <a:prstGeom prst="rect">
                <a:avLst/>
              </a:prstGeom>
              <a:blipFill>
                <a:blip r:embed="rId3"/>
                <a:stretch>
                  <a:fillRect b="-9000"/>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0D84B437-A1A2-8632-3F03-0C89814E9CF2}"/>
              </a:ext>
            </a:extLst>
          </p:cNvPr>
          <p:cNvSpPr txBox="1"/>
          <p:nvPr/>
        </p:nvSpPr>
        <p:spPr>
          <a:xfrm>
            <a:off x="8057694" y="1481907"/>
            <a:ext cx="4014759" cy="369332"/>
          </a:xfrm>
          <a:prstGeom prst="rect">
            <a:avLst/>
          </a:prstGeom>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solidFill>
                  <a:schemeClr val="bg1"/>
                </a:solidFill>
              </a:rPr>
              <a:t>For those who love calculus like me:</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EFA63955-4FB2-69FD-9C45-F7324A22F2B2}"/>
                  </a:ext>
                </a:extLst>
              </p:cNvPr>
              <p:cNvSpPr txBox="1"/>
              <p:nvPr/>
            </p:nvSpPr>
            <p:spPr>
              <a:xfrm>
                <a:off x="8981923" y="1873959"/>
                <a:ext cx="3090530" cy="4563557"/>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14:m>
                  <m:oMathPara xmlns:m="http://schemas.openxmlformats.org/officeDocument/2006/math">
                    <m:oMath>
                      <m:r>
                        <a:rPr lang="en-US" sz="2400" b="0" i="1" smtClean="0">
                          <a:solidFill>
                            <a:schemeClr val="bg1"/>
                          </a:solidFill>
                          <a:latin typeface="Cambria Math" panose="02040503050406030204" pitchFamily="18" charset="0"/>
                        </a:rPr>
                        <m:t>𝐹</m:t>
                      </m:r>
                      <m:r>
                        <a:rPr lang="en-US" sz="2400" b="0" i="1" smtClean="0">
                          <a:solidFill>
                            <a:schemeClr val="bg1"/>
                          </a:solidFill>
                          <a:latin typeface="Cambria Math" panose="02040503050406030204" pitchFamily="18" charset="0"/>
                        </a:rPr>
                        <m:t>=</m:t>
                      </m:r>
                      <m:r>
                        <a:rPr lang="en-US" sz="2400" b="0" i="1" smtClean="0">
                          <a:solidFill>
                            <a:schemeClr val="bg1"/>
                          </a:solidFill>
                          <a:latin typeface="Cambria Math" panose="02040503050406030204" pitchFamily="18" charset="0"/>
                        </a:rPr>
                        <m:t>𝑚𝑎</m:t>
                      </m:r>
                      <m:r>
                        <a:rPr lang="en-US" sz="2400" b="0" i="1" smtClean="0">
                          <a:solidFill>
                            <a:schemeClr val="bg1"/>
                          </a:solidFill>
                          <a:latin typeface="Cambria Math" panose="02040503050406030204" pitchFamily="18" charset="0"/>
                        </a:rPr>
                        <m:t>=</m:t>
                      </m:r>
                      <m:r>
                        <a:rPr lang="en-US" sz="2400" b="0" i="1" smtClean="0">
                          <a:solidFill>
                            <a:schemeClr val="bg1"/>
                          </a:solidFill>
                          <a:latin typeface="Cambria Math" panose="02040503050406030204" pitchFamily="18" charset="0"/>
                        </a:rPr>
                        <m:t>𝑚</m:t>
                      </m:r>
                      <m:f>
                        <m:fPr>
                          <m:ctrlPr>
                            <a:rPr lang="en-US" sz="2400" b="0" i="1" smtClean="0">
                              <a:solidFill>
                                <a:schemeClr val="bg1"/>
                              </a:solidFill>
                              <a:latin typeface="Cambria Math" panose="02040503050406030204" pitchFamily="18" charset="0"/>
                            </a:rPr>
                          </m:ctrlPr>
                        </m:fPr>
                        <m:num>
                          <m:r>
                            <a:rPr lang="en-US" sz="2400" b="0" i="1" smtClean="0">
                              <a:solidFill>
                                <a:schemeClr val="bg1"/>
                              </a:solidFill>
                              <a:latin typeface="Cambria Math" panose="02040503050406030204" pitchFamily="18" charset="0"/>
                            </a:rPr>
                            <m:t>𝑑</m:t>
                          </m:r>
                          <m:r>
                            <m:rPr>
                              <m:sty m:val="p"/>
                            </m:rPr>
                            <a:rPr lang="en-US" sz="2400" b="0" i="1" smtClean="0">
                              <a:solidFill>
                                <a:schemeClr val="bg1"/>
                              </a:solidFill>
                              <a:latin typeface="Cambria Math" panose="02040503050406030204" pitchFamily="18" charset="0"/>
                            </a:rPr>
                            <m:t>v</m:t>
                          </m:r>
                        </m:num>
                        <m:den>
                          <m:r>
                            <a:rPr lang="en-US" sz="2400" b="0" i="1" smtClean="0">
                              <a:solidFill>
                                <a:schemeClr val="bg1"/>
                              </a:solidFill>
                              <a:latin typeface="Cambria Math" panose="02040503050406030204" pitchFamily="18" charset="0"/>
                            </a:rPr>
                            <m:t>𝑑𝑡</m:t>
                          </m:r>
                        </m:den>
                      </m:f>
                    </m:oMath>
                  </m:oMathPara>
                </a14:m>
                <a:endParaRPr lang="en-US" sz="2400" b="0" dirty="0">
                  <a:solidFill>
                    <a:schemeClr val="bg1"/>
                  </a:solidFill>
                </a:endParaRPr>
              </a:p>
              <a:p>
                <a14:m>
                  <m:oMathPara xmlns:m="http://schemas.openxmlformats.org/officeDocument/2006/math">
                    <m:oMath>
                      <m:r>
                        <a:rPr lang="en-US" sz="2400" b="0" i="1" smtClean="0">
                          <a:solidFill>
                            <a:schemeClr val="bg1"/>
                          </a:solidFill>
                          <a:latin typeface="Cambria Math" panose="02040503050406030204" pitchFamily="18" charset="0"/>
                        </a:rPr>
                        <m:t>𝑊</m:t>
                      </m:r>
                      <m:r>
                        <a:rPr lang="en-US" sz="2400" b="0" i="1" smtClean="0">
                          <a:solidFill>
                            <a:schemeClr val="bg1"/>
                          </a:solidFill>
                          <a:latin typeface="Cambria Math" panose="02040503050406030204" pitchFamily="18" charset="0"/>
                        </a:rPr>
                        <m:t>=</m:t>
                      </m:r>
                      <m:nary>
                        <m:naryPr>
                          <m:limLoc m:val="subSup"/>
                          <m:subHide m:val="on"/>
                          <m:supHide m:val="on"/>
                          <m:ctrlPr>
                            <a:rPr lang="en-US" sz="2400" b="0" i="1" smtClean="0">
                              <a:solidFill>
                                <a:schemeClr val="bg1"/>
                              </a:solidFill>
                              <a:latin typeface="Cambria Math" panose="02040503050406030204" pitchFamily="18" charset="0"/>
                            </a:rPr>
                          </m:ctrlPr>
                        </m:naryPr>
                        <m:sub/>
                        <m:sup/>
                        <m:e>
                          <m:r>
                            <a:rPr lang="en-US" sz="2400" b="0" i="1" smtClean="0">
                              <a:solidFill>
                                <a:schemeClr val="bg1"/>
                              </a:solidFill>
                              <a:latin typeface="Cambria Math" panose="02040503050406030204" pitchFamily="18" charset="0"/>
                            </a:rPr>
                            <m:t>𝐹</m:t>
                          </m:r>
                        </m:e>
                      </m:nary>
                      <m:r>
                        <a:rPr lang="en-US" sz="2400" b="0" i="1" smtClean="0">
                          <a:solidFill>
                            <a:schemeClr val="bg1"/>
                          </a:solidFill>
                          <a:latin typeface="Cambria Math" panose="02040503050406030204" pitchFamily="18" charset="0"/>
                        </a:rPr>
                        <m:t>𝑑𝑥</m:t>
                      </m:r>
                    </m:oMath>
                  </m:oMathPara>
                </a14:m>
                <a:endParaRPr lang="en-US" sz="2400" b="0" dirty="0">
                  <a:solidFill>
                    <a:schemeClr val="bg1"/>
                  </a:solidFill>
                </a:endParaRPr>
              </a:p>
              <a:p>
                <a14:m>
                  <m:oMathPara xmlns:m="http://schemas.openxmlformats.org/officeDocument/2006/math">
                    <m:oMath>
                      <m:r>
                        <a:rPr lang="en-US" sz="2400" b="0" i="1" smtClean="0">
                          <a:solidFill>
                            <a:schemeClr val="bg1"/>
                          </a:solidFill>
                          <a:latin typeface="Cambria Math" panose="02040503050406030204" pitchFamily="18" charset="0"/>
                        </a:rPr>
                        <m:t>𝑊</m:t>
                      </m:r>
                      <m:r>
                        <a:rPr lang="en-US" sz="2400" b="0" i="1" smtClean="0">
                          <a:solidFill>
                            <a:schemeClr val="bg1"/>
                          </a:solidFill>
                          <a:latin typeface="Cambria Math" panose="02040503050406030204" pitchFamily="18" charset="0"/>
                        </a:rPr>
                        <m:t>=</m:t>
                      </m:r>
                      <m:nary>
                        <m:naryPr>
                          <m:limLoc m:val="subSup"/>
                          <m:subHide m:val="on"/>
                          <m:supHide m:val="on"/>
                          <m:ctrlPr>
                            <a:rPr lang="en-US" sz="2400" b="0" i="1" smtClean="0">
                              <a:solidFill>
                                <a:schemeClr val="bg1"/>
                              </a:solidFill>
                              <a:latin typeface="Cambria Math" panose="02040503050406030204" pitchFamily="18" charset="0"/>
                            </a:rPr>
                          </m:ctrlPr>
                        </m:naryPr>
                        <m:sub/>
                        <m:sup/>
                        <m:e>
                          <m:r>
                            <a:rPr lang="en-US" sz="2400" b="0" i="1" smtClean="0">
                              <a:solidFill>
                                <a:schemeClr val="bg1"/>
                              </a:solidFill>
                              <a:latin typeface="Cambria Math" panose="02040503050406030204" pitchFamily="18" charset="0"/>
                            </a:rPr>
                            <m:t>𝑚</m:t>
                          </m:r>
                        </m:e>
                      </m:nary>
                      <m:f>
                        <m:fPr>
                          <m:ctrlPr>
                            <a:rPr lang="en-US" sz="2400" b="0" i="1" smtClean="0">
                              <a:solidFill>
                                <a:schemeClr val="bg1"/>
                              </a:solidFill>
                              <a:latin typeface="Cambria Math" panose="02040503050406030204" pitchFamily="18" charset="0"/>
                            </a:rPr>
                          </m:ctrlPr>
                        </m:fPr>
                        <m:num>
                          <m:r>
                            <a:rPr lang="en-US" sz="2400" b="0" i="1" smtClean="0">
                              <a:solidFill>
                                <a:schemeClr val="bg1"/>
                              </a:solidFill>
                              <a:latin typeface="Cambria Math" panose="02040503050406030204" pitchFamily="18" charset="0"/>
                            </a:rPr>
                            <m:t>𝑑𝑣</m:t>
                          </m:r>
                        </m:num>
                        <m:den>
                          <m:r>
                            <a:rPr lang="en-US" sz="2400" b="0" i="1" smtClean="0">
                              <a:solidFill>
                                <a:schemeClr val="bg1"/>
                              </a:solidFill>
                              <a:latin typeface="Cambria Math" panose="02040503050406030204" pitchFamily="18" charset="0"/>
                            </a:rPr>
                            <m:t>𝑑𝑡</m:t>
                          </m:r>
                        </m:den>
                      </m:f>
                      <m:r>
                        <a:rPr lang="en-US" sz="2400" b="0" i="1" smtClean="0">
                          <a:solidFill>
                            <a:schemeClr val="bg1"/>
                          </a:solidFill>
                          <a:latin typeface="Cambria Math" panose="02040503050406030204" pitchFamily="18" charset="0"/>
                        </a:rPr>
                        <m:t>𝑑𝑥</m:t>
                      </m:r>
                    </m:oMath>
                  </m:oMathPara>
                </a14:m>
                <a:endParaRPr lang="en-US" sz="2400" b="0" dirty="0">
                  <a:solidFill>
                    <a:schemeClr val="bg1"/>
                  </a:solidFill>
                </a:endParaRPr>
              </a:p>
              <a:p>
                <a14:m>
                  <m:oMathPara xmlns:m="http://schemas.openxmlformats.org/officeDocument/2006/math">
                    <m:oMath>
                      <m:r>
                        <a:rPr lang="en-US" sz="2400" b="0" i="1" smtClean="0">
                          <a:solidFill>
                            <a:schemeClr val="bg1"/>
                          </a:solidFill>
                          <a:latin typeface="Cambria Math" panose="02040503050406030204" pitchFamily="18" charset="0"/>
                        </a:rPr>
                        <m:t>𝑊</m:t>
                      </m:r>
                      <m:r>
                        <a:rPr lang="en-US" sz="2400" b="0" i="1" smtClean="0">
                          <a:solidFill>
                            <a:schemeClr val="bg1"/>
                          </a:solidFill>
                          <a:latin typeface="Cambria Math" panose="02040503050406030204" pitchFamily="18" charset="0"/>
                        </a:rPr>
                        <m:t>=</m:t>
                      </m:r>
                      <m:nary>
                        <m:naryPr>
                          <m:limLoc m:val="subSup"/>
                          <m:subHide m:val="on"/>
                          <m:supHide m:val="on"/>
                          <m:ctrlPr>
                            <a:rPr lang="en-US" sz="2400" b="0" i="1" smtClean="0">
                              <a:solidFill>
                                <a:schemeClr val="bg1"/>
                              </a:solidFill>
                              <a:latin typeface="Cambria Math" panose="02040503050406030204" pitchFamily="18" charset="0"/>
                            </a:rPr>
                          </m:ctrlPr>
                        </m:naryPr>
                        <m:sub/>
                        <m:sup/>
                        <m:e>
                          <m:r>
                            <a:rPr lang="en-US" sz="2400" b="0" i="1" smtClean="0">
                              <a:solidFill>
                                <a:schemeClr val="bg1"/>
                              </a:solidFill>
                              <a:latin typeface="Cambria Math" panose="02040503050406030204" pitchFamily="18" charset="0"/>
                            </a:rPr>
                            <m:t>𝑚</m:t>
                          </m:r>
                        </m:e>
                      </m:nary>
                      <m:f>
                        <m:fPr>
                          <m:ctrlPr>
                            <a:rPr lang="en-US" sz="2400" b="0" i="1" smtClean="0">
                              <a:solidFill>
                                <a:schemeClr val="bg1"/>
                              </a:solidFill>
                              <a:latin typeface="Cambria Math" panose="02040503050406030204" pitchFamily="18" charset="0"/>
                            </a:rPr>
                          </m:ctrlPr>
                        </m:fPr>
                        <m:num>
                          <m:r>
                            <a:rPr lang="en-US" sz="2400" b="0" i="1" smtClean="0">
                              <a:solidFill>
                                <a:schemeClr val="bg1"/>
                              </a:solidFill>
                              <a:latin typeface="Cambria Math" panose="02040503050406030204" pitchFamily="18" charset="0"/>
                            </a:rPr>
                            <m:t>𝑑𝑥</m:t>
                          </m:r>
                        </m:num>
                        <m:den>
                          <m:r>
                            <a:rPr lang="en-US" sz="2400" b="0" i="1" smtClean="0">
                              <a:solidFill>
                                <a:schemeClr val="bg1"/>
                              </a:solidFill>
                              <a:latin typeface="Cambria Math" panose="02040503050406030204" pitchFamily="18" charset="0"/>
                            </a:rPr>
                            <m:t>𝑑𝑡</m:t>
                          </m:r>
                        </m:den>
                      </m:f>
                      <m:r>
                        <a:rPr lang="en-US" sz="2400" b="0" i="1" smtClean="0">
                          <a:solidFill>
                            <a:schemeClr val="bg1"/>
                          </a:solidFill>
                          <a:latin typeface="Cambria Math" panose="02040503050406030204" pitchFamily="18" charset="0"/>
                        </a:rPr>
                        <m:t>𝑑𝑣</m:t>
                      </m:r>
                    </m:oMath>
                  </m:oMathPara>
                </a14:m>
                <a:endParaRPr lang="en-US" sz="2400" b="0" dirty="0">
                  <a:solidFill>
                    <a:schemeClr val="bg1"/>
                  </a:solidFill>
                </a:endParaRPr>
              </a:p>
              <a:p>
                <a14:m>
                  <m:oMathPara xmlns:m="http://schemas.openxmlformats.org/officeDocument/2006/math">
                    <m:oMath>
                      <m:r>
                        <a:rPr lang="en-US" sz="2400" b="0" i="1" smtClean="0">
                          <a:solidFill>
                            <a:schemeClr val="bg1"/>
                          </a:solidFill>
                          <a:latin typeface="Cambria Math" panose="02040503050406030204" pitchFamily="18" charset="0"/>
                        </a:rPr>
                        <m:t>𝑊</m:t>
                      </m:r>
                      <m:r>
                        <a:rPr lang="en-US" sz="2400" b="0" i="1" smtClean="0">
                          <a:solidFill>
                            <a:schemeClr val="bg1"/>
                          </a:solidFill>
                          <a:latin typeface="Cambria Math" panose="02040503050406030204" pitchFamily="18" charset="0"/>
                        </a:rPr>
                        <m:t>=</m:t>
                      </m:r>
                      <m:nary>
                        <m:naryPr>
                          <m:limLoc m:val="subSup"/>
                          <m:subHide m:val="on"/>
                          <m:supHide m:val="on"/>
                          <m:ctrlPr>
                            <a:rPr lang="en-US" sz="2400" b="0" i="1" smtClean="0">
                              <a:solidFill>
                                <a:schemeClr val="bg1"/>
                              </a:solidFill>
                              <a:latin typeface="Cambria Math" panose="02040503050406030204" pitchFamily="18" charset="0"/>
                            </a:rPr>
                          </m:ctrlPr>
                        </m:naryPr>
                        <m:sub/>
                        <m:sup/>
                        <m:e>
                          <m:r>
                            <a:rPr lang="en-US" sz="2400" b="0" i="1" smtClean="0">
                              <a:solidFill>
                                <a:schemeClr val="bg1"/>
                              </a:solidFill>
                              <a:latin typeface="Cambria Math" panose="02040503050406030204" pitchFamily="18" charset="0"/>
                            </a:rPr>
                            <m:t>𝑚</m:t>
                          </m:r>
                        </m:e>
                      </m:nary>
                      <m:r>
                        <a:rPr lang="en-US" sz="2400" b="0" i="1" smtClean="0">
                          <a:solidFill>
                            <a:schemeClr val="bg1"/>
                          </a:solidFill>
                          <a:latin typeface="Cambria Math" panose="02040503050406030204" pitchFamily="18" charset="0"/>
                        </a:rPr>
                        <m:t>𝑣𝑑𝑣</m:t>
                      </m:r>
                    </m:oMath>
                  </m:oMathPara>
                </a14:m>
                <a:endParaRPr lang="en-US" sz="2400" b="0" dirty="0">
                  <a:solidFill>
                    <a:schemeClr val="bg1"/>
                  </a:solidFill>
                </a:endParaRPr>
              </a:p>
              <a:p>
                <a14:m>
                  <m:oMathPara xmlns:m="http://schemas.openxmlformats.org/officeDocument/2006/math">
                    <m:oMath>
                      <m:r>
                        <a:rPr lang="en-US" sz="2400" b="0" i="1" smtClean="0">
                          <a:solidFill>
                            <a:schemeClr val="bg1"/>
                          </a:solidFill>
                          <a:latin typeface="Cambria Math" panose="02040503050406030204" pitchFamily="18" charset="0"/>
                        </a:rPr>
                        <m:t>𝑊</m:t>
                      </m:r>
                      <m:r>
                        <a:rPr lang="en-US" sz="2400" b="0" i="1" smtClean="0">
                          <a:solidFill>
                            <a:schemeClr val="bg1"/>
                          </a:solidFill>
                          <a:latin typeface="Cambria Math" panose="02040503050406030204" pitchFamily="18" charset="0"/>
                        </a:rPr>
                        <m:t>=</m:t>
                      </m:r>
                      <m:f>
                        <m:fPr>
                          <m:ctrlPr>
                            <a:rPr lang="en-US" sz="2400" b="0" i="1" smtClean="0">
                              <a:solidFill>
                                <a:schemeClr val="bg1"/>
                              </a:solidFill>
                              <a:latin typeface="Cambria Math" panose="02040503050406030204" pitchFamily="18" charset="0"/>
                            </a:rPr>
                          </m:ctrlPr>
                        </m:fPr>
                        <m:num>
                          <m:r>
                            <a:rPr lang="en-US" sz="2400" b="0" i="1" smtClean="0">
                              <a:solidFill>
                                <a:schemeClr val="bg1"/>
                              </a:solidFill>
                              <a:latin typeface="Cambria Math" panose="02040503050406030204" pitchFamily="18" charset="0"/>
                            </a:rPr>
                            <m:t>1</m:t>
                          </m:r>
                        </m:num>
                        <m:den>
                          <m:r>
                            <a:rPr lang="en-US" sz="2400" b="0" i="1" smtClean="0">
                              <a:solidFill>
                                <a:schemeClr val="bg1"/>
                              </a:solidFill>
                              <a:latin typeface="Cambria Math" panose="02040503050406030204" pitchFamily="18" charset="0"/>
                            </a:rPr>
                            <m:t>2</m:t>
                          </m:r>
                        </m:den>
                      </m:f>
                      <m:r>
                        <a:rPr lang="en-US" sz="2400" b="0" i="1" smtClean="0">
                          <a:solidFill>
                            <a:schemeClr val="bg1"/>
                          </a:solidFill>
                          <a:latin typeface="Cambria Math" panose="02040503050406030204" pitchFamily="18" charset="0"/>
                        </a:rPr>
                        <m:t>𝑚</m:t>
                      </m:r>
                      <m:sSup>
                        <m:sSupPr>
                          <m:ctrlPr>
                            <a:rPr lang="en-US" sz="2400" b="0" i="1" smtClean="0">
                              <a:solidFill>
                                <a:schemeClr val="bg1"/>
                              </a:solidFill>
                              <a:latin typeface="Cambria Math" panose="02040503050406030204" pitchFamily="18" charset="0"/>
                            </a:rPr>
                          </m:ctrlPr>
                        </m:sSupPr>
                        <m:e>
                          <m:r>
                            <m:rPr>
                              <m:sty m:val="p"/>
                            </m:rPr>
                            <a:rPr lang="en-US" sz="2400" b="0" i="1" smtClean="0">
                              <a:solidFill>
                                <a:schemeClr val="bg1"/>
                              </a:solidFill>
                              <a:latin typeface="Cambria Math" panose="02040503050406030204" pitchFamily="18" charset="0"/>
                            </a:rPr>
                            <m:t>Δ</m:t>
                          </m:r>
                          <m:r>
                            <a:rPr lang="en-US" sz="2400" b="0" i="1" smtClean="0">
                              <a:solidFill>
                                <a:schemeClr val="bg1"/>
                              </a:solidFill>
                              <a:latin typeface="Cambria Math" panose="02040503050406030204" pitchFamily="18" charset="0"/>
                            </a:rPr>
                            <m:t>𝑣</m:t>
                          </m:r>
                        </m:e>
                        <m:sup>
                          <m:r>
                            <a:rPr lang="en-US" sz="2400" b="0" i="1" smtClean="0">
                              <a:solidFill>
                                <a:schemeClr val="bg1"/>
                              </a:solidFill>
                              <a:latin typeface="Cambria Math" panose="02040503050406030204" pitchFamily="18" charset="0"/>
                            </a:rPr>
                            <m:t>2</m:t>
                          </m:r>
                        </m:sup>
                      </m:sSup>
                    </m:oMath>
                  </m:oMathPara>
                </a14:m>
                <a:endParaRPr lang="en-US" sz="2400" b="0" dirty="0">
                  <a:solidFill>
                    <a:schemeClr val="bg1"/>
                  </a:solidFill>
                </a:endParaRPr>
              </a:p>
            </p:txBody>
          </p:sp>
        </mc:Choice>
        <mc:Fallback>
          <p:sp>
            <p:nvSpPr>
              <p:cNvPr id="7" name="TextBox 6">
                <a:extLst>
                  <a:ext uri="{FF2B5EF4-FFF2-40B4-BE49-F238E27FC236}">
                    <a16:creationId xmlns:a16="http://schemas.microsoft.com/office/drawing/2014/main" id="{EFA63955-4FB2-69FD-9C45-F7324A22F2B2}"/>
                  </a:ext>
                </a:extLst>
              </p:cNvPr>
              <p:cNvSpPr txBox="1">
                <a:spLocks noRot="1" noChangeAspect="1" noMove="1" noResize="1" noEditPoints="1" noAdjustHandles="1" noChangeArrowheads="1" noChangeShapeType="1" noTextEdit="1"/>
              </p:cNvSpPr>
              <p:nvPr/>
            </p:nvSpPr>
            <p:spPr>
              <a:xfrm>
                <a:off x="8981923" y="1873959"/>
                <a:ext cx="3090530" cy="4563557"/>
              </a:xfrm>
              <a:prstGeom prst="rect">
                <a:avLst/>
              </a:prstGeom>
              <a:blipFill>
                <a:blip r:embed="rId4"/>
                <a:stretch>
                  <a:fillRect l="-2439" t="-18785" b="-32320"/>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24119BEB-CDB6-002B-1DD0-7B823E0D0D8C}"/>
              </a:ext>
            </a:extLst>
          </p:cNvPr>
          <p:cNvSpPr txBox="1"/>
          <p:nvPr/>
        </p:nvSpPr>
        <p:spPr>
          <a:xfrm>
            <a:off x="2411133" y="6220018"/>
            <a:ext cx="4880344"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US" dirty="0"/>
              <a:t>Not responsible for this, just for enrichment</a:t>
            </a: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A29F4EED-2D3D-A568-DC09-A4CD1741F638}"/>
                  </a:ext>
                </a:extLst>
              </p:cNvPr>
              <p:cNvSpPr txBox="1"/>
              <p:nvPr/>
            </p:nvSpPr>
            <p:spPr>
              <a:xfrm>
                <a:off x="3504679" y="4813500"/>
                <a:ext cx="3255170" cy="1244828"/>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14:m>
                  <m:oMathPara xmlns:m="http://schemas.openxmlformats.org/officeDocument/2006/math">
                    <m:oMath>
                      <m:r>
                        <a:rPr lang="en-US" sz="4000" b="0" i="1" smtClean="0">
                          <a:solidFill>
                            <a:schemeClr val="bg1"/>
                          </a:solidFill>
                          <a:latin typeface="Cambria Math" panose="02040503050406030204" pitchFamily="18" charset="0"/>
                        </a:rPr>
                        <m:t>𝐾𝐸</m:t>
                      </m:r>
                      <m:r>
                        <a:rPr lang="en-US" sz="4000" b="0" i="1" smtClean="0">
                          <a:solidFill>
                            <a:schemeClr val="bg1"/>
                          </a:solidFill>
                          <a:latin typeface="Cambria Math" panose="02040503050406030204" pitchFamily="18" charset="0"/>
                        </a:rPr>
                        <m:t>=</m:t>
                      </m:r>
                      <m:f>
                        <m:fPr>
                          <m:ctrlPr>
                            <a:rPr lang="en-US" sz="4000" b="0" i="1" smtClean="0">
                              <a:solidFill>
                                <a:schemeClr val="bg1"/>
                              </a:solidFill>
                              <a:latin typeface="Cambria Math" panose="02040503050406030204" pitchFamily="18" charset="0"/>
                            </a:rPr>
                          </m:ctrlPr>
                        </m:fPr>
                        <m:num>
                          <m:r>
                            <a:rPr lang="en-US" sz="4000" b="0" i="1" smtClean="0">
                              <a:solidFill>
                                <a:schemeClr val="bg1"/>
                              </a:solidFill>
                              <a:latin typeface="Cambria Math" panose="02040503050406030204" pitchFamily="18" charset="0"/>
                            </a:rPr>
                            <m:t>1</m:t>
                          </m:r>
                        </m:num>
                        <m:den>
                          <m:r>
                            <a:rPr lang="en-US" sz="4000" b="0" i="1" smtClean="0">
                              <a:solidFill>
                                <a:schemeClr val="bg1"/>
                              </a:solidFill>
                              <a:latin typeface="Cambria Math" panose="02040503050406030204" pitchFamily="18" charset="0"/>
                            </a:rPr>
                            <m:t>2</m:t>
                          </m:r>
                        </m:den>
                      </m:f>
                      <m:r>
                        <a:rPr lang="en-US" sz="4000" b="0" i="1" smtClean="0">
                          <a:solidFill>
                            <a:schemeClr val="bg1"/>
                          </a:solidFill>
                          <a:latin typeface="Cambria Math" panose="02040503050406030204" pitchFamily="18" charset="0"/>
                        </a:rPr>
                        <m:t>𝑚</m:t>
                      </m:r>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𝑣</m:t>
                          </m:r>
                        </m:e>
                        <m:sup>
                          <m:r>
                            <a:rPr lang="en-US" sz="4000" b="0" i="1" smtClean="0">
                              <a:solidFill>
                                <a:schemeClr val="bg1"/>
                              </a:solidFill>
                              <a:latin typeface="Cambria Math" panose="02040503050406030204" pitchFamily="18" charset="0"/>
                            </a:rPr>
                            <m:t>2</m:t>
                          </m:r>
                        </m:sup>
                      </m:sSup>
                    </m:oMath>
                  </m:oMathPara>
                </a14:m>
                <a:endParaRPr lang="en-US" sz="4000" b="0" i="1" dirty="0">
                  <a:solidFill>
                    <a:schemeClr val="bg1"/>
                  </a:solidFill>
                  <a:latin typeface="Cambria Math" panose="02040503050406030204" pitchFamily="18" charset="0"/>
                </a:endParaRPr>
              </a:p>
            </p:txBody>
          </p:sp>
        </mc:Choice>
        <mc:Fallback>
          <p:sp>
            <p:nvSpPr>
              <p:cNvPr id="9" name="TextBox 8">
                <a:extLst>
                  <a:ext uri="{FF2B5EF4-FFF2-40B4-BE49-F238E27FC236}">
                    <a16:creationId xmlns:a16="http://schemas.microsoft.com/office/drawing/2014/main" id="{A29F4EED-2D3D-A568-DC09-A4CD1741F638}"/>
                  </a:ext>
                </a:extLst>
              </p:cNvPr>
              <p:cNvSpPr txBox="1">
                <a:spLocks noRot="1" noChangeAspect="1" noMove="1" noResize="1" noEditPoints="1" noAdjustHandles="1" noChangeArrowheads="1" noChangeShapeType="1" noTextEdit="1"/>
              </p:cNvSpPr>
              <p:nvPr/>
            </p:nvSpPr>
            <p:spPr>
              <a:xfrm>
                <a:off x="3504679" y="4813500"/>
                <a:ext cx="3255170" cy="1244828"/>
              </a:xfrm>
              <a:prstGeom prst="rect">
                <a:avLst/>
              </a:prstGeom>
              <a:blipFill>
                <a:blip r:embed="rId5"/>
                <a:stretch>
                  <a:fillRect b="-7921"/>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7937E0C6-E788-7EFB-5D99-43B71C6A38A2}"/>
              </a:ext>
            </a:extLst>
          </p:cNvPr>
          <p:cNvSpPr txBox="1"/>
          <p:nvPr/>
        </p:nvSpPr>
        <p:spPr>
          <a:xfrm>
            <a:off x="274909" y="5030208"/>
            <a:ext cx="2589996"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dirty="0"/>
              <a:t>Energy</a:t>
            </a:r>
            <a:r>
              <a:rPr lang="en-US" dirty="0"/>
              <a:t>: </a:t>
            </a:r>
          </a:p>
          <a:p>
            <a:r>
              <a:rPr lang="en-US" dirty="0"/>
              <a:t>1 Joule = 1 kg m</a:t>
            </a:r>
            <a:r>
              <a:rPr lang="en-US" baseline="30000" dirty="0"/>
              <a:t>2</a:t>
            </a:r>
            <a:r>
              <a:rPr lang="en-US" dirty="0"/>
              <a:t>/s</a:t>
            </a:r>
            <a:r>
              <a:rPr lang="en-US" baseline="30000" dirty="0"/>
              <a:t>2</a:t>
            </a:r>
          </a:p>
        </p:txBody>
      </p:sp>
      <p:cxnSp>
        <p:nvCxnSpPr>
          <p:cNvPr id="11" name="Straight Arrow Connector 10">
            <a:extLst>
              <a:ext uri="{FF2B5EF4-FFF2-40B4-BE49-F238E27FC236}">
                <a16:creationId xmlns:a16="http://schemas.microsoft.com/office/drawing/2014/main" id="{0E9C8EF1-5553-1D84-FD32-FC07DC6933B6}"/>
              </a:ext>
            </a:extLst>
          </p:cNvPr>
          <p:cNvCxnSpPr>
            <a:cxnSpLocks/>
            <a:stCxn id="10" idx="3"/>
          </p:cNvCxnSpPr>
          <p:nvPr/>
        </p:nvCxnSpPr>
        <p:spPr>
          <a:xfrm>
            <a:off x="2864905" y="5353374"/>
            <a:ext cx="867123" cy="8254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16" name="TextBox 15">
            <a:extLst>
              <a:ext uri="{FF2B5EF4-FFF2-40B4-BE49-F238E27FC236}">
                <a16:creationId xmlns:a16="http://schemas.microsoft.com/office/drawing/2014/main" id="{8B5DF692-98BF-32F0-CB7F-7F6192926C65}"/>
              </a:ext>
            </a:extLst>
          </p:cNvPr>
          <p:cNvSpPr txBox="1"/>
          <p:nvPr/>
        </p:nvSpPr>
        <p:spPr>
          <a:xfrm>
            <a:off x="7011094" y="4798676"/>
            <a:ext cx="1719584"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dirty="0"/>
              <a:t>Velocity</a:t>
            </a:r>
            <a:r>
              <a:rPr lang="en-US" dirty="0"/>
              <a:t>:  distance/time (m/s)</a:t>
            </a:r>
            <a:endParaRPr lang="en-US" baseline="30000" dirty="0"/>
          </a:p>
        </p:txBody>
      </p:sp>
      <p:cxnSp>
        <p:nvCxnSpPr>
          <p:cNvPr id="17" name="Straight Arrow Connector 16">
            <a:extLst>
              <a:ext uri="{FF2B5EF4-FFF2-40B4-BE49-F238E27FC236}">
                <a16:creationId xmlns:a16="http://schemas.microsoft.com/office/drawing/2014/main" id="{336CAF59-D4F0-D332-9CF7-D6F1747A7410}"/>
              </a:ext>
            </a:extLst>
          </p:cNvPr>
          <p:cNvCxnSpPr>
            <a:cxnSpLocks/>
          </p:cNvCxnSpPr>
          <p:nvPr/>
        </p:nvCxnSpPr>
        <p:spPr>
          <a:xfrm flipH="1">
            <a:off x="6425174" y="5312103"/>
            <a:ext cx="608845" cy="123811"/>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19" name="TextBox 18">
            <a:extLst>
              <a:ext uri="{FF2B5EF4-FFF2-40B4-BE49-F238E27FC236}">
                <a16:creationId xmlns:a16="http://schemas.microsoft.com/office/drawing/2014/main" id="{DE4441FC-A61B-4307-E9B6-FCA965912815}"/>
              </a:ext>
            </a:extLst>
          </p:cNvPr>
          <p:cNvSpPr txBox="1"/>
          <p:nvPr/>
        </p:nvSpPr>
        <p:spPr>
          <a:xfrm>
            <a:off x="5551630" y="4401964"/>
            <a:ext cx="2030818" cy="36933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dirty="0"/>
              <a:t>mass</a:t>
            </a:r>
            <a:r>
              <a:rPr lang="en-US" dirty="0"/>
              <a:t> (kg)</a:t>
            </a:r>
            <a:endParaRPr lang="en-US" baseline="30000" dirty="0"/>
          </a:p>
        </p:txBody>
      </p:sp>
      <p:cxnSp>
        <p:nvCxnSpPr>
          <p:cNvPr id="20" name="Straight Arrow Connector 19">
            <a:extLst>
              <a:ext uri="{FF2B5EF4-FFF2-40B4-BE49-F238E27FC236}">
                <a16:creationId xmlns:a16="http://schemas.microsoft.com/office/drawing/2014/main" id="{FCE1C37D-9E9B-2F73-6FBA-753AE33D4E1C}"/>
              </a:ext>
            </a:extLst>
          </p:cNvPr>
          <p:cNvCxnSpPr>
            <a:cxnSpLocks/>
          </p:cNvCxnSpPr>
          <p:nvPr/>
        </p:nvCxnSpPr>
        <p:spPr>
          <a:xfrm flipH="1">
            <a:off x="5785400" y="4813500"/>
            <a:ext cx="168702" cy="581144"/>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23" name="Straight Arrow Connector 22">
            <a:extLst>
              <a:ext uri="{FF2B5EF4-FFF2-40B4-BE49-F238E27FC236}">
                <a16:creationId xmlns:a16="http://schemas.microsoft.com/office/drawing/2014/main" id="{DEF94BD3-1157-B24B-CBCC-E82F35AE42F8}"/>
              </a:ext>
            </a:extLst>
          </p:cNvPr>
          <p:cNvCxnSpPr>
            <a:cxnSpLocks/>
          </p:cNvCxnSpPr>
          <p:nvPr/>
        </p:nvCxnSpPr>
        <p:spPr>
          <a:xfrm flipV="1">
            <a:off x="2864905" y="3918876"/>
            <a:ext cx="1460248" cy="1455132"/>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2954531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BA37A-DBF9-20DE-9294-97F14CCA07C4}"/>
              </a:ext>
            </a:extLst>
          </p:cNvPr>
          <p:cNvSpPr>
            <a:spLocks noGrp="1"/>
          </p:cNvSpPr>
          <p:nvPr>
            <p:ph type="title"/>
          </p:nvPr>
        </p:nvSpPr>
        <p:spPr>
          <a:xfrm>
            <a:off x="391576" y="1111759"/>
            <a:ext cx="10515600" cy="868680"/>
          </a:xfrm>
        </p:spPr>
        <p:txBody>
          <a:bodyPr/>
          <a:lstStyle/>
          <a:p>
            <a:r>
              <a:rPr lang="en-US" dirty="0"/>
              <a:t>Kinetic and Potential Energy</a:t>
            </a:r>
          </a:p>
        </p:txBody>
      </p:sp>
      <p:sp>
        <p:nvSpPr>
          <p:cNvPr id="3" name="Content Placeholder 2">
            <a:extLst>
              <a:ext uri="{FF2B5EF4-FFF2-40B4-BE49-F238E27FC236}">
                <a16:creationId xmlns:a16="http://schemas.microsoft.com/office/drawing/2014/main" id="{BA98E5C1-221E-6094-BF7D-64C017AF2F56}"/>
              </a:ext>
            </a:extLst>
          </p:cNvPr>
          <p:cNvSpPr>
            <a:spLocks noGrp="1"/>
          </p:cNvSpPr>
          <p:nvPr>
            <p:ph idx="1"/>
          </p:nvPr>
        </p:nvSpPr>
        <p:spPr>
          <a:xfrm>
            <a:off x="465093" y="1781286"/>
            <a:ext cx="5602555" cy="4048171"/>
          </a:xfrm>
        </p:spPr>
        <p:txBody>
          <a:bodyPr/>
          <a:lstStyle/>
          <a:p>
            <a:r>
              <a:rPr lang="en-US" sz="1800" dirty="0"/>
              <a:t>If you can put energy INTO something, sometimes it can be retrieved later (</a:t>
            </a:r>
            <a:r>
              <a:rPr lang="en-US" sz="1800" b="1" dirty="0"/>
              <a:t>“conservative forces”</a:t>
            </a:r>
            <a:r>
              <a:rPr lang="en-US" sz="1800" dirty="0"/>
              <a:t>)</a:t>
            </a:r>
          </a:p>
          <a:p>
            <a:pPr lvl="1"/>
            <a:r>
              <a:rPr lang="en-US" sz="1800" dirty="0"/>
              <a:t>Like gravity: What comes up, must come down</a:t>
            </a:r>
          </a:p>
          <a:p>
            <a:r>
              <a:rPr lang="en-US" sz="1800" dirty="0"/>
              <a:t>For a conservative force, the total energy (kinetic plus potential) remains the same!</a:t>
            </a:r>
          </a:p>
          <a:p>
            <a:pPr marL="457200" lvl="1" indent="0">
              <a:buNone/>
            </a:pPr>
            <a:endParaRPr lang="en-US" sz="1800" dirty="0"/>
          </a:p>
          <a:p>
            <a:r>
              <a:rPr lang="en-US" sz="1800" dirty="0"/>
              <a:t>Still equal to the force times the distance</a:t>
            </a:r>
          </a:p>
          <a:p>
            <a:pPr lvl="1"/>
            <a:r>
              <a:rPr lang="en-US" sz="1800" dirty="0"/>
              <a:t>For gravity near the earth’s surface: </a:t>
            </a:r>
          </a:p>
        </p:txBody>
      </p:sp>
      <p:sp>
        <p:nvSpPr>
          <p:cNvPr id="4" name="Slide Number Placeholder 3">
            <a:extLst>
              <a:ext uri="{FF2B5EF4-FFF2-40B4-BE49-F238E27FC236}">
                <a16:creationId xmlns:a16="http://schemas.microsoft.com/office/drawing/2014/main" id="{8D33B724-EF71-9398-E75A-C3E453455A99}"/>
              </a:ext>
            </a:extLst>
          </p:cNvPr>
          <p:cNvSpPr>
            <a:spLocks noGrp="1"/>
          </p:cNvSpPr>
          <p:nvPr>
            <p:ph type="sldNum" sz="quarter" idx="12"/>
          </p:nvPr>
        </p:nvSpPr>
        <p:spPr/>
        <p:txBody>
          <a:bodyPr/>
          <a:lstStyle/>
          <a:p>
            <a:fld id="{C5EF2332-01BF-834F-8236-50238282D533}" type="slidenum">
              <a:rPr lang="en-US" smtClean="0"/>
              <a:t>8</a:t>
            </a:fld>
            <a:endParaRPr lang="en-US"/>
          </a:p>
        </p:txBody>
      </p:sp>
      <p:pic>
        <p:nvPicPr>
          <p:cNvPr id="5" name="Picture 4" descr="Stick figure diagram of a person in a cart riding down a roller coaster. ">
            <a:extLst>
              <a:ext uri="{FF2B5EF4-FFF2-40B4-BE49-F238E27FC236}">
                <a16:creationId xmlns:a16="http://schemas.microsoft.com/office/drawing/2014/main" id="{6261BB4B-9CF9-C70C-5011-E4E18FCA8239}"/>
              </a:ext>
            </a:extLst>
          </p:cNvPr>
          <p:cNvPicPr>
            <a:picLocks noChangeAspect="1"/>
          </p:cNvPicPr>
          <p:nvPr/>
        </p:nvPicPr>
        <p:blipFill rotWithShape="1">
          <a:blip r:embed="rId2"/>
          <a:srcRect r="2458" b="51202"/>
          <a:stretch/>
        </p:blipFill>
        <p:spPr>
          <a:xfrm>
            <a:off x="6195239" y="2373306"/>
            <a:ext cx="5585090" cy="3608203"/>
          </a:xfrm>
          <a:prstGeom prst="rect">
            <a:avLst/>
          </a:prstGeom>
        </p:spPr>
      </p:pic>
      <p:sp>
        <p:nvSpPr>
          <p:cNvPr id="6" name="TextBox 5">
            <a:extLst>
              <a:ext uri="{FF2B5EF4-FFF2-40B4-BE49-F238E27FC236}">
                <a16:creationId xmlns:a16="http://schemas.microsoft.com/office/drawing/2014/main" id="{7D390C91-6CED-383E-114F-1B096694D84A}"/>
              </a:ext>
            </a:extLst>
          </p:cNvPr>
          <p:cNvSpPr txBox="1"/>
          <p:nvPr/>
        </p:nvSpPr>
        <p:spPr>
          <a:xfrm>
            <a:off x="7315199" y="1354940"/>
            <a:ext cx="2411750" cy="646331"/>
          </a:xfrm>
          <a:prstGeom prst="rect">
            <a:avLst/>
          </a:prstGeom>
          <a:noFill/>
        </p:spPr>
        <p:txBody>
          <a:bodyPr wrap="none" rtlCol="0">
            <a:spAutoFit/>
          </a:bodyPr>
          <a:lstStyle/>
          <a:p>
            <a:r>
              <a:rPr lang="en-US" dirty="0"/>
              <a:t>High potential energy,</a:t>
            </a:r>
          </a:p>
          <a:p>
            <a:r>
              <a:rPr lang="en-US" dirty="0"/>
              <a:t>Low kinetic energy</a:t>
            </a:r>
          </a:p>
        </p:txBody>
      </p:sp>
      <p:cxnSp>
        <p:nvCxnSpPr>
          <p:cNvPr id="8" name="Straight Arrow Connector 7">
            <a:extLst>
              <a:ext uri="{FF2B5EF4-FFF2-40B4-BE49-F238E27FC236}">
                <a16:creationId xmlns:a16="http://schemas.microsoft.com/office/drawing/2014/main" id="{1EF8BEE5-EB9B-6455-8A23-B6077A22DA77}"/>
              </a:ext>
            </a:extLst>
          </p:cNvPr>
          <p:cNvCxnSpPr>
            <a:stCxn id="6" idx="2"/>
          </p:cNvCxnSpPr>
          <p:nvPr/>
        </p:nvCxnSpPr>
        <p:spPr>
          <a:xfrm flipH="1">
            <a:off x="7570381" y="2001271"/>
            <a:ext cx="950693" cy="5217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7D05EB2E-177C-0432-C49B-7BF985B00604}"/>
              </a:ext>
            </a:extLst>
          </p:cNvPr>
          <p:cNvSpPr txBox="1"/>
          <p:nvPr/>
        </p:nvSpPr>
        <p:spPr>
          <a:xfrm>
            <a:off x="9726949" y="3159041"/>
            <a:ext cx="2360454" cy="646331"/>
          </a:xfrm>
          <a:prstGeom prst="rect">
            <a:avLst/>
          </a:prstGeom>
          <a:noFill/>
        </p:spPr>
        <p:txBody>
          <a:bodyPr wrap="none" rtlCol="0">
            <a:spAutoFit/>
          </a:bodyPr>
          <a:lstStyle/>
          <a:p>
            <a:r>
              <a:rPr lang="en-US" dirty="0"/>
              <a:t>Low potential energy,</a:t>
            </a:r>
          </a:p>
          <a:p>
            <a:r>
              <a:rPr lang="en-US" dirty="0"/>
              <a:t>High kinetic energy</a:t>
            </a:r>
          </a:p>
        </p:txBody>
      </p:sp>
      <p:cxnSp>
        <p:nvCxnSpPr>
          <p:cNvPr id="10" name="Straight Arrow Connector 9">
            <a:extLst>
              <a:ext uri="{FF2B5EF4-FFF2-40B4-BE49-F238E27FC236}">
                <a16:creationId xmlns:a16="http://schemas.microsoft.com/office/drawing/2014/main" id="{02E5A331-FD4B-FAA5-725D-1ABB19FF4E7B}"/>
              </a:ext>
            </a:extLst>
          </p:cNvPr>
          <p:cNvCxnSpPr>
            <a:cxnSpLocks/>
          </p:cNvCxnSpPr>
          <p:nvPr/>
        </p:nvCxnSpPr>
        <p:spPr>
          <a:xfrm flipH="1">
            <a:off x="10536865" y="3769040"/>
            <a:ext cx="570715" cy="10049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DFA50408-9999-5DD7-8A3A-441C7DFB5A19}"/>
                  </a:ext>
                </a:extLst>
              </p:cNvPr>
              <p:cNvSpPr txBox="1"/>
              <p:nvPr/>
            </p:nvSpPr>
            <p:spPr>
              <a:xfrm>
                <a:off x="1779462" y="5259948"/>
                <a:ext cx="3255170" cy="707886"/>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14:m>
                  <m:oMathPara xmlns:m="http://schemas.openxmlformats.org/officeDocument/2006/math">
                    <m:oMath>
                      <m:r>
                        <a:rPr lang="en-US" sz="4000" b="0" i="1" smtClean="0">
                          <a:solidFill>
                            <a:schemeClr val="bg1"/>
                          </a:solidFill>
                          <a:latin typeface="Cambria Math" panose="02040503050406030204" pitchFamily="18" charset="0"/>
                        </a:rPr>
                        <m:t>𝑃𝐸</m:t>
                      </m:r>
                      <m:r>
                        <a:rPr lang="en-US" sz="4000" b="0" i="1" smtClean="0">
                          <a:solidFill>
                            <a:schemeClr val="bg1"/>
                          </a:solidFill>
                          <a:latin typeface="Cambria Math" panose="02040503050406030204" pitchFamily="18" charset="0"/>
                        </a:rPr>
                        <m:t>=</m:t>
                      </m:r>
                      <m:r>
                        <a:rPr lang="en-US" sz="4000" b="0" i="1" smtClean="0">
                          <a:solidFill>
                            <a:schemeClr val="bg1"/>
                          </a:solidFill>
                          <a:latin typeface="Cambria Math" panose="02040503050406030204" pitchFamily="18" charset="0"/>
                        </a:rPr>
                        <m:t>𝑚𝑔</m:t>
                      </m:r>
                      <m:r>
                        <a:rPr lang="en-US" sz="4000" b="0" i="1" smtClean="0">
                          <a:solidFill>
                            <a:schemeClr val="bg1"/>
                          </a:solidFill>
                          <a:latin typeface="Cambria Math" panose="02040503050406030204" pitchFamily="18" charset="0"/>
                        </a:rPr>
                        <m:t>⋅</m:t>
                      </m:r>
                      <m:r>
                        <a:rPr lang="en-US" sz="4000" b="0" i="1" smtClean="0">
                          <a:solidFill>
                            <a:schemeClr val="bg1"/>
                          </a:solidFill>
                          <a:latin typeface="Cambria Math" panose="02040503050406030204" pitchFamily="18" charset="0"/>
                        </a:rPr>
                        <m:t>ℎ</m:t>
                      </m:r>
                    </m:oMath>
                  </m:oMathPara>
                </a14:m>
                <a:endParaRPr lang="en-US" sz="4000" b="0" i="1" dirty="0">
                  <a:solidFill>
                    <a:schemeClr val="bg1"/>
                  </a:solidFill>
                  <a:latin typeface="Cambria Math" panose="02040503050406030204" pitchFamily="18" charset="0"/>
                </a:endParaRPr>
              </a:p>
            </p:txBody>
          </p:sp>
        </mc:Choice>
        <mc:Fallback>
          <p:sp>
            <p:nvSpPr>
              <p:cNvPr id="12" name="TextBox 11">
                <a:extLst>
                  <a:ext uri="{FF2B5EF4-FFF2-40B4-BE49-F238E27FC236}">
                    <a16:creationId xmlns:a16="http://schemas.microsoft.com/office/drawing/2014/main" id="{DFA50408-9999-5DD7-8A3A-441C7DFB5A19}"/>
                  </a:ext>
                </a:extLst>
              </p:cNvPr>
              <p:cNvSpPr txBox="1">
                <a:spLocks noRot="1" noChangeAspect="1" noMove="1" noResize="1" noEditPoints="1" noAdjustHandles="1" noChangeArrowheads="1" noChangeShapeType="1" noTextEdit="1"/>
              </p:cNvSpPr>
              <p:nvPr/>
            </p:nvSpPr>
            <p:spPr>
              <a:xfrm>
                <a:off x="1779462" y="5259948"/>
                <a:ext cx="3255170" cy="707886"/>
              </a:xfrm>
              <a:prstGeom prst="rect">
                <a:avLst/>
              </a:prstGeom>
              <a:blipFill>
                <a:blip r:embed="rId3"/>
                <a:stretch>
                  <a:fillRect b="-13793"/>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27BDBDF7-2B1A-581C-7F10-5B2C0F76646A}"/>
              </a:ext>
            </a:extLst>
          </p:cNvPr>
          <p:cNvSpPr txBox="1"/>
          <p:nvPr/>
        </p:nvSpPr>
        <p:spPr>
          <a:xfrm>
            <a:off x="1635642" y="6245736"/>
            <a:ext cx="4880344"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US" dirty="0"/>
              <a:t>Not responsible for this, just for enrichment</a:t>
            </a: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5887B1A6-72D5-1A27-2037-45BC32940085}"/>
                  </a:ext>
                </a:extLst>
              </p:cNvPr>
              <p:cNvSpPr txBox="1"/>
              <p:nvPr/>
            </p:nvSpPr>
            <p:spPr>
              <a:xfrm>
                <a:off x="104597" y="3716109"/>
                <a:ext cx="6586827" cy="584775"/>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14:m>
                  <m:oMath xmlns:m="http://schemas.openxmlformats.org/officeDocument/2006/math">
                    <m:r>
                      <m:rPr>
                        <m:sty m:val="p"/>
                      </m:rPr>
                      <a:rPr lang="en-US" sz="3200" b="0" i="1" smtClean="0">
                        <a:solidFill>
                          <a:schemeClr val="bg1"/>
                        </a:solidFill>
                        <a:latin typeface="Cambria Math" panose="02040503050406030204" pitchFamily="18" charset="0"/>
                      </a:rPr>
                      <m:t>Energy</m:t>
                    </m:r>
                    <m:r>
                      <a:rPr lang="en-US" sz="3200" b="0" i="1" smtClean="0">
                        <a:solidFill>
                          <a:schemeClr val="bg1"/>
                        </a:solidFill>
                        <a:latin typeface="Cambria Math" panose="02040503050406030204" pitchFamily="18" charset="0"/>
                      </a:rPr>
                      <m:t> =</m:t>
                    </m:r>
                    <m:r>
                      <m:rPr>
                        <m:sty m:val="p"/>
                      </m:rPr>
                      <a:rPr lang="en-US" sz="3200" b="0" i="1" smtClean="0">
                        <a:solidFill>
                          <a:schemeClr val="bg1"/>
                        </a:solidFill>
                        <a:latin typeface="Cambria Math" panose="02040503050406030204" pitchFamily="18" charset="0"/>
                      </a:rPr>
                      <m:t>Δ</m:t>
                    </m:r>
                    <m:r>
                      <a:rPr lang="en-US" sz="3200" b="0" i="1" smtClean="0">
                        <a:solidFill>
                          <a:schemeClr val="bg1"/>
                        </a:solidFill>
                        <a:latin typeface="Cambria Math" panose="02040503050406030204" pitchFamily="18" charset="0"/>
                      </a:rPr>
                      <m:t>𝐾𝐸</m:t>
                    </m:r>
                    <m:r>
                      <a:rPr lang="en-US" sz="3200" b="0" i="1" smtClean="0">
                        <a:solidFill>
                          <a:schemeClr val="bg1"/>
                        </a:solidFill>
                        <a:latin typeface="Cambria Math" panose="02040503050406030204" pitchFamily="18" charset="0"/>
                      </a:rPr>
                      <m:t>+</m:t>
                    </m:r>
                    <m:r>
                      <m:rPr>
                        <m:sty m:val="p"/>
                      </m:rPr>
                      <a:rPr lang="en-US" sz="3200" b="0" i="1" smtClean="0">
                        <a:solidFill>
                          <a:schemeClr val="bg1"/>
                        </a:solidFill>
                        <a:latin typeface="Cambria Math" panose="02040503050406030204" pitchFamily="18" charset="0"/>
                      </a:rPr>
                      <m:t>Δ</m:t>
                    </m:r>
                    <m:r>
                      <a:rPr lang="en-US" sz="3200" b="0" i="1" smtClean="0">
                        <a:solidFill>
                          <a:schemeClr val="bg1"/>
                        </a:solidFill>
                        <a:latin typeface="Cambria Math" panose="02040503050406030204" pitchFamily="18" charset="0"/>
                      </a:rPr>
                      <m:t>𝑃𝐸</m:t>
                    </m:r>
                  </m:oMath>
                </a14:m>
                <a:r>
                  <a:rPr lang="en-US" sz="3200" b="0" i="1" dirty="0">
                    <a:solidFill>
                      <a:schemeClr val="bg1"/>
                    </a:solidFill>
                    <a:latin typeface="Cambria Math" panose="02040503050406030204" pitchFamily="18" charset="0"/>
                  </a:rPr>
                  <a:t> = constant</a:t>
                </a:r>
              </a:p>
            </p:txBody>
          </p:sp>
        </mc:Choice>
        <mc:Fallback>
          <p:sp>
            <p:nvSpPr>
              <p:cNvPr id="14" name="TextBox 13">
                <a:extLst>
                  <a:ext uri="{FF2B5EF4-FFF2-40B4-BE49-F238E27FC236}">
                    <a16:creationId xmlns:a16="http://schemas.microsoft.com/office/drawing/2014/main" id="{5887B1A6-72D5-1A27-2037-45BC32940085}"/>
                  </a:ext>
                </a:extLst>
              </p:cNvPr>
              <p:cNvSpPr txBox="1">
                <a:spLocks noRot="1" noChangeAspect="1" noMove="1" noResize="1" noEditPoints="1" noAdjustHandles="1" noChangeArrowheads="1" noChangeShapeType="1" noTextEdit="1"/>
              </p:cNvSpPr>
              <p:nvPr/>
            </p:nvSpPr>
            <p:spPr>
              <a:xfrm>
                <a:off x="104597" y="3716109"/>
                <a:ext cx="6586827" cy="584775"/>
              </a:xfrm>
              <a:prstGeom prst="rect">
                <a:avLst/>
              </a:prstGeom>
              <a:blipFill>
                <a:blip r:embed="rId4"/>
                <a:stretch>
                  <a:fillRect l="-1344" t="-10204" b="-30612"/>
                </a:stretch>
              </a:blipFill>
            </p:spPr>
            <p:txBody>
              <a:bodyPr/>
              <a:lstStyle/>
              <a:p>
                <a:r>
                  <a:rPr lang="en-US">
                    <a:noFill/>
                  </a:rPr>
                  <a:t> </a:t>
                </a:r>
              </a:p>
            </p:txBody>
          </p:sp>
        </mc:Fallback>
      </mc:AlternateContent>
    </p:spTree>
    <p:extLst>
      <p:ext uri="{BB962C8B-B14F-4D97-AF65-F5344CB8AC3E}">
        <p14:creationId xmlns:p14="http://schemas.microsoft.com/office/powerpoint/2010/main" val="72984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8B6D7-61A9-E201-F267-B16072CEC0C6}"/>
              </a:ext>
            </a:extLst>
          </p:cNvPr>
          <p:cNvSpPr>
            <a:spLocks noGrp="1"/>
          </p:cNvSpPr>
          <p:nvPr>
            <p:ph type="title"/>
          </p:nvPr>
        </p:nvSpPr>
        <p:spPr/>
        <p:txBody>
          <a:bodyPr/>
          <a:lstStyle/>
          <a:p>
            <a:r>
              <a:rPr lang="en-US" dirty="0"/>
              <a:t>Using Energy</a:t>
            </a:r>
          </a:p>
        </p:txBody>
      </p:sp>
      <p:sp>
        <p:nvSpPr>
          <p:cNvPr id="3" name="Content Placeholder 2">
            <a:extLst>
              <a:ext uri="{FF2B5EF4-FFF2-40B4-BE49-F238E27FC236}">
                <a16:creationId xmlns:a16="http://schemas.microsoft.com/office/drawing/2014/main" id="{A4407DCF-5390-3C98-9B8F-2135A0430EF4}"/>
              </a:ext>
            </a:extLst>
          </p:cNvPr>
          <p:cNvSpPr>
            <a:spLocks noGrp="1"/>
          </p:cNvSpPr>
          <p:nvPr>
            <p:ph idx="1"/>
          </p:nvPr>
        </p:nvSpPr>
        <p:spPr>
          <a:xfrm>
            <a:off x="394208" y="2522992"/>
            <a:ext cx="4464871" cy="4048171"/>
          </a:xfrm>
        </p:spPr>
        <p:txBody>
          <a:bodyPr/>
          <a:lstStyle/>
          <a:p>
            <a:r>
              <a:rPr lang="en-US" dirty="0"/>
              <a:t>Example: water running in a river or down a huge waterfall</a:t>
            </a:r>
          </a:p>
          <a:p>
            <a:pPr lvl="1"/>
            <a:r>
              <a:rPr lang="en-US" dirty="0"/>
              <a:t>Niagara Falls!</a:t>
            </a:r>
          </a:p>
        </p:txBody>
      </p:sp>
      <p:sp>
        <p:nvSpPr>
          <p:cNvPr id="4" name="Slide Number Placeholder 3">
            <a:extLst>
              <a:ext uri="{FF2B5EF4-FFF2-40B4-BE49-F238E27FC236}">
                <a16:creationId xmlns:a16="http://schemas.microsoft.com/office/drawing/2014/main" id="{C326A80F-9D32-34DF-44F1-2706F3AF0F43}"/>
              </a:ext>
            </a:extLst>
          </p:cNvPr>
          <p:cNvSpPr>
            <a:spLocks noGrp="1"/>
          </p:cNvSpPr>
          <p:nvPr>
            <p:ph type="sldNum" sz="quarter" idx="12"/>
          </p:nvPr>
        </p:nvSpPr>
        <p:spPr/>
        <p:txBody>
          <a:bodyPr/>
          <a:lstStyle/>
          <a:p>
            <a:fld id="{C5EF2332-01BF-834F-8236-50238282D533}" type="slidenum">
              <a:rPr lang="en-US" smtClean="0"/>
              <a:t>9</a:t>
            </a:fld>
            <a:endParaRPr lang="en-US"/>
          </a:p>
        </p:txBody>
      </p:sp>
      <p:pic>
        <p:nvPicPr>
          <p:cNvPr id="6" name="Picture 5" descr="Lake Erie is 571 ft (174 m) above sea level. Lake Ontario is 246 ft (75 m) above sea level. The Niagara River drops 325 ft as it goes from Erie to Ontario, with roughly 194 ft (59 m) of that happening at Niagara Falls.&#10;The image shows the elevations of Lakes Erie and Ontario (cross-section). There is a  steep elevation change at Niagara Falls. Depths and distances are not drawn perfectly to scale.">
            <a:extLst>
              <a:ext uri="{FF2B5EF4-FFF2-40B4-BE49-F238E27FC236}">
                <a16:creationId xmlns:a16="http://schemas.microsoft.com/office/drawing/2014/main" id="{43381304-5883-213C-20FA-7305E97C62A0}"/>
              </a:ext>
            </a:extLst>
          </p:cNvPr>
          <p:cNvPicPr>
            <a:picLocks noChangeAspect="1"/>
          </p:cNvPicPr>
          <p:nvPr/>
        </p:nvPicPr>
        <p:blipFill>
          <a:blip r:embed="rId2"/>
          <a:stretch>
            <a:fillRect/>
          </a:stretch>
        </p:blipFill>
        <p:spPr>
          <a:xfrm>
            <a:off x="5652008" y="1938966"/>
            <a:ext cx="6195209" cy="4000143"/>
          </a:xfrm>
          <a:prstGeom prst="rect">
            <a:avLst/>
          </a:prstGeom>
        </p:spPr>
      </p:pic>
      <p:sp>
        <p:nvSpPr>
          <p:cNvPr id="8" name="TextBox 7">
            <a:extLst>
              <a:ext uri="{FF2B5EF4-FFF2-40B4-BE49-F238E27FC236}">
                <a16:creationId xmlns:a16="http://schemas.microsoft.com/office/drawing/2014/main" id="{49588098-4A00-F864-1606-570D5BE3D5F7}"/>
              </a:ext>
            </a:extLst>
          </p:cNvPr>
          <p:cNvSpPr txBox="1"/>
          <p:nvPr/>
        </p:nvSpPr>
        <p:spPr>
          <a:xfrm>
            <a:off x="7137732" y="5912825"/>
            <a:ext cx="2791713" cy="276999"/>
          </a:xfrm>
          <a:prstGeom prst="rect">
            <a:avLst/>
          </a:prstGeom>
          <a:noFill/>
        </p:spPr>
        <p:txBody>
          <a:bodyPr wrap="square">
            <a:spAutoFit/>
          </a:bodyPr>
          <a:lstStyle/>
          <a:p>
            <a:r>
              <a:rPr lang="en-US" sz="1200" dirty="0"/>
              <a:t>https://</a:t>
            </a:r>
            <a:r>
              <a:rPr lang="en-US" sz="1200" dirty="0" err="1"/>
              <a:t>nyfalls.com</a:t>
            </a:r>
            <a:r>
              <a:rPr lang="en-US" sz="1200" dirty="0"/>
              <a:t>/</a:t>
            </a:r>
            <a:r>
              <a:rPr lang="en-US" sz="1200" dirty="0" err="1"/>
              <a:t>niagara</a:t>
            </a:r>
            <a:r>
              <a:rPr lang="en-US" sz="1200" dirty="0"/>
              <a:t>-falls/faq-6/</a:t>
            </a:r>
          </a:p>
        </p:txBody>
      </p:sp>
      <p:sp>
        <p:nvSpPr>
          <p:cNvPr id="9" name="TextBox 8">
            <a:extLst>
              <a:ext uri="{FF2B5EF4-FFF2-40B4-BE49-F238E27FC236}">
                <a16:creationId xmlns:a16="http://schemas.microsoft.com/office/drawing/2014/main" id="{97D01395-42B1-472C-1431-DFF7F26A2077}"/>
              </a:ext>
            </a:extLst>
          </p:cNvPr>
          <p:cNvSpPr txBox="1"/>
          <p:nvPr/>
        </p:nvSpPr>
        <p:spPr>
          <a:xfrm>
            <a:off x="582936" y="5015779"/>
            <a:ext cx="4880344" cy="923330"/>
          </a:xfrm>
          <a:prstGeom prst="rect">
            <a:avLst/>
          </a:prstGeom>
          <a:solidFill>
            <a:schemeClr val="accent3">
              <a:lumMod val="60000"/>
              <a:lumOff val="40000"/>
            </a:schemeClr>
          </a:solidFill>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chemeClr val="tx1">
                    <a:lumMod val="50000"/>
                  </a:schemeClr>
                </a:solidFill>
              </a:rPr>
              <a:t>You ARE responsible to understand that Niagara Falls (and all hydroelectric power) is powered ultimately by GRAVITY</a:t>
            </a:r>
          </a:p>
        </p:txBody>
      </p:sp>
    </p:spTree>
    <p:extLst>
      <p:ext uri="{BB962C8B-B14F-4D97-AF65-F5344CB8AC3E}">
        <p14:creationId xmlns:p14="http://schemas.microsoft.com/office/powerpoint/2010/main" val="165242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C1E86-0F46-7604-943C-757CE4F332D6}"/>
              </a:ext>
            </a:extLst>
          </p:cNvPr>
          <p:cNvSpPr>
            <a:spLocks noGrp="1"/>
          </p:cNvSpPr>
          <p:nvPr>
            <p:ph type="title"/>
          </p:nvPr>
        </p:nvSpPr>
        <p:spPr/>
        <p:txBody>
          <a:bodyPr/>
          <a:lstStyle/>
          <a:p>
            <a:r>
              <a:rPr lang="en-US" dirty="0"/>
              <a:t>Using Energy</a:t>
            </a:r>
          </a:p>
        </p:txBody>
      </p:sp>
      <p:sp>
        <p:nvSpPr>
          <p:cNvPr id="3" name="Content Placeholder 2">
            <a:extLst>
              <a:ext uri="{FF2B5EF4-FFF2-40B4-BE49-F238E27FC236}">
                <a16:creationId xmlns:a16="http://schemas.microsoft.com/office/drawing/2014/main" id="{4C7B6E7D-E2FE-5686-FB43-A1FC50B5DBAA}"/>
              </a:ext>
            </a:extLst>
          </p:cNvPr>
          <p:cNvSpPr>
            <a:spLocks noGrp="1"/>
          </p:cNvSpPr>
          <p:nvPr>
            <p:ph idx="1"/>
          </p:nvPr>
        </p:nvSpPr>
        <p:spPr>
          <a:xfrm>
            <a:off x="394208" y="2373306"/>
            <a:ext cx="4117468" cy="3704015"/>
          </a:xfrm>
        </p:spPr>
        <p:txBody>
          <a:bodyPr/>
          <a:lstStyle/>
          <a:p>
            <a:r>
              <a:rPr lang="en-US" dirty="0"/>
              <a:t>Running rivers have been used for centuries to convert the gravitational energy of the earth to mechanical energy </a:t>
            </a:r>
          </a:p>
          <a:p>
            <a:r>
              <a:rPr lang="en-US" b="1" dirty="0"/>
              <a:t>Water mills!</a:t>
            </a:r>
          </a:p>
        </p:txBody>
      </p:sp>
      <p:sp>
        <p:nvSpPr>
          <p:cNvPr id="4" name="Slide Number Placeholder 3">
            <a:extLst>
              <a:ext uri="{FF2B5EF4-FFF2-40B4-BE49-F238E27FC236}">
                <a16:creationId xmlns:a16="http://schemas.microsoft.com/office/drawing/2014/main" id="{ECBC85A8-066E-96E1-B663-06C322EAA93B}"/>
              </a:ext>
            </a:extLst>
          </p:cNvPr>
          <p:cNvSpPr>
            <a:spLocks noGrp="1"/>
          </p:cNvSpPr>
          <p:nvPr>
            <p:ph type="sldNum" sz="quarter" idx="12"/>
          </p:nvPr>
        </p:nvSpPr>
        <p:spPr/>
        <p:txBody>
          <a:bodyPr/>
          <a:lstStyle/>
          <a:p>
            <a:fld id="{C5EF2332-01BF-834F-8236-50238282D533}" type="slidenum">
              <a:rPr lang="en-US" smtClean="0"/>
              <a:t>10</a:t>
            </a:fld>
            <a:endParaRPr lang="en-US"/>
          </a:p>
        </p:txBody>
      </p:sp>
      <p:pic>
        <p:nvPicPr>
          <p:cNvPr id="5" name="Picture 4" descr="By 論 - Tullia Ritti, Klaus Grewe, Paul Kessener: &quot;A Relief of a Water-powered Stone Saw Mill on a Sarcophagus at Hierapolis and its Implications&quot;, Journal of Roman Archaeology, Vol. 20 (2007), pp. 138–163 (148, fig. 10), CC BY 3.0, https://commons.wikimedia.org/w/index.php?curid=8550271">
            <a:extLst>
              <a:ext uri="{FF2B5EF4-FFF2-40B4-BE49-F238E27FC236}">
                <a16:creationId xmlns:a16="http://schemas.microsoft.com/office/drawing/2014/main" id="{ED4F1059-4AB9-3A87-AFB3-C7E749B8C5FB}"/>
              </a:ext>
            </a:extLst>
          </p:cNvPr>
          <p:cNvPicPr>
            <a:picLocks noChangeAspect="1"/>
          </p:cNvPicPr>
          <p:nvPr/>
        </p:nvPicPr>
        <p:blipFill>
          <a:blip r:embed="rId2"/>
          <a:stretch>
            <a:fillRect/>
          </a:stretch>
        </p:blipFill>
        <p:spPr>
          <a:xfrm>
            <a:off x="5446292" y="2373306"/>
            <a:ext cx="5463516" cy="3431088"/>
          </a:xfrm>
          <a:prstGeom prst="rect">
            <a:avLst/>
          </a:prstGeom>
        </p:spPr>
      </p:pic>
      <p:sp>
        <p:nvSpPr>
          <p:cNvPr id="6" name="TextBox 5">
            <a:extLst>
              <a:ext uri="{FF2B5EF4-FFF2-40B4-BE49-F238E27FC236}">
                <a16:creationId xmlns:a16="http://schemas.microsoft.com/office/drawing/2014/main" id="{BDBC7FD7-89A3-E59E-BA65-0822C16B75B3}"/>
              </a:ext>
            </a:extLst>
          </p:cNvPr>
          <p:cNvSpPr txBox="1"/>
          <p:nvPr/>
        </p:nvSpPr>
        <p:spPr>
          <a:xfrm>
            <a:off x="9148235" y="1504626"/>
            <a:ext cx="1962130"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chemeClr val="tx1">
                    <a:lumMod val="50000"/>
                  </a:schemeClr>
                </a:solidFill>
              </a:rPr>
              <a:t>Water turns a wheel</a:t>
            </a:r>
          </a:p>
        </p:txBody>
      </p:sp>
      <p:sp>
        <p:nvSpPr>
          <p:cNvPr id="7" name="TextBox 6">
            <a:extLst>
              <a:ext uri="{FF2B5EF4-FFF2-40B4-BE49-F238E27FC236}">
                <a16:creationId xmlns:a16="http://schemas.microsoft.com/office/drawing/2014/main" id="{8B644E89-92DA-43DD-7367-12D5E03093B4}"/>
              </a:ext>
            </a:extLst>
          </p:cNvPr>
          <p:cNvSpPr txBox="1"/>
          <p:nvPr/>
        </p:nvSpPr>
        <p:spPr>
          <a:xfrm>
            <a:off x="7483558" y="5030208"/>
            <a:ext cx="1962130"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chemeClr val="tx1">
                    <a:lumMod val="50000"/>
                  </a:schemeClr>
                </a:solidFill>
              </a:rPr>
              <a:t>Wheel turns a</a:t>
            </a:r>
            <a:br>
              <a:rPr lang="en-US" dirty="0">
                <a:solidFill>
                  <a:schemeClr val="tx1">
                    <a:lumMod val="50000"/>
                  </a:schemeClr>
                </a:solidFill>
              </a:rPr>
            </a:br>
            <a:r>
              <a:rPr lang="en-US" dirty="0">
                <a:solidFill>
                  <a:schemeClr val="tx1">
                    <a:lumMod val="50000"/>
                  </a:schemeClr>
                </a:solidFill>
              </a:rPr>
              <a:t>crank</a:t>
            </a:r>
          </a:p>
        </p:txBody>
      </p:sp>
      <p:sp>
        <p:nvSpPr>
          <p:cNvPr id="9" name="TextBox 8">
            <a:extLst>
              <a:ext uri="{FF2B5EF4-FFF2-40B4-BE49-F238E27FC236}">
                <a16:creationId xmlns:a16="http://schemas.microsoft.com/office/drawing/2014/main" id="{F15225D1-8860-F3C7-8655-E9A22EE6B8BF}"/>
              </a:ext>
            </a:extLst>
          </p:cNvPr>
          <p:cNvSpPr txBox="1"/>
          <p:nvPr/>
        </p:nvSpPr>
        <p:spPr>
          <a:xfrm>
            <a:off x="4586812" y="4326823"/>
            <a:ext cx="1962130" cy="92333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chemeClr val="tx1">
                    <a:lumMod val="50000"/>
                  </a:schemeClr>
                </a:solidFill>
              </a:rPr>
              <a:t>Crank does something useful</a:t>
            </a:r>
            <a:br>
              <a:rPr lang="en-US" dirty="0">
                <a:solidFill>
                  <a:schemeClr val="tx1">
                    <a:lumMod val="50000"/>
                  </a:schemeClr>
                </a:solidFill>
              </a:rPr>
            </a:br>
            <a:r>
              <a:rPr lang="en-US" dirty="0">
                <a:solidFill>
                  <a:schemeClr val="tx1">
                    <a:lumMod val="50000"/>
                  </a:schemeClr>
                </a:solidFill>
              </a:rPr>
              <a:t>(mill grain)</a:t>
            </a:r>
          </a:p>
        </p:txBody>
      </p:sp>
      <p:cxnSp>
        <p:nvCxnSpPr>
          <p:cNvPr id="12" name="Straight Arrow Connector 11">
            <a:extLst>
              <a:ext uri="{FF2B5EF4-FFF2-40B4-BE49-F238E27FC236}">
                <a16:creationId xmlns:a16="http://schemas.microsoft.com/office/drawing/2014/main" id="{6C9A2336-15D7-9530-6BE3-2AE1CC632729}"/>
              </a:ext>
            </a:extLst>
          </p:cNvPr>
          <p:cNvCxnSpPr>
            <a:cxnSpLocks/>
          </p:cNvCxnSpPr>
          <p:nvPr/>
        </p:nvCxnSpPr>
        <p:spPr>
          <a:xfrm flipH="1" flipV="1">
            <a:off x="6548942" y="4947138"/>
            <a:ext cx="859480" cy="4062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Freeform 16">
            <a:extLst>
              <a:ext uri="{FF2B5EF4-FFF2-40B4-BE49-F238E27FC236}">
                <a16:creationId xmlns:a16="http://schemas.microsoft.com/office/drawing/2014/main" id="{0433F157-4F4F-B1B3-3E14-203E4D7511F8}"/>
              </a:ext>
            </a:extLst>
          </p:cNvPr>
          <p:cNvSpPr/>
          <p:nvPr/>
        </p:nvSpPr>
        <p:spPr>
          <a:xfrm>
            <a:off x="9331569" y="2180492"/>
            <a:ext cx="2252184" cy="3223846"/>
          </a:xfrm>
          <a:custGeom>
            <a:avLst/>
            <a:gdLst>
              <a:gd name="csX0" fmla="*/ 1418493 w 2252184"/>
              <a:gd name="csY0" fmla="*/ 0 h 3223846"/>
              <a:gd name="csX1" fmla="*/ 2192216 w 2252184"/>
              <a:gd name="csY1" fmla="*/ 1793631 h 3223846"/>
              <a:gd name="csX2" fmla="*/ 0 w 2252184"/>
              <a:gd name="csY2" fmla="*/ 3223846 h 3223846"/>
            </a:gdLst>
            <a:ahLst/>
            <a:cxnLst>
              <a:cxn ang="0">
                <a:pos x="csX0" y="csY0"/>
              </a:cxn>
              <a:cxn ang="0">
                <a:pos x="csX1" y="csY1"/>
              </a:cxn>
              <a:cxn ang="0">
                <a:pos x="csX2" y="csY2"/>
              </a:cxn>
            </a:cxnLst>
            <a:rect l="l" t="t" r="r" b="b"/>
            <a:pathLst>
              <a:path w="2252184" h="3223846">
                <a:moveTo>
                  <a:pt x="1418493" y="0"/>
                </a:moveTo>
                <a:cubicBezTo>
                  <a:pt x="1923562" y="628161"/>
                  <a:pt x="2428632" y="1256323"/>
                  <a:pt x="2192216" y="1793631"/>
                </a:cubicBezTo>
                <a:cubicBezTo>
                  <a:pt x="1955801" y="2330939"/>
                  <a:pt x="977900" y="2777392"/>
                  <a:pt x="0" y="3223846"/>
                </a:cubicBezTo>
              </a:path>
            </a:pathLst>
          </a:custGeom>
          <a:noFill/>
          <a:ln>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6615172A-7703-6E21-DB58-9A2E124019E2}"/>
              </a:ext>
            </a:extLst>
          </p:cNvPr>
          <p:cNvSpPr txBox="1"/>
          <p:nvPr/>
        </p:nvSpPr>
        <p:spPr>
          <a:xfrm>
            <a:off x="7690058" y="5926935"/>
            <a:ext cx="3036558" cy="461665"/>
          </a:xfrm>
          <a:prstGeom prst="rect">
            <a:avLst/>
          </a:prstGeom>
          <a:noFill/>
        </p:spPr>
        <p:txBody>
          <a:bodyPr wrap="square">
            <a:spAutoFit/>
          </a:bodyPr>
          <a:lstStyle/>
          <a:p>
            <a:r>
              <a:rPr lang="en-US" sz="1200" dirty="0"/>
              <a:t>https://</a:t>
            </a:r>
            <a:r>
              <a:rPr lang="en-US" sz="1200" dirty="0" err="1"/>
              <a:t>en.wikipedia.org</a:t>
            </a:r>
            <a:r>
              <a:rPr lang="en-US" sz="1200" dirty="0"/>
              <a:t>/wiki/</a:t>
            </a:r>
            <a:r>
              <a:rPr lang="en-US" sz="1200" dirty="0" err="1"/>
              <a:t>Water_wheel</a:t>
            </a:r>
            <a:r>
              <a:rPr lang="en-US" sz="1200" dirty="0"/>
              <a:t>#/media/</a:t>
            </a:r>
            <a:r>
              <a:rPr lang="en-US" sz="1200" dirty="0" err="1"/>
              <a:t>File:Römische_Sägemühle.svg</a:t>
            </a:r>
            <a:endParaRPr lang="en-US" sz="1200" dirty="0"/>
          </a:p>
        </p:txBody>
      </p:sp>
    </p:spTree>
    <p:extLst>
      <p:ext uri="{BB962C8B-B14F-4D97-AF65-F5344CB8AC3E}">
        <p14:creationId xmlns:p14="http://schemas.microsoft.com/office/powerpoint/2010/main" val="27566249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CD79A-4BF8-B179-CE35-E4D27D1231D8}"/>
              </a:ext>
            </a:extLst>
          </p:cNvPr>
          <p:cNvSpPr>
            <a:spLocks noGrp="1"/>
          </p:cNvSpPr>
          <p:nvPr>
            <p:ph type="title"/>
          </p:nvPr>
        </p:nvSpPr>
        <p:spPr/>
        <p:txBody>
          <a:bodyPr/>
          <a:lstStyle/>
          <a:p>
            <a:r>
              <a:rPr lang="en-US" dirty="0"/>
              <a:t>Kinetic and Potential</a:t>
            </a:r>
          </a:p>
        </p:txBody>
      </p:sp>
      <p:sp>
        <p:nvSpPr>
          <p:cNvPr id="3" name="Content Placeholder 2">
            <a:extLst>
              <a:ext uri="{FF2B5EF4-FFF2-40B4-BE49-F238E27FC236}">
                <a16:creationId xmlns:a16="http://schemas.microsoft.com/office/drawing/2014/main" id="{38CE7170-42A6-18F9-4E71-94DBCE523367}"/>
              </a:ext>
            </a:extLst>
          </p:cNvPr>
          <p:cNvSpPr>
            <a:spLocks noGrp="1"/>
          </p:cNvSpPr>
          <p:nvPr>
            <p:ph idx="1"/>
          </p:nvPr>
        </p:nvSpPr>
        <p:spPr>
          <a:xfrm>
            <a:off x="394208" y="2522992"/>
            <a:ext cx="5988084" cy="4048171"/>
          </a:xfrm>
        </p:spPr>
        <p:txBody>
          <a:bodyPr/>
          <a:lstStyle/>
          <a:p>
            <a:r>
              <a:rPr lang="en-US" dirty="0"/>
              <a:t>The industrial revolution replaced moving water (from </a:t>
            </a:r>
            <a:r>
              <a:rPr lang="en-US" b="1" dirty="0"/>
              <a:t>gravity</a:t>
            </a:r>
            <a:r>
              <a:rPr lang="en-US" dirty="0"/>
              <a:t>) to burning coal (</a:t>
            </a:r>
            <a:r>
              <a:rPr lang="en-US" b="1" dirty="0"/>
              <a:t>thermal energy from chemical energy</a:t>
            </a:r>
            <a:r>
              <a:rPr lang="en-US" dirty="0"/>
              <a:t>) and using STEAM instead of water</a:t>
            </a:r>
          </a:p>
          <a:p>
            <a:r>
              <a:rPr lang="en-US" dirty="0"/>
              <a:t>Critically: This is </a:t>
            </a:r>
            <a:r>
              <a:rPr lang="en-US" b="1" dirty="0"/>
              <a:t>portable</a:t>
            </a:r>
            <a:r>
              <a:rPr lang="en-US" dirty="0"/>
              <a:t>!</a:t>
            </a:r>
          </a:p>
        </p:txBody>
      </p:sp>
      <p:sp>
        <p:nvSpPr>
          <p:cNvPr id="4" name="Slide Number Placeholder 3">
            <a:extLst>
              <a:ext uri="{FF2B5EF4-FFF2-40B4-BE49-F238E27FC236}">
                <a16:creationId xmlns:a16="http://schemas.microsoft.com/office/drawing/2014/main" id="{FB801D2E-BBB2-C8F4-0BD9-940842E9CC5E}"/>
              </a:ext>
            </a:extLst>
          </p:cNvPr>
          <p:cNvSpPr>
            <a:spLocks noGrp="1"/>
          </p:cNvSpPr>
          <p:nvPr>
            <p:ph type="sldNum" sz="quarter" idx="12"/>
          </p:nvPr>
        </p:nvSpPr>
        <p:spPr/>
        <p:txBody>
          <a:bodyPr/>
          <a:lstStyle/>
          <a:p>
            <a:fld id="{C5EF2332-01BF-834F-8236-50238282D533}" type="slidenum">
              <a:rPr lang="en-US" smtClean="0"/>
              <a:t>11</a:t>
            </a:fld>
            <a:endParaRPr lang="en-US"/>
          </a:p>
        </p:txBody>
      </p:sp>
      <p:pic>
        <p:nvPicPr>
          <p:cNvPr id="5" name="Picture 4" descr="Schematic of a steam engine. A piston is attached to a crank shaft. The piston moves by successive release of a hot gas (steam) that subsequently contracts. This drives a flywheel. By Panther - Own work; Drawn using Corel Draw! &amp; Image Ready, CC BY-SA 3.0, https://commons.wikimedia.org/w/index.php?curid=268511">
            <a:extLst>
              <a:ext uri="{FF2B5EF4-FFF2-40B4-BE49-F238E27FC236}">
                <a16:creationId xmlns:a16="http://schemas.microsoft.com/office/drawing/2014/main" id="{C9EA3403-FAF9-C551-4D21-CD014F87F2C5}"/>
              </a:ext>
            </a:extLst>
          </p:cNvPr>
          <p:cNvPicPr>
            <a:picLocks noChangeAspect="1"/>
          </p:cNvPicPr>
          <p:nvPr/>
        </p:nvPicPr>
        <p:blipFill>
          <a:blip r:embed="rId2"/>
          <a:stretch>
            <a:fillRect/>
          </a:stretch>
        </p:blipFill>
        <p:spPr>
          <a:xfrm>
            <a:off x="6382292" y="2213258"/>
            <a:ext cx="5071716" cy="3296615"/>
          </a:xfrm>
          <a:prstGeom prst="rect">
            <a:avLst/>
          </a:prstGeom>
        </p:spPr>
      </p:pic>
      <p:sp>
        <p:nvSpPr>
          <p:cNvPr id="7" name="TextBox 6">
            <a:extLst>
              <a:ext uri="{FF2B5EF4-FFF2-40B4-BE49-F238E27FC236}">
                <a16:creationId xmlns:a16="http://schemas.microsoft.com/office/drawing/2014/main" id="{914E1B7B-9C5E-DFC3-5440-34E6629948EA}"/>
              </a:ext>
            </a:extLst>
          </p:cNvPr>
          <p:cNvSpPr txBox="1"/>
          <p:nvPr/>
        </p:nvSpPr>
        <p:spPr>
          <a:xfrm>
            <a:off x="6805210" y="5279040"/>
            <a:ext cx="4302370" cy="461665"/>
          </a:xfrm>
          <a:prstGeom prst="rect">
            <a:avLst/>
          </a:prstGeom>
          <a:noFill/>
        </p:spPr>
        <p:txBody>
          <a:bodyPr wrap="square">
            <a:spAutoFit/>
          </a:bodyPr>
          <a:lstStyle/>
          <a:p>
            <a:r>
              <a:rPr lang="en-US" sz="1200" dirty="0"/>
              <a:t>https://</a:t>
            </a:r>
            <a:r>
              <a:rPr lang="en-US" sz="1200" dirty="0" err="1"/>
              <a:t>en.wikipedia.org</a:t>
            </a:r>
            <a:r>
              <a:rPr lang="en-US" sz="1200" dirty="0"/>
              <a:t>/wiki/</a:t>
            </a:r>
            <a:r>
              <a:rPr lang="en-US" sz="1200" dirty="0" err="1"/>
              <a:t>Steam_engine</a:t>
            </a:r>
            <a:r>
              <a:rPr lang="en-US" sz="1200" dirty="0"/>
              <a:t>#/media/</a:t>
            </a:r>
            <a:r>
              <a:rPr lang="en-US" sz="1200" dirty="0" err="1"/>
              <a:t>File:Steam_engine_in_action.gif</a:t>
            </a:r>
            <a:endParaRPr lang="en-US" sz="1200" dirty="0"/>
          </a:p>
        </p:txBody>
      </p:sp>
    </p:spTree>
    <p:extLst>
      <p:ext uri="{BB962C8B-B14F-4D97-AF65-F5344CB8AC3E}">
        <p14:creationId xmlns:p14="http://schemas.microsoft.com/office/powerpoint/2010/main" val="1498763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4F319-C6CC-AA7F-C5D4-25CCFD4020CC}"/>
              </a:ext>
            </a:extLst>
          </p:cNvPr>
          <p:cNvSpPr>
            <a:spLocks noGrp="1"/>
          </p:cNvSpPr>
          <p:nvPr>
            <p:ph type="title"/>
          </p:nvPr>
        </p:nvSpPr>
        <p:spPr/>
        <p:txBody>
          <a:bodyPr/>
          <a:lstStyle/>
          <a:p>
            <a:r>
              <a:rPr lang="en-US" dirty="0"/>
              <a:t>Power</a:t>
            </a:r>
          </a:p>
        </p:txBody>
      </p:sp>
      <p:sp>
        <p:nvSpPr>
          <p:cNvPr id="3" name="Content Placeholder 2">
            <a:extLst>
              <a:ext uri="{FF2B5EF4-FFF2-40B4-BE49-F238E27FC236}">
                <a16:creationId xmlns:a16="http://schemas.microsoft.com/office/drawing/2014/main" id="{24122247-0B48-B4A6-A07A-8AC112EB5FB0}"/>
              </a:ext>
            </a:extLst>
          </p:cNvPr>
          <p:cNvSpPr>
            <a:spLocks noGrp="1"/>
          </p:cNvSpPr>
          <p:nvPr>
            <p:ph idx="1"/>
          </p:nvPr>
        </p:nvSpPr>
        <p:spPr>
          <a:xfrm>
            <a:off x="394208" y="2522993"/>
            <a:ext cx="8327761" cy="3948146"/>
          </a:xfrm>
        </p:spPr>
        <p:txBody>
          <a:bodyPr/>
          <a:lstStyle/>
          <a:p>
            <a:r>
              <a:rPr lang="en-US" dirty="0"/>
              <a:t>Power is defined as the amount of </a:t>
            </a:r>
            <a:r>
              <a:rPr lang="en-US" b="1" dirty="0"/>
              <a:t>energy expended per unit time</a:t>
            </a:r>
          </a:p>
          <a:p>
            <a:endParaRPr lang="en-US" dirty="0"/>
          </a:p>
          <a:p>
            <a:endParaRPr lang="en-US" dirty="0"/>
          </a:p>
          <a:p>
            <a:pPr marL="0" indent="0">
              <a:buNone/>
            </a:pPr>
            <a:endParaRPr lang="en-US" dirty="0"/>
          </a:p>
          <a:p>
            <a:r>
              <a:rPr lang="en-US" dirty="0"/>
              <a:t>We often go the other way around and say that Energy is the Power times the time (like kilowatt-hours, which is what </a:t>
            </a:r>
            <a:r>
              <a:rPr lang="en-US" b="1" dirty="0"/>
              <a:t>goes on your electricity bill</a:t>
            </a:r>
            <a:r>
              <a:rPr lang="en-US" dirty="0"/>
              <a:t>)</a:t>
            </a:r>
          </a:p>
        </p:txBody>
      </p:sp>
      <p:sp>
        <p:nvSpPr>
          <p:cNvPr id="4" name="Slide Number Placeholder 3">
            <a:extLst>
              <a:ext uri="{FF2B5EF4-FFF2-40B4-BE49-F238E27FC236}">
                <a16:creationId xmlns:a16="http://schemas.microsoft.com/office/drawing/2014/main" id="{5888872B-6553-003E-A0F4-FC4E4721032F}"/>
              </a:ext>
            </a:extLst>
          </p:cNvPr>
          <p:cNvSpPr>
            <a:spLocks noGrp="1"/>
          </p:cNvSpPr>
          <p:nvPr>
            <p:ph type="sldNum" sz="quarter" idx="12"/>
          </p:nvPr>
        </p:nvSpPr>
        <p:spPr/>
        <p:txBody>
          <a:bodyPr/>
          <a:lstStyle/>
          <a:p>
            <a:fld id="{C5EF2332-01BF-834F-8236-50238282D533}" type="slidenum">
              <a:rPr lang="en-US" smtClean="0"/>
              <a:t>12</a:t>
            </a:fld>
            <a:endParaRPr lang="en-US"/>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DB3840C0-832A-4497-A1A9-B865F4B51F9F}"/>
                  </a:ext>
                </a:extLst>
              </p:cNvPr>
              <p:cNvSpPr txBox="1"/>
              <p:nvPr/>
            </p:nvSpPr>
            <p:spPr>
              <a:xfrm>
                <a:off x="4470995" y="3200214"/>
                <a:ext cx="2445622" cy="1248868"/>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14:m>
                  <m:oMathPara xmlns:m="http://schemas.openxmlformats.org/officeDocument/2006/math">
                    <m:oMath>
                      <m:r>
                        <a:rPr lang="en-US" sz="4000" b="0" i="1" smtClean="0">
                          <a:solidFill>
                            <a:schemeClr val="bg1"/>
                          </a:solidFill>
                          <a:latin typeface="Cambria Math" panose="02040503050406030204" pitchFamily="18" charset="0"/>
                        </a:rPr>
                        <m:t>𝑃</m:t>
                      </m:r>
                      <m:r>
                        <a:rPr lang="en-US" sz="4000" b="0" i="1" smtClean="0">
                          <a:solidFill>
                            <a:schemeClr val="bg1"/>
                          </a:solidFill>
                          <a:latin typeface="Cambria Math" panose="02040503050406030204" pitchFamily="18" charset="0"/>
                        </a:rPr>
                        <m:t>=</m:t>
                      </m:r>
                      <m:f>
                        <m:fPr>
                          <m:ctrlPr>
                            <a:rPr lang="en-US" sz="4000" b="0" i="1" smtClean="0">
                              <a:solidFill>
                                <a:schemeClr val="bg1"/>
                              </a:solidFill>
                              <a:latin typeface="Cambria Math" panose="02040503050406030204" pitchFamily="18" charset="0"/>
                            </a:rPr>
                          </m:ctrlPr>
                        </m:fPr>
                        <m:num>
                          <m:r>
                            <a:rPr lang="en-US" sz="4000" b="0" i="1" smtClean="0">
                              <a:solidFill>
                                <a:schemeClr val="bg1"/>
                              </a:solidFill>
                              <a:latin typeface="Cambria Math" panose="02040503050406030204" pitchFamily="18" charset="0"/>
                            </a:rPr>
                            <m:t>𝑊</m:t>
                          </m:r>
                        </m:num>
                        <m:den>
                          <m:r>
                            <m:rPr>
                              <m:sty m:val="p"/>
                            </m:rPr>
                            <a:rPr lang="en-US" sz="4000" b="0" i="1" smtClean="0">
                              <a:solidFill>
                                <a:schemeClr val="bg1"/>
                              </a:solidFill>
                              <a:latin typeface="Cambria Math" panose="02040503050406030204" pitchFamily="18" charset="0"/>
                            </a:rPr>
                            <m:t>Δ</m:t>
                          </m:r>
                          <m:r>
                            <a:rPr lang="en-US" sz="4000" b="0" i="1" smtClean="0">
                              <a:solidFill>
                                <a:schemeClr val="bg1"/>
                              </a:solidFill>
                              <a:latin typeface="Cambria Math" panose="02040503050406030204" pitchFamily="18" charset="0"/>
                            </a:rPr>
                            <m:t>𝑡</m:t>
                          </m:r>
                        </m:den>
                      </m:f>
                    </m:oMath>
                  </m:oMathPara>
                </a14:m>
                <a:endParaRPr lang="en-US" sz="4000" b="0" i="1" dirty="0">
                  <a:solidFill>
                    <a:schemeClr val="bg1"/>
                  </a:solidFill>
                  <a:latin typeface="Cambria Math" panose="02040503050406030204" pitchFamily="18" charset="0"/>
                </a:endParaRPr>
              </a:p>
            </p:txBody>
          </p:sp>
        </mc:Choice>
        <mc:Fallback>
          <p:sp>
            <p:nvSpPr>
              <p:cNvPr id="5" name="TextBox 4">
                <a:extLst>
                  <a:ext uri="{FF2B5EF4-FFF2-40B4-BE49-F238E27FC236}">
                    <a16:creationId xmlns:a16="http://schemas.microsoft.com/office/drawing/2014/main" id="{DB3840C0-832A-4497-A1A9-B865F4B51F9F}"/>
                  </a:ext>
                </a:extLst>
              </p:cNvPr>
              <p:cNvSpPr txBox="1">
                <a:spLocks noRot="1" noChangeAspect="1" noMove="1" noResize="1" noEditPoints="1" noAdjustHandles="1" noChangeArrowheads="1" noChangeShapeType="1" noTextEdit="1"/>
              </p:cNvSpPr>
              <p:nvPr/>
            </p:nvSpPr>
            <p:spPr>
              <a:xfrm>
                <a:off x="4470995" y="3200214"/>
                <a:ext cx="2445622" cy="1248868"/>
              </a:xfrm>
              <a:prstGeom prst="rect">
                <a:avLst/>
              </a:prstGeom>
              <a:blipFill>
                <a:blip r:embed="rId2"/>
                <a:stretch>
                  <a:fillRect b="-8911"/>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75EAE4F7-3394-1507-384E-3F8013BC6111}"/>
              </a:ext>
            </a:extLst>
          </p:cNvPr>
          <p:cNvSpPr txBox="1"/>
          <p:nvPr/>
        </p:nvSpPr>
        <p:spPr>
          <a:xfrm>
            <a:off x="7034649" y="2879144"/>
            <a:ext cx="2589996"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dirty="0"/>
              <a:t>Energy</a:t>
            </a:r>
            <a:r>
              <a:rPr lang="en-US" dirty="0"/>
              <a:t>: </a:t>
            </a:r>
          </a:p>
          <a:p>
            <a:r>
              <a:rPr lang="en-US" dirty="0"/>
              <a:t>1 Joule = 1 kg m</a:t>
            </a:r>
            <a:r>
              <a:rPr lang="en-US" baseline="30000" dirty="0"/>
              <a:t>2</a:t>
            </a:r>
            <a:r>
              <a:rPr lang="en-US" dirty="0"/>
              <a:t>/s</a:t>
            </a:r>
            <a:r>
              <a:rPr lang="en-US" baseline="30000" dirty="0"/>
              <a:t>2</a:t>
            </a:r>
          </a:p>
        </p:txBody>
      </p:sp>
      <p:sp>
        <p:nvSpPr>
          <p:cNvPr id="8" name="TextBox 7">
            <a:extLst>
              <a:ext uri="{FF2B5EF4-FFF2-40B4-BE49-F238E27FC236}">
                <a16:creationId xmlns:a16="http://schemas.microsoft.com/office/drawing/2014/main" id="{661C2BFD-4BD3-86F6-7ACB-56F8EFA5547E}"/>
              </a:ext>
            </a:extLst>
          </p:cNvPr>
          <p:cNvSpPr txBox="1"/>
          <p:nvPr/>
        </p:nvSpPr>
        <p:spPr>
          <a:xfrm>
            <a:off x="1137604" y="3428999"/>
            <a:ext cx="2589996"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dirty="0"/>
              <a:t>Power</a:t>
            </a:r>
            <a:r>
              <a:rPr lang="en-US" dirty="0"/>
              <a:t>: </a:t>
            </a:r>
          </a:p>
          <a:p>
            <a:r>
              <a:rPr lang="en-US" dirty="0"/>
              <a:t>1 Watt = 1 kg m</a:t>
            </a:r>
            <a:r>
              <a:rPr lang="en-US" baseline="30000" dirty="0"/>
              <a:t>2</a:t>
            </a:r>
            <a:r>
              <a:rPr lang="en-US" dirty="0"/>
              <a:t>/s</a:t>
            </a:r>
            <a:r>
              <a:rPr lang="en-US" baseline="30000" dirty="0"/>
              <a:t>3</a:t>
            </a:r>
          </a:p>
        </p:txBody>
      </p:sp>
      <p:cxnSp>
        <p:nvCxnSpPr>
          <p:cNvPr id="9" name="Straight Arrow Connector 8">
            <a:extLst>
              <a:ext uri="{FF2B5EF4-FFF2-40B4-BE49-F238E27FC236}">
                <a16:creationId xmlns:a16="http://schemas.microsoft.com/office/drawing/2014/main" id="{9E84E7AC-7569-D436-A593-5ABBF604FC1A}"/>
              </a:ext>
            </a:extLst>
          </p:cNvPr>
          <p:cNvCxnSpPr>
            <a:cxnSpLocks/>
          </p:cNvCxnSpPr>
          <p:nvPr/>
        </p:nvCxnSpPr>
        <p:spPr>
          <a:xfrm>
            <a:off x="3727600" y="3833400"/>
            <a:ext cx="996800" cy="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11" name="TextBox 10">
            <a:extLst>
              <a:ext uri="{FF2B5EF4-FFF2-40B4-BE49-F238E27FC236}">
                <a16:creationId xmlns:a16="http://schemas.microsoft.com/office/drawing/2014/main" id="{4AF6D058-1807-040C-5A34-B15172BEF195}"/>
              </a:ext>
            </a:extLst>
          </p:cNvPr>
          <p:cNvSpPr txBox="1"/>
          <p:nvPr/>
        </p:nvSpPr>
        <p:spPr>
          <a:xfrm>
            <a:off x="7897803" y="4362411"/>
            <a:ext cx="2030818" cy="36933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dirty="0"/>
              <a:t>time</a:t>
            </a:r>
            <a:r>
              <a:rPr lang="en-US" dirty="0"/>
              <a:t> (s)</a:t>
            </a:r>
            <a:endParaRPr lang="en-US" baseline="30000" dirty="0"/>
          </a:p>
        </p:txBody>
      </p:sp>
      <p:cxnSp>
        <p:nvCxnSpPr>
          <p:cNvPr id="12" name="Straight Arrow Connector 11">
            <a:extLst>
              <a:ext uri="{FF2B5EF4-FFF2-40B4-BE49-F238E27FC236}">
                <a16:creationId xmlns:a16="http://schemas.microsoft.com/office/drawing/2014/main" id="{D80C122F-E19E-92F4-F263-BEA4E512D472}"/>
              </a:ext>
            </a:extLst>
          </p:cNvPr>
          <p:cNvCxnSpPr>
            <a:cxnSpLocks/>
          </p:cNvCxnSpPr>
          <p:nvPr/>
        </p:nvCxnSpPr>
        <p:spPr>
          <a:xfrm flipH="1">
            <a:off x="6611815" y="3200214"/>
            <a:ext cx="433754" cy="27563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14" name="Straight Arrow Connector 13">
            <a:extLst>
              <a:ext uri="{FF2B5EF4-FFF2-40B4-BE49-F238E27FC236}">
                <a16:creationId xmlns:a16="http://schemas.microsoft.com/office/drawing/2014/main" id="{CEC597FE-5A69-189A-3C48-9A1777B51000}"/>
              </a:ext>
            </a:extLst>
          </p:cNvPr>
          <p:cNvCxnSpPr>
            <a:cxnSpLocks/>
          </p:cNvCxnSpPr>
          <p:nvPr/>
        </p:nvCxnSpPr>
        <p:spPr>
          <a:xfrm flipH="1" flipV="1">
            <a:off x="6611815" y="4196862"/>
            <a:ext cx="1304597" cy="350215"/>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16" name="TextBox 15">
            <a:extLst>
              <a:ext uri="{FF2B5EF4-FFF2-40B4-BE49-F238E27FC236}">
                <a16:creationId xmlns:a16="http://schemas.microsoft.com/office/drawing/2014/main" id="{D8A8787D-A39B-E806-1017-75FF4EBE9B93}"/>
              </a:ext>
            </a:extLst>
          </p:cNvPr>
          <p:cNvSpPr txBox="1"/>
          <p:nvPr/>
        </p:nvSpPr>
        <p:spPr>
          <a:xfrm>
            <a:off x="885726" y="5804035"/>
            <a:ext cx="6261799"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dirty="0"/>
              <a:t>Energy</a:t>
            </a:r>
            <a:r>
              <a:rPr lang="en-US" dirty="0"/>
              <a:t>: </a:t>
            </a:r>
          </a:p>
          <a:p>
            <a:r>
              <a:rPr lang="en-US" dirty="0"/>
              <a:t>1 kilowatt-hour = 1000 Watts  (J/s) * 3600 seconds = 3,600,000 Joules</a:t>
            </a:r>
            <a:endParaRPr lang="en-US" baseline="30000" dirty="0"/>
          </a:p>
        </p:txBody>
      </p:sp>
      <p:sp>
        <p:nvSpPr>
          <p:cNvPr id="17" name="TextBox 16">
            <a:extLst>
              <a:ext uri="{FF2B5EF4-FFF2-40B4-BE49-F238E27FC236}">
                <a16:creationId xmlns:a16="http://schemas.microsoft.com/office/drawing/2014/main" id="{13C4A334-CFAF-11C5-21C0-BBADA19F41F8}"/>
              </a:ext>
            </a:extLst>
          </p:cNvPr>
          <p:cNvSpPr txBox="1"/>
          <p:nvPr/>
        </p:nvSpPr>
        <p:spPr>
          <a:xfrm>
            <a:off x="5576441" y="1366466"/>
            <a:ext cx="4880344" cy="646331"/>
          </a:xfrm>
          <a:prstGeom prst="rect">
            <a:avLst/>
          </a:prstGeom>
          <a:solidFill>
            <a:schemeClr val="accent3">
              <a:lumMod val="60000"/>
              <a:lumOff val="40000"/>
            </a:schemeClr>
          </a:solidFill>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chemeClr val="tx1">
                    <a:lumMod val="50000"/>
                  </a:schemeClr>
                </a:solidFill>
              </a:rPr>
              <a:t>You ARE responsible to understand that power is the energy expended per unit time</a:t>
            </a:r>
          </a:p>
        </p:txBody>
      </p:sp>
      <p:pic>
        <p:nvPicPr>
          <p:cNvPr id="19" name="Picture 18">
            <a:extLst>
              <a:ext uri="{FF2B5EF4-FFF2-40B4-BE49-F238E27FC236}">
                <a16:creationId xmlns:a16="http://schemas.microsoft.com/office/drawing/2014/main" id="{46EFB8E8-43B0-83CE-7DA3-E1F28CA252E0}"/>
              </a:ext>
            </a:extLst>
          </p:cNvPr>
          <p:cNvPicPr>
            <a:picLocks noChangeAspect="1"/>
          </p:cNvPicPr>
          <p:nvPr/>
        </p:nvPicPr>
        <p:blipFill>
          <a:blip r:embed="rId3"/>
          <a:stretch>
            <a:fillRect/>
          </a:stretch>
        </p:blipFill>
        <p:spPr>
          <a:xfrm>
            <a:off x="9297953" y="3908486"/>
            <a:ext cx="2808086" cy="2889776"/>
          </a:xfrm>
          <a:prstGeom prst="rect">
            <a:avLst/>
          </a:prstGeom>
        </p:spPr>
      </p:pic>
      <p:sp>
        <p:nvSpPr>
          <p:cNvPr id="21" name="TextBox 20">
            <a:extLst>
              <a:ext uri="{FF2B5EF4-FFF2-40B4-BE49-F238E27FC236}">
                <a16:creationId xmlns:a16="http://schemas.microsoft.com/office/drawing/2014/main" id="{87AC075E-28D4-6730-44BE-4E9299F394D8}"/>
              </a:ext>
            </a:extLst>
          </p:cNvPr>
          <p:cNvSpPr txBox="1"/>
          <p:nvPr/>
        </p:nvSpPr>
        <p:spPr>
          <a:xfrm>
            <a:off x="10168710" y="3200214"/>
            <a:ext cx="1771371" cy="646331"/>
          </a:xfrm>
          <a:prstGeom prst="rect">
            <a:avLst/>
          </a:prstGeom>
          <a:noFill/>
        </p:spPr>
        <p:txBody>
          <a:bodyPr wrap="square" rtlCol="0">
            <a:spAutoFit/>
          </a:bodyPr>
          <a:lstStyle/>
          <a:p>
            <a:r>
              <a:rPr lang="en-US" dirty="0"/>
              <a:t>My electric bill history</a:t>
            </a:r>
          </a:p>
        </p:txBody>
      </p:sp>
    </p:spTree>
    <p:extLst>
      <p:ext uri="{BB962C8B-B14F-4D97-AF65-F5344CB8AC3E}">
        <p14:creationId xmlns:p14="http://schemas.microsoft.com/office/powerpoint/2010/main" val="33281660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334DD-BBC0-659D-E3BE-EDF812FAFD36}"/>
              </a:ext>
            </a:extLst>
          </p:cNvPr>
          <p:cNvSpPr>
            <a:spLocks noGrp="1"/>
          </p:cNvSpPr>
          <p:nvPr>
            <p:ph type="title"/>
          </p:nvPr>
        </p:nvSpPr>
        <p:spPr/>
        <p:txBody>
          <a:bodyPr/>
          <a:lstStyle/>
          <a:p>
            <a:r>
              <a:rPr lang="en-US" dirty="0"/>
              <a:t>Power</a:t>
            </a:r>
          </a:p>
        </p:txBody>
      </p:sp>
      <p:sp>
        <p:nvSpPr>
          <p:cNvPr id="3" name="Content Placeholder 2">
            <a:extLst>
              <a:ext uri="{FF2B5EF4-FFF2-40B4-BE49-F238E27FC236}">
                <a16:creationId xmlns:a16="http://schemas.microsoft.com/office/drawing/2014/main" id="{B36A6EE2-36F2-E874-DD62-B352FC903B8F}"/>
              </a:ext>
            </a:extLst>
          </p:cNvPr>
          <p:cNvSpPr>
            <a:spLocks noGrp="1"/>
          </p:cNvSpPr>
          <p:nvPr>
            <p:ph idx="1"/>
          </p:nvPr>
        </p:nvSpPr>
        <p:spPr/>
        <p:txBody>
          <a:bodyPr/>
          <a:lstStyle/>
          <a:p>
            <a:r>
              <a:rPr lang="en-US" dirty="0"/>
              <a:t>If the force being used to generate the work is constant, we remember</a:t>
            </a:r>
          </a:p>
        </p:txBody>
      </p:sp>
      <p:sp>
        <p:nvSpPr>
          <p:cNvPr id="4" name="Slide Number Placeholder 3">
            <a:extLst>
              <a:ext uri="{FF2B5EF4-FFF2-40B4-BE49-F238E27FC236}">
                <a16:creationId xmlns:a16="http://schemas.microsoft.com/office/drawing/2014/main" id="{0B4CBAE1-7B48-6359-7BEE-0BED13AF25BA}"/>
              </a:ext>
            </a:extLst>
          </p:cNvPr>
          <p:cNvSpPr>
            <a:spLocks noGrp="1"/>
          </p:cNvSpPr>
          <p:nvPr>
            <p:ph type="sldNum" sz="quarter" idx="12"/>
          </p:nvPr>
        </p:nvSpPr>
        <p:spPr/>
        <p:txBody>
          <a:bodyPr/>
          <a:lstStyle/>
          <a:p>
            <a:fld id="{C5EF2332-01BF-834F-8236-50238282D533}" type="slidenum">
              <a:rPr lang="en-US" smtClean="0"/>
              <a:t>13</a:t>
            </a:fld>
            <a:endParaRPr lang="en-US"/>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652C7FA8-30AE-AC0F-ABE4-BFFA29E7CA9A}"/>
                  </a:ext>
                </a:extLst>
              </p:cNvPr>
              <p:cNvSpPr txBox="1"/>
              <p:nvPr/>
            </p:nvSpPr>
            <p:spPr>
              <a:xfrm>
                <a:off x="1165088" y="3141599"/>
                <a:ext cx="10182850" cy="1261436"/>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14:m>
                  <m:oMathPara xmlns:m="http://schemas.openxmlformats.org/officeDocument/2006/math">
                    <m:oMath>
                      <m:r>
                        <a:rPr lang="en-US" sz="4000" b="0" i="1" smtClean="0">
                          <a:solidFill>
                            <a:schemeClr val="bg1"/>
                          </a:solidFill>
                          <a:latin typeface="Cambria Math" panose="02040503050406030204" pitchFamily="18" charset="0"/>
                        </a:rPr>
                        <m:t>𝑃</m:t>
                      </m:r>
                      <m:r>
                        <a:rPr lang="en-US" sz="4000" b="0" i="1" smtClean="0">
                          <a:solidFill>
                            <a:schemeClr val="bg1"/>
                          </a:solidFill>
                          <a:latin typeface="Cambria Math" panose="02040503050406030204" pitchFamily="18" charset="0"/>
                        </a:rPr>
                        <m:t>=</m:t>
                      </m:r>
                      <m:f>
                        <m:fPr>
                          <m:ctrlPr>
                            <a:rPr lang="en-US" sz="4000" b="0" i="1" smtClean="0">
                              <a:solidFill>
                                <a:schemeClr val="bg1"/>
                              </a:solidFill>
                              <a:latin typeface="Cambria Math" panose="02040503050406030204" pitchFamily="18" charset="0"/>
                            </a:rPr>
                          </m:ctrlPr>
                        </m:fPr>
                        <m:num>
                          <m:r>
                            <a:rPr lang="en-US" sz="4000" b="0" i="1" smtClean="0">
                              <a:solidFill>
                                <a:schemeClr val="bg1"/>
                              </a:solidFill>
                              <a:latin typeface="Cambria Math" panose="02040503050406030204" pitchFamily="18" charset="0"/>
                            </a:rPr>
                            <m:t>𝑊</m:t>
                          </m:r>
                        </m:num>
                        <m:den>
                          <m:r>
                            <m:rPr>
                              <m:sty m:val="p"/>
                            </m:rPr>
                            <a:rPr lang="en-US" sz="4000" b="0" i="1" smtClean="0">
                              <a:solidFill>
                                <a:schemeClr val="bg1"/>
                              </a:solidFill>
                              <a:latin typeface="Cambria Math" panose="02040503050406030204" pitchFamily="18" charset="0"/>
                            </a:rPr>
                            <m:t>Δ</m:t>
                          </m:r>
                          <m:r>
                            <a:rPr lang="en-US" sz="4000" b="0" i="1" smtClean="0">
                              <a:solidFill>
                                <a:schemeClr val="bg1"/>
                              </a:solidFill>
                              <a:latin typeface="Cambria Math" panose="02040503050406030204" pitchFamily="18" charset="0"/>
                            </a:rPr>
                            <m:t>𝑡</m:t>
                          </m:r>
                        </m:den>
                      </m:f>
                      <m:r>
                        <a:rPr lang="en-US" sz="4000" b="0" i="1" smtClean="0">
                          <a:solidFill>
                            <a:schemeClr val="bg1"/>
                          </a:solidFill>
                          <a:latin typeface="Cambria Math" panose="02040503050406030204" pitchFamily="18" charset="0"/>
                        </a:rPr>
                        <m:t>=</m:t>
                      </m:r>
                      <m:f>
                        <m:fPr>
                          <m:ctrlPr>
                            <a:rPr lang="en-US" sz="4000" b="0" i="1" smtClean="0">
                              <a:solidFill>
                                <a:schemeClr val="bg1"/>
                              </a:solidFill>
                              <a:latin typeface="Cambria Math" panose="02040503050406030204" pitchFamily="18" charset="0"/>
                            </a:rPr>
                          </m:ctrlPr>
                        </m:fPr>
                        <m:num>
                          <m:r>
                            <a:rPr lang="en-US" sz="4000" b="0" i="1" smtClean="0">
                              <a:solidFill>
                                <a:schemeClr val="bg1"/>
                              </a:solidFill>
                              <a:latin typeface="Cambria Math" panose="02040503050406030204" pitchFamily="18" charset="0"/>
                            </a:rPr>
                            <m:t>𝐹</m:t>
                          </m:r>
                          <m:r>
                            <a:rPr lang="en-US" sz="4000" b="0" i="1" smtClean="0">
                              <a:solidFill>
                                <a:schemeClr val="bg1"/>
                              </a:solidFill>
                              <a:latin typeface="Cambria Math" panose="02040503050406030204" pitchFamily="18" charset="0"/>
                            </a:rPr>
                            <m:t>⋅</m:t>
                          </m:r>
                          <m:r>
                            <m:rPr>
                              <m:sty m:val="p"/>
                            </m:rPr>
                            <a:rPr lang="en-US" sz="4000" i="1">
                              <a:solidFill>
                                <a:schemeClr val="bg1"/>
                              </a:solidFill>
                              <a:latin typeface="Cambria Math" panose="02040503050406030204" pitchFamily="18" charset="0"/>
                            </a:rPr>
                            <m:t>Δ</m:t>
                          </m:r>
                          <m:r>
                            <a:rPr lang="en-US" sz="4000" b="0" i="1" smtClean="0">
                              <a:solidFill>
                                <a:schemeClr val="bg1"/>
                              </a:solidFill>
                              <a:latin typeface="Cambria Math" panose="02040503050406030204" pitchFamily="18" charset="0"/>
                            </a:rPr>
                            <m:t>𝑑</m:t>
                          </m:r>
                        </m:num>
                        <m:den>
                          <m:r>
                            <m:rPr>
                              <m:sty m:val="p"/>
                            </m:rPr>
                            <a:rPr lang="en-US" sz="4000" b="0" i="1" smtClean="0">
                              <a:solidFill>
                                <a:schemeClr val="bg1"/>
                              </a:solidFill>
                              <a:latin typeface="Cambria Math" panose="02040503050406030204" pitchFamily="18" charset="0"/>
                            </a:rPr>
                            <m:t>Δ</m:t>
                          </m:r>
                          <m:r>
                            <a:rPr lang="en-US" sz="4000" b="0" i="1" smtClean="0">
                              <a:solidFill>
                                <a:schemeClr val="bg1"/>
                              </a:solidFill>
                              <a:latin typeface="Cambria Math" panose="02040503050406030204" pitchFamily="18" charset="0"/>
                            </a:rPr>
                            <m:t>𝑡</m:t>
                          </m:r>
                        </m:den>
                      </m:f>
                      <m:r>
                        <a:rPr lang="en-US" sz="4000" b="0" i="1" smtClean="0">
                          <a:solidFill>
                            <a:schemeClr val="bg1"/>
                          </a:solidFill>
                          <a:latin typeface="Cambria Math" panose="02040503050406030204" pitchFamily="18" charset="0"/>
                        </a:rPr>
                        <m:t>=</m:t>
                      </m:r>
                      <m:r>
                        <a:rPr lang="en-US" sz="4000" b="0" i="1" smtClean="0">
                          <a:solidFill>
                            <a:schemeClr val="bg1"/>
                          </a:solidFill>
                          <a:latin typeface="Cambria Math" panose="02040503050406030204" pitchFamily="18" charset="0"/>
                        </a:rPr>
                        <m:t>𝐹</m:t>
                      </m:r>
                      <m:r>
                        <a:rPr lang="en-US" sz="4000" b="0" i="1" smtClean="0">
                          <a:solidFill>
                            <a:schemeClr val="bg1"/>
                          </a:solidFill>
                          <a:latin typeface="Cambria Math" panose="02040503050406030204" pitchFamily="18" charset="0"/>
                        </a:rPr>
                        <m:t>⋅</m:t>
                      </m:r>
                      <m:r>
                        <a:rPr lang="en-US" sz="4000" b="0" i="1" smtClean="0">
                          <a:solidFill>
                            <a:schemeClr val="bg1"/>
                          </a:solidFill>
                          <a:latin typeface="Cambria Math" panose="02040503050406030204" pitchFamily="18" charset="0"/>
                        </a:rPr>
                        <m:t>𝑣</m:t>
                      </m:r>
                    </m:oMath>
                  </m:oMathPara>
                </a14:m>
                <a:br>
                  <a:rPr lang="en-US" sz="4000" b="0" i="1" dirty="0">
                    <a:solidFill>
                      <a:schemeClr val="bg1"/>
                    </a:solidFill>
                    <a:latin typeface="Cambria Math" panose="02040503050406030204" pitchFamily="18" charset="0"/>
                  </a:rPr>
                </a:br>
                <a:endParaRPr lang="en-US" sz="4000" b="0" i="1" dirty="0">
                  <a:solidFill>
                    <a:schemeClr val="bg1"/>
                  </a:solidFill>
                  <a:latin typeface="Cambria Math" panose="02040503050406030204" pitchFamily="18" charset="0"/>
                </a:endParaRPr>
              </a:p>
            </p:txBody>
          </p:sp>
        </mc:Choice>
        <mc:Fallback>
          <p:sp>
            <p:nvSpPr>
              <p:cNvPr id="5" name="TextBox 4">
                <a:extLst>
                  <a:ext uri="{FF2B5EF4-FFF2-40B4-BE49-F238E27FC236}">
                    <a16:creationId xmlns:a16="http://schemas.microsoft.com/office/drawing/2014/main" id="{652C7FA8-30AE-AC0F-ABE4-BFFA29E7CA9A}"/>
                  </a:ext>
                </a:extLst>
              </p:cNvPr>
              <p:cNvSpPr txBox="1">
                <a:spLocks noRot="1" noChangeAspect="1" noMove="1" noResize="1" noEditPoints="1" noAdjustHandles="1" noChangeArrowheads="1" noChangeShapeType="1" noTextEdit="1"/>
              </p:cNvSpPr>
              <p:nvPr/>
            </p:nvSpPr>
            <p:spPr>
              <a:xfrm>
                <a:off x="1165088" y="3141599"/>
                <a:ext cx="10182850" cy="1261436"/>
              </a:xfrm>
              <a:prstGeom prst="rect">
                <a:avLst/>
              </a:prstGeom>
              <a:blipFill>
                <a:blip r:embed="rId2"/>
                <a:stretch>
                  <a:fillRect b="-9804"/>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E6DEB6BF-9DDA-E956-1C18-12B7375EE346}"/>
              </a:ext>
            </a:extLst>
          </p:cNvPr>
          <p:cNvSpPr txBox="1"/>
          <p:nvPr/>
        </p:nvSpPr>
        <p:spPr>
          <a:xfrm>
            <a:off x="3162937" y="5577514"/>
            <a:ext cx="4880344"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US" dirty="0"/>
              <a:t>Not responsible for this, just for enrichment</a:t>
            </a:r>
          </a:p>
        </p:txBody>
      </p:sp>
    </p:spTree>
    <p:extLst>
      <p:ext uri="{BB962C8B-B14F-4D97-AF65-F5344CB8AC3E}">
        <p14:creationId xmlns:p14="http://schemas.microsoft.com/office/powerpoint/2010/main" val="16236987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020C3-88AE-9432-69D9-8F15CB0B56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7A022F-25AE-5F2C-6795-025B3B8075B1}"/>
              </a:ext>
            </a:extLst>
          </p:cNvPr>
          <p:cNvSpPr>
            <a:spLocks noGrp="1"/>
          </p:cNvSpPr>
          <p:nvPr>
            <p:ph type="title"/>
          </p:nvPr>
        </p:nvSpPr>
        <p:spPr>
          <a:xfrm>
            <a:off x="722313" y="3305176"/>
            <a:ext cx="7772400" cy="1021556"/>
          </a:xfrm>
        </p:spPr>
        <p:txBody>
          <a:bodyPr/>
          <a:lstStyle/>
          <a:p>
            <a:pPr marL="0" lvl="0" indent="0">
              <a:buNone/>
            </a:pPr>
            <a:r>
              <a:rPr dirty="0"/>
              <a:t>Electricity</a:t>
            </a:r>
          </a:p>
        </p:txBody>
      </p:sp>
      <p:sp>
        <p:nvSpPr>
          <p:cNvPr id="6" name="Slide Number Placeholder 5">
            <a:extLst>
              <a:ext uri="{FF2B5EF4-FFF2-40B4-BE49-F238E27FC236}">
                <a16:creationId xmlns:a16="http://schemas.microsoft.com/office/drawing/2014/main" id="{83E225AA-0172-82E2-74F1-B57B12BDBDB0}"/>
              </a:ext>
            </a:extLst>
          </p:cNvPr>
          <p:cNvSpPr>
            <a:spLocks noGrp="1"/>
          </p:cNvSpPr>
          <p:nvPr>
            <p:ph type="sldNum" sz="quarter" idx="12"/>
          </p:nvPr>
        </p:nvSpPr>
        <p:spPr/>
        <p:txBody>
          <a:bodyPr/>
          <a:lstStyle/>
          <a:p>
            <a:fld id="{C5EF2332-01BF-834F-8236-50238282D533}" type="slidenum">
              <a:rPr lang="en-US" smtClean="0"/>
              <a:t>14</a:t>
            </a:fld>
            <a:endParaRPr lang="en-US"/>
          </a:p>
        </p:txBody>
      </p:sp>
    </p:spTree>
    <p:extLst>
      <p:ext uri="{BB962C8B-B14F-4D97-AF65-F5344CB8AC3E}">
        <p14:creationId xmlns:p14="http://schemas.microsoft.com/office/powerpoint/2010/main" val="40193761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564" y="1105786"/>
            <a:ext cx="10515600" cy="868680"/>
          </a:xfrm>
        </p:spPr>
        <p:txBody>
          <a:bodyPr/>
          <a:lstStyle/>
          <a:p>
            <a:pPr marL="0" lvl="0" indent="0">
              <a:buNone/>
            </a:pPr>
            <a:r>
              <a:rPr lang="en-US" dirty="0"/>
              <a:t>Electricity</a:t>
            </a:r>
            <a:endParaRPr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91564" y="1839051"/>
                <a:ext cx="6602015" cy="4197857"/>
              </a:xfrm>
            </p:spPr>
            <p:txBody>
              <a:bodyPr/>
              <a:lstStyle/>
              <a:p>
                <a:pPr lvl="0"/>
                <a:r>
                  <a:rPr sz="1800" b="1" dirty="0"/>
                  <a:t>Charge</a:t>
                </a:r>
                <a:r>
                  <a:rPr sz="1800" dirty="0"/>
                  <a:t> is a </a:t>
                </a:r>
                <a:r>
                  <a:rPr lang="en-US" sz="1800" dirty="0"/>
                  <a:t>fundamental </a:t>
                </a:r>
                <a:r>
                  <a:rPr sz="1800" dirty="0"/>
                  <a:t>property of matter</a:t>
                </a:r>
                <a:endParaRPr lang="en-US" sz="1800" dirty="0"/>
              </a:p>
              <a:p>
                <a:pPr lvl="1"/>
                <a:r>
                  <a:rPr lang="en-US" sz="1800" dirty="0"/>
                  <a:t>Based on charge of electrons and protons (one charge = e)</a:t>
                </a:r>
              </a:p>
              <a:p>
                <a:pPr lvl="2"/>
                <a:r>
                  <a:rPr lang="en-US" sz="1600" dirty="0"/>
                  <a:t>Electrons: </a:t>
                </a:r>
                <a14:m>
                  <m:oMath xmlns:m="http://schemas.openxmlformats.org/officeDocument/2006/math">
                    <m:r>
                      <a:rPr lang="en-US" sz="1600" b="0" i="1" smtClean="0">
                        <a:latin typeface="Cambria Math" panose="02040503050406030204" pitchFamily="18" charset="0"/>
                      </a:rPr>
                      <m:t>−1</m:t>
                    </m:r>
                    <m:r>
                      <a:rPr lang="en-US" sz="1600" b="0" i="1" smtClean="0">
                        <a:latin typeface="Cambria Math" panose="02040503050406030204" pitchFamily="18" charset="0"/>
                      </a:rPr>
                      <m:t>𝑒</m:t>
                    </m:r>
                  </m:oMath>
                </a14:m>
                <a:endParaRPr lang="en-US" sz="1600" dirty="0"/>
              </a:p>
              <a:p>
                <a:pPr lvl="2"/>
                <a:r>
                  <a:rPr lang="en-US" sz="1600" dirty="0"/>
                  <a:t>Quarks: </a:t>
                </a:r>
                <a14:m>
                  <m:oMath xmlns:m="http://schemas.openxmlformats.org/officeDocument/2006/math">
                    <m:f>
                      <m:fPr>
                        <m:ctrlPr>
                          <a:rPr lang="en-US" sz="1600" b="0" i="0" smtClean="0">
                            <a:latin typeface="Cambria Math" panose="02040503050406030204" pitchFamily="18" charset="0"/>
                          </a:rPr>
                        </m:ctrlPr>
                      </m:fPr>
                      <m:num>
                        <m:r>
                          <a:rPr lang="en-US" sz="1600" b="0" i="0" smtClean="0">
                            <a:latin typeface="Cambria Math" panose="02040503050406030204" pitchFamily="18" charset="0"/>
                          </a:rPr>
                          <m:t>2</m:t>
                        </m:r>
                      </m:num>
                      <m:den>
                        <m:r>
                          <a:rPr lang="en-US" sz="1600" b="0" i="0" smtClean="0">
                            <a:latin typeface="Cambria Math" panose="02040503050406030204" pitchFamily="18" charset="0"/>
                          </a:rPr>
                          <m:t>3</m:t>
                        </m:r>
                      </m:den>
                    </m:f>
                    <m:r>
                      <a:rPr lang="en-US" sz="1600" b="0" i="0" smtClean="0">
                        <a:latin typeface="Cambria Math" panose="02040503050406030204" pitchFamily="18" charset="0"/>
                      </a:rPr>
                      <m:t>𝑒</m:t>
                    </m:r>
                  </m:oMath>
                </a14:m>
                <a:r>
                  <a:rPr lang="en-US" sz="1600" b="0" dirty="0"/>
                  <a:t>, </a:t>
                </a:r>
                <a14:m>
                  <m:oMath xmlns:m="http://schemas.openxmlformats.org/officeDocument/2006/math">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3</m:t>
                        </m:r>
                      </m:den>
                    </m:f>
                    <m:r>
                      <a:rPr lang="en-US" sz="1600" b="0" i="1" smtClean="0">
                        <a:latin typeface="Cambria Math" panose="02040503050406030204" pitchFamily="18" charset="0"/>
                      </a:rPr>
                      <m:t>𝑒</m:t>
                    </m:r>
                  </m:oMath>
                </a14:m>
                <a:endParaRPr lang="en-US" sz="1600" b="0" dirty="0"/>
              </a:p>
              <a:p>
                <a:pPr lvl="2"/>
                <a:r>
                  <a:rPr lang="en-US" sz="1600" dirty="0"/>
                  <a:t>Protons are two up quarks and one down quark, EXACTLY </a:t>
                </a:r>
                <a14:m>
                  <m:oMath xmlns:m="http://schemas.openxmlformats.org/officeDocument/2006/math">
                    <m:r>
                      <a:rPr lang="en-US" sz="1600" b="0" i="1" smtClean="0">
                        <a:latin typeface="Cambria Math" panose="02040503050406030204" pitchFamily="18" charset="0"/>
                      </a:rPr>
                      <m:t>+1</m:t>
                    </m:r>
                    <m:r>
                      <a:rPr lang="en-US" sz="1600" b="0" i="1" smtClean="0">
                        <a:latin typeface="Cambria Math" panose="02040503050406030204" pitchFamily="18" charset="0"/>
                      </a:rPr>
                      <m:t>𝑒</m:t>
                    </m:r>
                  </m:oMath>
                </a14:m>
                <a:endParaRPr lang="en-US" sz="1600" b="0" dirty="0"/>
              </a:p>
              <a:p>
                <a:pPr lvl="3"/>
                <a:r>
                  <a:rPr lang="en-US" sz="1600" dirty="0"/>
                  <a:t>No idea exactly why</a:t>
                </a:r>
              </a:p>
              <a:p>
                <a:pPr lvl="1"/>
                <a:r>
                  <a:rPr lang="en-US" sz="1800" dirty="0"/>
                  <a:t>Electricity was discovered before the electron, so we use a unit called a </a:t>
                </a:r>
                <a:r>
                  <a:rPr lang="en-US" sz="1800" b="1" dirty="0"/>
                  <a:t>COULOMB</a:t>
                </a:r>
                <a:r>
                  <a:rPr lang="en-US" sz="1800" dirty="0"/>
                  <a:t> for charge: </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391564" y="1839051"/>
                <a:ext cx="6602015" cy="4197857"/>
              </a:xfrm>
              <a:blipFill>
                <a:blip r:embed="rId3"/>
                <a:stretch>
                  <a:fillRect l="-576" t="-301" r="-1536"/>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C5EF2332-01BF-834F-8236-50238282D533}" type="slidenum">
              <a:rPr lang="en-US" smtClean="0"/>
              <a:t>15</a:t>
            </a:fld>
            <a:endParaRPr lang="en-US"/>
          </a:p>
        </p:txBody>
      </p:sp>
      <p:pic>
        <p:nvPicPr>
          <p:cNvPr id="4" name="Picture 3" descr="Cartoon of “Structure within the atom”. Quark : size &lt; 10^-19 m, Electron : size &lt; 10^-18 m, Nucleus : size = 10^-14 m, neutron and proton: size 10^-15 m, atom: size = 10^-10 m. Two electrons orbit two protons (two up quarks, one down quark), and two neutrons (one up quark, two down quarks). ">
            <a:extLst>
              <a:ext uri="{FF2B5EF4-FFF2-40B4-BE49-F238E27FC236}">
                <a16:creationId xmlns:a16="http://schemas.microsoft.com/office/drawing/2014/main" id="{4AFA1958-9F05-460F-C282-11B85664FE89}"/>
              </a:ext>
            </a:extLst>
          </p:cNvPr>
          <p:cNvPicPr>
            <a:picLocks noChangeAspect="1"/>
          </p:cNvPicPr>
          <p:nvPr/>
        </p:nvPicPr>
        <p:blipFill>
          <a:blip r:embed="rId4"/>
          <a:stretch>
            <a:fillRect/>
          </a:stretch>
        </p:blipFill>
        <p:spPr>
          <a:xfrm>
            <a:off x="7655830" y="1105786"/>
            <a:ext cx="3473847" cy="3955554"/>
          </a:xfrm>
          <a:prstGeom prst="rect">
            <a:avLst/>
          </a:prstGeom>
        </p:spPr>
      </p:pic>
      <p:sp>
        <p:nvSpPr>
          <p:cNvPr id="8" name="TextBox 7">
            <a:extLst>
              <a:ext uri="{FF2B5EF4-FFF2-40B4-BE49-F238E27FC236}">
                <a16:creationId xmlns:a16="http://schemas.microsoft.com/office/drawing/2014/main" id="{EF414E2B-70E6-936F-D4B0-30652BCC21BD}"/>
              </a:ext>
            </a:extLst>
          </p:cNvPr>
          <p:cNvSpPr txBox="1"/>
          <p:nvPr/>
        </p:nvSpPr>
        <p:spPr>
          <a:xfrm>
            <a:off x="3890902" y="6119446"/>
            <a:ext cx="4877960" cy="461665"/>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US" sz="2400" dirty="0">
                <a:solidFill>
                  <a:schemeClr val="bg1"/>
                </a:solidFill>
              </a:rPr>
              <a:t>1 Coulomb (C) = 6.24 x 10</a:t>
            </a:r>
            <a:r>
              <a:rPr lang="en-US" sz="2400" baseline="30000" dirty="0">
                <a:solidFill>
                  <a:schemeClr val="bg1"/>
                </a:solidFill>
              </a:rPr>
              <a:t>18</a:t>
            </a:r>
            <a:r>
              <a:rPr lang="en-US" sz="2400" dirty="0">
                <a:solidFill>
                  <a:schemeClr val="bg1"/>
                </a:solidFill>
              </a:rPr>
              <a:t> e</a:t>
            </a:r>
          </a:p>
        </p:txBody>
      </p:sp>
      <p:sp>
        <p:nvSpPr>
          <p:cNvPr id="9" name="TextBox 8">
            <a:extLst>
              <a:ext uri="{FF2B5EF4-FFF2-40B4-BE49-F238E27FC236}">
                <a16:creationId xmlns:a16="http://schemas.microsoft.com/office/drawing/2014/main" id="{F64F33A6-1C95-47C8-3A9D-B77BCC738902}"/>
              </a:ext>
            </a:extLst>
          </p:cNvPr>
          <p:cNvSpPr txBox="1"/>
          <p:nvPr/>
        </p:nvSpPr>
        <p:spPr>
          <a:xfrm>
            <a:off x="6760395" y="5493540"/>
            <a:ext cx="4880344"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US" dirty="0"/>
              <a:t>Not responsible for this, just for enrichment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3B9D5-ECC3-CECF-8E37-78C406E5A595}"/>
              </a:ext>
            </a:extLst>
          </p:cNvPr>
          <p:cNvSpPr>
            <a:spLocks noGrp="1"/>
          </p:cNvSpPr>
          <p:nvPr>
            <p:ph type="title"/>
          </p:nvPr>
        </p:nvSpPr>
        <p:spPr/>
        <p:txBody>
          <a:bodyPr/>
          <a:lstStyle/>
          <a:p>
            <a:r>
              <a:rPr lang="en-US" dirty="0"/>
              <a:t>Electricity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A1980DB-A1D8-59BD-066F-37D41F745B20}"/>
                  </a:ext>
                </a:extLst>
              </p:cNvPr>
              <p:cNvSpPr>
                <a:spLocks noGrp="1"/>
              </p:cNvSpPr>
              <p:nvPr>
                <p:ph idx="1"/>
              </p:nvPr>
            </p:nvSpPr>
            <p:spPr/>
            <p:txBody>
              <a:bodyPr/>
              <a:lstStyle/>
              <a:p>
                <a:r>
                  <a:rPr lang="en-US" dirty="0"/>
                  <a:t>Electricity exerts a FORCE on charged things with magnitude:</a:t>
                </a:r>
              </a:p>
              <a:p>
                <a:endParaRPr lang="en-US" dirty="0"/>
              </a:p>
              <a:p>
                <a:endParaRPr lang="en-US" dirty="0"/>
              </a:p>
              <a:p>
                <a:pPr marL="0" indent="0">
                  <a:buNone/>
                </a:pPr>
                <a:endParaRPr lang="en-US" dirty="0"/>
              </a:p>
              <a:p>
                <a:r>
                  <a:rPr lang="en-US" dirty="0"/>
                  <a:t>The constant </a:t>
                </a:r>
                <a14:m>
                  <m:oMath xmlns:m="http://schemas.openxmlformats.org/officeDocument/2006/math">
                    <m:r>
                      <a:rPr lang="en-US" i="1" dirty="0" smtClean="0">
                        <a:latin typeface="Cambria Math" panose="02040503050406030204" pitchFamily="18" charset="0"/>
                      </a:rPr>
                      <m:t>𝑘</m:t>
                    </m:r>
                  </m:oMath>
                </a14:m>
                <a:r>
                  <a:rPr lang="en-US" dirty="0"/>
                  <a:t> depends on the units you use.</a:t>
                </a:r>
              </a:p>
              <a:p>
                <a:r>
                  <a:rPr lang="en-US" dirty="0"/>
                  <a:t>For SI units:</a:t>
                </a:r>
              </a:p>
            </p:txBody>
          </p:sp>
        </mc:Choice>
        <mc:Fallback>
          <p:sp>
            <p:nvSpPr>
              <p:cNvPr id="3" name="Content Placeholder 2">
                <a:extLst>
                  <a:ext uri="{FF2B5EF4-FFF2-40B4-BE49-F238E27FC236}">
                    <a16:creationId xmlns:a16="http://schemas.microsoft.com/office/drawing/2014/main" id="{5A1980DB-A1D8-59BD-066F-37D41F745B20}"/>
                  </a:ext>
                </a:extLst>
              </p:cNvPr>
              <p:cNvSpPr>
                <a:spLocks noGrp="1" noRot="1" noChangeAspect="1" noMove="1" noResize="1" noEditPoints="1" noAdjustHandles="1" noChangeArrowheads="1" noChangeShapeType="1" noTextEdit="1"/>
              </p:cNvSpPr>
              <p:nvPr>
                <p:ph idx="1"/>
              </p:nvPr>
            </p:nvSpPr>
            <p:spPr>
              <a:blipFill>
                <a:blip r:embed="rId2"/>
                <a:stretch>
                  <a:fillRect l="-60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2A1FE84B-7C37-17FF-D243-9FC5CDC94D03}"/>
              </a:ext>
            </a:extLst>
          </p:cNvPr>
          <p:cNvSpPr>
            <a:spLocks noGrp="1"/>
          </p:cNvSpPr>
          <p:nvPr>
            <p:ph type="sldNum" sz="quarter" idx="12"/>
          </p:nvPr>
        </p:nvSpPr>
        <p:spPr/>
        <p:txBody>
          <a:bodyPr/>
          <a:lstStyle/>
          <a:p>
            <a:fld id="{C5EF2332-01BF-834F-8236-50238282D533}" type="slidenum">
              <a:rPr lang="en-US" smtClean="0"/>
              <a:t>16</a:t>
            </a:fld>
            <a:endParaRPr lang="en-US"/>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7658CC7-A6C9-0C48-FDDB-57CF79340505}"/>
                  </a:ext>
                </a:extLst>
              </p:cNvPr>
              <p:cNvSpPr txBox="1"/>
              <p:nvPr/>
            </p:nvSpPr>
            <p:spPr>
              <a:xfrm>
                <a:off x="3332097" y="2997222"/>
                <a:ext cx="4323072" cy="1257075"/>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14:m>
                  <m:oMathPara xmlns:m="http://schemas.openxmlformats.org/officeDocument/2006/math">
                    <m:oMath>
                      <m:r>
                        <a:rPr lang="en-US" sz="4000" b="0" i="1" smtClean="0">
                          <a:solidFill>
                            <a:schemeClr val="bg1"/>
                          </a:solidFill>
                          <a:latin typeface="Cambria Math" panose="02040503050406030204" pitchFamily="18" charset="0"/>
                        </a:rPr>
                        <m:t>𝐹</m:t>
                      </m:r>
                      <m:r>
                        <a:rPr lang="en-US" sz="4000" b="0" i="1" smtClean="0">
                          <a:solidFill>
                            <a:schemeClr val="bg1"/>
                          </a:solidFill>
                          <a:latin typeface="Cambria Math" panose="02040503050406030204" pitchFamily="18" charset="0"/>
                        </a:rPr>
                        <m:t>=</m:t>
                      </m:r>
                      <m:f>
                        <m:fPr>
                          <m:ctrlPr>
                            <a:rPr lang="en-US" sz="4000" b="0" i="1" smtClean="0">
                              <a:solidFill>
                                <a:schemeClr val="bg1"/>
                              </a:solidFill>
                              <a:latin typeface="Cambria Math" panose="02040503050406030204" pitchFamily="18" charset="0"/>
                            </a:rPr>
                          </m:ctrlPr>
                        </m:fPr>
                        <m:num>
                          <m:r>
                            <a:rPr lang="en-US" sz="4000" b="0" i="1" smtClean="0">
                              <a:solidFill>
                                <a:schemeClr val="bg1"/>
                              </a:solidFill>
                              <a:latin typeface="Cambria Math" panose="02040503050406030204" pitchFamily="18" charset="0"/>
                            </a:rPr>
                            <m:t>𝑘</m:t>
                          </m:r>
                          <m:sSub>
                            <m:sSubPr>
                              <m:ctrlPr>
                                <a:rPr lang="en-US" sz="4000" b="0" i="1" smtClean="0">
                                  <a:solidFill>
                                    <a:schemeClr val="bg1"/>
                                  </a:solidFill>
                                  <a:latin typeface="Cambria Math" panose="02040503050406030204" pitchFamily="18" charset="0"/>
                                </a:rPr>
                              </m:ctrlPr>
                            </m:sSubPr>
                            <m:e>
                              <m:r>
                                <a:rPr lang="en-US" sz="4000" b="0" i="1" smtClean="0">
                                  <a:solidFill>
                                    <a:schemeClr val="bg1"/>
                                  </a:solidFill>
                                  <a:latin typeface="Cambria Math" panose="02040503050406030204" pitchFamily="18" charset="0"/>
                                </a:rPr>
                                <m:t>𝑞</m:t>
                              </m:r>
                            </m:e>
                            <m:sub>
                              <m:r>
                                <a:rPr lang="en-US" sz="4000" b="0" i="1" smtClean="0">
                                  <a:solidFill>
                                    <a:schemeClr val="bg1"/>
                                  </a:solidFill>
                                  <a:latin typeface="Cambria Math" panose="02040503050406030204" pitchFamily="18" charset="0"/>
                                </a:rPr>
                                <m:t>1</m:t>
                              </m:r>
                            </m:sub>
                          </m:sSub>
                          <m:sSub>
                            <m:sSubPr>
                              <m:ctrlPr>
                                <a:rPr lang="en-US" sz="4000" b="0" i="1" smtClean="0">
                                  <a:solidFill>
                                    <a:schemeClr val="bg1"/>
                                  </a:solidFill>
                                  <a:latin typeface="Cambria Math" panose="02040503050406030204" pitchFamily="18" charset="0"/>
                                </a:rPr>
                              </m:ctrlPr>
                            </m:sSubPr>
                            <m:e>
                              <m:r>
                                <a:rPr lang="en-US" sz="4000" b="0" i="1" smtClean="0">
                                  <a:solidFill>
                                    <a:schemeClr val="bg1"/>
                                  </a:solidFill>
                                  <a:latin typeface="Cambria Math" panose="02040503050406030204" pitchFamily="18" charset="0"/>
                                </a:rPr>
                                <m:t>𝑞</m:t>
                              </m:r>
                            </m:e>
                            <m:sub>
                              <m:r>
                                <a:rPr lang="en-US" sz="4000" b="0" i="1" smtClean="0">
                                  <a:solidFill>
                                    <a:schemeClr val="bg1"/>
                                  </a:solidFill>
                                  <a:latin typeface="Cambria Math" panose="02040503050406030204" pitchFamily="18" charset="0"/>
                                </a:rPr>
                                <m:t>2</m:t>
                              </m:r>
                            </m:sub>
                          </m:sSub>
                        </m:num>
                        <m:den>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𝑟</m:t>
                              </m:r>
                            </m:e>
                            <m:sup>
                              <m:r>
                                <a:rPr lang="en-US" sz="4000" b="0" i="1" smtClean="0">
                                  <a:solidFill>
                                    <a:schemeClr val="bg1"/>
                                  </a:solidFill>
                                  <a:latin typeface="Cambria Math" panose="02040503050406030204" pitchFamily="18" charset="0"/>
                                </a:rPr>
                                <m:t>2</m:t>
                              </m:r>
                            </m:sup>
                          </m:sSup>
                        </m:den>
                      </m:f>
                    </m:oMath>
                  </m:oMathPara>
                </a14:m>
                <a:endParaRPr lang="en-US" sz="4000" b="0" i="1" dirty="0">
                  <a:solidFill>
                    <a:schemeClr val="bg1"/>
                  </a:solidFill>
                  <a:latin typeface="Cambria Math" panose="02040503050406030204" pitchFamily="18" charset="0"/>
                </a:endParaRPr>
              </a:p>
            </p:txBody>
          </p:sp>
        </mc:Choice>
        <mc:Fallback>
          <p:sp>
            <p:nvSpPr>
              <p:cNvPr id="5" name="TextBox 4">
                <a:extLst>
                  <a:ext uri="{FF2B5EF4-FFF2-40B4-BE49-F238E27FC236}">
                    <a16:creationId xmlns:a16="http://schemas.microsoft.com/office/drawing/2014/main" id="{27658CC7-A6C9-0C48-FDDB-57CF79340505}"/>
                  </a:ext>
                </a:extLst>
              </p:cNvPr>
              <p:cNvSpPr txBox="1">
                <a:spLocks noRot="1" noChangeAspect="1" noMove="1" noResize="1" noEditPoints="1" noAdjustHandles="1" noChangeArrowheads="1" noChangeShapeType="1" noTextEdit="1"/>
              </p:cNvSpPr>
              <p:nvPr/>
            </p:nvSpPr>
            <p:spPr>
              <a:xfrm>
                <a:off x="3332097" y="2997222"/>
                <a:ext cx="4323072" cy="1257075"/>
              </a:xfrm>
              <a:prstGeom prst="rect">
                <a:avLst/>
              </a:prstGeom>
              <a:blipFill>
                <a:blip r:embed="rId3"/>
                <a:stretch>
                  <a:fillRect b="-4950"/>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7C0A5DB6-6810-4DE2-86C0-19CF7C1D8774}"/>
              </a:ext>
            </a:extLst>
          </p:cNvPr>
          <p:cNvSpPr txBox="1"/>
          <p:nvPr/>
        </p:nvSpPr>
        <p:spPr>
          <a:xfrm>
            <a:off x="196436" y="3164094"/>
            <a:ext cx="2696309"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dirty="0"/>
              <a:t>Force</a:t>
            </a:r>
            <a:r>
              <a:rPr lang="en-US" dirty="0"/>
              <a:t>: </a:t>
            </a:r>
          </a:p>
          <a:p>
            <a:r>
              <a:rPr lang="en-US" dirty="0"/>
              <a:t>mass * distance / time</a:t>
            </a:r>
            <a:r>
              <a:rPr lang="en-US" baseline="30000" dirty="0"/>
              <a:t>2</a:t>
            </a:r>
            <a:r>
              <a:rPr lang="en-US" dirty="0"/>
              <a:t> (1 Newton = 1 kg m/s</a:t>
            </a:r>
            <a:r>
              <a:rPr lang="en-US" baseline="30000" dirty="0"/>
              <a:t>2</a:t>
            </a:r>
            <a:r>
              <a:rPr lang="en-US" dirty="0"/>
              <a:t>)</a:t>
            </a:r>
            <a:endParaRPr lang="en-US" baseline="30000" dirty="0"/>
          </a:p>
        </p:txBody>
      </p:sp>
      <p:sp>
        <p:nvSpPr>
          <p:cNvPr id="8" name="TextBox 7">
            <a:extLst>
              <a:ext uri="{FF2B5EF4-FFF2-40B4-BE49-F238E27FC236}">
                <a16:creationId xmlns:a16="http://schemas.microsoft.com/office/drawing/2014/main" id="{B6DBE6E7-905E-734F-431E-4D11A4303AB5}"/>
              </a:ext>
            </a:extLst>
          </p:cNvPr>
          <p:cNvSpPr txBox="1"/>
          <p:nvPr/>
        </p:nvSpPr>
        <p:spPr>
          <a:xfrm>
            <a:off x="6531004" y="4403983"/>
            <a:ext cx="1504756" cy="36933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dirty="0"/>
              <a:t>distance (m)</a:t>
            </a:r>
            <a:endParaRPr lang="en-US" baseline="30000" dirty="0"/>
          </a:p>
        </p:txBody>
      </p:sp>
      <p:cxnSp>
        <p:nvCxnSpPr>
          <p:cNvPr id="9" name="Straight Arrow Connector 8">
            <a:extLst>
              <a:ext uri="{FF2B5EF4-FFF2-40B4-BE49-F238E27FC236}">
                <a16:creationId xmlns:a16="http://schemas.microsoft.com/office/drawing/2014/main" id="{2A230906-EFB5-207C-9F57-CD8F4916F987}"/>
              </a:ext>
            </a:extLst>
          </p:cNvPr>
          <p:cNvCxnSpPr>
            <a:cxnSpLocks/>
          </p:cNvCxnSpPr>
          <p:nvPr/>
        </p:nvCxnSpPr>
        <p:spPr>
          <a:xfrm>
            <a:off x="2892745" y="3741974"/>
            <a:ext cx="1421347" cy="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11" name="Straight Arrow Connector 10">
            <a:extLst>
              <a:ext uri="{FF2B5EF4-FFF2-40B4-BE49-F238E27FC236}">
                <a16:creationId xmlns:a16="http://schemas.microsoft.com/office/drawing/2014/main" id="{30B80C5C-B55A-A75C-2647-76FBA45161DE}"/>
              </a:ext>
            </a:extLst>
          </p:cNvPr>
          <p:cNvCxnSpPr>
            <a:cxnSpLocks/>
          </p:cNvCxnSpPr>
          <p:nvPr/>
        </p:nvCxnSpPr>
        <p:spPr>
          <a:xfrm flipH="1" flipV="1">
            <a:off x="5931877" y="4086587"/>
            <a:ext cx="1351505" cy="317396"/>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14" name="TextBox 13">
            <a:extLst>
              <a:ext uri="{FF2B5EF4-FFF2-40B4-BE49-F238E27FC236}">
                <a16:creationId xmlns:a16="http://schemas.microsoft.com/office/drawing/2014/main" id="{8CB8B77E-ED22-C5C7-883F-FDA932BB85E1}"/>
              </a:ext>
            </a:extLst>
          </p:cNvPr>
          <p:cNvSpPr txBox="1"/>
          <p:nvPr/>
        </p:nvSpPr>
        <p:spPr>
          <a:xfrm>
            <a:off x="6435969" y="1418235"/>
            <a:ext cx="188181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dirty="0"/>
              <a:t>Charge</a:t>
            </a:r>
            <a:r>
              <a:rPr lang="en-US" dirty="0"/>
              <a:t>:</a:t>
            </a:r>
          </a:p>
          <a:p>
            <a:r>
              <a:rPr lang="en-US" dirty="0"/>
              <a:t>Coulombs (C)</a:t>
            </a:r>
          </a:p>
        </p:txBody>
      </p:sp>
      <p:cxnSp>
        <p:nvCxnSpPr>
          <p:cNvPr id="15" name="Straight Arrow Connector 14">
            <a:extLst>
              <a:ext uri="{FF2B5EF4-FFF2-40B4-BE49-F238E27FC236}">
                <a16:creationId xmlns:a16="http://schemas.microsoft.com/office/drawing/2014/main" id="{AFB3B8C1-EAE5-812A-391A-F33532F8F31E}"/>
              </a:ext>
            </a:extLst>
          </p:cNvPr>
          <p:cNvCxnSpPr>
            <a:cxnSpLocks/>
            <a:stCxn id="14" idx="1"/>
          </p:cNvCxnSpPr>
          <p:nvPr/>
        </p:nvCxnSpPr>
        <p:spPr>
          <a:xfrm flipH="1">
            <a:off x="5931877" y="1741401"/>
            <a:ext cx="504092" cy="1480737"/>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C7EEDAEA-18D5-0DBC-B4F4-8326443F8F51}"/>
                  </a:ext>
                </a:extLst>
              </p:cNvPr>
              <p:cNvSpPr txBox="1"/>
              <p:nvPr/>
            </p:nvSpPr>
            <p:spPr>
              <a:xfrm>
                <a:off x="2759355" y="5306406"/>
                <a:ext cx="3676614"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dirty="0"/>
                  <a:t>The constant k</a:t>
                </a:r>
                <a:r>
                  <a:rPr lang="en-US" dirty="0"/>
                  <a:t>: </a:t>
                </a:r>
              </a:p>
              <a:p>
                <a:r>
                  <a:rPr lang="en-US" dirty="0"/>
                  <a:t>mass * distance</a:t>
                </a:r>
                <a:r>
                  <a:rPr lang="en-US" baseline="30000" dirty="0"/>
                  <a:t>3</a:t>
                </a:r>
                <a:r>
                  <a:rPr lang="en-US" dirty="0"/>
                  <a:t> / charge</a:t>
                </a:r>
                <a:r>
                  <a:rPr lang="en-US" baseline="30000" dirty="0"/>
                  <a:t>2</a:t>
                </a:r>
                <a:r>
                  <a:rPr lang="en-US" dirty="0"/>
                  <a:t> </a:t>
                </a:r>
                <a14:m>
                  <m:oMath xmlns:m="http://schemas.openxmlformats.org/officeDocument/2006/math">
                    <m:r>
                      <a:rPr lang="en-US" dirty="0" smtClean="0">
                        <a:latin typeface="Cambria Math" panose="02040503050406030204" pitchFamily="18" charset="0"/>
                      </a:rPr>
                      <m:t>⋅</m:t>
                    </m:r>
                    <m:r>
                      <a:rPr lang="en-US" b="0" i="0" dirty="0" smtClean="0">
                        <a:latin typeface="Cambria Math" panose="02040503050406030204" pitchFamily="18" charset="0"/>
                      </a:rPr>
                      <m:t> </m:t>
                    </m:r>
                  </m:oMath>
                </a14:m>
                <a:r>
                  <a:rPr lang="en-US" dirty="0"/>
                  <a:t>time</a:t>
                </a:r>
                <a:r>
                  <a:rPr lang="en-US" baseline="30000" dirty="0"/>
                  <a:t>2</a:t>
                </a:r>
              </a:p>
            </p:txBody>
          </p:sp>
        </mc:Choice>
        <mc:Fallback>
          <p:sp>
            <p:nvSpPr>
              <p:cNvPr id="18" name="TextBox 17">
                <a:extLst>
                  <a:ext uri="{FF2B5EF4-FFF2-40B4-BE49-F238E27FC236}">
                    <a16:creationId xmlns:a16="http://schemas.microsoft.com/office/drawing/2014/main" id="{C7EEDAEA-18D5-0DBC-B4F4-8326443F8F51}"/>
                  </a:ext>
                </a:extLst>
              </p:cNvPr>
              <p:cNvSpPr txBox="1">
                <a:spLocks noRot="1" noChangeAspect="1" noMove="1" noResize="1" noEditPoints="1" noAdjustHandles="1" noChangeArrowheads="1" noChangeShapeType="1" noTextEdit="1"/>
              </p:cNvSpPr>
              <p:nvPr/>
            </p:nvSpPr>
            <p:spPr>
              <a:xfrm>
                <a:off x="2759355" y="5306406"/>
                <a:ext cx="3676614" cy="646331"/>
              </a:xfrm>
              <a:prstGeom prst="rect">
                <a:avLst/>
              </a:prstGeom>
              <a:blipFill>
                <a:blip r:embed="rId4"/>
                <a:stretch>
                  <a:fillRect l="-1027" t="-3846" b="-13462"/>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21B49B96-E1E2-DBD2-B2F2-3DF8A7A3EEDA}"/>
              </a:ext>
            </a:extLst>
          </p:cNvPr>
          <p:cNvSpPr txBox="1"/>
          <p:nvPr/>
        </p:nvSpPr>
        <p:spPr>
          <a:xfrm>
            <a:off x="6633741" y="5075574"/>
            <a:ext cx="2286000" cy="175432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3600" dirty="0" err="1"/>
              <a:t>ew</a:t>
            </a:r>
            <a:r>
              <a:rPr lang="en-US" sz="3600" dirty="0"/>
              <a:t> </a:t>
            </a:r>
          </a:p>
          <a:p>
            <a:r>
              <a:rPr lang="en-US" sz="3600" dirty="0"/>
              <a:t>that’s confusing</a:t>
            </a:r>
          </a:p>
        </p:txBody>
      </p:sp>
      <p:pic>
        <p:nvPicPr>
          <p:cNvPr id="20" name="Picture 19" descr="Demonstration of Coulomb’s law. Two positive charges repel. A positive and negative charge attract. ">
            <a:extLst>
              <a:ext uri="{FF2B5EF4-FFF2-40B4-BE49-F238E27FC236}">
                <a16:creationId xmlns:a16="http://schemas.microsoft.com/office/drawing/2014/main" id="{B2D00724-2FC0-359D-A724-66540A0392CC}"/>
              </a:ext>
            </a:extLst>
          </p:cNvPr>
          <p:cNvPicPr>
            <a:picLocks noChangeAspect="1"/>
          </p:cNvPicPr>
          <p:nvPr/>
        </p:nvPicPr>
        <p:blipFill>
          <a:blip r:embed="rId5"/>
          <a:stretch>
            <a:fillRect/>
          </a:stretch>
        </p:blipFill>
        <p:spPr>
          <a:xfrm>
            <a:off x="8213500" y="1671332"/>
            <a:ext cx="4191000" cy="3352800"/>
          </a:xfrm>
          <a:prstGeom prst="rect">
            <a:avLst/>
          </a:prstGeom>
        </p:spPr>
      </p:pic>
      <p:sp>
        <p:nvSpPr>
          <p:cNvPr id="22" name="TextBox 21">
            <a:extLst>
              <a:ext uri="{FF2B5EF4-FFF2-40B4-BE49-F238E27FC236}">
                <a16:creationId xmlns:a16="http://schemas.microsoft.com/office/drawing/2014/main" id="{1A710A87-7463-36A6-5029-235EFCDF1853}"/>
              </a:ext>
            </a:extLst>
          </p:cNvPr>
          <p:cNvSpPr txBox="1"/>
          <p:nvPr/>
        </p:nvSpPr>
        <p:spPr>
          <a:xfrm>
            <a:off x="9117513" y="4955835"/>
            <a:ext cx="2589194" cy="461665"/>
          </a:xfrm>
          <a:prstGeom prst="rect">
            <a:avLst/>
          </a:prstGeom>
          <a:noFill/>
        </p:spPr>
        <p:txBody>
          <a:bodyPr wrap="square">
            <a:spAutoFit/>
          </a:bodyPr>
          <a:lstStyle/>
          <a:p>
            <a:r>
              <a:rPr lang="en-US" sz="1200" dirty="0"/>
              <a:t>https://</a:t>
            </a:r>
            <a:r>
              <a:rPr lang="en-US" sz="1200" dirty="0" err="1"/>
              <a:t>en.wikipedia.org</a:t>
            </a:r>
            <a:r>
              <a:rPr lang="en-US" sz="1200" dirty="0"/>
              <a:t>/wiki/Coulomb%27s_law</a:t>
            </a:r>
          </a:p>
        </p:txBody>
      </p:sp>
      <p:sp>
        <p:nvSpPr>
          <p:cNvPr id="23" name="TextBox 22">
            <a:extLst>
              <a:ext uri="{FF2B5EF4-FFF2-40B4-BE49-F238E27FC236}">
                <a16:creationId xmlns:a16="http://schemas.microsoft.com/office/drawing/2014/main" id="{DA441E1A-9141-51DA-7AA5-5B2F0E5925BA}"/>
              </a:ext>
            </a:extLst>
          </p:cNvPr>
          <p:cNvSpPr txBox="1"/>
          <p:nvPr/>
        </p:nvSpPr>
        <p:spPr>
          <a:xfrm>
            <a:off x="1009073" y="6356047"/>
            <a:ext cx="4880344"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US" dirty="0"/>
              <a:t>Not responsible for this, just for enrichment</a:t>
            </a:r>
          </a:p>
        </p:txBody>
      </p:sp>
    </p:spTree>
    <p:extLst>
      <p:ext uri="{BB962C8B-B14F-4D97-AF65-F5344CB8AC3E}">
        <p14:creationId xmlns:p14="http://schemas.microsoft.com/office/powerpoint/2010/main" val="2738024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74737-B4AA-4EB5-3BFD-490AB3A05B91}"/>
              </a:ext>
            </a:extLst>
          </p:cNvPr>
          <p:cNvSpPr>
            <a:spLocks noGrp="1"/>
          </p:cNvSpPr>
          <p:nvPr>
            <p:ph type="title"/>
          </p:nvPr>
        </p:nvSpPr>
        <p:spPr/>
        <p:txBody>
          <a:bodyPr/>
          <a:lstStyle/>
          <a:p>
            <a:r>
              <a:rPr lang="en-US" dirty="0"/>
              <a:t>Electricity</a:t>
            </a:r>
          </a:p>
        </p:txBody>
      </p:sp>
      <p:sp>
        <p:nvSpPr>
          <p:cNvPr id="3" name="Content Placeholder 2">
            <a:extLst>
              <a:ext uri="{FF2B5EF4-FFF2-40B4-BE49-F238E27FC236}">
                <a16:creationId xmlns:a16="http://schemas.microsoft.com/office/drawing/2014/main" id="{E73B0B39-53E8-D050-EE86-F07439CE278F}"/>
              </a:ext>
            </a:extLst>
          </p:cNvPr>
          <p:cNvSpPr>
            <a:spLocks noGrp="1"/>
          </p:cNvSpPr>
          <p:nvPr>
            <p:ph idx="1"/>
          </p:nvPr>
        </p:nvSpPr>
        <p:spPr/>
        <p:txBody>
          <a:bodyPr/>
          <a:lstStyle/>
          <a:p>
            <a:r>
              <a:rPr lang="en-US" dirty="0"/>
              <a:t>Practically speaking, for most things we don’t actually care about the individual charge, we care about how much charge is </a:t>
            </a:r>
            <a:r>
              <a:rPr lang="en-US" b="1" dirty="0"/>
              <a:t>passing through </a:t>
            </a:r>
            <a:r>
              <a:rPr lang="en-US" dirty="0"/>
              <a:t>(the </a:t>
            </a:r>
            <a:r>
              <a:rPr lang="en-US" b="1" dirty="0"/>
              <a:t>current</a:t>
            </a:r>
            <a:r>
              <a:rPr lang="en-US" dirty="0"/>
              <a:t>)</a:t>
            </a:r>
          </a:p>
        </p:txBody>
      </p:sp>
      <p:sp>
        <p:nvSpPr>
          <p:cNvPr id="4" name="Slide Number Placeholder 3">
            <a:extLst>
              <a:ext uri="{FF2B5EF4-FFF2-40B4-BE49-F238E27FC236}">
                <a16:creationId xmlns:a16="http://schemas.microsoft.com/office/drawing/2014/main" id="{8696B3E7-7913-B641-DE79-21B2F5CD1329}"/>
              </a:ext>
            </a:extLst>
          </p:cNvPr>
          <p:cNvSpPr>
            <a:spLocks noGrp="1"/>
          </p:cNvSpPr>
          <p:nvPr>
            <p:ph type="sldNum" sz="quarter" idx="12"/>
          </p:nvPr>
        </p:nvSpPr>
        <p:spPr/>
        <p:txBody>
          <a:bodyPr/>
          <a:lstStyle/>
          <a:p>
            <a:fld id="{C5EF2332-01BF-834F-8236-50238282D533}" type="slidenum">
              <a:rPr lang="en-US" smtClean="0"/>
              <a:t>17</a:t>
            </a:fld>
            <a:endParaRPr lang="en-US"/>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CB931C3D-6B29-0457-FBF9-55B6431E3897}"/>
                  </a:ext>
                </a:extLst>
              </p:cNvPr>
              <p:cNvSpPr txBox="1"/>
              <p:nvPr/>
            </p:nvSpPr>
            <p:spPr>
              <a:xfrm>
                <a:off x="2714986" y="3480072"/>
                <a:ext cx="3741725" cy="1248868"/>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14:m>
                  <m:oMathPara xmlns:m="http://schemas.openxmlformats.org/officeDocument/2006/math">
                    <m:oMath>
                      <m:r>
                        <a:rPr lang="en-US" sz="4000" b="0" i="1" smtClean="0">
                          <a:solidFill>
                            <a:schemeClr val="bg1"/>
                          </a:solidFill>
                          <a:latin typeface="Cambria Math" panose="02040503050406030204" pitchFamily="18" charset="0"/>
                        </a:rPr>
                        <m:t>𝑖</m:t>
                      </m:r>
                      <m:r>
                        <a:rPr lang="en-US" sz="4000" b="0" i="1" smtClean="0">
                          <a:solidFill>
                            <a:schemeClr val="bg1"/>
                          </a:solidFill>
                          <a:latin typeface="Cambria Math" panose="02040503050406030204" pitchFamily="18" charset="0"/>
                        </a:rPr>
                        <m:t>=</m:t>
                      </m:r>
                      <m:f>
                        <m:fPr>
                          <m:ctrlPr>
                            <a:rPr lang="en-US" sz="4000" b="0" i="1" smtClean="0">
                              <a:solidFill>
                                <a:schemeClr val="bg1"/>
                              </a:solidFill>
                              <a:latin typeface="Cambria Math" panose="02040503050406030204" pitchFamily="18" charset="0"/>
                            </a:rPr>
                          </m:ctrlPr>
                        </m:fPr>
                        <m:num>
                          <m:r>
                            <m:rPr>
                              <m:sty m:val="p"/>
                            </m:rPr>
                            <a:rPr lang="en-US" sz="4000" b="0" i="1" smtClean="0">
                              <a:solidFill>
                                <a:schemeClr val="bg1"/>
                              </a:solidFill>
                              <a:latin typeface="Cambria Math" panose="02040503050406030204" pitchFamily="18" charset="0"/>
                            </a:rPr>
                            <m:t>Δ</m:t>
                          </m:r>
                          <m:r>
                            <a:rPr lang="en-US" sz="4000" b="0" i="1" smtClean="0">
                              <a:solidFill>
                                <a:schemeClr val="bg1"/>
                              </a:solidFill>
                              <a:latin typeface="Cambria Math" panose="02040503050406030204" pitchFamily="18" charset="0"/>
                            </a:rPr>
                            <m:t>𝑄</m:t>
                          </m:r>
                        </m:num>
                        <m:den>
                          <m:r>
                            <m:rPr>
                              <m:sty m:val="p"/>
                            </m:rPr>
                            <a:rPr lang="en-US" sz="4000" b="0" i="1" smtClean="0">
                              <a:solidFill>
                                <a:schemeClr val="bg1"/>
                              </a:solidFill>
                              <a:latin typeface="Cambria Math" panose="02040503050406030204" pitchFamily="18" charset="0"/>
                            </a:rPr>
                            <m:t>Δ</m:t>
                          </m:r>
                          <m:r>
                            <a:rPr lang="en-US" sz="4000" b="0" i="1" smtClean="0">
                              <a:solidFill>
                                <a:schemeClr val="bg1"/>
                              </a:solidFill>
                              <a:latin typeface="Cambria Math" panose="02040503050406030204" pitchFamily="18" charset="0"/>
                            </a:rPr>
                            <m:t>𝑡</m:t>
                          </m:r>
                        </m:den>
                      </m:f>
                    </m:oMath>
                  </m:oMathPara>
                </a14:m>
                <a:endParaRPr lang="en-US" sz="4000" b="0" i="1" dirty="0">
                  <a:solidFill>
                    <a:schemeClr val="bg1"/>
                  </a:solidFill>
                  <a:latin typeface="Cambria Math" panose="02040503050406030204" pitchFamily="18" charset="0"/>
                </a:endParaRPr>
              </a:p>
            </p:txBody>
          </p:sp>
        </mc:Choice>
        <mc:Fallback>
          <p:sp>
            <p:nvSpPr>
              <p:cNvPr id="7" name="TextBox 6">
                <a:extLst>
                  <a:ext uri="{FF2B5EF4-FFF2-40B4-BE49-F238E27FC236}">
                    <a16:creationId xmlns:a16="http://schemas.microsoft.com/office/drawing/2014/main" id="{CB931C3D-6B29-0457-FBF9-55B6431E3897}"/>
                  </a:ext>
                </a:extLst>
              </p:cNvPr>
              <p:cNvSpPr txBox="1">
                <a:spLocks noRot="1" noChangeAspect="1" noMove="1" noResize="1" noEditPoints="1" noAdjustHandles="1" noChangeArrowheads="1" noChangeShapeType="1" noTextEdit="1"/>
              </p:cNvSpPr>
              <p:nvPr/>
            </p:nvSpPr>
            <p:spPr>
              <a:xfrm>
                <a:off x="2714986" y="3480072"/>
                <a:ext cx="3741725" cy="1248868"/>
              </a:xfrm>
              <a:prstGeom prst="rect">
                <a:avLst/>
              </a:prstGeom>
              <a:blipFill>
                <a:blip r:embed="rId2"/>
                <a:stretch>
                  <a:fillRect b="-8911"/>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1D4B8F05-F4B7-4716-19DC-1918E861EFB7}"/>
              </a:ext>
            </a:extLst>
          </p:cNvPr>
          <p:cNvSpPr txBox="1"/>
          <p:nvPr/>
        </p:nvSpPr>
        <p:spPr>
          <a:xfrm>
            <a:off x="707761" y="5030208"/>
            <a:ext cx="3465654"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dirty="0"/>
              <a:t>Current</a:t>
            </a:r>
            <a:r>
              <a:rPr lang="en-US" dirty="0"/>
              <a:t>: </a:t>
            </a:r>
          </a:p>
          <a:p>
            <a:r>
              <a:rPr lang="en-US" dirty="0"/>
              <a:t>Ampere = Coulombs / second</a:t>
            </a:r>
            <a:endParaRPr lang="en-US" baseline="30000" dirty="0"/>
          </a:p>
        </p:txBody>
      </p:sp>
      <p:cxnSp>
        <p:nvCxnSpPr>
          <p:cNvPr id="9" name="Straight Arrow Connector 8">
            <a:extLst>
              <a:ext uri="{FF2B5EF4-FFF2-40B4-BE49-F238E27FC236}">
                <a16:creationId xmlns:a16="http://schemas.microsoft.com/office/drawing/2014/main" id="{36DB652F-AA03-F928-2FAD-CA39D4C9D34B}"/>
              </a:ext>
            </a:extLst>
          </p:cNvPr>
          <p:cNvCxnSpPr>
            <a:cxnSpLocks/>
            <a:stCxn id="8" idx="0"/>
          </p:cNvCxnSpPr>
          <p:nvPr/>
        </p:nvCxnSpPr>
        <p:spPr>
          <a:xfrm flipV="1">
            <a:off x="2440588" y="4314092"/>
            <a:ext cx="1252181" cy="716116"/>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15" name="TextBox 14">
            <a:extLst>
              <a:ext uri="{FF2B5EF4-FFF2-40B4-BE49-F238E27FC236}">
                <a16:creationId xmlns:a16="http://schemas.microsoft.com/office/drawing/2014/main" id="{2B72F733-F795-C3DE-F97D-ADBF8ABF3241}"/>
              </a:ext>
            </a:extLst>
          </p:cNvPr>
          <p:cNvSpPr txBox="1"/>
          <p:nvPr/>
        </p:nvSpPr>
        <p:spPr>
          <a:xfrm>
            <a:off x="6731109" y="3458175"/>
            <a:ext cx="1299199"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dirty="0"/>
              <a:t>Charge</a:t>
            </a:r>
            <a:r>
              <a:rPr lang="en-US" dirty="0"/>
              <a:t>: </a:t>
            </a:r>
          </a:p>
          <a:p>
            <a:r>
              <a:rPr lang="en-US" dirty="0"/>
              <a:t>Coulombs</a:t>
            </a:r>
            <a:endParaRPr lang="en-US" baseline="30000" dirty="0"/>
          </a:p>
        </p:txBody>
      </p:sp>
      <p:sp>
        <p:nvSpPr>
          <p:cNvPr id="16" name="TextBox 15">
            <a:extLst>
              <a:ext uri="{FF2B5EF4-FFF2-40B4-BE49-F238E27FC236}">
                <a16:creationId xmlns:a16="http://schemas.microsoft.com/office/drawing/2014/main" id="{758ABE7C-0CDB-F781-81CC-D9CF08A759C3}"/>
              </a:ext>
            </a:extLst>
          </p:cNvPr>
          <p:cNvSpPr txBox="1"/>
          <p:nvPr/>
        </p:nvSpPr>
        <p:spPr>
          <a:xfrm>
            <a:off x="6180124" y="5559707"/>
            <a:ext cx="1381261"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dirty="0"/>
              <a:t>time</a:t>
            </a:r>
            <a:r>
              <a:rPr lang="en-US" dirty="0"/>
              <a:t>: </a:t>
            </a:r>
          </a:p>
          <a:p>
            <a:r>
              <a:rPr lang="en-US" dirty="0"/>
              <a:t>seconds</a:t>
            </a:r>
            <a:endParaRPr lang="en-US" baseline="30000" dirty="0"/>
          </a:p>
        </p:txBody>
      </p:sp>
      <p:cxnSp>
        <p:nvCxnSpPr>
          <p:cNvPr id="17" name="Straight Arrow Connector 16">
            <a:extLst>
              <a:ext uri="{FF2B5EF4-FFF2-40B4-BE49-F238E27FC236}">
                <a16:creationId xmlns:a16="http://schemas.microsoft.com/office/drawing/2014/main" id="{FF07BC28-9838-8110-3688-B894EF7CBC2B}"/>
              </a:ext>
            </a:extLst>
          </p:cNvPr>
          <p:cNvCxnSpPr>
            <a:cxnSpLocks/>
          </p:cNvCxnSpPr>
          <p:nvPr/>
        </p:nvCxnSpPr>
        <p:spPr>
          <a:xfrm flipH="1">
            <a:off x="5460892" y="3834598"/>
            <a:ext cx="1270217" cy="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19" name="Straight Arrow Connector 18">
            <a:extLst>
              <a:ext uri="{FF2B5EF4-FFF2-40B4-BE49-F238E27FC236}">
                <a16:creationId xmlns:a16="http://schemas.microsoft.com/office/drawing/2014/main" id="{207F0EA1-BC39-7649-47CE-07A66876AE4E}"/>
              </a:ext>
            </a:extLst>
          </p:cNvPr>
          <p:cNvCxnSpPr>
            <a:cxnSpLocks/>
            <a:stCxn id="16" idx="1"/>
          </p:cNvCxnSpPr>
          <p:nvPr/>
        </p:nvCxnSpPr>
        <p:spPr>
          <a:xfrm flipH="1" flipV="1">
            <a:off x="5186494" y="4661579"/>
            <a:ext cx="993630" cy="1221294"/>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22" name="TextBox 21">
            <a:extLst>
              <a:ext uri="{FF2B5EF4-FFF2-40B4-BE49-F238E27FC236}">
                <a16:creationId xmlns:a16="http://schemas.microsoft.com/office/drawing/2014/main" id="{504FB521-D8CC-57D7-241D-E7604590EFAA}"/>
              </a:ext>
            </a:extLst>
          </p:cNvPr>
          <p:cNvSpPr txBox="1"/>
          <p:nvPr/>
        </p:nvSpPr>
        <p:spPr>
          <a:xfrm>
            <a:off x="5576441" y="1366466"/>
            <a:ext cx="4880344" cy="646331"/>
          </a:xfrm>
          <a:prstGeom prst="rect">
            <a:avLst/>
          </a:prstGeom>
          <a:solidFill>
            <a:schemeClr val="accent3">
              <a:lumMod val="60000"/>
              <a:lumOff val="40000"/>
            </a:schemeClr>
          </a:solidFill>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chemeClr val="tx1">
                    <a:lumMod val="50000"/>
                  </a:schemeClr>
                </a:solidFill>
              </a:rPr>
              <a:t>You ARE responsible to understand that current is the number of charges per unit time</a:t>
            </a:r>
          </a:p>
        </p:txBody>
      </p:sp>
    </p:spTree>
    <p:extLst>
      <p:ext uri="{BB962C8B-B14F-4D97-AF65-F5344CB8AC3E}">
        <p14:creationId xmlns:p14="http://schemas.microsoft.com/office/powerpoint/2010/main" val="9149128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17C42-D98F-BCAF-A01A-54EECC733B4A}"/>
              </a:ext>
            </a:extLst>
          </p:cNvPr>
          <p:cNvSpPr>
            <a:spLocks noGrp="1"/>
          </p:cNvSpPr>
          <p:nvPr>
            <p:ph type="title"/>
          </p:nvPr>
        </p:nvSpPr>
        <p:spPr/>
        <p:txBody>
          <a:bodyPr/>
          <a:lstStyle/>
          <a:p>
            <a:r>
              <a:rPr lang="en-US" dirty="0"/>
              <a:t>Electricity</a:t>
            </a:r>
          </a:p>
        </p:txBody>
      </p:sp>
      <p:sp>
        <p:nvSpPr>
          <p:cNvPr id="3" name="Content Placeholder 2">
            <a:extLst>
              <a:ext uri="{FF2B5EF4-FFF2-40B4-BE49-F238E27FC236}">
                <a16:creationId xmlns:a16="http://schemas.microsoft.com/office/drawing/2014/main" id="{13AE2FAC-EE89-A62D-58A1-C14A845D3796}"/>
              </a:ext>
            </a:extLst>
          </p:cNvPr>
          <p:cNvSpPr>
            <a:spLocks noGrp="1"/>
          </p:cNvSpPr>
          <p:nvPr>
            <p:ph idx="1"/>
          </p:nvPr>
        </p:nvSpPr>
        <p:spPr/>
        <p:txBody>
          <a:bodyPr/>
          <a:lstStyle/>
          <a:p>
            <a:r>
              <a:rPr lang="en-US" dirty="0"/>
              <a:t>What about energy and work? </a:t>
            </a:r>
          </a:p>
        </p:txBody>
      </p:sp>
      <p:sp>
        <p:nvSpPr>
          <p:cNvPr id="4" name="Slide Number Placeholder 3">
            <a:extLst>
              <a:ext uri="{FF2B5EF4-FFF2-40B4-BE49-F238E27FC236}">
                <a16:creationId xmlns:a16="http://schemas.microsoft.com/office/drawing/2014/main" id="{F4A9F481-4FD5-65BA-B83C-1072A950B644}"/>
              </a:ext>
            </a:extLst>
          </p:cNvPr>
          <p:cNvSpPr>
            <a:spLocks noGrp="1"/>
          </p:cNvSpPr>
          <p:nvPr>
            <p:ph type="sldNum" sz="quarter" idx="12"/>
          </p:nvPr>
        </p:nvSpPr>
        <p:spPr/>
        <p:txBody>
          <a:bodyPr/>
          <a:lstStyle/>
          <a:p>
            <a:fld id="{C5EF2332-01BF-834F-8236-50238282D533}" type="slidenum">
              <a:rPr lang="en-US" smtClean="0"/>
              <a:t>18</a:t>
            </a:fld>
            <a:endParaRPr lang="en-US"/>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DB973C4-585B-6FF8-8658-A72C018F73CA}"/>
                  </a:ext>
                </a:extLst>
              </p:cNvPr>
              <p:cNvSpPr txBox="1"/>
              <p:nvPr/>
            </p:nvSpPr>
            <p:spPr>
              <a:xfrm>
                <a:off x="1449172" y="3227919"/>
                <a:ext cx="4323072" cy="1257075"/>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14:m>
                  <m:oMathPara xmlns:m="http://schemas.openxmlformats.org/officeDocument/2006/math">
                    <m:oMath>
                      <m:r>
                        <a:rPr lang="en-US" sz="4000" b="0" i="1" smtClean="0">
                          <a:solidFill>
                            <a:schemeClr val="bg1"/>
                          </a:solidFill>
                          <a:latin typeface="Cambria Math" panose="02040503050406030204" pitchFamily="18" charset="0"/>
                        </a:rPr>
                        <m:t>𝐹</m:t>
                      </m:r>
                      <m:r>
                        <a:rPr lang="en-US" sz="4000" b="0" i="1" smtClean="0">
                          <a:solidFill>
                            <a:schemeClr val="bg1"/>
                          </a:solidFill>
                          <a:latin typeface="Cambria Math" panose="02040503050406030204" pitchFamily="18" charset="0"/>
                        </a:rPr>
                        <m:t>=</m:t>
                      </m:r>
                      <m:f>
                        <m:fPr>
                          <m:ctrlPr>
                            <a:rPr lang="en-US" sz="4000" b="0" i="1" smtClean="0">
                              <a:solidFill>
                                <a:schemeClr val="bg1"/>
                              </a:solidFill>
                              <a:latin typeface="Cambria Math" panose="02040503050406030204" pitchFamily="18" charset="0"/>
                            </a:rPr>
                          </m:ctrlPr>
                        </m:fPr>
                        <m:num>
                          <m:r>
                            <a:rPr lang="en-US" sz="4000" b="0" i="1" smtClean="0">
                              <a:solidFill>
                                <a:schemeClr val="bg1"/>
                              </a:solidFill>
                              <a:latin typeface="Cambria Math" panose="02040503050406030204" pitchFamily="18" charset="0"/>
                            </a:rPr>
                            <m:t>𝑘</m:t>
                          </m:r>
                          <m:sSub>
                            <m:sSubPr>
                              <m:ctrlPr>
                                <a:rPr lang="en-US" sz="4000" b="0" i="1" smtClean="0">
                                  <a:solidFill>
                                    <a:schemeClr val="bg1"/>
                                  </a:solidFill>
                                  <a:latin typeface="Cambria Math" panose="02040503050406030204" pitchFamily="18" charset="0"/>
                                </a:rPr>
                              </m:ctrlPr>
                            </m:sSubPr>
                            <m:e>
                              <m:r>
                                <a:rPr lang="en-US" sz="4000" b="0" i="1" smtClean="0">
                                  <a:solidFill>
                                    <a:schemeClr val="bg1"/>
                                  </a:solidFill>
                                  <a:latin typeface="Cambria Math" panose="02040503050406030204" pitchFamily="18" charset="0"/>
                                </a:rPr>
                                <m:t>𝑞</m:t>
                              </m:r>
                            </m:e>
                            <m:sub>
                              <m:r>
                                <a:rPr lang="en-US" sz="4000" b="0" i="1" smtClean="0">
                                  <a:solidFill>
                                    <a:schemeClr val="bg1"/>
                                  </a:solidFill>
                                  <a:latin typeface="Cambria Math" panose="02040503050406030204" pitchFamily="18" charset="0"/>
                                </a:rPr>
                                <m:t>1</m:t>
                              </m:r>
                            </m:sub>
                          </m:sSub>
                          <m:sSub>
                            <m:sSubPr>
                              <m:ctrlPr>
                                <a:rPr lang="en-US" sz="4000" b="0" i="1" smtClean="0">
                                  <a:solidFill>
                                    <a:schemeClr val="bg1"/>
                                  </a:solidFill>
                                  <a:latin typeface="Cambria Math" panose="02040503050406030204" pitchFamily="18" charset="0"/>
                                </a:rPr>
                              </m:ctrlPr>
                            </m:sSubPr>
                            <m:e>
                              <m:r>
                                <a:rPr lang="en-US" sz="4000" b="0" i="1" smtClean="0">
                                  <a:solidFill>
                                    <a:schemeClr val="bg1"/>
                                  </a:solidFill>
                                  <a:latin typeface="Cambria Math" panose="02040503050406030204" pitchFamily="18" charset="0"/>
                                </a:rPr>
                                <m:t>𝑞</m:t>
                              </m:r>
                            </m:e>
                            <m:sub>
                              <m:r>
                                <a:rPr lang="en-US" sz="4000" b="0" i="1" smtClean="0">
                                  <a:solidFill>
                                    <a:schemeClr val="bg1"/>
                                  </a:solidFill>
                                  <a:latin typeface="Cambria Math" panose="02040503050406030204" pitchFamily="18" charset="0"/>
                                </a:rPr>
                                <m:t>2</m:t>
                              </m:r>
                            </m:sub>
                          </m:sSub>
                        </m:num>
                        <m:den>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𝑟</m:t>
                              </m:r>
                            </m:e>
                            <m:sup>
                              <m:r>
                                <a:rPr lang="en-US" sz="4000" b="0" i="1" smtClean="0">
                                  <a:solidFill>
                                    <a:schemeClr val="bg1"/>
                                  </a:solidFill>
                                  <a:latin typeface="Cambria Math" panose="02040503050406030204" pitchFamily="18" charset="0"/>
                                </a:rPr>
                                <m:t>2</m:t>
                              </m:r>
                            </m:sup>
                          </m:sSup>
                        </m:den>
                      </m:f>
                    </m:oMath>
                  </m:oMathPara>
                </a14:m>
                <a:endParaRPr lang="en-US" sz="4000" b="0" i="1" dirty="0">
                  <a:solidFill>
                    <a:schemeClr val="bg1"/>
                  </a:solidFill>
                  <a:latin typeface="Cambria Math" panose="02040503050406030204" pitchFamily="18" charset="0"/>
                </a:endParaRPr>
              </a:p>
            </p:txBody>
          </p:sp>
        </mc:Choice>
        <mc:Fallback>
          <p:sp>
            <p:nvSpPr>
              <p:cNvPr id="5" name="TextBox 4">
                <a:extLst>
                  <a:ext uri="{FF2B5EF4-FFF2-40B4-BE49-F238E27FC236}">
                    <a16:creationId xmlns:a16="http://schemas.microsoft.com/office/drawing/2014/main" id="{2DB973C4-585B-6FF8-8658-A72C018F73CA}"/>
                  </a:ext>
                </a:extLst>
              </p:cNvPr>
              <p:cNvSpPr txBox="1">
                <a:spLocks noRot="1" noChangeAspect="1" noMove="1" noResize="1" noEditPoints="1" noAdjustHandles="1" noChangeArrowheads="1" noChangeShapeType="1" noTextEdit="1"/>
              </p:cNvSpPr>
              <p:nvPr/>
            </p:nvSpPr>
            <p:spPr>
              <a:xfrm>
                <a:off x="1449172" y="3227919"/>
                <a:ext cx="4323072" cy="1257075"/>
              </a:xfrm>
              <a:prstGeom prst="rect">
                <a:avLst/>
              </a:prstGeom>
              <a:blipFill>
                <a:blip r:embed="rId2"/>
                <a:stretch>
                  <a:fillRect b="-39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62FE1C9A-0921-861B-E0C0-61AF285ADAE4}"/>
                  </a:ext>
                </a:extLst>
              </p:cNvPr>
              <p:cNvSpPr txBox="1"/>
              <p:nvPr/>
            </p:nvSpPr>
            <p:spPr>
              <a:xfrm>
                <a:off x="1449172" y="4634680"/>
                <a:ext cx="4323072" cy="1257075"/>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14:m>
                  <m:oMathPara xmlns:m="http://schemas.openxmlformats.org/officeDocument/2006/math">
                    <m:oMath>
                      <m:r>
                        <a:rPr lang="en-US" sz="4000" b="0" i="1" smtClean="0">
                          <a:solidFill>
                            <a:schemeClr val="bg1"/>
                          </a:solidFill>
                          <a:latin typeface="Cambria Math" panose="02040503050406030204" pitchFamily="18" charset="0"/>
                        </a:rPr>
                        <m:t>𝑊</m:t>
                      </m:r>
                      <m:r>
                        <a:rPr lang="en-US" sz="4000" b="0" i="1" smtClean="0">
                          <a:solidFill>
                            <a:schemeClr val="bg1"/>
                          </a:solidFill>
                          <a:latin typeface="Cambria Math" panose="02040503050406030204" pitchFamily="18" charset="0"/>
                        </a:rPr>
                        <m:t>=</m:t>
                      </m:r>
                      <m:r>
                        <a:rPr lang="en-US" sz="4000" b="0" i="1" smtClean="0">
                          <a:solidFill>
                            <a:schemeClr val="bg1"/>
                          </a:solidFill>
                          <a:latin typeface="Cambria Math" panose="02040503050406030204" pitchFamily="18" charset="0"/>
                        </a:rPr>
                        <m:t>𝐹</m:t>
                      </m:r>
                      <m:r>
                        <a:rPr lang="en-US" sz="4000" b="0" i="1" smtClean="0">
                          <a:solidFill>
                            <a:schemeClr val="bg1"/>
                          </a:solidFill>
                          <a:latin typeface="Cambria Math" panose="02040503050406030204" pitchFamily="18" charset="0"/>
                        </a:rPr>
                        <m:t>⋅</m:t>
                      </m:r>
                      <m:r>
                        <m:rPr>
                          <m:sty m:val="p"/>
                        </m:rPr>
                        <a:rPr lang="en-US" sz="4000" b="0" i="1" smtClean="0">
                          <a:solidFill>
                            <a:schemeClr val="bg1"/>
                          </a:solidFill>
                          <a:latin typeface="Cambria Math" panose="02040503050406030204" pitchFamily="18" charset="0"/>
                        </a:rPr>
                        <m:t>r</m:t>
                      </m:r>
                      <m:r>
                        <a:rPr lang="en-US" sz="4000" b="0" i="1" smtClean="0">
                          <a:solidFill>
                            <a:schemeClr val="bg1"/>
                          </a:solidFill>
                          <a:latin typeface="Cambria Math" panose="02040503050406030204" pitchFamily="18" charset="0"/>
                        </a:rPr>
                        <m:t>=</m:t>
                      </m:r>
                      <m:f>
                        <m:fPr>
                          <m:ctrlPr>
                            <a:rPr lang="en-US" sz="4000" b="0" i="1" smtClean="0">
                              <a:solidFill>
                                <a:schemeClr val="bg1"/>
                              </a:solidFill>
                              <a:latin typeface="Cambria Math" panose="02040503050406030204" pitchFamily="18" charset="0"/>
                            </a:rPr>
                          </m:ctrlPr>
                        </m:fPr>
                        <m:num>
                          <m:r>
                            <a:rPr lang="en-US" sz="4000" b="0" i="1" smtClean="0">
                              <a:solidFill>
                                <a:schemeClr val="bg1"/>
                              </a:solidFill>
                              <a:latin typeface="Cambria Math" panose="02040503050406030204" pitchFamily="18" charset="0"/>
                            </a:rPr>
                            <m:t>𝑘</m:t>
                          </m:r>
                          <m:sSub>
                            <m:sSubPr>
                              <m:ctrlPr>
                                <a:rPr lang="en-US" sz="4000" b="0" i="1" smtClean="0">
                                  <a:solidFill>
                                    <a:schemeClr val="bg1"/>
                                  </a:solidFill>
                                  <a:latin typeface="Cambria Math" panose="02040503050406030204" pitchFamily="18" charset="0"/>
                                </a:rPr>
                              </m:ctrlPr>
                            </m:sSubPr>
                            <m:e>
                              <m:r>
                                <a:rPr lang="en-US" sz="4000" b="0" i="1" smtClean="0">
                                  <a:solidFill>
                                    <a:schemeClr val="bg1"/>
                                  </a:solidFill>
                                  <a:latin typeface="Cambria Math" panose="02040503050406030204" pitchFamily="18" charset="0"/>
                                </a:rPr>
                                <m:t>𝑞</m:t>
                              </m:r>
                            </m:e>
                            <m:sub>
                              <m:r>
                                <a:rPr lang="en-US" sz="4000" b="0" i="1" smtClean="0">
                                  <a:solidFill>
                                    <a:schemeClr val="bg1"/>
                                  </a:solidFill>
                                  <a:latin typeface="Cambria Math" panose="02040503050406030204" pitchFamily="18" charset="0"/>
                                </a:rPr>
                                <m:t>1</m:t>
                              </m:r>
                            </m:sub>
                          </m:sSub>
                          <m:sSub>
                            <m:sSubPr>
                              <m:ctrlPr>
                                <a:rPr lang="en-US" sz="4000" b="0" i="1" smtClean="0">
                                  <a:solidFill>
                                    <a:schemeClr val="bg1"/>
                                  </a:solidFill>
                                  <a:latin typeface="Cambria Math" panose="02040503050406030204" pitchFamily="18" charset="0"/>
                                </a:rPr>
                              </m:ctrlPr>
                            </m:sSubPr>
                            <m:e>
                              <m:r>
                                <a:rPr lang="en-US" sz="4000" b="0" i="1" smtClean="0">
                                  <a:solidFill>
                                    <a:schemeClr val="bg1"/>
                                  </a:solidFill>
                                  <a:latin typeface="Cambria Math" panose="02040503050406030204" pitchFamily="18" charset="0"/>
                                </a:rPr>
                                <m:t>𝑞</m:t>
                              </m:r>
                            </m:e>
                            <m:sub>
                              <m:r>
                                <a:rPr lang="en-US" sz="4000" b="0" i="1" smtClean="0">
                                  <a:solidFill>
                                    <a:schemeClr val="bg1"/>
                                  </a:solidFill>
                                  <a:latin typeface="Cambria Math" panose="02040503050406030204" pitchFamily="18" charset="0"/>
                                </a:rPr>
                                <m:t>2</m:t>
                              </m:r>
                            </m:sub>
                          </m:sSub>
                        </m:num>
                        <m:den>
                          <m:r>
                            <m:rPr>
                              <m:sty m:val="p"/>
                            </m:rPr>
                            <a:rPr lang="en-US" sz="4000" b="0" i="1" smtClean="0">
                              <a:solidFill>
                                <a:schemeClr val="bg1"/>
                              </a:solidFill>
                              <a:latin typeface="Cambria Math" panose="02040503050406030204" pitchFamily="18" charset="0"/>
                            </a:rPr>
                            <m:t>r</m:t>
                          </m:r>
                        </m:den>
                      </m:f>
                    </m:oMath>
                  </m:oMathPara>
                </a14:m>
                <a:endParaRPr lang="en-US" sz="4000" b="0" i="1" dirty="0">
                  <a:solidFill>
                    <a:schemeClr val="bg1"/>
                  </a:solidFill>
                  <a:latin typeface="Cambria Math" panose="02040503050406030204" pitchFamily="18" charset="0"/>
                </a:endParaRPr>
              </a:p>
            </p:txBody>
          </p:sp>
        </mc:Choice>
        <mc:Fallback>
          <p:sp>
            <p:nvSpPr>
              <p:cNvPr id="7" name="TextBox 6">
                <a:extLst>
                  <a:ext uri="{FF2B5EF4-FFF2-40B4-BE49-F238E27FC236}">
                    <a16:creationId xmlns:a16="http://schemas.microsoft.com/office/drawing/2014/main" id="{62FE1C9A-0921-861B-E0C0-61AF285ADAE4}"/>
                  </a:ext>
                </a:extLst>
              </p:cNvPr>
              <p:cNvSpPr txBox="1">
                <a:spLocks noRot="1" noChangeAspect="1" noMove="1" noResize="1" noEditPoints="1" noAdjustHandles="1" noChangeArrowheads="1" noChangeShapeType="1" noTextEdit="1"/>
              </p:cNvSpPr>
              <p:nvPr/>
            </p:nvSpPr>
            <p:spPr>
              <a:xfrm>
                <a:off x="1449172" y="4634680"/>
                <a:ext cx="4323072" cy="1257075"/>
              </a:xfrm>
              <a:prstGeom prst="rect">
                <a:avLst/>
              </a:prstGeom>
              <a:blipFill>
                <a:blip r:embed="rId3"/>
                <a:stretch>
                  <a:fillRect l="-292" b="-3922"/>
                </a:stretch>
              </a:blipFill>
            </p:spPr>
            <p:txBody>
              <a:bodyPr/>
              <a:lstStyle/>
              <a:p>
                <a:r>
                  <a:rPr lang="en-US">
                    <a:noFill/>
                  </a:rPr>
                  <a:t> </a:t>
                </a:r>
              </a:p>
            </p:txBody>
          </p:sp>
        </mc:Fallback>
      </mc:AlternateContent>
      <p:pic>
        <p:nvPicPr>
          <p:cNvPr id="11" name="Picture 10" descr="Demonstration of Coulomb’s law. Two positive charges repel. A positive and negative charge attract. ">
            <a:extLst>
              <a:ext uri="{FF2B5EF4-FFF2-40B4-BE49-F238E27FC236}">
                <a16:creationId xmlns:a16="http://schemas.microsoft.com/office/drawing/2014/main" id="{F51563B7-F578-A05F-E8C1-FEA34C0D147F}"/>
              </a:ext>
            </a:extLst>
          </p:cNvPr>
          <p:cNvPicPr>
            <a:picLocks noChangeAspect="1"/>
          </p:cNvPicPr>
          <p:nvPr/>
        </p:nvPicPr>
        <p:blipFill>
          <a:blip r:embed="rId4"/>
          <a:stretch>
            <a:fillRect/>
          </a:stretch>
        </p:blipFill>
        <p:spPr>
          <a:xfrm>
            <a:off x="6718808" y="1564783"/>
            <a:ext cx="4191000" cy="3352800"/>
          </a:xfrm>
          <a:prstGeom prst="rect">
            <a:avLst/>
          </a:prstGeom>
        </p:spPr>
      </p:pic>
      <p:sp>
        <p:nvSpPr>
          <p:cNvPr id="12" name="TextBox 11">
            <a:extLst>
              <a:ext uri="{FF2B5EF4-FFF2-40B4-BE49-F238E27FC236}">
                <a16:creationId xmlns:a16="http://schemas.microsoft.com/office/drawing/2014/main" id="{F8F049AE-02D1-CF6A-1867-10529E2B441B}"/>
              </a:ext>
            </a:extLst>
          </p:cNvPr>
          <p:cNvSpPr txBox="1"/>
          <p:nvPr/>
        </p:nvSpPr>
        <p:spPr>
          <a:xfrm>
            <a:off x="6096000" y="4977740"/>
            <a:ext cx="3281983" cy="923330"/>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r>
              <a:rPr lang="en-US" dirty="0">
                <a:solidFill>
                  <a:schemeClr val="tx1">
                    <a:lumMod val="50000"/>
                  </a:schemeClr>
                </a:solidFill>
              </a:rPr>
              <a:t>Work is the product of the amount of force over the distance</a:t>
            </a:r>
          </a:p>
        </p:txBody>
      </p:sp>
      <p:sp>
        <p:nvSpPr>
          <p:cNvPr id="13" name="TextBox 12">
            <a:extLst>
              <a:ext uri="{FF2B5EF4-FFF2-40B4-BE49-F238E27FC236}">
                <a16:creationId xmlns:a16="http://schemas.microsoft.com/office/drawing/2014/main" id="{C86B6EC5-0E4B-4C16-9DAD-07CD22078BD9}"/>
              </a:ext>
            </a:extLst>
          </p:cNvPr>
          <p:cNvSpPr txBox="1"/>
          <p:nvPr/>
        </p:nvSpPr>
        <p:spPr>
          <a:xfrm>
            <a:off x="2411133" y="6220018"/>
            <a:ext cx="4880344"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US" dirty="0"/>
              <a:t>Not responsible for this, just for enrichment</a:t>
            </a:r>
          </a:p>
        </p:txBody>
      </p:sp>
    </p:spTree>
    <p:extLst>
      <p:ext uri="{BB962C8B-B14F-4D97-AF65-F5344CB8AC3E}">
        <p14:creationId xmlns:p14="http://schemas.microsoft.com/office/powerpoint/2010/main" val="15551989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38EE8-97AC-6C20-F047-4862D0BC0F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714EB1-58AB-1835-7FA4-D2B866A03144}"/>
              </a:ext>
            </a:extLst>
          </p:cNvPr>
          <p:cNvSpPr>
            <a:spLocks noGrp="1"/>
          </p:cNvSpPr>
          <p:nvPr>
            <p:ph type="title"/>
          </p:nvPr>
        </p:nvSpPr>
        <p:spPr>
          <a:xfrm>
            <a:off x="406731" y="1064941"/>
            <a:ext cx="10515600" cy="868680"/>
          </a:xfrm>
        </p:spPr>
        <p:txBody>
          <a:bodyPr/>
          <a:lstStyle/>
          <a:p>
            <a:r>
              <a:rPr lang="en-US" dirty="0"/>
              <a:t>Electricity</a:t>
            </a:r>
          </a:p>
        </p:txBody>
      </p:sp>
      <p:sp>
        <p:nvSpPr>
          <p:cNvPr id="3" name="Content Placeholder 2">
            <a:extLst>
              <a:ext uri="{FF2B5EF4-FFF2-40B4-BE49-F238E27FC236}">
                <a16:creationId xmlns:a16="http://schemas.microsoft.com/office/drawing/2014/main" id="{E184AF5D-85B0-86D3-3FE6-269301FF3BD0}"/>
              </a:ext>
            </a:extLst>
          </p:cNvPr>
          <p:cNvSpPr>
            <a:spLocks noGrp="1"/>
          </p:cNvSpPr>
          <p:nvPr>
            <p:ph idx="1"/>
          </p:nvPr>
        </p:nvSpPr>
        <p:spPr>
          <a:xfrm>
            <a:off x="394209" y="2030622"/>
            <a:ext cx="6217572" cy="4048171"/>
          </a:xfrm>
        </p:spPr>
        <p:txBody>
          <a:bodyPr/>
          <a:lstStyle/>
          <a:p>
            <a:r>
              <a:rPr lang="en-US" dirty="0"/>
              <a:t>This is hard… let’s simplify.</a:t>
            </a:r>
          </a:p>
          <a:p>
            <a:r>
              <a:rPr lang="en-US" dirty="0"/>
              <a:t>Develop the concept of an electric FIELD  by dividing out one charge </a:t>
            </a:r>
          </a:p>
          <a:p>
            <a:pPr lvl="1"/>
            <a:r>
              <a:rPr lang="en-US" dirty="0"/>
              <a:t>The “test charge”</a:t>
            </a:r>
          </a:p>
          <a:p>
            <a:r>
              <a:rPr lang="en-US" dirty="0"/>
              <a:t>Then we have the FIELD from the other charge</a:t>
            </a:r>
          </a:p>
        </p:txBody>
      </p:sp>
      <p:sp>
        <p:nvSpPr>
          <p:cNvPr id="4" name="Slide Number Placeholder 3">
            <a:extLst>
              <a:ext uri="{FF2B5EF4-FFF2-40B4-BE49-F238E27FC236}">
                <a16:creationId xmlns:a16="http://schemas.microsoft.com/office/drawing/2014/main" id="{A8FD82B9-0467-10EB-AE9B-3D94A601DC45}"/>
              </a:ext>
            </a:extLst>
          </p:cNvPr>
          <p:cNvSpPr>
            <a:spLocks noGrp="1"/>
          </p:cNvSpPr>
          <p:nvPr>
            <p:ph type="sldNum" sz="quarter" idx="12"/>
          </p:nvPr>
        </p:nvSpPr>
        <p:spPr/>
        <p:txBody>
          <a:bodyPr/>
          <a:lstStyle/>
          <a:p>
            <a:fld id="{C5EF2332-01BF-834F-8236-50238282D533}" type="slidenum">
              <a:rPr lang="en-US" smtClean="0"/>
              <a:t>19</a:t>
            </a:fld>
            <a:endParaRPr lang="en-US"/>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56C10E88-7CF6-1C5B-5198-69374B3ED47D}"/>
                  </a:ext>
                </a:extLst>
              </p:cNvPr>
              <p:cNvSpPr txBox="1"/>
              <p:nvPr/>
            </p:nvSpPr>
            <p:spPr>
              <a:xfrm>
                <a:off x="680647" y="4428326"/>
                <a:ext cx="5657218" cy="1364733"/>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14:m>
                  <m:oMathPara xmlns:m="http://schemas.openxmlformats.org/officeDocument/2006/math">
                    <m:oMath>
                      <m:r>
                        <m:rPr>
                          <m:sty m:val="p"/>
                        </m:rPr>
                        <a:rPr lang="en-US" sz="4000" b="0" i="1" smtClean="0">
                          <a:solidFill>
                            <a:schemeClr val="bg1"/>
                          </a:solidFill>
                          <a:latin typeface="Cambria Math" panose="02040503050406030204" pitchFamily="18" charset="0"/>
                        </a:rPr>
                        <m:t>Electric</m:t>
                      </m:r>
                      <m:r>
                        <a:rPr lang="en-US" sz="4000" b="0" i="1" smtClean="0">
                          <a:solidFill>
                            <a:schemeClr val="bg1"/>
                          </a:solidFill>
                          <a:latin typeface="Cambria Math" panose="02040503050406030204" pitchFamily="18" charset="0"/>
                        </a:rPr>
                        <m:t> </m:t>
                      </m:r>
                      <m:r>
                        <m:rPr>
                          <m:sty m:val="p"/>
                        </m:rPr>
                        <a:rPr lang="en-US" sz="4000" b="0" i="1" smtClean="0">
                          <a:solidFill>
                            <a:schemeClr val="bg1"/>
                          </a:solidFill>
                          <a:latin typeface="Cambria Math" panose="02040503050406030204" pitchFamily="18" charset="0"/>
                        </a:rPr>
                        <m:t>field</m:t>
                      </m:r>
                      <m:r>
                        <a:rPr lang="en-US" sz="4000" b="0" i="1" smtClean="0">
                          <a:solidFill>
                            <a:schemeClr val="bg1"/>
                          </a:solidFill>
                          <a:latin typeface="Cambria Math" panose="02040503050406030204" pitchFamily="18" charset="0"/>
                        </a:rPr>
                        <m:t>=</m:t>
                      </m:r>
                      <m:f>
                        <m:fPr>
                          <m:ctrlPr>
                            <a:rPr lang="en-US" sz="4000" b="0" i="1" smtClean="0">
                              <a:solidFill>
                                <a:schemeClr val="bg1"/>
                              </a:solidFill>
                              <a:latin typeface="Cambria Math" panose="02040503050406030204" pitchFamily="18" charset="0"/>
                            </a:rPr>
                          </m:ctrlPr>
                        </m:fPr>
                        <m:num>
                          <m:r>
                            <a:rPr lang="en-US" sz="4000" b="0" i="1" smtClean="0">
                              <a:solidFill>
                                <a:schemeClr val="bg1"/>
                              </a:solidFill>
                              <a:latin typeface="Cambria Math" panose="02040503050406030204" pitchFamily="18" charset="0"/>
                            </a:rPr>
                            <m:t>𝐹</m:t>
                          </m:r>
                        </m:num>
                        <m:den>
                          <m:sSub>
                            <m:sSubPr>
                              <m:ctrlPr>
                                <a:rPr lang="en-US" sz="4000" b="0" i="1" smtClean="0">
                                  <a:solidFill>
                                    <a:schemeClr val="bg1"/>
                                  </a:solidFill>
                                  <a:latin typeface="Cambria Math" panose="02040503050406030204" pitchFamily="18" charset="0"/>
                                </a:rPr>
                              </m:ctrlPr>
                            </m:sSubPr>
                            <m:e>
                              <m:r>
                                <a:rPr lang="en-US" sz="4000" b="0" i="1" smtClean="0">
                                  <a:solidFill>
                                    <a:schemeClr val="bg1"/>
                                  </a:solidFill>
                                  <a:latin typeface="Cambria Math" panose="02040503050406030204" pitchFamily="18" charset="0"/>
                                </a:rPr>
                                <m:t>𝑞</m:t>
                              </m:r>
                            </m:e>
                            <m:sub>
                              <m:r>
                                <a:rPr lang="en-US" sz="4000" b="0" i="1" smtClean="0">
                                  <a:solidFill>
                                    <a:schemeClr val="bg1"/>
                                  </a:solidFill>
                                  <a:latin typeface="Cambria Math" panose="02040503050406030204" pitchFamily="18" charset="0"/>
                                </a:rPr>
                                <m:t>1</m:t>
                              </m:r>
                            </m:sub>
                          </m:sSub>
                        </m:den>
                      </m:f>
                      <m:r>
                        <a:rPr lang="en-US" sz="4000" b="0" i="1" smtClean="0">
                          <a:solidFill>
                            <a:schemeClr val="bg1"/>
                          </a:solidFill>
                          <a:latin typeface="Cambria Math" panose="02040503050406030204" pitchFamily="18" charset="0"/>
                        </a:rPr>
                        <m:t>= </m:t>
                      </m:r>
                      <m:f>
                        <m:fPr>
                          <m:ctrlPr>
                            <a:rPr lang="en-US" sz="4000" b="0" i="1" smtClean="0">
                              <a:solidFill>
                                <a:schemeClr val="bg1"/>
                              </a:solidFill>
                              <a:latin typeface="Cambria Math" panose="02040503050406030204" pitchFamily="18" charset="0"/>
                            </a:rPr>
                          </m:ctrlPr>
                        </m:fPr>
                        <m:num>
                          <m:r>
                            <a:rPr lang="en-US" sz="4000" b="0" i="1" smtClean="0">
                              <a:solidFill>
                                <a:schemeClr val="bg1"/>
                              </a:solidFill>
                              <a:latin typeface="Cambria Math" panose="02040503050406030204" pitchFamily="18" charset="0"/>
                            </a:rPr>
                            <m:t>𝑘</m:t>
                          </m:r>
                          <m:sSub>
                            <m:sSubPr>
                              <m:ctrlPr>
                                <a:rPr lang="en-US" sz="4000" b="0" i="1" smtClean="0">
                                  <a:solidFill>
                                    <a:schemeClr val="bg1"/>
                                  </a:solidFill>
                                  <a:latin typeface="Cambria Math" panose="02040503050406030204" pitchFamily="18" charset="0"/>
                                </a:rPr>
                              </m:ctrlPr>
                            </m:sSubPr>
                            <m:e>
                              <m:r>
                                <a:rPr lang="en-US" sz="4000" b="0" i="1" smtClean="0">
                                  <a:solidFill>
                                    <a:schemeClr val="bg1"/>
                                  </a:solidFill>
                                  <a:latin typeface="Cambria Math" panose="02040503050406030204" pitchFamily="18" charset="0"/>
                                </a:rPr>
                                <m:t>𝑞</m:t>
                              </m:r>
                            </m:e>
                            <m:sub>
                              <m:r>
                                <a:rPr lang="en-US" sz="4000" b="0" i="1" smtClean="0">
                                  <a:solidFill>
                                    <a:schemeClr val="bg1"/>
                                  </a:solidFill>
                                  <a:latin typeface="Cambria Math" panose="02040503050406030204" pitchFamily="18" charset="0"/>
                                </a:rPr>
                                <m:t>2</m:t>
                              </m:r>
                            </m:sub>
                          </m:sSub>
                        </m:num>
                        <m:den>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𝑟</m:t>
                              </m:r>
                            </m:e>
                            <m:sup>
                              <m:r>
                                <a:rPr lang="en-US" sz="4000" b="0" i="1" smtClean="0">
                                  <a:solidFill>
                                    <a:schemeClr val="bg1"/>
                                  </a:solidFill>
                                  <a:latin typeface="Cambria Math" panose="02040503050406030204" pitchFamily="18" charset="0"/>
                                </a:rPr>
                                <m:t>2</m:t>
                              </m:r>
                            </m:sup>
                          </m:sSup>
                        </m:den>
                      </m:f>
                    </m:oMath>
                  </m:oMathPara>
                </a14:m>
                <a:endParaRPr lang="en-US" sz="4000" b="0" i="1" dirty="0">
                  <a:solidFill>
                    <a:schemeClr val="bg1"/>
                  </a:solidFill>
                  <a:latin typeface="Cambria Math" panose="02040503050406030204" pitchFamily="18" charset="0"/>
                </a:endParaRPr>
              </a:p>
            </p:txBody>
          </p:sp>
        </mc:Choice>
        <mc:Fallback>
          <p:sp>
            <p:nvSpPr>
              <p:cNvPr id="5" name="TextBox 4">
                <a:extLst>
                  <a:ext uri="{FF2B5EF4-FFF2-40B4-BE49-F238E27FC236}">
                    <a16:creationId xmlns:a16="http://schemas.microsoft.com/office/drawing/2014/main" id="{56C10E88-7CF6-1C5B-5198-69374B3ED47D}"/>
                  </a:ext>
                </a:extLst>
              </p:cNvPr>
              <p:cNvSpPr txBox="1">
                <a:spLocks noRot="1" noChangeAspect="1" noMove="1" noResize="1" noEditPoints="1" noAdjustHandles="1" noChangeArrowheads="1" noChangeShapeType="1" noTextEdit="1"/>
              </p:cNvSpPr>
              <p:nvPr/>
            </p:nvSpPr>
            <p:spPr>
              <a:xfrm>
                <a:off x="680647" y="4428326"/>
                <a:ext cx="5657218" cy="1364733"/>
              </a:xfrm>
              <a:prstGeom prst="rect">
                <a:avLst/>
              </a:prstGeom>
              <a:blipFill>
                <a:blip r:embed="rId2"/>
                <a:stretch>
                  <a:fillRect l="-891" b="-9091"/>
                </a:stretch>
              </a:blipFill>
            </p:spPr>
            <p:txBody>
              <a:bodyPr/>
              <a:lstStyle/>
              <a:p>
                <a:r>
                  <a:rPr lang="en-US">
                    <a:noFill/>
                  </a:rPr>
                  <a:t> </a:t>
                </a:r>
              </a:p>
            </p:txBody>
          </p:sp>
        </mc:Fallback>
      </mc:AlternateContent>
      <p:pic>
        <p:nvPicPr>
          <p:cNvPr id="8" name="Picture 7" descr="Demonstration of Coulomb’s law. Two positive charges repel. A positive and negative charge attract. ">
            <a:extLst>
              <a:ext uri="{FF2B5EF4-FFF2-40B4-BE49-F238E27FC236}">
                <a16:creationId xmlns:a16="http://schemas.microsoft.com/office/drawing/2014/main" id="{F2FDDC92-F494-4E38-E45C-4FE1991CA91C}"/>
              </a:ext>
            </a:extLst>
          </p:cNvPr>
          <p:cNvPicPr>
            <a:picLocks noChangeAspect="1"/>
          </p:cNvPicPr>
          <p:nvPr/>
        </p:nvPicPr>
        <p:blipFill>
          <a:blip r:embed="rId3"/>
          <a:stretch>
            <a:fillRect/>
          </a:stretch>
        </p:blipFill>
        <p:spPr>
          <a:xfrm>
            <a:off x="6611780" y="1760312"/>
            <a:ext cx="4191000" cy="3352800"/>
          </a:xfrm>
          <a:prstGeom prst="rect">
            <a:avLst/>
          </a:prstGeom>
        </p:spPr>
      </p:pic>
      <p:sp>
        <p:nvSpPr>
          <p:cNvPr id="10" name="TextBox 9">
            <a:extLst>
              <a:ext uri="{FF2B5EF4-FFF2-40B4-BE49-F238E27FC236}">
                <a16:creationId xmlns:a16="http://schemas.microsoft.com/office/drawing/2014/main" id="{3CE7A150-C072-940F-4251-C576115DCC71}"/>
              </a:ext>
            </a:extLst>
          </p:cNvPr>
          <p:cNvSpPr txBox="1"/>
          <p:nvPr/>
        </p:nvSpPr>
        <p:spPr>
          <a:xfrm>
            <a:off x="7321026" y="5037114"/>
            <a:ext cx="3481754" cy="276999"/>
          </a:xfrm>
          <a:prstGeom prst="rect">
            <a:avLst/>
          </a:prstGeom>
          <a:noFill/>
        </p:spPr>
        <p:txBody>
          <a:bodyPr wrap="square">
            <a:spAutoFit/>
          </a:bodyPr>
          <a:lstStyle/>
          <a:p>
            <a:r>
              <a:rPr lang="en-US" sz="1200" dirty="0"/>
              <a:t>https://</a:t>
            </a:r>
            <a:r>
              <a:rPr lang="en-US" sz="1200" dirty="0" err="1"/>
              <a:t>en.wikipedia.org</a:t>
            </a:r>
            <a:r>
              <a:rPr lang="en-US" sz="1200" dirty="0"/>
              <a:t>/wiki/Coulomb%27s_law</a:t>
            </a:r>
          </a:p>
        </p:txBody>
      </p:sp>
      <p:sp>
        <p:nvSpPr>
          <p:cNvPr id="6" name="TextBox 5">
            <a:extLst>
              <a:ext uri="{FF2B5EF4-FFF2-40B4-BE49-F238E27FC236}">
                <a16:creationId xmlns:a16="http://schemas.microsoft.com/office/drawing/2014/main" id="{1944024B-2A36-6B1E-683C-496687A270D2}"/>
              </a:ext>
            </a:extLst>
          </p:cNvPr>
          <p:cNvSpPr txBox="1"/>
          <p:nvPr/>
        </p:nvSpPr>
        <p:spPr>
          <a:xfrm>
            <a:off x="680647" y="6078793"/>
            <a:ext cx="3465654"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dirty="0"/>
              <a:t>Electric field</a:t>
            </a:r>
            <a:r>
              <a:rPr lang="en-US" dirty="0"/>
              <a:t>: </a:t>
            </a:r>
          </a:p>
          <a:p>
            <a:r>
              <a:rPr lang="en-US" dirty="0"/>
              <a:t>Newtons / Coulomb</a:t>
            </a:r>
            <a:endParaRPr lang="en-US" baseline="30000" dirty="0"/>
          </a:p>
        </p:txBody>
      </p:sp>
      <p:cxnSp>
        <p:nvCxnSpPr>
          <p:cNvPr id="9" name="Straight Arrow Connector 8">
            <a:extLst>
              <a:ext uri="{FF2B5EF4-FFF2-40B4-BE49-F238E27FC236}">
                <a16:creationId xmlns:a16="http://schemas.microsoft.com/office/drawing/2014/main" id="{81907FE1-BA05-876B-92E8-3F6CF4863DA1}"/>
              </a:ext>
            </a:extLst>
          </p:cNvPr>
          <p:cNvCxnSpPr>
            <a:cxnSpLocks/>
            <a:stCxn id="6" idx="0"/>
          </p:cNvCxnSpPr>
          <p:nvPr/>
        </p:nvCxnSpPr>
        <p:spPr>
          <a:xfrm flipV="1">
            <a:off x="2413474" y="5479908"/>
            <a:ext cx="548797" cy="598885"/>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11" name="TextBox 10">
            <a:extLst>
              <a:ext uri="{FF2B5EF4-FFF2-40B4-BE49-F238E27FC236}">
                <a16:creationId xmlns:a16="http://schemas.microsoft.com/office/drawing/2014/main" id="{AF11F4C2-27F3-9A9A-9F35-46A2517FCBED}"/>
              </a:ext>
            </a:extLst>
          </p:cNvPr>
          <p:cNvSpPr txBox="1"/>
          <p:nvPr/>
        </p:nvSpPr>
        <p:spPr>
          <a:xfrm>
            <a:off x="4275102" y="6301707"/>
            <a:ext cx="4880344"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US" dirty="0"/>
              <a:t>Not responsible for this, just for enrichment</a:t>
            </a:r>
          </a:p>
        </p:txBody>
      </p:sp>
    </p:spTree>
    <p:extLst>
      <p:ext uri="{BB962C8B-B14F-4D97-AF65-F5344CB8AC3E}">
        <p14:creationId xmlns:p14="http://schemas.microsoft.com/office/powerpoint/2010/main" val="33684944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C8E28-4CB0-B756-C7E0-2640D38F06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9F55F9-D46F-AC5C-31EA-6651134C6566}"/>
              </a:ext>
            </a:extLst>
          </p:cNvPr>
          <p:cNvSpPr>
            <a:spLocks noGrp="1"/>
          </p:cNvSpPr>
          <p:nvPr>
            <p:ph type="title"/>
          </p:nvPr>
        </p:nvSpPr>
        <p:spPr>
          <a:xfrm>
            <a:off x="406731" y="1064941"/>
            <a:ext cx="10515600" cy="868680"/>
          </a:xfrm>
        </p:spPr>
        <p:txBody>
          <a:bodyPr/>
          <a:lstStyle/>
          <a:p>
            <a:r>
              <a:rPr lang="en-US" dirty="0"/>
              <a:t>Electricity</a:t>
            </a:r>
          </a:p>
        </p:txBody>
      </p:sp>
      <p:sp>
        <p:nvSpPr>
          <p:cNvPr id="3" name="Content Placeholder 2">
            <a:extLst>
              <a:ext uri="{FF2B5EF4-FFF2-40B4-BE49-F238E27FC236}">
                <a16:creationId xmlns:a16="http://schemas.microsoft.com/office/drawing/2014/main" id="{8D22043B-9CD7-D8D8-BF43-3B52DC2C7EB7}"/>
              </a:ext>
            </a:extLst>
          </p:cNvPr>
          <p:cNvSpPr>
            <a:spLocks noGrp="1"/>
          </p:cNvSpPr>
          <p:nvPr>
            <p:ph idx="1"/>
          </p:nvPr>
        </p:nvSpPr>
        <p:spPr>
          <a:xfrm>
            <a:off x="394209" y="2030622"/>
            <a:ext cx="6217572" cy="4048171"/>
          </a:xfrm>
        </p:spPr>
        <p:txBody>
          <a:bodyPr/>
          <a:lstStyle/>
          <a:p>
            <a:r>
              <a:rPr lang="en-US" dirty="0"/>
              <a:t>We can also develop the electric </a:t>
            </a:r>
            <a:r>
              <a:rPr lang="en-US" b="1" dirty="0"/>
              <a:t>POTENTIAL</a:t>
            </a:r>
            <a:r>
              <a:rPr lang="en-US" dirty="0"/>
              <a:t> from the electric </a:t>
            </a:r>
            <a:r>
              <a:rPr lang="en-US" b="1" dirty="0"/>
              <a:t>ENERGY (or work) </a:t>
            </a:r>
            <a:r>
              <a:rPr lang="en-US" dirty="0"/>
              <a:t>in the same way</a:t>
            </a:r>
          </a:p>
        </p:txBody>
      </p:sp>
      <p:sp>
        <p:nvSpPr>
          <p:cNvPr id="4" name="Slide Number Placeholder 3">
            <a:extLst>
              <a:ext uri="{FF2B5EF4-FFF2-40B4-BE49-F238E27FC236}">
                <a16:creationId xmlns:a16="http://schemas.microsoft.com/office/drawing/2014/main" id="{34439599-916A-AC58-53BE-032F394C3F74}"/>
              </a:ext>
            </a:extLst>
          </p:cNvPr>
          <p:cNvSpPr>
            <a:spLocks noGrp="1"/>
          </p:cNvSpPr>
          <p:nvPr>
            <p:ph type="sldNum" sz="quarter" idx="12"/>
          </p:nvPr>
        </p:nvSpPr>
        <p:spPr/>
        <p:txBody>
          <a:bodyPr/>
          <a:lstStyle/>
          <a:p>
            <a:fld id="{C5EF2332-01BF-834F-8236-50238282D533}" type="slidenum">
              <a:rPr lang="en-US" smtClean="0"/>
              <a:t>20</a:t>
            </a:fld>
            <a:endParaRPr lang="en-US"/>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12878745-A039-927D-F98B-4D2015B13EAD}"/>
                  </a:ext>
                </a:extLst>
              </p:cNvPr>
              <p:cNvSpPr txBox="1"/>
              <p:nvPr/>
            </p:nvSpPr>
            <p:spPr>
              <a:xfrm>
                <a:off x="1257149" y="3372340"/>
                <a:ext cx="4323072" cy="1364733"/>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14:m>
                  <m:oMathPara xmlns:m="http://schemas.openxmlformats.org/officeDocument/2006/math">
                    <m:oMath>
                      <m:r>
                        <m:rPr>
                          <m:sty m:val="p"/>
                        </m:rPr>
                        <a:rPr lang="en-US" sz="4000" b="0" i="1" smtClean="0">
                          <a:solidFill>
                            <a:schemeClr val="bg1"/>
                          </a:solidFill>
                          <a:latin typeface="Cambria Math" panose="02040503050406030204" pitchFamily="18" charset="0"/>
                        </a:rPr>
                        <m:t>V</m:t>
                      </m:r>
                      <m:r>
                        <a:rPr lang="en-US" sz="4000" b="0" i="1" smtClean="0">
                          <a:solidFill>
                            <a:schemeClr val="bg1"/>
                          </a:solidFill>
                          <a:latin typeface="Cambria Math" panose="02040503050406030204" pitchFamily="18" charset="0"/>
                        </a:rPr>
                        <m:t>=</m:t>
                      </m:r>
                      <m:f>
                        <m:fPr>
                          <m:ctrlPr>
                            <a:rPr lang="en-US" sz="4000" b="0" i="1" smtClean="0">
                              <a:solidFill>
                                <a:schemeClr val="bg1"/>
                              </a:solidFill>
                              <a:latin typeface="Cambria Math" panose="02040503050406030204" pitchFamily="18" charset="0"/>
                            </a:rPr>
                          </m:ctrlPr>
                        </m:fPr>
                        <m:num>
                          <m:r>
                            <m:rPr>
                              <m:sty m:val="p"/>
                            </m:rPr>
                            <a:rPr lang="en-US" sz="4000" b="0" i="1" smtClean="0">
                              <a:solidFill>
                                <a:schemeClr val="bg1"/>
                              </a:solidFill>
                              <a:latin typeface="Cambria Math" panose="02040503050406030204" pitchFamily="18" charset="0"/>
                            </a:rPr>
                            <m:t>P</m:t>
                          </m:r>
                          <m:r>
                            <m:rPr>
                              <m:sty m:val="p"/>
                            </m:rPr>
                            <a:rPr lang="en-US" sz="4000" b="0" i="1" smtClean="0">
                              <a:solidFill>
                                <a:schemeClr val="bg1"/>
                              </a:solidFill>
                              <a:latin typeface="Cambria Math" panose="02040503050406030204" pitchFamily="18" charset="0"/>
                            </a:rPr>
                            <m:t>E</m:t>
                          </m:r>
                        </m:num>
                        <m:den>
                          <m:sSub>
                            <m:sSubPr>
                              <m:ctrlPr>
                                <a:rPr lang="en-US" sz="4000" b="0" i="1" smtClean="0">
                                  <a:solidFill>
                                    <a:schemeClr val="bg1"/>
                                  </a:solidFill>
                                  <a:latin typeface="Cambria Math" panose="02040503050406030204" pitchFamily="18" charset="0"/>
                                </a:rPr>
                              </m:ctrlPr>
                            </m:sSubPr>
                            <m:e>
                              <m:r>
                                <a:rPr lang="en-US" sz="4000" b="0" i="1" smtClean="0">
                                  <a:solidFill>
                                    <a:schemeClr val="bg1"/>
                                  </a:solidFill>
                                  <a:latin typeface="Cambria Math" panose="02040503050406030204" pitchFamily="18" charset="0"/>
                                </a:rPr>
                                <m:t>𝑞</m:t>
                              </m:r>
                            </m:e>
                            <m:sub>
                              <m:r>
                                <a:rPr lang="en-US" sz="4000" b="0" i="1" smtClean="0">
                                  <a:solidFill>
                                    <a:schemeClr val="bg1"/>
                                  </a:solidFill>
                                  <a:latin typeface="Cambria Math" panose="02040503050406030204" pitchFamily="18" charset="0"/>
                                </a:rPr>
                                <m:t>1</m:t>
                              </m:r>
                            </m:sub>
                          </m:sSub>
                        </m:den>
                      </m:f>
                      <m:r>
                        <a:rPr lang="en-US" sz="4000" b="0" i="1" smtClean="0">
                          <a:solidFill>
                            <a:schemeClr val="bg1"/>
                          </a:solidFill>
                          <a:latin typeface="Cambria Math" panose="02040503050406030204" pitchFamily="18" charset="0"/>
                        </a:rPr>
                        <m:t>= </m:t>
                      </m:r>
                      <m:f>
                        <m:fPr>
                          <m:ctrlPr>
                            <a:rPr lang="en-US" sz="4000" b="0" i="1" smtClean="0">
                              <a:solidFill>
                                <a:schemeClr val="bg1"/>
                              </a:solidFill>
                              <a:latin typeface="Cambria Math" panose="02040503050406030204" pitchFamily="18" charset="0"/>
                            </a:rPr>
                          </m:ctrlPr>
                        </m:fPr>
                        <m:num>
                          <m:r>
                            <a:rPr lang="en-US" sz="4000" b="0" i="1" smtClean="0">
                              <a:solidFill>
                                <a:schemeClr val="bg1"/>
                              </a:solidFill>
                              <a:latin typeface="Cambria Math" panose="02040503050406030204" pitchFamily="18" charset="0"/>
                            </a:rPr>
                            <m:t>𝑘</m:t>
                          </m:r>
                          <m:sSub>
                            <m:sSubPr>
                              <m:ctrlPr>
                                <a:rPr lang="en-US" sz="4000" b="0" i="1" smtClean="0">
                                  <a:solidFill>
                                    <a:schemeClr val="bg1"/>
                                  </a:solidFill>
                                  <a:latin typeface="Cambria Math" panose="02040503050406030204" pitchFamily="18" charset="0"/>
                                </a:rPr>
                              </m:ctrlPr>
                            </m:sSubPr>
                            <m:e>
                              <m:r>
                                <a:rPr lang="en-US" sz="4000" b="0" i="1" smtClean="0">
                                  <a:solidFill>
                                    <a:schemeClr val="bg1"/>
                                  </a:solidFill>
                                  <a:latin typeface="Cambria Math" panose="02040503050406030204" pitchFamily="18" charset="0"/>
                                </a:rPr>
                                <m:t>𝑞</m:t>
                              </m:r>
                            </m:e>
                            <m:sub>
                              <m:r>
                                <a:rPr lang="en-US" sz="4000" b="0" i="1" smtClean="0">
                                  <a:solidFill>
                                    <a:schemeClr val="bg1"/>
                                  </a:solidFill>
                                  <a:latin typeface="Cambria Math" panose="02040503050406030204" pitchFamily="18" charset="0"/>
                                </a:rPr>
                                <m:t>2</m:t>
                              </m:r>
                            </m:sub>
                          </m:sSub>
                        </m:num>
                        <m:den>
                          <m:r>
                            <m:rPr>
                              <m:sty m:val="p"/>
                            </m:rPr>
                            <a:rPr lang="en-US" sz="4000" b="0" i="1" smtClean="0">
                              <a:solidFill>
                                <a:schemeClr val="bg1"/>
                              </a:solidFill>
                              <a:latin typeface="Cambria Math" panose="02040503050406030204" pitchFamily="18" charset="0"/>
                            </a:rPr>
                            <m:t>r</m:t>
                          </m:r>
                        </m:den>
                      </m:f>
                    </m:oMath>
                  </m:oMathPara>
                </a14:m>
                <a:endParaRPr lang="en-US" sz="4000" b="0" i="1" dirty="0">
                  <a:solidFill>
                    <a:schemeClr val="bg1"/>
                  </a:solidFill>
                  <a:latin typeface="Cambria Math" panose="02040503050406030204" pitchFamily="18" charset="0"/>
                </a:endParaRPr>
              </a:p>
            </p:txBody>
          </p:sp>
        </mc:Choice>
        <mc:Fallback>
          <p:sp>
            <p:nvSpPr>
              <p:cNvPr id="5" name="TextBox 4">
                <a:extLst>
                  <a:ext uri="{FF2B5EF4-FFF2-40B4-BE49-F238E27FC236}">
                    <a16:creationId xmlns:a16="http://schemas.microsoft.com/office/drawing/2014/main" id="{12878745-A039-927D-F98B-4D2015B13EAD}"/>
                  </a:ext>
                </a:extLst>
              </p:cNvPr>
              <p:cNvSpPr txBox="1">
                <a:spLocks noRot="1" noChangeAspect="1" noMove="1" noResize="1" noEditPoints="1" noAdjustHandles="1" noChangeArrowheads="1" noChangeShapeType="1" noTextEdit="1"/>
              </p:cNvSpPr>
              <p:nvPr/>
            </p:nvSpPr>
            <p:spPr>
              <a:xfrm>
                <a:off x="1257149" y="3372340"/>
                <a:ext cx="4323072" cy="1364733"/>
              </a:xfrm>
              <a:prstGeom prst="rect">
                <a:avLst/>
              </a:prstGeom>
              <a:blipFill>
                <a:blip r:embed="rId2"/>
                <a:stretch>
                  <a:fillRect b="-9091"/>
                </a:stretch>
              </a:blipFill>
            </p:spPr>
            <p:txBody>
              <a:bodyPr/>
              <a:lstStyle/>
              <a:p>
                <a:r>
                  <a:rPr lang="en-US">
                    <a:noFill/>
                  </a:rPr>
                  <a:t> </a:t>
                </a:r>
              </a:p>
            </p:txBody>
          </p:sp>
        </mc:Fallback>
      </mc:AlternateContent>
      <p:pic>
        <p:nvPicPr>
          <p:cNvPr id="8" name="Picture 7" descr="Demonstration of Coulomb’s law. Two positive charges repel. A positive and negative charge attract. ">
            <a:extLst>
              <a:ext uri="{FF2B5EF4-FFF2-40B4-BE49-F238E27FC236}">
                <a16:creationId xmlns:a16="http://schemas.microsoft.com/office/drawing/2014/main" id="{A431F06E-2EB8-6E31-3507-C9D99B6CC910}"/>
              </a:ext>
            </a:extLst>
          </p:cNvPr>
          <p:cNvPicPr>
            <a:picLocks noChangeAspect="1"/>
          </p:cNvPicPr>
          <p:nvPr/>
        </p:nvPicPr>
        <p:blipFill>
          <a:blip r:embed="rId3"/>
          <a:stretch>
            <a:fillRect/>
          </a:stretch>
        </p:blipFill>
        <p:spPr>
          <a:xfrm>
            <a:off x="6611780" y="1760312"/>
            <a:ext cx="4191000" cy="3352800"/>
          </a:xfrm>
          <a:prstGeom prst="rect">
            <a:avLst/>
          </a:prstGeom>
        </p:spPr>
      </p:pic>
      <p:sp>
        <p:nvSpPr>
          <p:cNvPr id="10" name="TextBox 9">
            <a:extLst>
              <a:ext uri="{FF2B5EF4-FFF2-40B4-BE49-F238E27FC236}">
                <a16:creationId xmlns:a16="http://schemas.microsoft.com/office/drawing/2014/main" id="{194C8A0B-BFB9-6AB1-F930-69932C31931A}"/>
              </a:ext>
            </a:extLst>
          </p:cNvPr>
          <p:cNvSpPr txBox="1"/>
          <p:nvPr/>
        </p:nvSpPr>
        <p:spPr>
          <a:xfrm>
            <a:off x="7321026" y="5037114"/>
            <a:ext cx="3481754" cy="276999"/>
          </a:xfrm>
          <a:prstGeom prst="rect">
            <a:avLst/>
          </a:prstGeom>
          <a:noFill/>
        </p:spPr>
        <p:txBody>
          <a:bodyPr wrap="square">
            <a:spAutoFit/>
          </a:bodyPr>
          <a:lstStyle/>
          <a:p>
            <a:r>
              <a:rPr lang="en-US" sz="1200" dirty="0"/>
              <a:t>https://</a:t>
            </a:r>
            <a:r>
              <a:rPr lang="en-US" sz="1200" dirty="0" err="1"/>
              <a:t>en.wikipedia.org</a:t>
            </a:r>
            <a:r>
              <a:rPr lang="en-US" sz="1200" dirty="0"/>
              <a:t>/wiki/Coulomb%27s_law</a:t>
            </a:r>
          </a:p>
        </p:txBody>
      </p:sp>
      <p:sp>
        <p:nvSpPr>
          <p:cNvPr id="6" name="TextBox 5">
            <a:extLst>
              <a:ext uri="{FF2B5EF4-FFF2-40B4-BE49-F238E27FC236}">
                <a16:creationId xmlns:a16="http://schemas.microsoft.com/office/drawing/2014/main" id="{7CCD654F-8791-F7C0-A833-BF1CAC4C5D45}"/>
              </a:ext>
            </a:extLst>
          </p:cNvPr>
          <p:cNvSpPr txBox="1"/>
          <p:nvPr/>
        </p:nvSpPr>
        <p:spPr>
          <a:xfrm>
            <a:off x="504800" y="5113112"/>
            <a:ext cx="3465654"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dirty="0"/>
              <a:t>Electric potential</a:t>
            </a:r>
            <a:r>
              <a:rPr lang="en-US" dirty="0"/>
              <a:t>: </a:t>
            </a:r>
          </a:p>
          <a:p>
            <a:r>
              <a:rPr lang="en-US" dirty="0"/>
              <a:t>Joules / Coulomb or </a:t>
            </a:r>
            <a:r>
              <a:rPr lang="en-US" b="1" dirty="0"/>
              <a:t>VOLTS</a:t>
            </a:r>
            <a:endParaRPr lang="en-US" b="1" baseline="30000" dirty="0"/>
          </a:p>
        </p:txBody>
      </p:sp>
      <p:cxnSp>
        <p:nvCxnSpPr>
          <p:cNvPr id="7" name="Straight Arrow Connector 6">
            <a:extLst>
              <a:ext uri="{FF2B5EF4-FFF2-40B4-BE49-F238E27FC236}">
                <a16:creationId xmlns:a16="http://schemas.microsoft.com/office/drawing/2014/main" id="{EF3F9E87-CC9F-5C28-0962-02C348543D80}"/>
              </a:ext>
            </a:extLst>
          </p:cNvPr>
          <p:cNvCxnSpPr>
            <a:cxnSpLocks/>
          </p:cNvCxnSpPr>
          <p:nvPr/>
        </p:nvCxnSpPr>
        <p:spPr>
          <a:xfrm flipV="1">
            <a:off x="1389220" y="4220308"/>
            <a:ext cx="439580" cy="892804"/>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12" name="TextBox 11">
            <a:extLst>
              <a:ext uri="{FF2B5EF4-FFF2-40B4-BE49-F238E27FC236}">
                <a16:creationId xmlns:a16="http://schemas.microsoft.com/office/drawing/2014/main" id="{B1310A2F-8C16-C7EB-6B22-ACFA4EC0B8B1}"/>
              </a:ext>
            </a:extLst>
          </p:cNvPr>
          <p:cNvSpPr txBox="1"/>
          <p:nvPr/>
        </p:nvSpPr>
        <p:spPr>
          <a:xfrm>
            <a:off x="4086998" y="5728204"/>
            <a:ext cx="6835333" cy="107721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none" rtlCol="0">
            <a:spAutoFit/>
          </a:bodyPr>
          <a:lstStyle/>
          <a:p>
            <a:r>
              <a:rPr lang="en-US" sz="3200" dirty="0">
                <a:solidFill>
                  <a:schemeClr val="tx1">
                    <a:lumMod val="50000"/>
                  </a:schemeClr>
                </a:solidFill>
              </a:rPr>
              <a:t>“Wait! VOLTS! I know that one! </a:t>
            </a:r>
          </a:p>
          <a:p>
            <a:r>
              <a:rPr lang="en-US" sz="3200" dirty="0">
                <a:solidFill>
                  <a:schemeClr val="tx1">
                    <a:lumMod val="50000"/>
                  </a:schemeClr>
                </a:solidFill>
              </a:rPr>
              <a:t>240 Volts come out of a wall socket!”</a:t>
            </a:r>
          </a:p>
        </p:txBody>
      </p:sp>
      <p:sp>
        <p:nvSpPr>
          <p:cNvPr id="13" name="TextBox 12">
            <a:extLst>
              <a:ext uri="{FF2B5EF4-FFF2-40B4-BE49-F238E27FC236}">
                <a16:creationId xmlns:a16="http://schemas.microsoft.com/office/drawing/2014/main" id="{3F67B2D9-B452-CD05-57BC-75DB7796DCBE}"/>
              </a:ext>
            </a:extLst>
          </p:cNvPr>
          <p:cNvSpPr txBox="1"/>
          <p:nvPr/>
        </p:nvSpPr>
        <p:spPr>
          <a:xfrm>
            <a:off x="183900" y="6065434"/>
            <a:ext cx="3614377" cy="646331"/>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US" dirty="0"/>
              <a:t>Not responsible for this, just for enrichment</a:t>
            </a:r>
          </a:p>
        </p:txBody>
      </p:sp>
    </p:spTree>
    <p:extLst>
      <p:ext uri="{BB962C8B-B14F-4D97-AF65-F5344CB8AC3E}">
        <p14:creationId xmlns:p14="http://schemas.microsoft.com/office/powerpoint/2010/main" val="35532316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E5735-F34B-C24A-8D14-00B4484AFFC2}"/>
              </a:ext>
            </a:extLst>
          </p:cNvPr>
          <p:cNvSpPr>
            <a:spLocks noGrp="1"/>
          </p:cNvSpPr>
          <p:nvPr>
            <p:ph type="title"/>
          </p:nvPr>
        </p:nvSpPr>
        <p:spPr/>
        <p:txBody>
          <a:bodyPr/>
          <a:lstStyle/>
          <a:p>
            <a:r>
              <a:rPr lang="en-US" dirty="0"/>
              <a:t>Electricity</a:t>
            </a:r>
          </a:p>
        </p:txBody>
      </p:sp>
      <p:sp>
        <p:nvSpPr>
          <p:cNvPr id="3" name="Content Placeholder 2">
            <a:extLst>
              <a:ext uri="{FF2B5EF4-FFF2-40B4-BE49-F238E27FC236}">
                <a16:creationId xmlns:a16="http://schemas.microsoft.com/office/drawing/2014/main" id="{AB834EB2-6DAA-8D90-4CEC-F0955DBEBCFA}"/>
              </a:ext>
            </a:extLst>
          </p:cNvPr>
          <p:cNvSpPr>
            <a:spLocks noGrp="1"/>
          </p:cNvSpPr>
          <p:nvPr>
            <p:ph idx="1"/>
          </p:nvPr>
        </p:nvSpPr>
        <p:spPr>
          <a:xfrm>
            <a:off x="394208" y="2522992"/>
            <a:ext cx="4752223" cy="4048171"/>
          </a:xfrm>
        </p:spPr>
        <p:txBody>
          <a:bodyPr/>
          <a:lstStyle/>
          <a:p>
            <a:r>
              <a:rPr lang="en-US" sz="1600" dirty="0"/>
              <a:t>Teeny tiny bit of vector addition</a:t>
            </a:r>
          </a:p>
          <a:p>
            <a:r>
              <a:rPr lang="en-US" sz="1600" dirty="0"/>
              <a:t>The components of Coulomb’s law parallel to the plates CANCEL, the components perpendicular to the plates ADD, so you get a constant electric field</a:t>
            </a:r>
          </a:p>
          <a:p>
            <a:r>
              <a:rPr lang="en-US" sz="1600" dirty="0"/>
              <a:t>Why is this important? </a:t>
            </a:r>
          </a:p>
          <a:p>
            <a:pPr lvl="1"/>
            <a:r>
              <a:rPr lang="en-US" sz="1600" dirty="0"/>
              <a:t>If you hook up a battery, this supplies a direct current electric field between the plates</a:t>
            </a:r>
          </a:p>
        </p:txBody>
      </p:sp>
      <p:sp>
        <p:nvSpPr>
          <p:cNvPr id="4" name="Slide Number Placeholder 3">
            <a:extLst>
              <a:ext uri="{FF2B5EF4-FFF2-40B4-BE49-F238E27FC236}">
                <a16:creationId xmlns:a16="http://schemas.microsoft.com/office/drawing/2014/main" id="{72390987-1117-54A0-DC1E-9A5281CEFD36}"/>
              </a:ext>
            </a:extLst>
          </p:cNvPr>
          <p:cNvSpPr>
            <a:spLocks noGrp="1"/>
          </p:cNvSpPr>
          <p:nvPr>
            <p:ph type="sldNum" sz="quarter" idx="12"/>
          </p:nvPr>
        </p:nvSpPr>
        <p:spPr/>
        <p:txBody>
          <a:bodyPr/>
          <a:lstStyle/>
          <a:p>
            <a:fld id="{C5EF2332-01BF-834F-8236-50238282D533}" type="slidenum">
              <a:rPr lang="en-US" smtClean="0"/>
              <a:t>21</a:t>
            </a:fld>
            <a:endParaRPr lang="en-US"/>
          </a:p>
        </p:txBody>
      </p:sp>
      <p:grpSp>
        <p:nvGrpSpPr>
          <p:cNvPr id="25" name="Group 24">
            <a:extLst>
              <a:ext uri="{FF2B5EF4-FFF2-40B4-BE49-F238E27FC236}">
                <a16:creationId xmlns:a16="http://schemas.microsoft.com/office/drawing/2014/main" id="{01EA8D74-B6EE-516F-1711-A0D80A56EA86}"/>
              </a:ext>
            </a:extLst>
          </p:cNvPr>
          <p:cNvGrpSpPr/>
          <p:nvPr/>
        </p:nvGrpSpPr>
        <p:grpSpPr>
          <a:xfrm>
            <a:off x="5566556" y="2650636"/>
            <a:ext cx="2345789" cy="2377440"/>
            <a:chOff x="5407853" y="2029265"/>
            <a:chExt cx="2345789" cy="2377440"/>
          </a:xfrm>
        </p:grpSpPr>
        <p:cxnSp>
          <p:nvCxnSpPr>
            <p:cNvPr id="7" name="Straight Arrow Connector 6">
              <a:extLst>
                <a:ext uri="{FF2B5EF4-FFF2-40B4-BE49-F238E27FC236}">
                  <a16:creationId xmlns:a16="http://schemas.microsoft.com/office/drawing/2014/main" id="{8AFB8E73-088F-ADF3-75D4-2592AA5BD3B7}"/>
                </a:ext>
              </a:extLst>
            </p:cNvPr>
            <p:cNvCxnSpPr/>
            <p:nvPr/>
          </p:nvCxnSpPr>
          <p:spPr>
            <a:xfrm>
              <a:off x="6564922" y="321798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E9C1EE64-08BF-EA5C-62F4-A2BF75704391}"/>
                </a:ext>
              </a:extLst>
            </p:cNvPr>
            <p:cNvCxnSpPr>
              <a:cxnSpLocks/>
            </p:cNvCxnSpPr>
            <p:nvPr/>
          </p:nvCxnSpPr>
          <p:spPr>
            <a:xfrm rot="5400000">
              <a:off x="6002213" y="381234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47F9A1A4-4943-938C-F4FD-228413DD4B55}"/>
                </a:ext>
              </a:extLst>
            </p:cNvPr>
            <p:cNvCxnSpPr>
              <a:cxnSpLocks/>
            </p:cNvCxnSpPr>
            <p:nvPr/>
          </p:nvCxnSpPr>
          <p:spPr>
            <a:xfrm rot="-5400000">
              <a:off x="6002213" y="262362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E8A270A5-0370-F4AE-9E93-664D53ABB112}"/>
                </a:ext>
              </a:extLst>
            </p:cNvPr>
            <p:cNvCxnSpPr>
              <a:cxnSpLocks/>
            </p:cNvCxnSpPr>
            <p:nvPr/>
          </p:nvCxnSpPr>
          <p:spPr>
            <a:xfrm rot="10800000">
              <a:off x="5407853" y="321798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ADE169ED-F339-2CEA-0188-C820FDBEF853}"/>
                </a:ext>
              </a:extLst>
            </p:cNvPr>
            <p:cNvCxnSpPr>
              <a:cxnSpLocks/>
            </p:cNvCxnSpPr>
            <p:nvPr/>
          </p:nvCxnSpPr>
          <p:spPr>
            <a:xfrm rot="2700000">
              <a:off x="6445936" y="364001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11D6D1AC-310D-1FEF-ECC8-B6A9CC5B48AF}"/>
                </a:ext>
              </a:extLst>
            </p:cNvPr>
            <p:cNvCxnSpPr>
              <a:cxnSpLocks/>
            </p:cNvCxnSpPr>
            <p:nvPr/>
          </p:nvCxnSpPr>
          <p:spPr>
            <a:xfrm rot="-2700000">
              <a:off x="6445935" y="2793582"/>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43F899E1-251F-C17E-15CE-EE0AFCDBDD4D}"/>
                </a:ext>
              </a:extLst>
            </p:cNvPr>
            <p:cNvCxnSpPr>
              <a:cxnSpLocks/>
            </p:cNvCxnSpPr>
            <p:nvPr/>
          </p:nvCxnSpPr>
          <p:spPr>
            <a:xfrm rot="8100000">
              <a:off x="5550286" y="3642388"/>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E87969E6-B02D-EBF1-5512-07E5E5D2BDA3}"/>
                </a:ext>
              </a:extLst>
            </p:cNvPr>
            <p:cNvCxnSpPr>
              <a:cxnSpLocks/>
            </p:cNvCxnSpPr>
            <p:nvPr/>
          </p:nvCxnSpPr>
          <p:spPr>
            <a:xfrm rot="-8100000">
              <a:off x="5570215" y="2793582"/>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grpSp>
      <p:grpSp>
        <p:nvGrpSpPr>
          <p:cNvPr id="26" name="Group 25">
            <a:extLst>
              <a:ext uri="{FF2B5EF4-FFF2-40B4-BE49-F238E27FC236}">
                <a16:creationId xmlns:a16="http://schemas.microsoft.com/office/drawing/2014/main" id="{437ECF62-7794-F062-3F5B-8ADAAB74B94B}"/>
              </a:ext>
            </a:extLst>
          </p:cNvPr>
          <p:cNvGrpSpPr/>
          <p:nvPr/>
        </p:nvGrpSpPr>
        <p:grpSpPr>
          <a:xfrm>
            <a:off x="9162912" y="2650635"/>
            <a:ext cx="2345789" cy="2377440"/>
            <a:chOff x="8816646" y="2037519"/>
            <a:chExt cx="2345789" cy="2377440"/>
          </a:xfrm>
        </p:grpSpPr>
        <p:cxnSp>
          <p:nvCxnSpPr>
            <p:cNvPr id="15" name="Straight Arrow Connector 14">
              <a:extLst>
                <a:ext uri="{FF2B5EF4-FFF2-40B4-BE49-F238E27FC236}">
                  <a16:creationId xmlns:a16="http://schemas.microsoft.com/office/drawing/2014/main" id="{F9F5370C-7340-5722-EEEC-28F0B5995D86}"/>
                </a:ext>
              </a:extLst>
            </p:cNvPr>
            <p:cNvCxnSpPr/>
            <p:nvPr/>
          </p:nvCxnSpPr>
          <p:spPr>
            <a:xfrm>
              <a:off x="9973715" y="322623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76508A3D-7BF0-EF72-033E-468499B9E88E}"/>
                </a:ext>
              </a:extLst>
            </p:cNvPr>
            <p:cNvCxnSpPr>
              <a:cxnSpLocks/>
            </p:cNvCxnSpPr>
            <p:nvPr/>
          </p:nvCxnSpPr>
          <p:spPr>
            <a:xfrm rot="5400000">
              <a:off x="9411006" y="382059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C56DA924-0770-5EED-9F9D-5DF9C978ECC1}"/>
                </a:ext>
              </a:extLst>
            </p:cNvPr>
            <p:cNvCxnSpPr>
              <a:cxnSpLocks/>
            </p:cNvCxnSpPr>
            <p:nvPr/>
          </p:nvCxnSpPr>
          <p:spPr>
            <a:xfrm rot="-5400000">
              <a:off x="9411006" y="263187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613C2A42-0BFB-F64F-1762-88C7CBDE96D9}"/>
                </a:ext>
              </a:extLst>
            </p:cNvPr>
            <p:cNvCxnSpPr>
              <a:cxnSpLocks/>
            </p:cNvCxnSpPr>
            <p:nvPr/>
          </p:nvCxnSpPr>
          <p:spPr>
            <a:xfrm rot="10800000">
              <a:off x="8816646" y="322623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A8C8040A-6B49-0346-BE69-5EC22EFE15D7}"/>
                </a:ext>
              </a:extLst>
            </p:cNvPr>
            <p:cNvCxnSpPr>
              <a:cxnSpLocks/>
            </p:cNvCxnSpPr>
            <p:nvPr/>
          </p:nvCxnSpPr>
          <p:spPr>
            <a:xfrm rot="2700000">
              <a:off x="9854729" y="364826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CF7A07EC-B0DB-81AB-3E7B-294E6F4BBB99}"/>
                </a:ext>
              </a:extLst>
            </p:cNvPr>
            <p:cNvCxnSpPr>
              <a:cxnSpLocks/>
            </p:cNvCxnSpPr>
            <p:nvPr/>
          </p:nvCxnSpPr>
          <p:spPr>
            <a:xfrm rot="-2700000">
              <a:off x="9854728" y="2801836"/>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86FE24C3-8E09-BF63-6B8A-B7348B8BA1DD}"/>
                </a:ext>
              </a:extLst>
            </p:cNvPr>
            <p:cNvCxnSpPr>
              <a:cxnSpLocks/>
            </p:cNvCxnSpPr>
            <p:nvPr/>
          </p:nvCxnSpPr>
          <p:spPr>
            <a:xfrm rot="8100000">
              <a:off x="8959079" y="3650642"/>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4ECCF83C-4737-6722-F865-680514589C1B}"/>
                </a:ext>
              </a:extLst>
            </p:cNvPr>
            <p:cNvCxnSpPr>
              <a:cxnSpLocks/>
            </p:cNvCxnSpPr>
            <p:nvPr/>
          </p:nvCxnSpPr>
          <p:spPr>
            <a:xfrm rot="-8100000">
              <a:off x="8979008" y="2801836"/>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grpSp>
      <p:sp>
        <p:nvSpPr>
          <p:cNvPr id="35" name="TextBox 34">
            <a:extLst>
              <a:ext uri="{FF2B5EF4-FFF2-40B4-BE49-F238E27FC236}">
                <a16:creationId xmlns:a16="http://schemas.microsoft.com/office/drawing/2014/main" id="{BD236DAD-D4A6-F039-71FC-88F9807E4014}"/>
              </a:ext>
            </a:extLst>
          </p:cNvPr>
          <p:cNvSpPr txBox="1"/>
          <p:nvPr/>
        </p:nvSpPr>
        <p:spPr>
          <a:xfrm>
            <a:off x="5905787" y="1785952"/>
            <a:ext cx="1762021" cy="369332"/>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en-US" dirty="0">
                <a:solidFill>
                  <a:schemeClr val="bg1"/>
                </a:solidFill>
              </a:rPr>
              <a:t>Positive charge</a:t>
            </a:r>
          </a:p>
        </p:txBody>
      </p:sp>
      <p:sp>
        <p:nvSpPr>
          <p:cNvPr id="36" name="TextBox 35">
            <a:extLst>
              <a:ext uri="{FF2B5EF4-FFF2-40B4-BE49-F238E27FC236}">
                <a16:creationId xmlns:a16="http://schemas.microsoft.com/office/drawing/2014/main" id="{577A3B96-567F-B79E-540E-0A2773DA3BDA}"/>
              </a:ext>
            </a:extLst>
          </p:cNvPr>
          <p:cNvSpPr txBox="1"/>
          <p:nvPr/>
        </p:nvSpPr>
        <p:spPr>
          <a:xfrm>
            <a:off x="9345559" y="1785952"/>
            <a:ext cx="1864613" cy="369332"/>
          </a:xfrm>
          <a:prstGeom prst="rect">
            <a:avLst/>
          </a:prstGeom>
        </p:spPr>
        <p:style>
          <a:lnRef idx="3">
            <a:schemeClr val="lt1"/>
          </a:lnRef>
          <a:fillRef idx="1">
            <a:schemeClr val="accent3"/>
          </a:fillRef>
          <a:effectRef idx="1">
            <a:schemeClr val="accent3"/>
          </a:effectRef>
          <a:fontRef idx="minor">
            <a:schemeClr val="lt1"/>
          </a:fontRef>
        </p:style>
        <p:txBody>
          <a:bodyPr wrap="none" rtlCol="0">
            <a:spAutoFit/>
          </a:bodyPr>
          <a:lstStyle/>
          <a:p>
            <a:r>
              <a:rPr lang="en-US" dirty="0">
                <a:solidFill>
                  <a:schemeClr val="bg1"/>
                </a:solidFill>
              </a:rPr>
              <a:t>Negative charge</a:t>
            </a:r>
          </a:p>
        </p:txBody>
      </p:sp>
      <p:sp>
        <p:nvSpPr>
          <p:cNvPr id="37" name="TextBox 36">
            <a:extLst>
              <a:ext uri="{FF2B5EF4-FFF2-40B4-BE49-F238E27FC236}">
                <a16:creationId xmlns:a16="http://schemas.microsoft.com/office/drawing/2014/main" id="{53679DD2-CAAD-C545-60D5-B288E4550C62}"/>
              </a:ext>
            </a:extLst>
          </p:cNvPr>
          <p:cNvSpPr txBox="1"/>
          <p:nvPr/>
        </p:nvSpPr>
        <p:spPr>
          <a:xfrm>
            <a:off x="2411133" y="6220018"/>
            <a:ext cx="4880344"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US" dirty="0"/>
              <a:t>Not responsible for this, just for enrichment</a:t>
            </a:r>
          </a:p>
        </p:txBody>
      </p:sp>
    </p:spTree>
    <p:extLst>
      <p:ext uri="{BB962C8B-B14F-4D97-AF65-F5344CB8AC3E}">
        <p14:creationId xmlns:p14="http://schemas.microsoft.com/office/powerpoint/2010/main" val="7548363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F67EF-B4E1-CBEB-4288-51E6A3F966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C24A72-3EB0-4A1D-3DDD-00F32B7B5B2F}"/>
              </a:ext>
            </a:extLst>
          </p:cNvPr>
          <p:cNvSpPr>
            <a:spLocks noGrp="1"/>
          </p:cNvSpPr>
          <p:nvPr>
            <p:ph type="title"/>
          </p:nvPr>
        </p:nvSpPr>
        <p:spPr/>
        <p:txBody>
          <a:bodyPr/>
          <a:lstStyle/>
          <a:p>
            <a:r>
              <a:rPr lang="en-US" dirty="0"/>
              <a:t>Electricity</a:t>
            </a:r>
          </a:p>
        </p:txBody>
      </p:sp>
      <p:sp>
        <p:nvSpPr>
          <p:cNvPr id="3" name="Content Placeholder 2">
            <a:extLst>
              <a:ext uri="{FF2B5EF4-FFF2-40B4-BE49-F238E27FC236}">
                <a16:creationId xmlns:a16="http://schemas.microsoft.com/office/drawing/2014/main" id="{C9FACF3C-826E-0C20-C12D-BABED7EA4C53}"/>
              </a:ext>
            </a:extLst>
          </p:cNvPr>
          <p:cNvSpPr>
            <a:spLocks noGrp="1"/>
          </p:cNvSpPr>
          <p:nvPr>
            <p:ph idx="1"/>
          </p:nvPr>
        </p:nvSpPr>
        <p:spPr>
          <a:xfrm>
            <a:off x="394208" y="2522992"/>
            <a:ext cx="4752223" cy="4048171"/>
          </a:xfrm>
        </p:spPr>
        <p:txBody>
          <a:bodyPr/>
          <a:lstStyle/>
          <a:p>
            <a:r>
              <a:rPr lang="en-US" sz="1600" dirty="0"/>
              <a:t>Teeny tiny bit of vector addition</a:t>
            </a:r>
          </a:p>
          <a:p>
            <a:r>
              <a:rPr lang="en-US" sz="1600" dirty="0"/>
              <a:t>The components of Coulomb’s law parallel to the plates CANCEL, the components perpendicular to the plates ADD, so you get a constant electric field</a:t>
            </a:r>
          </a:p>
          <a:p>
            <a:r>
              <a:rPr lang="en-US" sz="1600" dirty="0"/>
              <a:t>Why is this important? </a:t>
            </a:r>
          </a:p>
          <a:p>
            <a:pPr lvl="1"/>
            <a:r>
              <a:rPr lang="en-US" sz="1600" dirty="0"/>
              <a:t>If you hook up a battery, this supplies a direct current electric field between the plates</a:t>
            </a:r>
          </a:p>
        </p:txBody>
      </p:sp>
      <p:sp>
        <p:nvSpPr>
          <p:cNvPr id="4" name="Slide Number Placeholder 3">
            <a:extLst>
              <a:ext uri="{FF2B5EF4-FFF2-40B4-BE49-F238E27FC236}">
                <a16:creationId xmlns:a16="http://schemas.microsoft.com/office/drawing/2014/main" id="{56EADCA9-7938-DEB9-3C02-5F6B522BEA45}"/>
              </a:ext>
            </a:extLst>
          </p:cNvPr>
          <p:cNvSpPr>
            <a:spLocks noGrp="1"/>
          </p:cNvSpPr>
          <p:nvPr>
            <p:ph type="sldNum" sz="quarter" idx="12"/>
          </p:nvPr>
        </p:nvSpPr>
        <p:spPr/>
        <p:txBody>
          <a:bodyPr/>
          <a:lstStyle/>
          <a:p>
            <a:fld id="{C5EF2332-01BF-834F-8236-50238282D533}" type="slidenum">
              <a:rPr lang="en-US" smtClean="0"/>
              <a:t>22</a:t>
            </a:fld>
            <a:endParaRPr lang="en-US"/>
          </a:p>
        </p:txBody>
      </p:sp>
      <p:grpSp>
        <p:nvGrpSpPr>
          <p:cNvPr id="25" name="Group 24">
            <a:extLst>
              <a:ext uri="{FF2B5EF4-FFF2-40B4-BE49-F238E27FC236}">
                <a16:creationId xmlns:a16="http://schemas.microsoft.com/office/drawing/2014/main" id="{9203E6D2-1C6D-02F5-9658-F0D388BCD261}"/>
              </a:ext>
            </a:extLst>
          </p:cNvPr>
          <p:cNvGrpSpPr/>
          <p:nvPr/>
        </p:nvGrpSpPr>
        <p:grpSpPr>
          <a:xfrm>
            <a:off x="5566556" y="2650636"/>
            <a:ext cx="2345789" cy="2377440"/>
            <a:chOff x="5407853" y="2029265"/>
            <a:chExt cx="2345789" cy="2377440"/>
          </a:xfrm>
        </p:grpSpPr>
        <p:cxnSp>
          <p:nvCxnSpPr>
            <p:cNvPr id="7" name="Straight Arrow Connector 6">
              <a:extLst>
                <a:ext uri="{FF2B5EF4-FFF2-40B4-BE49-F238E27FC236}">
                  <a16:creationId xmlns:a16="http://schemas.microsoft.com/office/drawing/2014/main" id="{1D11633D-D05F-3B57-2190-FFFDB1C74738}"/>
                </a:ext>
              </a:extLst>
            </p:cNvPr>
            <p:cNvCxnSpPr/>
            <p:nvPr/>
          </p:nvCxnSpPr>
          <p:spPr>
            <a:xfrm>
              <a:off x="6564922" y="321798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66E28CEB-FABB-E839-45E7-3CED4051CD94}"/>
                </a:ext>
              </a:extLst>
            </p:cNvPr>
            <p:cNvCxnSpPr>
              <a:cxnSpLocks/>
            </p:cNvCxnSpPr>
            <p:nvPr/>
          </p:nvCxnSpPr>
          <p:spPr>
            <a:xfrm rot="5400000">
              <a:off x="6002213" y="381234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970DD8A2-E8E4-FD10-A3E6-8071FC141996}"/>
                </a:ext>
              </a:extLst>
            </p:cNvPr>
            <p:cNvCxnSpPr>
              <a:cxnSpLocks/>
            </p:cNvCxnSpPr>
            <p:nvPr/>
          </p:nvCxnSpPr>
          <p:spPr>
            <a:xfrm rot="-5400000">
              <a:off x="6002213" y="262362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C0C8EB4D-975B-BE68-3F29-785FF3A7D695}"/>
                </a:ext>
              </a:extLst>
            </p:cNvPr>
            <p:cNvCxnSpPr>
              <a:cxnSpLocks/>
            </p:cNvCxnSpPr>
            <p:nvPr/>
          </p:nvCxnSpPr>
          <p:spPr>
            <a:xfrm rot="10800000">
              <a:off x="5407853" y="321798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F717270F-3B5F-5261-C736-449A9CC8D7B2}"/>
                </a:ext>
              </a:extLst>
            </p:cNvPr>
            <p:cNvCxnSpPr>
              <a:cxnSpLocks/>
            </p:cNvCxnSpPr>
            <p:nvPr/>
          </p:nvCxnSpPr>
          <p:spPr>
            <a:xfrm rot="2700000">
              <a:off x="6445936" y="364001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26A6ACAA-BE92-5C33-9E3E-D26EBBACD040}"/>
                </a:ext>
              </a:extLst>
            </p:cNvPr>
            <p:cNvCxnSpPr>
              <a:cxnSpLocks/>
            </p:cNvCxnSpPr>
            <p:nvPr/>
          </p:nvCxnSpPr>
          <p:spPr>
            <a:xfrm rot="-2700000">
              <a:off x="6445935" y="2793582"/>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8FFDE997-832F-D5D1-6DA1-EAFDBC91B75D}"/>
                </a:ext>
              </a:extLst>
            </p:cNvPr>
            <p:cNvCxnSpPr>
              <a:cxnSpLocks/>
            </p:cNvCxnSpPr>
            <p:nvPr/>
          </p:nvCxnSpPr>
          <p:spPr>
            <a:xfrm rot="8100000">
              <a:off x="5550286" y="3642388"/>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B10AFC46-D9A1-8322-88CF-3980D417EB97}"/>
                </a:ext>
              </a:extLst>
            </p:cNvPr>
            <p:cNvCxnSpPr>
              <a:cxnSpLocks/>
            </p:cNvCxnSpPr>
            <p:nvPr/>
          </p:nvCxnSpPr>
          <p:spPr>
            <a:xfrm rot="-8100000">
              <a:off x="5570215" y="2793582"/>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grpSp>
      <p:grpSp>
        <p:nvGrpSpPr>
          <p:cNvPr id="26" name="Group 25">
            <a:extLst>
              <a:ext uri="{FF2B5EF4-FFF2-40B4-BE49-F238E27FC236}">
                <a16:creationId xmlns:a16="http://schemas.microsoft.com/office/drawing/2014/main" id="{8B809EA8-55F0-D21C-5F08-9EC1309FDD70}"/>
              </a:ext>
            </a:extLst>
          </p:cNvPr>
          <p:cNvGrpSpPr/>
          <p:nvPr/>
        </p:nvGrpSpPr>
        <p:grpSpPr>
          <a:xfrm>
            <a:off x="9162912" y="2650635"/>
            <a:ext cx="2345789" cy="2377440"/>
            <a:chOff x="8816646" y="2037519"/>
            <a:chExt cx="2345789" cy="2377440"/>
          </a:xfrm>
        </p:grpSpPr>
        <p:cxnSp>
          <p:nvCxnSpPr>
            <p:cNvPr id="15" name="Straight Arrow Connector 14">
              <a:extLst>
                <a:ext uri="{FF2B5EF4-FFF2-40B4-BE49-F238E27FC236}">
                  <a16:creationId xmlns:a16="http://schemas.microsoft.com/office/drawing/2014/main" id="{69F1587C-F5B1-8E5C-BEFE-F7B8E4751587}"/>
                </a:ext>
              </a:extLst>
            </p:cNvPr>
            <p:cNvCxnSpPr/>
            <p:nvPr/>
          </p:nvCxnSpPr>
          <p:spPr>
            <a:xfrm>
              <a:off x="9973715" y="322623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DDC013BD-096D-77AD-AC66-5EAFFCE1BF8F}"/>
                </a:ext>
              </a:extLst>
            </p:cNvPr>
            <p:cNvCxnSpPr>
              <a:cxnSpLocks/>
            </p:cNvCxnSpPr>
            <p:nvPr/>
          </p:nvCxnSpPr>
          <p:spPr>
            <a:xfrm rot="5400000">
              <a:off x="9411006" y="382059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E826D587-97A9-9D69-E90E-2FB2EE8C723A}"/>
                </a:ext>
              </a:extLst>
            </p:cNvPr>
            <p:cNvCxnSpPr>
              <a:cxnSpLocks/>
            </p:cNvCxnSpPr>
            <p:nvPr/>
          </p:nvCxnSpPr>
          <p:spPr>
            <a:xfrm rot="-5400000">
              <a:off x="9411006" y="263187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D417932F-005B-F544-4E19-7F33AC73E50B}"/>
                </a:ext>
              </a:extLst>
            </p:cNvPr>
            <p:cNvCxnSpPr>
              <a:cxnSpLocks/>
            </p:cNvCxnSpPr>
            <p:nvPr/>
          </p:nvCxnSpPr>
          <p:spPr>
            <a:xfrm rot="10800000">
              <a:off x="8816646" y="322623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75B95D99-E42A-0685-DF32-46ED2F77FB4E}"/>
                </a:ext>
              </a:extLst>
            </p:cNvPr>
            <p:cNvCxnSpPr>
              <a:cxnSpLocks/>
            </p:cNvCxnSpPr>
            <p:nvPr/>
          </p:nvCxnSpPr>
          <p:spPr>
            <a:xfrm rot="2700000">
              <a:off x="9854729" y="364826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20AB6A0A-5077-CE7D-5CE2-3BD1E8AE8CE2}"/>
                </a:ext>
              </a:extLst>
            </p:cNvPr>
            <p:cNvCxnSpPr>
              <a:cxnSpLocks/>
            </p:cNvCxnSpPr>
            <p:nvPr/>
          </p:nvCxnSpPr>
          <p:spPr>
            <a:xfrm rot="-2700000">
              <a:off x="9854728" y="2801836"/>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F38D2AE3-5423-C2E8-C540-B7B9675FA13F}"/>
                </a:ext>
              </a:extLst>
            </p:cNvPr>
            <p:cNvCxnSpPr>
              <a:cxnSpLocks/>
            </p:cNvCxnSpPr>
            <p:nvPr/>
          </p:nvCxnSpPr>
          <p:spPr>
            <a:xfrm rot="8100000">
              <a:off x="8959079" y="3650642"/>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F1437745-BC26-B56A-214F-08454E7AD756}"/>
                </a:ext>
              </a:extLst>
            </p:cNvPr>
            <p:cNvCxnSpPr>
              <a:cxnSpLocks/>
            </p:cNvCxnSpPr>
            <p:nvPr/>
          </p:nvCxnSpPr>
          <p:spPr>
            <a:xfrm rot="-8100000">
              <a:off x="8979008" y="2801836"/>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grpSp>
      <p:cxnSp>
        <p:nvCxnSpPr>
          <p:cNvPr id="28" name="Straight Arrow Connector 27">
            <a:extLst>
              <a:ext uri="{FF2B5EF4-FFF2-40B4-BE49-F238E27FC236}">
                <a16:creationId xmlns:a16="http://schemas.microsoft.com/office/drawing/2014/main" id="{31488440-A4A6-0109-20AC-DD72439C0470}"/>
              </a:ext>
            </a:extLst>
          </p:cNvPr>
          <p:cNvCxnSpPr>
            <a:cxnSpLocks/>
          </p:cNvCxnSpPr>
          <p:nvPr/>
        </p:nvCxnSpPr>
        <p:spPr>
          <a:xfrm flipV="1">
            <a:off x="8043787" y="3843482"/>
            <a:ext cx="551717" cy="825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772DCF0E-F989-CBF6-1D8A-914C40790A3C}"/>
              </a:ext>
            </a:extLst>
          </p:cNvPr>
          <p:cNvCxnSpPr>
            <a:cxnSpLocks/>
          </p:cNvCxnSpPr>
          <p:nvPr/>
        </p:nvCxnSpPr>
        <p:spPr>
          <a:xfrm flipV="1">
            <a:off x="8595504" y="3843482"/>
            <a:ext cx="551717" cy="8253"/>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3526B340-F776-99F0-86CA-8F18C7FF5725}"/>
              </a:ext>
            </a:extLst>
          </p:cNvPr>
          <p:cNvCxnSpPr>
            <a:cxnSpLocks/>
          </p:cNvCxnSpPr>
          <p:nvPr/>
        </p:nvCxnSpPr>
        <p:spPr>
          <a:xfrm rot="2700000" flipV="1">
            <a:off x="7881638" y="5151268"/>
            <a:ext cx="551717" cy="825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7312B80B-7F4B-6E96-C1A9-394E58712E70}"/>
              </a:ext>
            </a:extLst>
          </p:cNvPr>
          <p:cNvCxnSpPr>
            <a:cxnSpLocks/>
          </p:cNvCxnSpPr>
          <p:nvPr/>
        </p:nvCxnSpPr>
        <p:spPr>
          <a:xfrm rot="-2700000" flipV="1">
            <a:off x="7866118" y="2547300"/>
            <a:ext cx="551717" cy="825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7AE2BB54-E2EB-F4ED-4742-558252399906}"/>
              </a:ext>
            </a:extLst>
          </p:cNvPr>
          <p:cNvCxnSpPr>
            <a:cxnSpLocks/>
          </p:cNvCxnSpPr>
          <p:nvPr/>
        </p:nvCxnSpPr>
        <p:spPr>
          <a:xfrm rot="2700000" flipV="1">
            <a:off x="8709595" y="2567158"/>
            <a:ext cx="551717" cy="8253"/>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9EC27F31-B6EF-A2A4-C895-7097BD1FAE44}"/>
              </a:ext>
            </a:extLst>
          </p:cNvPr>
          <p:cNvCxnSpPr>
            <a:cxnSpLocks/>
          </p:cNvCxnSpPr>
          <p:nvPr/>
        </p:nvCxnSpPr>
        <p:spPr>
          <a:xfrm rot="-2700000" flipV="1">
            <a:off x="8801752" y="5149457"/>
            <a:ext cx="551717" cy="8253"/>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F218B8AF-239A-9109-6C8F-8852B3A537B9}"/>
              </a:ext>
            </a:extLst>
          </p:cNvPr>
          <p:cNvSpPr txBox="1"/>
          <p:nvPr/>
        </p:nvSpPr>
        <p:spPr>
          <a:xfrm>
            <a:off x="7118544" y="1559705"/>
            <a:ext cx="3180627"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US" dirty="0"/>
              <a:t>Draw their vector field lines</a:t>
            </a:r>
          </a:p>
        </p:txBody>
      </p:sp>
      <p:sp>
        <p:nvSpPr>
          <p:cNvPr id="6" name="TextBox 5">
            <a:extLst>
              <a:ext uri="{FF2B5EF4-FFF2-40B4-BE49-F238E27FC236}">
                <a16:creationId xmlns:a16="http://schemas.microsoft.com/office/drawing/2014/main" id="{542A965D-37D6-6D29-7504-A9BCBC0AE927}"/>
              </a:ext>
            </a:extLst>
          </p:cNvPr>
          <p:cNvSpPr txBox="1"/>
          <p:nvPr/>
        </p:nvSpPr>
        <p:spPr>
          <a:xfrm>
            <a:off x="2411133" y="6220018"/>
            <a:ext cx="4880344"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US" dirty="0"/>
              <a:t>Not responsible for this, just for enrichment</a:t>
            </a:r>
          </a:p>
        </p:txBody>
      </p:sp>
    </p:spTree>
    <p:extLst>
      <p:ext uri="{BB962C8B-B14F-4D97-AF65-F5344CB8AC3E}">
        <p14:creationId xmlns:p14="http://schemas.microsoft.com/office/powerpoint/2010/main" val="27873258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4F3A6-E352-37B7-F940-3B0BAA4149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9C02BF-8BFB-D0E7-6594-6C9BE15920BC}"/>
              </a:ext>
            </a:extLst>
          </p:cNvPr>
          <p:cNvSpPr>
            <a:spLocks noGrp="1"/>
          </p:cNvSpPr>
          <p:nvPr>
            <p:ph type="title"/>
          </p:nvPr>
        </p:nvSpPr>
        <p:spPr/>
        <p:txBody>
          <a:bodyPr/>
          <a:lstStyle/>
          <a:p>
            <a:r>
              <a:rPr lang="en-US" dirty="0"/>
              <a:t>Electricity</a:t>
            </a:r>
          </a:p>
        </p:txBody>
      </p:sp>
      <p:sp>
        <p:nvSpPr>
          <p:cNvPr id="3" name="Content Placeholder 2">
            <a:extLst>
              <a:ext uri="{FF2B5EF4-FFF2-40B4-BE49-F238E27FC236}">
                <a16:creationId xmlns:a16="http://schemas.microsoft.com/office/drawing/2014/main" id="{045A0BA5-1A4B-1E75-8F47-248AAC5847EA}"/>
              </a:ext>
            </a:extLst>
          </p:cNvPr>
          <p:cNvSpPr>
            <a:spLocks noGrp="1"/>
          </p:cNvSpPr>
          <p:nvPr>
            <p:ph idx="1"/>
          </p:nvPr>
        </p:nvSpPr>
        <p:spPr>
          <a:xfrm>
            <a:off x="394208" y="2522992"/>
            <a:ext cx="4752223" cy="4048171"/>
          </a:xfrm>
        </p:spPr>
        <p:txBody>
          <a:bodyPr/>
          <a:lstStyle/>
          <a:p>
            <a:r>
              <a:rPr lang="en-US" sz="1600" dirty="0"/>
              <a:t>Teeny tiny bit of vector addition</a:t>
            </a:r>
          </a:p>
          <a:p>
            <a:r>
              <a:rPr lang="en-US" sz="1600" dirty="0"/>
              <a:t>The components of Coulomb’s law parallel to the plates CANCEL, the components perpendicular to the plates ADD, so you get a constant electric field</a:t>
            </a:r>
          </a:p>
          <a:p>
            <a:r>
              <a:rPr lang="en-US" sz="1600" dirty="0"/>
              <a:t>Why is this important? </a:t>
            </a:r>
          </a:p>
          <a:p>
            <a:pPr lvl="1"/>
            <a:r>
              <a:rPr lang="en-US" sz="1600" dirty="0"/>
              <a:t>If you hook up a battery, this supplies a direct current electric field between the plates</a:t>
            </a:r>
          </a:p>
        </p:txBody>
      </p:sp>
      <p:sp>
        <p:nvSpPr>
          <p:cNvPr id="4" name="Slide Number Placeholder 3">
            <a:extLst>
              <a:ext uri="{FF2B5EF4-FFF2-40B4-BE49-F238E27FC236}">
                <a16:creationId xmlns:a16="http://schemas.microsoft.com/office/drawing/2014/main" id="{B9D9B0B5-6646-BCD3-3E3C-B2327FB9DB61}"/>
              </a:ext>
            </a:extLst>
          </p:cNvPr>
          <p:cNvSpPr>
            <a:spLocks noGrp="1"/>
          </p:cNvSpPr>
          <p:nvPr>
            <p:ph type="sldNum" sz="quarter" idx="12"/>
          </p:nvPr>
        </p:nvSpPr>
        <p:spPr/>
        <p:txBody>
          <a:bodyPr/>
          <a:lstStyle/>
          <a:p>
            <a:fld id="{C5EF2332-01BF-834F-8236-50238282D533}" type="slidenum">
              <a:rPr lang="en-US" smtClean="0"/>
              <a:t>23</a:t>
            </a:fld>
            <a:endParaRPr lang="en-US"/>
          </a:p>
        </p:txBody>
      </p:sp>
      <p:cxnSp>
        <p:nvCxnSpPr>
          <p:cNvPr id="32" name="Straight Arrow Connector 31">
            <a:extLst>
              <a:ext uri="{FF2B5EF4-FFF2-40B4-BE49-F238E27FC236}">
                <a16:creationId xmlns:a16="http://schemas.microsoft.com/office/drawing/2014/main" id="{DE04F538-8598-293C-2D95-BC6C3668F9F2}"/>
              </a:ext>
            </a:extLst>
          </p:cNvPr>
          <p:cNvCxnSpPr>
            <a:cxnSpLocks/>
          </p:cNvCxnSpPr>
          <p:nvPr/>
        </p:nvCxnSpPr>
        <p:spPr>
          <a:xfrm rot="-2700000">
            <a:off x="6506256" y="3429000"/>
            <a:ext cx="1570442"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D9C4175A-D218-1A11-6263-428D70479EAB}"/>
              </a:ext>
            </a:extLst>
          </p:cNvPr>
          <p:cNvCxnSpPr>
            <a:cxnSpLocks/>
          </p:cNvCxnSpPr>
          <p:nvPr/>
        </p:nvCxnSpPr>
        <p:spPr>
          <a:xfrm rot="2700000">
            <a:off x="8253496" y="3429001"/>
            <a:ext cx="1570442" cy="0"/>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84D2B1F4-262A-D48F-6E93-D4AA9A7C1DD0}"/>
              </a:ext>
            </a:extLst>
          </p:cNvPr>
          <p:cNvSpPr txBox="1"/>
          <p:nvPr/>
        </p:nvSpPr>
        <p:spPr>
          <a:xfrm>
            <a:off x="2411133" y="6220018"/>
            <a:ext cx="4880344"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US" dirty="0"/>
              <a:t>Not responsible for this, just for enrichment</a:t>
            </a:r>
          </a:p>
        </p:txBody>
      </p:sp>
      <p:cxnSp>
        <p:nvCxnSpPr>
          <p:cNvPr id="36" name="Straight Arrow Connector 35">
            <a:extLst>
              <a:ext uri="{FF2B5EF4-FFF2-40B4-BE49-F238E27FC236}">
                <a16:creationId xmlns:a16="http://schemas.microsoft.com/office/drawing/2014/main" id="{5EE64BD6-4FBF-5526-54D3-945E4BECE8B0}"/>
              </a:ext>
            </a:extLst>
          </p:cNvPr>
          <p:cNvCxnSpPr>
            <a:cxnSpLocks/>
          </p:cNvCxnSpPr>
          <p:nvPr/>
        </p:nvCxnSpPr>
        <p:spPr>
          <a:xfrm>
            <a:off x="6736244" y="3984234"/>
            <a:ext cx="1110469" cy="0"/>
          </a:xfrm>
          <a:prstGeom prst="straightConnector1">
            <a:avLst/>
          </a:prstGeom>
          <a:ln w="57150">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0C43EF2E-AEB4-E2C2-D3AB-1803FE292CF6}"/>
              </a:ext>
            </a:extLst>
          </p:cNvPr>
          <p:cNvCxnSpPr>
            <a:cxnSpLocks/>
          </p:cNvCxnSpPr>
          <p:nvPr/>
        </p:nvCxnSpPr>
        <p:spPr>
          <a:xfrm flipV="1">
            <a:off x="7846713" y="2977662"/>
            <a:ext cx="0" cy="981514"/>
          </a:xfrm>
          <a:prstGeom prst="straightConnector1">
            <a:avLst/>
          </a:prstGeom>
          <a:ln w="57150">
            <a:prstDash val="dashDot"/>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0B83AF91-8CE0-5F9E-27FD-52E4EA5BF50C}"/>
              </a:ext>
            </a:extLst>
          </p:cNvPr>
          <p:cNvCxnSpPr>
            <a:cxnSpLocks/>
          </p:cNvCxnSpPr>
          <p:nvPr/>
        </p:nvCxnSpPr>
        <p:spPr>
          <a:xfrm>
            <a:off x="8483481" y="3984234"/>
            <a:ext cx="1110469" cy="0"/>
          </a:xfrm>
          <a:prstGeom prst="straightConnector1">
            <a:avLst/>
          </a:prstGeom>
          <a:ln w="57150">
            <a:solidFill>
              <a:schemeClr val="accent3">
                <a:lumMod val="75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6FA18682-3E3F-F9BE-5299-23898493B427}"/>
              </a:ext>
            </a:extLst>
          </p:cNvPr>
          <p:cNvCxnSpPr>
            <a:cxnSpLocks/>
          </p:cNvCxnSpPr>
          <p:nvPr/>
        </p:nvCxnSpPr>
        <p:spPr>
          <a:xfrm rot="10800000" flipV="1">
            <a:off x="8483481" y="2938243"/>
            <a:ext cx="0" cy="981514"/>
          </a:xfrm>
          <a:prstGeom prst="straightConnector1">
            <a:avLst/>
          </a:prstGeom>
          <a:ln w="57150">
            <a:solidFill>
              <a:schemeClr val="accent3">
                <a:lumMod val="75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4007079F-1466-9BBD-E8E5-3DBD9DDECFD9}"/>
              </a:ext>
            </a:extLst>
          </p:cNvPr>
          <p:cNvSpPr txBox="1"/>
          <p:nvPr/>
        </p:nvSpPr>
        <p:spPr>
          <a:xfrm>
            <a:off x="7479323" y="1504626"/>
            <a:ext cx="1781905" cy="923330"/>
          </a:xfrm>
          <a:prstGeom prst="rect">
            <a:avLst/>
          </a:prstGeom>
          <a:noFill/>
        </p:spPr>
        <p:txBody>
          <a:bodyPr wrap="square" rtlCol="0">
            <a:spAutoFit/>
          </a:bodyPr>
          <a:lstStyle/>
          <a:p>
            <a:r>
              <a:rPr lang="en-US" dirty="0"/>
              <a:t>Perpendicular components cancel</a:t>
            </a:r>
          </a:p>
        </p:txBody>
      </p:sp>
      <p:sp>
        <p:nvSpPr>
          <p:cNvPr id="43" name="TextBox 42">
            <a:extLst>
              <a:ext uri="{FF2B5EF4-FFF2-40B4-BE49-F238E27FC236}">
                <a16:creationId xmlns:a16="http://schemas.microsoft.com/office/drawing/2014/main" id="{32C8F34E-2E7D-2751-34EB-C25A70960E83}"/>
              </a:ext>
            </a:extLst>
          </p:cNvPr>
          <p:cNvSpPr txBox="1"/>
          <p:nvPr/>
        </p:nvSpPr>
        <p:spPr>
          <a:xfrm>
            <a:off x="7479323" y="4508882"/>
            <a:ext cx="1969744" cy="923330"/>
          </a:xfrm>
          <a:prstGeom prst="rect">
            <a:avLst/>
          </a:prstGeom>
          <a:noFill/>
        </p:spPr>
        <p:txBody>
          <a:bodyPr wrap="square" rtlCol="0">
            <a:spAutoFit/>
          </a:bodyPr>
          <a:lstStyle/>
          <a:p>
            <a:r>
              <a:rPr lang="en-US" dirty="0"/>
              <a:t>Parallel components cancel</a:t>
            </a:r>
          </a:p>
        </p:txBody>
      </p:sp>
    </p:spTree>
    <p:extLst>
      <p:ext uri="{BB962C8B-B14F-4D97-AF65-F5344CB8AC3E}">
        <p14:creationId xmlns:p14="http://schemas.microsoft.com/office/powerpoint/2010/main" val="1592194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8C4FE-4D8A-6C31-D5FD-A0DF928414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2F2CFC-0265-B20A-E9DC-0E02B42A10A1}"/>
              </a:ext>
            </a:extLst>
          </p:cNvPr>
          <p:cNvSpPr>
            <a:spLocks noGrp="1"/>
          </p:cNvSpPr>
          <p:nvPr>
            <p:ph type="title"/>
          </p:nvPr>
        </p:nvSpPr>
        <p:spPr/>
        <p:txBody>
          <a:bodyPr/>
          <a:lstStyle/>
          <a:p>
            <a:r>
              <a:rPr lang="en-US" dirty="0"/>
              <a:t>Electricity</a:t>
            </a:r>
          </a:p>
        </p:txBody>
      </p:sp>
      <p:sp>
        <p:nvSpPr>
          <p:cNvPr id="3" name="Content Placeholder 2">
            <a:extLst>
              <a:ext uri="{FF2B5EF4-FFF2-40B4-BE49-F238E27FC236}">
                <a16:creationId xmlns:a16="http://schemas.microsoft.com/office/drawing/2014/main" id="{9448FC2D-8589-999F-6B5F-4FC98726A3B1}"/>
              </a:ext>
            </a:extLst>
          </p:cNvPr>
          <p:cNvSpPr>
            <a:spLocks noGrp="1"/>
          </p:cNvSpPr>
          <p:nvPr>
            <p:ph idx="1"/>
          </p:nvPr>
        </p:nvSpPr>
        <p:spPr>
          <a:xfrm>
            <a:off x="394208" y="2522992"/>
            <a:ext cx="4752223" cy="4048171"/>
          </a:xfrm>
        </p:spPr>
        <p:txBody>
          <a:bodyPr/>
          <a:lstStyle/>
          <a:p>
            <a:r>
              <a:rPr lang="en-US" sz="1600" dirty="0"/>
              <a:t>Teeny tiny bit of vector addition</a:t>
            </a:r>
          </a:p>
          <a:p>
            <a:r>
              <a:rPr lang="en-US" sz="1600" dirty="0"/>
              <a:t>The components of Coulomb’s law parallel to the plates CANCEL, the components perpendicular to the plates ADD, so you get a constant electric field</a:t>
            </a:r>
          </a:p>
          <a:p>
            <a:r>
              <a:rPr lang="en-US" sz="1600" dirty="0"/>
              <a:t>Why is this important? </a:t>
            </a:r>
          </a:p>
          <a:p>
            <a:pPr lvl="1"/>
            <a:r>
              <a:rPr lang="en-US" sz="1600" dirty="0"/>
              <a:t>If you hook up a battery, this supplies a direct current electric field between the plates</a:t>
            </a:r>
          </a:p>
        </p:txBody>
      </p:sp>
      <p:sp>
        <p:nvSpPr>
          <p:cNvPr id="4" name="Slide Number Placeholder 3">
            <a:extLst>
              <a:ext uri="{FF2B5EF4-FFF2-40B4-BE49-F238E27FC236}">
                <a16:creationId xmlns:a16="http://schemas.microsoft.com/office/drawing/2014/main" id="{4348FED2-1DB9-3791-9BFE-B621F39C7F7F}"/>
              </a:ext>
            </a:extLst>
          </p:cNvPr>
          <p:cNvSpPr>
            <a:spLocks noGrp="1"/>
          </p:cNvSpPr>
          <p:nvPr>
            <p:ph type="sldNum" sz="quarter" idx="12"/>
          </p:nvPr>
        </p:nvSpPr>
        <p:spPr/>
        <p:txBody>
          <a:bodyPr/>
          <a:lstStyle/>
          <a:p>
            <a:fld id="{C5EF2332-01BF-834F-8236-50238282D533}" type="slidenum">
              <a:rPr lang="en-US" smtClean="0"/>
              <a:t>24</a:t>
            </a:fld>
            <a:endParaRPr lang="en-US"/>
          </a:p>
        </p:txBody>
      </p:sp>
      <p:grpSp>
        <p:nvGrpSpPr>
          <p:cNvPr id="92" name="Group 91">
            <a:extLst>
              <a:ext uri="{FF2B5EF4-FFF2-40B4-BE49-F238E27FC236}">
                <a16:creationId xmlns:a16="http://schemas.microsoft.com/office/drawing/2014/main" id="{7E4C3083-464B-6B8F-2FDE-CD91B041477E}"/>
              </a:ext>
            </a:extLst>
          </p:cNvPr>
          <p:cNvGrpSpPr/>
          <p:nvPr/>
        </p:nvGrpSpPr>
        <p:grpSpPr>
          <a:xfrm>
            <a:off x="5511863" y="2749029"/>
            <a:ext cx="5942145" cy="2377441"/>
            <a:chOff x="5496218" y="3733768"/>
            <a:chExt cx="5942145" cy="2377441"/>
          </a:xfrm>
        </p:grpSpPr>
        <p:grpSp>
          <p:nvGrpSpPr>
            <p:cNvPr id="25" name="Group 24">
              <a:extLst>
                <a:ext uri="{FF2B5EF4-FFF2-40B4-BE49-F238E27FC236}">
                  <a16:creationId xmlns:a16="http://schemas.microsoft.com/office/drawing/2014/main" id="{2D2D7BDA-306D-C653-D1BD-474DCAB836A3}"/>
                </a:ext>
              </a:extLst>
            </p:cNvPr>
            <p:cNvGrpSpPr/>
            <p:nvPr/>
          </p:nvGrpSpPr>
          <p:grpSpPr>
            <a:xfrm>
              <a:off x="5496218" y="3733769"/>
              <a:ext cx="2345789" cy="2377440"/>
              <a:chOff x="5407853" y="2029265"/>
              <a:chExt cx="2345789" cy="2377440"/>
            </a:xfrm>
          </p:grpSpPr>
          <p:cxnSp>
            <p:nvCxnSpPr>
              <p:cNvPr id="7" name="Straight Arrow Connector 6">
                <a:extLst>
                  <a:ext uri="{FF2B5EF4-FFF2-40B4-BE49-F238E27FC236}">
                    <a16:creationId xmlns:a16="http://schemas.microsoft.com/office/drawing/2014/main" id="{28DBB063-ED4E-A160-D982-67961F9CA078}"/>
                  </a:ext>
                </a:extLst>
              </p:cNvPr>
              <p:cNvCxnSpPr/>
              <p:nvPr/>
            </p:nvCxnSpPr>
            <p:spPr>
              <a:xfrm>
                <a:off x="6564922" y="321798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2B5BE947-009F-235C-9D95-FEBD0538D7F7}"/>
                  </a:ext>
                </a:extLst>
              </p:cNvPr>
              <p:cNvCxnSpPr>
                <a:cxnSpLocks/>
              </p:cNvCxnSpPr>
              <p:nvPr/>
            </p:nvCxnSpPr>
            <p:spPr>
              <a:xfrm rot="5400000">
                <a:off x="6002213" y="381234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F0757E39-0D32-A74D-C549-F645C21AA6AF}"/>
                  </a:ext>
                </a:extLst>
              </p:cNvPr>
              <p:cNvCxnSpPr>
                <a:cxnSpLocks/>
              </p:cNvCxnSpPr>
              <p:nvPr/>
            </p:nvCxnSpPr>
            <p:spPr>
              <a:xfrm rot="-5400000">
                <a:off x="6002213" y="262362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1592A046-C82D-E980-2E33-37B2C7969D52}"/>
                  </a:ext>
                </a:extLst>
              </p:cNvPr>
              <p:cNvCxnSpPr>
                <a:cxnSpLocks/>
              </p:cNvCxnSpPr>
              <p:nvPr/>
            </p:nvCxnSpPr>
            <p:spPr>
              <a:xfrm rot="10800000">
                <a:off x="5407853" y="321798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4442FA57-1838-17F8-3E0F-5850D6F9AD45}"/>
                  </a:ext>
                </a:extLst>
              </p:cNvPr>
              <p:cNvCxnSpPr>
                <a:cxnSpLocks/>
              </p:cNvCxnSpPr>
              <p:nvPr/>
            </p:nvCxnSpPr>
            <p:spPr>
              <a:xfrm rot="2700000">
                <a:off x="6445936" y="364001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9285C619-D07F-93F0-D31C-28A38CD4AF54}"/>
                  </a:ext>
                </a:extLst>
              </p:cNvPr>
              <p:cNvCxnSpPr>
                <a:cxnSpLocks/>
              </p:cNvCxnSpPr>
              <p:nvPr/>
            </p:nvCxnSpPr>
            <p:spPr>
              <a:xfrm rot="-2700000">
                <a:off x="6445935" y="2793582"/>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5D080956-7517-20DF-DA7F-DCADAC9213C7}"/>
                  </a:ext>
                </a:extLst>
              </p:cNvPr>
              <p:cNvCxnSpPr>
                <a:cxnSpLocks/>
              </p:cNvCxnSpPr>
              <p:nvPr/>
            </p:nvCxnSpPr>
            <p:spPr>
              <a:xfrm rot="8100000">
                <a:off x="5550286" y="3642388"/>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4DC919EA-7EA5-964C-E222-4EEB6AF43DF9}"/>
                  </a:ext>
                </a:extLst>
              </p:cNvPr>
              <p:cNvCxnSpPr>
                <a:cxnSpLocks/>
              </p:cNvCxnSpPr>
              <p:nvPr/>
            </p:nvCxnSpPr>
            <p:spPr>
              <a:xfrm rot="-8100000">
                <a:off x="5570215" y="2793582"/>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grpSp>
        <p:grpSp>
          <p:nvGrpSpPr>
            <p:cNvPr id="26" name="Group 25">
              <a:extLst>
                <a:ext uri="{FF2B5EF4-FFF2-40B4-BE49-F238E27FC236}">
                  <a16:creationId xmlns:a16="http://schemas.microsoft.com/office/drawing/2014/main" id="{78EF1F10-28F1-ACD4-11D4-D3C3C8C8DD11}"/>
                </a:ext>
              </a:extLst>
            </p:cNvPr>
            <p:cNvGrpSpPr/>
            <p:nvPr/>
          </p:nvGrpSpPr>
          <p:grpSpPr>
            <a:xfrm>
              <a:off x="9092574" y="3733768"/>
              <a:ext cx="2345789" cy="2377440"/>
              <a:chOff x="8816646" y="2037519"/>
              <a:chExt cx="2345789" cy="2377440"/>
            </a:xfrm>
          </p:grpSpPr>
          <p:cxnSp>
            <p:nvCxnSpPr>
              <p:cNvPr id="15" name="Straight Arrow Connector 14">
                <a:extLst>
                  <a:ext uri="{FF2B5EF4-FFF2-40B4-BE49-F238E27FC236}">
                    <a16:creationId xmlns:a16="http://schemas.microsoft.com/office/drawing/2014/main" id="{DAB77F4E-002B-6EED-F0F8-D65FE294E28E}"/>
                  </a:ext>
                </a:extLst>
              </p:cNvPr>
              <p:cNvCxnSpPr/>
              <p:nvPr/>
            </p:nvCxnSpPr>
            <p:spPr>
              <a:xfrm>
                <a:off x="9973715" y="322623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804D1FDB-F4EF-C97A-1BD0-4D7B52E7E4E3}"/>
                  </a:ext>
                </a:extLst>
              </p:cNvPr>
              <p:cNvCxnSpPr>
                <a:cxnSpLocks/>
              </p:cNvCxnSpPr>
              <p:nvPr/>
            </p:nvCxnSpPr>
            <p:spPr>
              <a:xfrm rot="5400000">
                <a:off x="9411006" y="382059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41C6A964-34AB-A279-9EF5-BC32A2F578D6}"/>
                  </a:ext>
                </a:extLst>
              </p:cNvPr>
              <p:cNvCxnSpPr>
                <a:cxnSpLocks/>
              </p:cNvCxnSpPr>
              <p:nvPr/>
            </p:nvCxnSpPr>
            <p:spPr>
              <a:xfrm rot="-5400000">
                <a:off x="9411006" y="263187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BF0B9EDB-2A78-E16E-3658-4AE7E87F020B}"/>
                  </a:ext>
                </a:extLst>
              </p:cNvPr>
              <p:cNvCxnSpPr>
                <a:cxnSpLocks/>
              </p:cNvCxnSpPr>
              <p:nvPr/>
            </p:nvCxnSpPr>
            <p:spPr>
              <a:xfrm rot="10800000">
                <a:off x="8816646" y="322623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2D9E7DC2-AC2A-5D46-47A4-8A1B683E8023}"/>
                  </a:ext>
                </a:extLst>
              </p:cNvPr>
              <p:cNvCxnSpPr>
                <a:cxnSpLocks/>
              </p:cNvCxnSpPr>
              <p:nvPr/>
            </p:nvCxnSpPr>
            <p:spPr>
              <a:xfrm rot="2700000">
                <a:off x="9854729" y="364826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0CA6B5F6-2EB5-46F6-6B8A-5CA11C58C8E1}"/>
                  </a:ext>
                </a:extLst>
              </p:cNvPr>
              <p:cNvCxnSpPr>
                <a:cxnSpLocks/>
              </p:cNvCxnSpPr>
              <p:nvPr/>
            </p:nvCxnSpPr>
            <p:spPr>
              <a:xfrm rot="-2700000">
                <a:off x="9854728" y="2801836"/>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446A724F-CCDF-4B54-185A-7C73CDD40519}"/>
                  </a:ext>
                </a:extLst>
              </p:cNvPr>
              <p:cNvCxnSpPr>
                <a:cxnSpLocks/>
              </p:cNvCxnSpPr>
              <p:nvPr/>
            </p:nvCxnSpPr>
            <p:spPr>
              <a:xfrm rot="8100000">
                <a:off x="8959079" y="3650642"/>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4837E0DD-578A-F4A2-6F92-A7E3CE969B57}"/>
                  </a:ext>
                </a:extLst>
              </p:cNvPr>
              <p:cNvCxnSpPr>
                <a:cxnSpLocks/>
              </p:cNvCxnSpPr>
              <p:nvPr/>
            </p:nvCxnSpPr>
            <p:spPr>
              <a:xfrm rot="-8100000">
                <a:off x="8979008" y="2801836"/>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grpSp>
        <p:cxnSp>
          <p:nvCxnSpPr>
            <p:cNvPr id="28" name="Straight Arrow Connector 27">
              <a:extLst>
                <a:ext uri="{FF2B5EF4-FFF2-40B4-BE49-F238E27FC236}">
                  <a16:creationId xmlns:a16="http://schemas.microsoft.com/office/drawing/2014/main" id="{23ACEDE8-BA53-AFE3-456D-9A60EDCB7AF1}"/>
                </a:ext>
              </a:extLst>
            </p:cNvPr>
            <p:cNvCxnSpPr>
              <a:cxnSpLocks/>
            </p:cNvCxnSpPr>
            <p:nvPr/>
          </p:nvCxnSpPr>
          <p:spPr>
            <a:xfrm flipV="1">
              <a:off x="7973449" y="4926615"/>
              <a:ext cx="551717" cy="825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9B474904-7912-FA2E-6BBF-7940FCC3EDF3}"/>
                </a:ext>
              </a:extLst>
            </p:cNvPr>
            <p:cNvCxnSpPr>
              <a:cxnSpLocks/>
            </p:cNvCxnSpPr>
            <p:nvPr/>
          </p:nvCxnSpPr>
          <p:spPr>
            <a:xfrm flipV="1">
              <a:off x="8525166" y="4926615"/>
              <a:ext cx="551717" cy="8253"/>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sp>
        <p:nvSpPr>
          <p:cNvPr id="6" name="TextBox 5">
            <a:extLst>
              <a:ext uri="{FF2B5EF4-FFF2-40B4-BE49-F238E27FC236}">
                <a16:creationId xmlns:a16="http://schemas.microsoft.com/office/drawing/2014/main" id="{559691B4-56E1-7003-C6CE-50E2F85F6826}"/>
              </a:ext>
            </a:extLst>
          </p:cNvPr>
          <p:cNvSpPr txBox="1"/>
          <p:nvPr/>
        </p:nvSpPr>
        <p:spPr>
          <a:xfrm>
            <a:off x="2411133" y="6220018"/>
            <a:ext cx="4880344"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US" dirty="0"/>
              <a:t>Not responsible for this, just for enrichment</a:t>
            </a:r>
          </a:p>
        </p:txBody>
      </p:sp>
      <p:sp>
        <p:nvSpPr>
          <p:cNvPr id="135" name="TextBox 134">
            <a:extLst>
              <a:ext uri="{FF2B5EF4-FFF2-40B4-BE49-F238E27FC236}">
                <a16:creationId xmlns:a16="http://schemas.microsoft.com/office/drawing/2014/main" id="{7E93F9EA-8892-7D28-70E5-420CD209B720}"/>
              </a:ext>
            </a:extLst>
          </p:cNvPr>
          <p:cNvSpPr txBox="1"/>
          <p:nvPr/>
        </p:nvSpPr>
        <p:spPr>
          <a:xfrm>
            <a:off x="7045363" y="1170274"/>
            <a:ext cx="3180627" cy="92333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US" dirty="0"/>
              <a:t>Draw only the part in the middle where it doesn’t cancel</a:t>
            </a:r>
          </a:p>
        </p:txBody>
      </p:sp>
    </p:spTree>
    <p:extLst>
      <p:ext uri="{BB962C8B-B14F-4D97-AF65-F5344CB8AC3E}">
        <p14:creationId xmlns:p14="http://schemas.microsoft.com/office/powerpoint/2010/main" val="34164839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9FB87-85C4-37B8-D95A-E8762B6C26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26100-3D7F-3D7D-4811-0D096A074CDB}"/>
              </a:ext>
            </a:extLst>
          </p:cNvPr>
          <p:cNvSpPr>
            <a:spLocks noGrp="1"/>
          </p:cNvSpPr>
          <p:nvPr>
            <p:ph type="title"/>
          </p:nvPr>
        </p:nvSpPr>
        <p:spPr/>
        <p:txBody>
          <a:bodyPr/>
          <a:lstStyle/>
          <a:p>
            <a:r>
              <a:rPr lang="en-US" dirty="0"/>
              <a:t>Electricity</a:t>
            </a:r>
          </a:p>
        </p:txBody>
      </p:sp>
      <p:sp>
        <p:nvSpPr>
          <p:cNvPr id="3" name="Content Placeholder 2">
            <a:extLst>
              <a:ext uri="{FF2B5EF4-FFF2-40B4-BE49-F238E27FC236}">
                <a16:creationId xmlns:a16="http://schemas.microsoft.com/office/drawing/2014/main" id="{73117867-8FC3-E74E-80AC-FD8F97FCE7A2}"/>
              </a:ext>
            </a:extLst>
          </p:cNvPr>
          <p:cNvSpPr>
            <a:spLocks noGrp="1"/>
          </p:cNvSpPr>
          <p:nvPr>
            <p:ph idx="1"/>
          </p:nvPr>
        </p:nvSpPr>
        <p:spPr>
          <a:xfrm>
            <a:off x="394208" y="2522992"/>
            <a:ext cx="4752223" cy="4048171"/>
          </a:xfrm>
        </p:spPr>
        <p:txBody>
          <a:bodyPr/>
          <a:lstStyle/>
          <a:p>
            <a:r>
              <a:rPr lang="en-US" sz="1600" dirty="0"/>
              <a:t>Teeny tiny bit of vector addition</a:t>
            </a:r>
          </a:p>
          <a:p>
            <a:r>
              <a:rPr lang="en-US" sz="1600" dirty="0"/>
              <a:t>The components of Coulomb’s law parallel to the plates CANCEL, the components perpendicular to the plates ADD, so you get a constant electric field</a:t>
            </a:r>
          </a:p>
          <a:p>
            <a:r>
              <a:rPr lang="en-US" sz="1600" dirty="0"/>
              <a:t>Why is this important? </a:t>
            </a:r>
          </a:p>
          <a:p>
            <a:pPr lvl="1"/>
            <a:r>
              <a:rPr lang="en-US" sz="1600" dirty="0"/>
              <a:t>If you hook up a battery, this supplies a direct current electric field between the plates</a:t>
            </a:r>
          </a:p>
        </p:txBody>
      </p:sp>
      <p:sp>
        <p:nvSpPr>
          <p:cNvPr id="4" name="Slide Number Placeholder 3">
            <a:extLst>
              <a:ext uri="{FF2B5EF4-FFF2-40B4-BE49-F238E27FC236}">
                <a16:creationId xmlns:a16="http://schemas.microsoft.com/office/drawing/2014/main" id="{CBA5B4D4-3DEB-A002-98BB-2DA1BDDED3C5}"/>
              </a:ext>
            </a:extLst>
          </p:cNvPr>
          <p:cNvSpPr>
            <a:spLocks noGrp="1"/>
          </p:cNvSpPr>
          <p:nvPr>
            <p:ph type="sldNum" sz="quarter" idx="12"/>
          </p:nvPr>
        </p:nvSpPr>
        <p:spPr/>
        <p:txBody>
          <a:bodyPr/>
          <a:lstStyle/>
          <a:p>
            <a:fld id="{C5EF2332-01BF-834F-8236-50238282D533}" type="slidenum">
              <a:rPr lang="en-US" smtClean="0"/>
              <a:t>25</a:t>
            </a:fld>
            <a:endParaRPr lang="en-US"/>
          </a:p>
        </p:txBody>
      </p:sp>
      <p:grpSp>
        <p:nvGrpSpPr>
          <p:cNvPr id="92" name="Group 91">
            <a:extLst>
              <a:ext uri="{FF2B5EF4-FFF2-40B4-BE49-F238E27FC236}">
                <a16:creationId xmlns:a16="http://schemas.microsoft.com/office/drawing/2014/main" id="{B96DD710-D975-BCC8-3BE9-FAA41FCF2C51}"/>
              </a:ext>
            </a:extLst>
          </p:cNvPr>
          <p:cNvGrpSpPr/>
          <p:nvPr/>
        </p:nvGrpSpPr>
        <p:grpSpPr>
          <a:xfrm>
            <a:off x="5511863" y="2749029"/>
            <a:ext cx="5942145" cy="2377441"/>
            <a:chOff x="5496218" y="3733768"/>
            <a:chExt cx="5942145" cy="2377441"/>
          </a:xfrm>
        </p:grpSpPr>
        <p:grpSp>
          <p:nvGrpSpPr>
            <p:cNvPr id="25" name="Group 24">
              <a:extLst>
                <a:ext uri="{FF2B5EF4-FFF2-40B4-BE49-F238E27FC236}">
                  <a16:creationId xmlns:a16="http://schemas.microsoft.com/office/drawing/2014/main" id="{EFB365D0-1471-7A4D-48AF-611851702392}"/>
                </a:ext>
              </a:extLst>
            </p:cNvPr>
            <p:cNvGrpSpPr/>
            <p:nvPr/>
          </p:nvGrpSpPr>
          <p:grpSpPr>
            <a:xfrm>
              <a:off x="5496218" y="3733769"/>
              <a:ext cx="2345789" cy="2377440"/>
              <a:chOff x="5407853" y="2029265"/>
              <a:chExt cx="2345789" cy="2377440"/>
            </a:xfrm>
          </p:grpSpPr>
          <p:cxnSp>
            <p:nvCxnSpPr>
              <p:cNvPr id="7" name="Straight Arrow Connector 6">
                <a:extLst>
                  <a:ext uri="{FF2B5EF4-FFF2-40B4-BE49-F238E27FC236}">
                    <a16:creationId xmlns:a16="http://schemas.microsoft.com/office/drawing/2014/main" id="{64CC9142-0869-8A6D-0D50-96B20DA8A7B7}"/>
                  </a:ext>
                </a:extLst>
              </p:cNvPr>
              <p:cNvCxnSpPr/>
              <p:nvPr/>
            </p:nvCxnSpPr>
            <p:spPr>
              <a:xfrm>
                <a:off x="6564922" y="321798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37CC0D37-2C03-AC35-1AFB-8C46203E5C4C}"/>
                  </a:ext>
                </a:extLst>
              </p:cNvPr>
              <p:cNvCxnSpPr>
                <a:cxnSpLocks/>
              </p:cNvCxnSpPr>
              <p:nvPr/>
            </p:nvCxnSpPr>
            <p:spPr>
              <a:xfrm rot="5400000">
                <a:off x="6002213" y="381234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C2E9298B-0379-868F-D757-39743182374D}"/>
                  </a:ext>
                </a:extLst>
              </p:cNvPr>
              <p:cNvCxnSpPr>
                <a:cxnSpLocks/>
              </p:cNvCxnSpPr>
              <p:nvPr/>
            </p:nvCxnSpPr>
            <p:spPr>
              <a:xfrm rot="-5400000">
                <a:off x="6002213" y="262362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6BD418A2-4F30-3CD9-9389-6E2AA85D3CC0}"/>
                  </a:ext>
                </a:extLst>
              </p:cNvPr>
              <p:cNvCxnSpPr>
                <a:cxnSpLocks/>
              </p:cNvCxnSpPr>
              <p:nvPr/>
            </p:nvCxnSpPr>
            <p:spPr>
              <a:xfrm rot="10800000">
                <a:off x="5407853" y="321798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EFBC2C6E-DAC3-3D26-BDC8-E9CFD0B3C7DC}"/>
                  </a:ext>
                </a:extLst>
              </p:cNvPr>
              <p:cNvCxnSpPr>
                <a:cxnSpLocks/>
              </p:cNvCxnSpPr>
              <p:nvPr/>
            </p:nvCxnSpPr>
            <p:spPr>
              <a:xfrm rot="2700000">
                <a:off x="6445936" y="364001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E87E2C0A-31E4-70E9-A979-0800997D2720}"/>
                  </a:ext>
                </a:extLst>
              </p:cNvPr>
              <p:cNvCxnSpPr>
                <a:cxnSpLocks/>
              </p:cNvCxnSpPr>
              <p:nvPr/>
            </p:nvCxnSpPr>
            <p:spPr>
              <a:xfrm rot="-2700000">
                <a:off x="6445935" y="2793582"/>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2BDF41E8-C2EC-FCD0-BCE2-C50FFC46C7F6}"/>
                  </a:ext>
                </a:extLst>
              </p:cNvPr>
              <p:cNvCxnSpPr>
                <a:cxnSpLocks/>
              </p:cNvCxnSpPr>
              <p:nvPr/>
            </p:nvCxnSpPr>
            <p:spPr>
              <a:xfrm rot="8100000">
                <a:off x="5550286" y="3642388"/>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67FFE962-306E-5D69-E729-0637FB620D29}"/>
                  </a:ext>
                </a:extLst>
              </p:cNvPr>
              <p:cNvCxnSpPr>
                <a:cxnSpLocks/>
              </p:cNvCxnSpPr>
              <p:nvPr/>
            </p:nvCxnSpPr>
            <p:spPr>
              <a:xfrm rot="-8100000">
                <a:off x="5570215" y="2793582"/>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grpSp>
        <p:grpSp>
          <p:nvGrpSpPr>
            <p:cNvPr id="26" name="Group 25">
              <a:extLst>
                <a:ext uri="{FF2B5EF4-FFF2-40B4-BE49-F238E27FC236}">
                  <a16:creationId xmlns:a16="http://schemas.microsoft.com/office/drawing/2014/main" id="{CCECCF64-0336-3802-019B-9F69653B108C}"/>
                </a:ext>
              </a:extLst>
            </p:cNvPr>
            <p:cNvGrpSpPr/>
            <p:nvPr/>
          </p:nvGrpSpPr>
          <p:grpSpPr>
            <a:xfrm>
              <a:off x="9092574" y="3733768"/>
              <a:ext cx="2345789" cy="2377440"/>
              <a:chOff x="8816646" y="2037519"/>
              <a:chExt cx="2345789" cy="2377440"/>
            </a:xfrm>
          </p:grpSpPr>
          <p:cxnSp>
            <p:nvCxnSpPr>
              <p:cNvPr id="15" name="Straight Arrow Connector 14">
                <a:extLst>
                  <a:ext uri="{FF2B5EF4-FFF2-40B4-BE49-F238E27FC236}">
                    <a16:creationId xmlns:a16="http://schemas.microsoft.com/office/drawing/2014/main" id="{2877ED71-EBC2-5984-F16F-F6D17160B0B6}"/>
                  </a:ext>
                </a:extLst>
              </p:cNvPr>
              <p:cNvCxnSpPr/>
              <p:nvPr/>
            </p:nvCxnSpPr>
            <p:spPr>
              <a:xfrm>
                <a:off x="9973715" y="322623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2F571906-8982-8169-D640-1B71BC37BAC1}"/>
                  </a:ext>
                </a:extLst>
              </p:cNvPr>
              <p:cNvCxnSpPr>
                <a:cxnSpLocks/>
              </p:cNvCxnSpPr>
              <p:nvPr/>
            </p:nvCxnSpPr>
            <p:spPr>
              <a:xfrm rot="5400000">
                <a:off x="9411006" y="382059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FB05AA78-5F0D-5939-6810-1EFA780E3744}"/>
                  </a:ext>
                </a:extLst>
              </p:cNvPr>
              <p:cNvCxnSpPr>
                <a:cxnSpLocks/>
              </p:cNvCxnSpPr>
              <p:nvPr/>
            </p:nvCxnSpPr>
            <p:spPr>
              <a:xfrm rot="-5400000">
                <a:off x="9411006" y="263187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621B0DF4-BA1B-C8DB-459E-BC922B1AA5F4}"/>
                  </a:ext>
                </a:extLst>
              </p:cNvPr>
              <p:cNvCxnSpPr>
                <a:cxnSpLocks/>
              </p:cNvCxnSpPr>
              <p:nvPr/>
            </p:nvCxnSpPr>
            <p:spPr>
              <a:xfrm rot="10800000">
                <a:off x="8816646" y="322623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B57B06E6-C76D-B8B6-F8CE-951AFBC73C23}"/>
                  </a:ext>
                </a:extLst>
              </p:cNvPr>
              <p:cNvCxnSpPr>
                <a:cxnSpLocks/>
              </p:cNvCxnSpPr>
              <p:nvPr/>
            </p:nvCxnSpPr>
            <p:spPr>
              <a:xfrm rot="2700000">
                <a:off x="9854729" y="364826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BB21CECE-AFB5-7C38-A8AE-2CCE2EF348DA}"/>
                  </a:ext>
                </a:extLst>
              </p:cNvPr>
              <p:cNvCxnSpPr>
                <a:cxnSpLocks/>
              </p:cNvCxnSpPr>
              <p:nvPr/>
            </p:nvCxnSpPr>
            <p:spPr>
              <a:xfrm rot="-2700000">
                <a:off x="9854728" y="2801836"/>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B53795E1-E7E1-498F-B658-30D8D6358BF8}"/>
                  </a:ext>
                </a:extLst>
              </p:cNvPr>
              <p:cNvCxnSpPr>
                <a:cxnSpLocks/>
              </p:cNvCxnSpPr>
              <p:nvPr/>
            </p:nvCxnSpPr>
            <p:spPr>
              <a:xfrm rot="8100000">
                <a:off x="8959079" y="3650642"/>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3CBAE27F-47AB-1B6A-735F-D98ED23D85D3}"/>
                  </a:ext>
                </a:extLst>
              </p:cNvPr>
              <p:cNvCxnSpPr>
                <a:cxnSpLocks/>
              </p:cNvCxnSpPr>
              <p:nvPr/>
            </p:nvCxnSpPr>
            <p:spPr>
              <a:xfrm rot="-8100000">
                <a:off x="8979008" y="2801836"/>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grpSp>
        <p:cxnSp>
          <p:nvCxnSpPr>
            <p:cNvPr id="28" name="Straight Arrow Connector 27">
              <a:extLst>
                <a:ext uri="{FF2B5EF4-FFF2-40B4-BE49-F238E27FC236}">
                  <a16:creationId xmlns:a16="http://schemas.microsoft.com/office/drawing/2014/main" id="{01515940-3CA5-0390-1E8E-5B2AA92F3A9C}"/>
                </a:ext>
              </a:extLst>
            </p:cNvPr>
            <p:cNvCxnSpPr>
              <a:cxnSpLocks/>
            </p:cNvCxnSpPr>
            <p:nvPr/>
          </p:nvCxnSpPr>
          <p:spPr>
            <a:xfrm flipV="1">
              <a:off x="7973449" y="4926615"/>
              <a:ext cx="551717" cy="825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5A19E7FE-DFDA-C60E-221E-78EF4AE6603D}"/>
                </a:ext>
              </a:extLst>
            </p:cNvPr>
            <p:cNvCxnSpPr>
              <a:cxnSpLocks/>
            </p:cNvCxnSpPr>
            <p:nvPr/>
          </p:nvCxnSpPr>
          <p:spPr>
            <a:xfrm flipV="1">
              <a:off x="8525166" y="4926615"/>
              <a:ext cx="551717" cy="8253"/>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sp>
        <p:nvSpPr>
          <p:cNvPr id="6" name="TextBox 5">
            <a:extLst>
              <a:ext uri="{FF2B5EF4-FFF2-40B4-BE49-F238E27FC236}">
                <a16:creationId xmlns:a16="http://schemas.microsoft.com/office/drawing/2014/main" id="{48E15A0F-1EB5-E77F-5EB3-DF34A68259D6}"/>
              </a:ext>
            </a:extLst>
          </p:cNvPr>
          <p:cNvSpPr txBox="1"/>
          <p:nvPr/>
        </p:nvSpPr>
        <p:spPr>
          <a:xfrm>
            <a:off x="2411133" y="6220018"/>
            <a:ext cx="4880344"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US" dirty="0"/>
              <a:t>Not responsible for this, just for enrichment</a:t>
            </a:r>
          </a:p>
        </p:txBody>
      </p:sp>
      <p:grpSp>
        <p:nvGrpSpPr>
          <p:cNvPr id="5" name="Group 4">
            <a:extLst>
              <a:ext uri="{FF2B5EF4-FFF2-40B4-BE49-F238E27FC236}">
                <a16:creationId xmlns:a16="http://schemas.microsoft.com/office/drawing/2014/main" id="{23D8C25B-73A7-B76F-2DD8-2E049DA9C87F}"/>
              </a:ext>
            </a:extLst>
          </p:cNvPr>
          <p:cNvGrpSpPr/>
          <p:nvPr/>
        </p:nvGrpSpPr>
        <p:grpSpPr>
          <a:xfrm>
            <a:off x="5511863" y="4547077"/>
            <a:ext cx="5942145" cy="2377441"/>
            <a:chOff x="5496218" y="3733768"/>
            <a:chExt cx="5942145" cy="2377441"/>
          </a:xfrm>
        </p:grpSpPr>
        <p:grpSp>
          <p:nvGrpSpPr>
            <p:cNvPr id="23" name="Group 22">
              <a:extLst>
                <a:ext uri="{FF2B5EF4-FFF2-40B4-BE49-F238E27FC236}">
                  <a16:creationId xmlns:a16="http://schemas.microsoft.com/office/drawing/2014/main" id="{F8BEBE94-E35D-08CB-67F5-45F5EFADD55F}"/>
                </a:ext>
              </a:extLst>
            </p:cNvPr>
            <p:cNvGrpSpPr/>
            <p:nvPr/>
          </p:nvGrpSpPr>
          <p:grpSpPr>
            <a:xfrm>
              <a:off x="5496218" y="3733769"/>
              <a:ext cx="2345789" cy="2377440"/>
              <a:chOff x="5407853" y="2029265"/>
              <a:chExt cx="2345789" cy="2377440"/>
            </a:xfrm>
          </p:grpSpPr>
          <p:cxnSp>
            <p:nvCxnSpPr>
              <p:cNvPr id="39" name="Straight Arrow Connector 38">
                <a:extLst>
                  <a:ext uri="{FF2B5EF4-FFF2-40B4-BE49-F238E27FC236}">
                    <a16:creationId xmlns:a16="http://schemas.microsoft.com/office/drawing/2014/main" id="{212109A7-52AD-7559-1EF8-EDA2072240B8}"/>
                  </a:ext>
                </a:extLst>
              </p:cNvPr>
              <p:cNvCxnSpPr/>
              <p:nvPr/>
            </p:nvCxnSpPr>
            <p:spPr>
              <a:xfrm>
                <a:off x="6564922" y="321798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67D904DF-A494-4CF0-3F97-3E98FCB29DDA}"/>
                  </a:ext>
                </a:extLst>
              </p:cNvPr>
              <p:cNvCxnSpPr>
                <a:cxnSpLocks/>
              </p:cNvCxnSpPr>
              <p:nvPr/>
            </p:nvCxnSpPr>
            <p:spPr>
              <a:xfrm rot="5400000">
                <a:off x="6002213" y="381234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4CB39C98-E8E9-1C26-5AA7-8AF1449BF62C}"/>
                  </a:ext>
                </a:extLst>
              </p:cNvPr>
              <p:cNvCxnSpPr>
                <a:cxnSpLocks/>
              </p:cNvCxnSpPr>
              <p:nvPr/>
            </p:nvCxnSpPr>
            <p:spPr>
              <a:xfrm rot="-5400000">
                <a:off x="6002213" y="262362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B6B7001B-2D22-60BE-53E8-95CB439394CB}"/>
                  </a:ext>
                </a:extLst>
              </p:cNvPr>
              <p:cNvCxnSpPr>
                <a:cxnSpLocks/>
              </p:cNvCxnSpPr>
              <p:nvPr/>
            </p:nvCxnSpPr>
            <p:spPr>
              <a:xfrm rot="10800000">
                <a:off x="5407853" y="321798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42F5220D-4772-07E8-2504-95AE9C7F2D6D}"/>
                  </a:ext>
                </a:extLst>
              </p:cNvPr>
              <p:cNvCxnSpPr>
                <a:cxnSpLocks/>
              </p:cNvCxnSpPr>
              <p:nvPr/>
            </p:nvCxnSpPr>
            <p:spPr>
              <a:xfrm rot="2700000">
                <a:off x="6445936" y="364001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EEB0C0E6-8C3A-BEA2-DFA3-6F7D7F6D508D}"/>
                  </a:ext>
                </a:extLst>
              </p:cNvPr>
              <p:cNvCxnSpPr>
                <a:cxnSpLocks/>
              </p:cNvCxnSpPr>
              <p:nvPr/>
            </p:nvCxnSpPr>
            <p:spPr>
              <a:xfrm rot="-2700000">
                <a:off x="6445935" y="2793582"/>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9ED95352-883A-3FDA-946E-3C4CAE6814EE}"/>
                  </a:ext>
                </a:extLst>
              </p:cNvPr>
              <p:cNvCxnSpPr>
                <a:cxnSpLocks/>
              </p:cNvCxnSpPr>
              <p:nvPr/>
            </p:nvCxnSpPr>
            <p:spPr>
              <a:xfrm rot="8100000">
                <a:off x="5550286" y="3642388"/>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430751F9-E5AD-5FE3-8459-5D8FC669716A}"/>
                  </a:ext>
                </a:extLst>
              </p:cNvPr>
              <p:cNvCxnSpPr>
                <a:cxnSpLocks/>
              </p:cNvCxnSpPr>
              <p:nvPr/>
            </p:nvCxnSpPr>
            <p:spPr>
              <a:xfrm rot="-8100000">
                <a:off x="5570215" y="2793582"/>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grpSp>
        <p:grpSp>
          <p:nvGrpSpPr>
            <p:cNvPr id="24" name="Group 23">
              <a:extLst>
                <a:ext uri="{FF2B5EF4-FFF2-40B4-BE49-F238E27FC236}">
                  <a16:creationId xmlns:a16="http://schemas.microsoft.com/office/drawing/2014/main" id="{D86002C2-F5BD-1618-1C43-28CD8B1C079F}"/>
                </a:ext>
              </a:extLst>
            </p:cNvPr>
            <p:cNvGrpSpPr/>
            <p:nvPr/>
          </p:nvGrpSpPr>
          <p:grpSpPr>
            <a:xfrm>
              <a:off x="9092574" y="3733768"/>
              <a:ext cx="2345789" cy="2377440"/>
              <a:chOff x="8816646" y="2037519"/>
              <a:chExt cx="2345789" cy="2377440"/>
            </a:xfrm>
          </p:grpSpPr>
          <p:cxnSp>
            <p:nvCxnSpPr>
              <p:cNvPr id="31" name="Straight Arrow Connector 30">
                <a:extLst>
                  <a:ext uri="{FF2B5EF4-FFF2-40B4-BE49-F238E27FC236}">
                    <a16:creationId xmlns:a16="http://schemas.microsoft.com/office/drawing/2014/main" id="{562A73C6-ACCF-BB47-0BE7-495DFBB7D601}"/>
                  </a:ext>
                </a:extLst>
              </p:cNvPr>
              <p:cNvCxnSpPr/>
              <p:nvPr/>
            </p:nvCxnSpPr>
            <p:spPr>
              <a:xfrm>
                <a:off x="9973715" y="322623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30DA93F9-8636-F7BD-5A70-15D179898AF9}"/>
                  </a:ext>
                </a:extLst>
              </p:cNvPr>
              <p:cNvCxnSpPr>
                <a:cxnSpLocks/>
              </p:cNvCxnSpPr>
              <p:nvPr/>
            </p:nvCxnSpPr>
            <p:spPr>
              <a:xfrm rot="5400000">
                <a:off x="9411006" y="382059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8CF245EB-180B-29DF-C1D7-24A067AECBA2}"/>
                  </a:ext>
                </a:extLst>
              </p:cNvPr>
              <p:cNvCxnSpPr>
                <a:cxnSpLocks/>
              </p:cNvCxnSpPr>
              <p:nvPr/>
            </p:nvCxnSpPr>
            <p:spPr>
              <a:xfrm rot="-5400000">
                <a:off x="9411006" y="263187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DDF0B57C-976E-611B-F35A-E2D0FC3087FD}"/>
                  </a:ext>
                </a:extLst>
              </p:cNvPr>
              <p:cNvCxnSpPr>
                <a:cxnSpLocks/>
              </p:cNvCxnSpPr>
              <p:nvPr/>
            </p:nvCxnSpPr>
            <p:spPr>
              <a:xfrm rot="10800000">
                <a:off x="8816646" y="322623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B566B820-D0BA-0FED-B7CC-274BDB19FA57}"/>
                  </a:ext>
                </a:extLst>
              </p:cNvPr>
              <p:cNvCxnSpPr>
                <a:cxnSpLocks/>
              </p:cNvCxnSpPr>
              <p:nvPr/>
            </p:nvCxnSpPr>
            <p:spPr>
              <a:xfrm rot="2700000">
                <a:off x="9854729" y="364826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25B115D7-0898-B273-6E89-3C236265DFB1}"/>
                  </a:ext>
                </a:extLst>
              </p:cNvPr>
              <p:cNvCxnSpPr>
                <a:cxnSpLocks/>
              </p:cNvCxnSpPr>
              <p:nvPr/>
            </p:nvCxnSpPr>
            <p:spPr>
              <a:xfrm rot="-2700000">
                <a:off x="9854728" y="2801836"/>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5225CCB8-478D-BD46-EAEA-D54CC5DDD098}"/>
                  </a:ext>
                </a:extLst>
              </p:cNvPr>
              <p:cNvCxnSpPr>
                <a:cxnSpLocks/>
              </p:cNvCxnSpPr>
              <p:nvPr/>
            </p:nvCxnSpPr>
            <p:spPr>
              <a:xfrm rot="8100000">
                <a:off x="8959079" y="3650642"/>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E93DDC07-7B37-D59C-99CB-25C480FACA5D}"/>
                  </a:ext>
                </a:extLst>
              </p:cNvPr>
              <p:cNvCxnSpPr>
                <a:cxnSpLocks/>
              </p:cNvCxnSpPr>
              <p:nvPr/>
            </p:nvCxnSpPr>
            <p:spPr>
              <a:xfrm rot="-8100000">
                <a:off x="8979008" y="2801836"/>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grpSp>
        <p:cxnSp>
          <p:nvCxnSpPr>
            <p:cNvPr id="27" name="Straight Arrow Connector 26">
              <a:extLst>
                <a:ext uri="{FF2B5EF4-FFF2-40B4-BE49-F238E27FC236}">
                  <a16:creationId xmlns:a16="http://schemas.microsoft.com/office/drawing/2014/main" id="{FE8628EF-EEA0-50F2-56A6-846D19E4F9EC}"/>
                </a:ext>
              </a:extLst>
            </p:cNvPr>
            <p:cNvCxnSpPr>
              <a:cxnSpLocks/>
            </p:cNvCxnSpPr>
            <p:nvPr/>
          </p:nvCxnSpPr>
          <p:spPr>
            <a:xfrm flipV="1">
              <a:off x="7973449" y="4926615"/>
              <a:ext cx="551717" cy="825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85925649-DBF3-0752-2437-84DB71DF815D}"/>
                </a:ext>
              </a:extLst>
            </p:cNvPr>
            <p:cNvCxnSpPr>
              <a:cxnSpLocks/>
            </p:cNvCxnSpPr>
            <p:nvPr/>
          </p:nvCxnSpPr>
          <p:spPr>
            <a:xfrm flipV="1">
              <a:off x="8525166" y="4926615"/>
              <a:ext cx="551717" cy="8253"/>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7" name="Group 46">
            <a:extLst>
              <a:ext uri="{FF2B5EF4-FFF2-40B4-BE49-F238E27FC236}">
                <a16:creationId xmlns:a16="http://schemas.microsoft.com/office/drawing/2014/main" id="{C127223E-127D-52CA-BD6A-B2F5CEB0023A}"/>
              </a:ext>
            </a:extLst>
          </p:cNvPr>
          <p:cNvGrpSpPr/>
          <p:nvPr/>
        </p:nvGrpSpPr>
        <p:grpSpPr>
          <a:xfrm>
            <a:off x="5511862" y="965948"/>
            <a:ext cx="5942145" cy="2377441"/>
            <a:chOff x="5496218" y="3733768"/>
            <a:chExt cx="5942145" cy="2377441"/>
          </a:xfrm>
        </p:grpSpPr>
        <p:grpSp>
          <p:nvGrpSpPr>
            <p:cNvPr id="48" name="Group 47">
              <a:extLst>
                <a:ext uri="{FF2B5EF4-FFF2-40B4-BE49-F238E27FC236}">
                  <a16:creationId xmlns:a16="http://schemas.microsoft.com/office/drawing/2014/main" id="{F38E1B0C-4CA5-29C3-94FF-63DDCF52BC4A}"/>
                </a:ext>
              </a:extLst>
            </p:cNvPr>
            <p:cNvGrpSpPr/>
            <p:nvPr/>
          </p:nvGrpSpPr>
          <p:grpSpPr>
            <a:xfrm>
              <a:off x="5496218" y="3733769"/>
              <a:ext cx="2345789" cy="2377440"/>
              <a:chOff x="5407853" y="2029265"/>
              <a:chExt cx="2345789" cy="2377440"/>
            </a:xfrm>
          </p:grpSpPr>
          <p:cxnSp>
            <p:nvCxnSpPr>
              <p:cNvPr id="60" name="Straight Arrow Connector 59">
                <a:extLst>
                  <a:ext uri="{FF2B5EF4-FFF2-40B4-BE49-F238E27FC236}">
                    <a16:creationId xmlns:a16="http://schemas.microsoft.com/office/drawing/2014/main" id="{7937F67B-BFD1-65AD-4B36-CE82B4336B15}"/>
                  </a:ext>
                </a:extLst>
              </p:cNvPr>
              <p:cNvCxnSpPr/>
              <p:nvPr/>
            </p:nvCxnSpPr>
            <p:spPr>
              <a:xfrm>
                <a:off x="6564922" y="321798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81E87BF9-67FF-916A-DF70-DEC4870537DB}"/>
                  </a:ext>
                </a:extLst>
              </p:cNvPr>
              <p:cNvCxnSpPr>
                <a:cxnSpLocks/>
              </p:cNvCxnSpPr>
              <p:nvPr/>
            </p:nvCxnSpPr>
            <p:spPr>
              <a:xfrm rot="5400000">
                <a:off x="6002213" y="381234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FADBE3A6-0508-CE06-179D-C8FFFE439687}"/>
                  </a:ext>
                </a:extLst>
              </p:cNvPr>
              <p:cNvCxnSpPr>
                <a:cxnSpLocks/>
              </p:cNvCxnSpPr>
              <p:nvPr/>
            </p:nvCxnSpPr>
            <p:spPr>
              <a:xfrm rot="-5400000">
                <a:off x="6002213" y="262362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5DA78839-0B6B-9D35-5C36-D4992C87443C}"/>
                  </a:ext>
                </a:extLst>
              </p:cNvPr>
              <p:cNvCxnSpPr>
                <a:cxnSpLocks/>
              </p:cNvCxnSpPr>
              <p:nvPr/>
            </p:nvCxnSpPr>
            <p:spPr>
              <a:xfrm rot="10800000">
                <a:off x="5407853" y="321798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FE754C7A-282B-044E-C3DB-01F492743C6B}"/>
                  </a:ext>
                </a:extLst>
              </p:cNvPr>
              <p:cNvCxnSpPr>
                <a:cxnSpLocks/>
              </p:cNvCxnSpPr>
              <p:nvPr/>
            </p:nvCxnSpPr>
            <p:spPr>
              <a:xfrm rot="2700000">
                <a:off x="6445936" y="364001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342ADBF8-5DDA-7670-F6C6-4BC6E44C87F3}"/>
                  </a:ext>
                </a:extLst>
              </p:cNvPr>
              <p:cNvCxnSpPr>
                <a:cxnSpLocks/>
              </p:cNvCxnSpPr>
              <p:nvPr/>
            </p:nvCxnSpPr>
            <p:spPr>
              <a:xfrm rot="-2700000">
                <a:off x="6445935" y="2793582"/>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6E6C6C3E-E121-D280-A852-2FA2044E9731}"/>
                  </a:ext>
                </a:extLst>
              </p:cNvPr>
              <p:cNvCxnSpPr>
                <a:cxnSpLocks/>
              </p:cNvCxnSpPr>
              <p:nvPr/>
            </p:nvCxnSpPr>
            <p:spPr>
              <a:xfrm rot="8100000">
                <a:off x="5550286" y="3642388"/>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2D9A74D7-BB45-A38C-BB6C-F4C1AF69EEAF}"/>
                  </a:ext>
                </a:extLst>
              </p:cNvPr>
              <p:cNvCxnSpPr>
                <a:cxnSpLocks/>
              </p:cNvCxnSpPr>
              <p:nvPr/>
            </p:nvCxnSpPr>
            <p:spPr>
              <a:xfrm rot="-8100000">
                <a:off x="5570215" y="2793582"/>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grpSp>
        <p:grpSp>
          <p:nvGrpSpPr>
            <p:cNvPr id="49" name="Group 48">
              <a:extLst>
                <a:ext uri="{FF2B5EF4-FFF2-40B4-BE49-F238E27FC236}">
                  <a16:creationId xmlns:a16="http://schemas.microsoft.com/office/drawing/2014/main" id="{A12775BE-0E61-7670-0998-0DFF1B158F28}"/>
                </a:ext>
              </a:extLst>
            </p:cNvPr>
            <p:cNvGrpSpPr/>
            <p:nvPr/>
          </p:nvGrpSpPr>
          <p:grpSpPr>
            <a:xfrm>
              <a:off x="9092574" y="3733768"/>
              <a:ext cx="2345789" cy="2377440"/>
              <a:chOff x="8816646" y="2037519"/>
              <a:chExt cx="2345789" cy="2377440"/>
            </a:xfrm>
          </p:grpSpPr>
          <p:cxnSp>
            <p:nvCxnSpPr>
              <p:cNvPr id="52" name="Straight Arrow Connector 51">
                <a:extLst>
                  <a:ext uri="{FF2B5EF4-FFF2-40B4-BE49-F238E27FC236}">
                    <a16:creationId xmlns:a16="http://schemas.microsoft.com/office/drawing/2014/main" id="{A86B15EF-DCB9-8674-DA07-8F15F55C726E}"/>
                  </a:ext>
                </a:extLst>
              </p:cNvPr>
              <p:cNvCxnSpPr/>
              <p:nvPr/>
            </p:nvCxnSpPr>
            <p:spPr>
              <a:xfrm>
                <a:off x="9973715" y="322623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BF923D2B-F878-B24F-90AB-23B7A3C405FD}"/>
                  </a:ext>
                </a:extLst>
              </p:cNvPr>
              <p:cNvCxnSpPr>
                <a:cxnSpLocks/>
              </p:cNvCxnSpPr>
              <p:nvPr/>
            </p:nvCxnSpPr>
            <p:spPr>
              <a:xfrm rot="5400000">
                <a:off x="9411006" y="382059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99F505D3-69A1-E8E1-C502-C8063B034BE6}"/>
                  </a:ext>
                </a:extLst>
              </p:cNvPr>
              <p:cNvCxnSpPr>
                <a:cxnSpLocks/>
              </p:cNvCxnSpPr>
              <p:nvPr/>
            </p:nvCxnSpPr>
            <p:spPr>
              <a:xfrm rot="-5400000">
                <a:off x="9411006" y="263187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9352B8C2-D0B6-C877-6471-E2F793529315}"/>
                  </a:ext>
                </a:extLst>
              </p:cNvPr>
              <p:cNvCxnSpPr>
                <a:cxnSpLocks/>
              </p:cNvCxnSpPr>
              <p:nvPr/>
            </p:nvCxnSpPr>
            <p:spPr>
              <a:xfrm rot="10800000">
                <a:off x="8816646" y="322623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7E5D4952-7CF8-30E4-B579-3972E087AA0E}"/>
                  </a:ext>
                </a:extLst>
              </p:cNvPr>
              <p:cNvCxnSpPr>
                <a:cxnSpLocks/>
              </p:cNvCxnSpPr>
              <p:nvPr/>
            </p:nvCxnSpPr>
            <p:spPr>
              <a:xfrm rot="2700000">
                <a:off x="9854729" y="364826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BD8BE483-FA72-6D11-D48D-8A32383BFE39}"/>
                  </a:ext>
                </a:extLst>
              </p:cNvPr>
              <p:cNvCxnSpPr>
                <a:cxnSpLocks/>
              </p:cNvCxnSpPr>
              <p:nvPr/>
            </p:nvCxnSpPr>
            <p:spPr>
              <a:xfrm rot="-2700000">
                <a:off x="9854728" y="2801836"/>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A1AA12C1-508F-98E3-FBB1-B7752CB26FFC}"/>
                  </a:ext>
                </a:extLst>
              </p:cNvPr>
              <p:cNvCxnSpPr>
                <a:cxnSpLocks/>
              </p:cNvCxnSpPr>
              <p:nvPr/>
            </p:nvCxnSpPr>
            <p:spPr>
              <a:xfrm rot="8100000">
                <a:off x="8959079" y="3650642"/>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02D421A9-89BB-05D4-7271-9DE6A2C2577D}"/>
                  </a:ext>
                </a:extLst>
              </p:cNvPr>
              <p:cNvCxnSpPr>
                <a:cxnSpLocks/>
              </p:cNvCxnSpPr>
              <p:nvPr/>
            </p:nvCxnSpPr>
            <p:spPr>
              <a:xfrm rot="-8100000">
                <a:off x="8979008" y="2801836"/>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grpSp>
        <p:cxnSp>
          <p:nvCxnSpPr>
            <p:cNvPr id="50" name="Straight Arrow Connector 49">
              <a:extLst>
                <a:ext uri="{FF2B5EF4-FFF2-40B4-BE49-F238E27FC236}">
                  <a16:creationId xmlns:a16="http://schemas.microsoft.com/office/drawing/2014/main" id="{C370D67C-9FB3-76D4-F1AE-528014FCEE10}"/>
                </a:ext>
              </a:extLst>
            </p:cNvPr>
            <p:cNvCxnSpPr>
              <a:cxnSpLocks/>
            </p:cNvCxnSpPr>
            <p:nvPr/>
          </p:nvCxnSpPr>
          <p:spPr>
            <a:xfrm flipV="1">
              <a:off x="7973449" y="4926615"/>
              <a:ext cx="551717" cy="825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FB4E08A0-9695-96D9-FF21-5EA50CFFDF15}"/>
                </a:ext>
              </a:extLst>
            </p:cNvPr>
            <p:cNvCxnSpPr>
              <a:cxnSpLocks/>
            </p:cNvCxnSpPr>
            <p:nvPr/>
          </p:nvCxnSpPr>
          <p:spPr>
            <a:xfrm flipV="1">
              <a:off x="8525166" y="4926615"/>
              <a:ext cx="551717" cy="8253"/>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sp>
        <p:nvSpPr>
          <p:cNvPr id="68" name="TextBox 67">
            <a:extLst>
              <a:ext uri="{FF2B5EF4-FFF2-40B4-BE49-F238E27FC236}">
                <a16:creationId xmlns:a16="http://schemas.microsoft.com/office/drawing/2014/main" id="{51CB3BAA-342F-F7EF-DAF7-11F1B46D6469}"/>
              </a:ext>
            </a:extLst>
          </p:cNvPr>
          <p:cNvSpPr txBox="1"/>
          <p:nvPr/>
        </p:nvSpPr>
        <p:spPr>
          <a:xfrm>
            <a:off x="7084660" y="314615"/>
            <a:ext cx="3180627"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US" dirty="0"/>
              <a:t>Add more together</a:t>
            </a:r>
          </a:p>
        </p:txBody>
      </p:sp>
    </p:spTree>
    <p:extLst>
      <p:ext uri="{BB962C8B-B14F-4D97-AF65-F5344CB8AC3E}">
        <p14:creationId xmlns:p14="http://schemas.microsoft.com/office/powerpoint/2010/main" val="33866779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FA0D1-F205-3769-53EB-92401006DA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226CF-602E-6EB2-07DF-652CDECBF114}"/>
              </a:ext>
            </a:extLst>
          </p:cNvPr>
          <p:cNvSpPr>
            <a:spLocks noGrp="1"/>
          </p:cNvSpPr>
          <p:nvPr>
            <p:ph type="title"/>
          </p:nvPr>
        </p:nvSpPr>
        <p:spPr/>
        <p:txBody>
          <a:bodyPr/>
          <a:lstStyle/>
          <a:p>
            <a:r>
              <a:rPr lang="en-US" dirty="0"/>
              <a:t>Electricity</a:t>
            </a:r>
          </a:p>
        </p:txBody>
      </p:sp>
      <p:sp>
        <p:nvSpPr>
          <p:cNvPr id="3" name="Content Placeholder 2">
            <a:extLst>
              <a:ext uri="{FF2B5EF4-FFF2-40B4-BE49-F238E27FC236}">
                <a16:creationId xmlns:a16="http://schemas.microsoft.com/office/drawing/2014/main" id="{950FF1FC-2C89-A12A-9CD6-AACC7A3E02BB}"/>
              </a:ext>
            </a:extLst>
          </p:cNvPr>
          <p:cNvSpPr>
            <a:spLocks noGrp="1"/>
          </p:cNvSpPr>
          <p:nvPr>
            <p:ph idx="1"/>
          </p:nvPr>
        </p:nvSpPr>
        <p:spPr>
          <a:xfrm>
            <a:off x="394208" y="2522992"/>
            <a:ext cx="4752223" cy="4048171"/>
          </a:xfrm>
        </p:spPr>
        <p:txBody>
          <a:bodyPr/>
          <a:lstStyle/>
          <a:p>
            <a:r>
              <a:rPr lang="en-US" sz="1600" dirty="0"/>
              <a:t>Teeny tiny bit of vector addition</a:t>
            </a:r>
          </a:p>
          <a:p>
            <a:r>
              <a:rPr lang="en-US" sz="1600" dirty="0"/>
              <a:t>The components of Coulomb’s law parallel to the plates CANCEL, the components perpendicular to the plates ADD, so you get a constant electric field</a:t>
            </a:r>
          </a:p>
          <a:p>
            <a:r>
              <a:rPr lang="en-US" sz="1600" dirty="0"/>
              <a:t>Why is this important? </a:t>
            </a:r>
          </a:p>
          <a:p>
            <a:pPr lvl="1"/>
            <a:r>
              <a:rPr lang="en-US" sz="1600" dirty="0"/>
              <a:t>If you hook up a battery, this supplies a direct current electric field between the plates</a:t>
            </a:r>
          </a:p>
        </p:txBody>
      </p:sp>
      <p:sp>
        <p:nvSpPr>
          <p:cNvPr id="4" name="Slide Number Placeholder 3">
            <a:extLst>
              <a:ext uri="{FF2B5EF4-FFF2-40B4-BE49-F238E27FC236}">
                <a16:creationId xmlns:a16="http://schemas.microsoft.com/office/drawing/2014/main" id="{4C41C671-7A4B-47D5-7E71-61F8E3729AEB}"/>
              </a:ext>
            </a:extLst>
          </p:cNvPr>
          <p:cNvSpPr>
            <a:spLocks noGrp="1"/>
          </p:cNvSpPr>
          <p:nvPr>
            <p:ph type="sldNum" sz="quarter" idx="12"/>
          </p:nvPr>
        </p:nvSpPr>
        <p:spPr/>
        <p:txBody>
          <a:bodyPr/>
          <a:lstStyle/>
          <a:p>
            <a:fld id="{C5EF2332-01BF-834F-8236-50238282D533}" type="slidenum">
              <a:rPr lang="en-US" smtClean="0"/>
              <a:t>26</a:t>
            </a:fld>
            <a:endParaRPr lang="en-US"/>
          </a:p>
        </p:txBody>
      </p:sp>
      <p:grpSp>
        <p:nvGrpSpPr>
          <p:cNvPr id="92" name="Group 91">
            <a:extLst>
              <a:ext uri="{FF2B5EF4-FFF2-40B4-BE49-F238E27FC236}">
                <a16:creationId xmlns:a16="http://schemas.microsoft.com/office/drawing/2014/main" id="{197C980A-E65D-4CC1-CD8F-2275A7B8FE9F}"/>
              </a:ext>
            </a:extLst>
          </p:cNvPr>
          <p:cNvGrpSpPr/>
          <p:nvPr/>
        </p:nvGrpSpPr>
        <p:grpSpPr>
          <a:xfrm>
            <a:off x="5511863" y="2749029"/>
            <a:ext cx="5942145" cy="2377441"/>
            <a:chOff x="5496218" y="3733768"/>
            <a:chExt cx="5942145" cy="2377441"/>
          </a:xfrm>
        </p:grpSpPr>
        <p:grpSp>
          <p:nvGrpSpPr>
            <p:cNvPr id="25" name="Group 24">
              <a:extLst>
                <a:ext uri="{FF2B5EF4-FFF2-40B4-BE49-F238E27FC236}">
                  <a16:creationId xmlns:a16="http://schemas.microsoft.com/office/drawing/2014/main" id="{5AD66886-F290-E907-9CC6-B8FDB77489C1}"/>
                </a:ext>
              </a:extLst>
            </p:cNvPr>
            <p:cNvGrpSpPr/>
            <p:nvPr/>
          </p:nvGrpSpPr>
          <p:grpSpPr>
            <a:xfrm>
              <a:off x="5496218" y="3733769"/>
              <a:ext cx="2345789" cy="2377440"/>
              <a:chOff x="5407853" y="2029265"/>
              <a:chExt cx="2345789" cy="2377440"/>
            </a:xfrm>
          </p:grpSpPr>
          <p:cxnSp>
            <p:nvCxnSpPr>
              <p:cNvPr id="7" name="Straight Arrow Connector 6">
                <a:extLst>
                  <a:ext uri="{FF2B5EF4-FFF2-40B4-BE49-F238E27FC236}">
                    <a16:creationId xmlns:a16="http://schemas.microsoft.com/office/drawing/2014/main" id="{0865E201-C755-9B69-D6C0-B3737AA44F5C}"/>
                  </a:ext>
                </a:extLst>
              </p:cNvPr>
              <p:cNvCxnSpPr/>
              <p:nvPr/>
            </p:nvCxnSpPr>
            <p:spPr>
              <a:xfrm>
                <a:off x="6564922" y="321798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E0F84D71-4BA6-F2B6-371A-6C9003900A87}"/>
                  </a:ext>
                </a:extLst>
              </p:cNvPr>
              <p:cNvCxnSpPr>
                <a:cxnSpLocks/>
              </p:cNvCxnSpPr>
              <p:nvPr/>
            </p:nvCxnSpPr>
            <p:spPr>
              <a:xfrm rot="5400000">
                <a:off x="6002213" y="381234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4123CF99-20E9-618D-5197-DBBC40755388}"/>
                  </a:ext>
                </a:extLst>
              </p:cNvPr>
              <p:cNvCxnSpPr>
                <a:cxnSpLocks/>
              </p:cNvCxnSpPr>
              <p:nvPr/>
            </p:nvCxnSpPr>
            <p:spPr>
              <a:xfrm rot="-5400000">
                <a:off x="6002213" y="262362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DC559249-E7B2-1E31-5972-B833097EE9D0}"/>
                  </a:ext>
                </a:extLst>
              </p:cNvPr>
              <p:cNvCxnSpPr>
                <a:cxnSpLocks/>
              </p:cNvCxnSpPr>
              <p:nvPr/>
            </p:nvCxnSpPr>
            <p:spPr>
              <a:xfrm rot="10800000">
                <a:off x="5407853" y="321798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381A1AA5-55B6-8945-A245-73D52C2E3811}"/>
                  </a:ext>
                </a:extLst>
              </p:cNvPr>
              <p:cNvCxnSpPr>
                <a:cxnSpLocks/>
              </p:cNvCxnSpPr>
              <p:nvPr/>
            </p:nvCxnSpPr>
            <p:spPr>
              <a:xfrm rot="2700000">
                <a:off x="6445936" y="364001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2D5AAB7D-0836-4419-17B2-6421C1E3ED94}"/>
                  </a:ext>
                </a:extLst>
              </p:cNvPr>
              <p:cNvCxnSpPr>
                <a:cxnSpLocks/>
              </p:cNvCxnSpPr>
              <p:nvPr/>
            </p:nvCxnSpPr>
            <p:spPr>
              <a:xfrm rot="-2700000">
                <a:off x="6445935" y="2793582"/>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80AB9384-82F1-7DF7-AC11-DA472ECDB79B}"/>
                  </a:ext>
                </a:extLst>
              </p:cNvPr>
              <p:cNvCxnSpPr>
                <a:cxnSpLocks/>
              </p:cNvCxnSpPr>
              <p:nvPr/>
            </p:nvCxnSpPr>
            <p:spPr>
              <a:xfrm rot="8100000">
                <a:off x="5550286" y="3642388"/>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64F38EA4-7094-6E20-775A-D29F74E310EA}"/>
                  </a:ext>
                </a:extLst>
              </p:cNvPr>
              <p:cNvCxnSpPr>
                <a:cxnSpLocks/>
              </p:cNvCxnSpPr>
              <p:nvPr/>
            </p:nvCxnSpPr>
            <p:spPr>
              <a:xfrm rot="-8100000">
                <a:off x="5570215" y="2793582"/>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grpSp>
        <p:grpSp>
          <p:nvGrpSpPr>
            <p:cNvPr id="26" name="Group 25">
              <a:extLst>
                <a:ext uri="{FF2B5EF4-FFF2-40B4-BE49-F238E27FC236}">
                  <a16:creationId xmlns:a16="http://schemas.microsoft.com/office/drawing/2014/main" id="{A34C1E29-D38F-8268-315A-DBA3E08BA87A}"/>
                </a:ext>
              </a:extLst>
            </p:cNvPr>
            <p:cNvGrpSpPr/>
            <p:nvPr/>
          </p:nvGrpSpPr>
          <p:grpSpPr>
            <a:xfrm>
              <a:off x="9092574" y="3733768"/>
              <a:ext cx="2345789" cy="2377440"/>
              <a:chOff x="8816646" y="2037519"/>
              <a:chExt cx="2345789" cy="2377440"/>
            </a:xfrm>
          </p:grpSpPr>
          <p:cxnSp>
            <p:nvCxnSpPr>
              <p:cNvPr id="15" name="Straight Arrow Connector 14">
                <a:extLst>
                  <a:ext uri="{FF2B5EF4-FFF2-40B4-BE49-F238E27FC236}">
                    <a16:creationId xmlns:a16="http://schemas.microsoft.com/office/drawing/2014/main" id="{54326280-5216-D416-7342-9436DC8A410C}"/>
                  </a:ext>
                </a:extLst>
              </p:cNvPr>
              <p:cNvCxnSpPr/>
              <p:nvPr/>
            </p:nvCxnSpPr>
            <p:spPr>
              <a:xfrm>
                <a:off x="9973715" y="322623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C9A87833-5527-8EEF-2FCB-A770186C9C83}"/>
                  </a:ext>
                </a:extLst>
              </p:cNvPr>
              <p:cNvCxnSpPr>
                <a:cxnSpLocks/>
              </p:cNvCxnSpPr>
              <p:nvPr/>
            </p:nvCxnSpPr>
            <p:spPr>
              <a:xfrm rot="5400000">
                <a:off x="9411006" y="382059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1F4D3F67-45E4-7A86-043F-FF782293B53F}"/>
                  </a:ext>
                </a:extLst>
              </p:cNvPr>
              <p:cNvCxnSpPr>
                <a:cxnSpLocks/>
              </p:cNvCxnSpPr>
              <p:nvPr/>
            </p:nvCxnSpPr>
            <p:spPr>
              <a:xfrm rot="-5400000">
                <a:off x="9411006" y="263187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92D9A091-8ED1-7626-AAE4-4F21F05550D2}"/>
                  </a:ext>
                </a:extLst>
              </p:cNvPr>
              <p:cNvCxnSpPr>
                <a:cxnSpLocks/>
              </p:cNvCxnSpPr>
              <p:nvPr/>
            </p:nvCxnSpPr>
            <p:spPr>
              <a:xfrm rot="10800000">
                <a:off x="8816646" y="322623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13FC1B08-1664-3D97-289D-13DA1B442F17}"/>
                  </a:ext>
                </a:extLst>
              </p:cNvPr>
              <p:cNvCxnSpPr>
                <a:cxnSpLocks/>
              </p:cNvCxnSpPr>
              <p:nvPr/>
            </p:nvCxnSpPr>
            <p:spPr>
              <a:xfrm rot="2700000">
                <a:off x="9854729" y="364826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0E22897D-A3F8-EE25-ABB0-643246EB37FE}"/>
                  </a:ext>
                </a:extLst>
              </p:cNvPr>
              <p:cNvCxnSpPr>
                <a:cxnSpLocks/>
              </p:cNvCxnSpPr>
              <p:nvPr/>
            </p:nvCxnSpPr>
            <p:spPr>
              <a:xfrm rot="-2700000">
                <a:off x="9854728" y="2801836"/>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78D468BF-DF5A-9B5D-F51F-D06F64F57B01}"/>
                  </a:ext>
                </a:extLst>
              </p:cNvPr>
              <p:cNvCxnSpPr>
                <a:cxnSpLocks/>
              </p:cNvCxnSpPr>
              <p:nvPr/>
            </p:nvCxnSpPr>
            <p:spPr>
              <a:xfrm rot="8100000">
                <a:off x="8959079" y="3650642"/>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D16A2A69-091D-9D01-994A-E3B0CBE5BAD3}"/>
                  </a:ext>
                </a:extLst>
              </p:cNvPr>
              <p:cNvCxnSpPr>
                <a:cxnSpLocks/>
              </p:cNvCxnSpPr>
              <p:nvPr/>
            </p:nvCxnSpPr>
            <p:spPr>
              <a:xfrm rot="-8100000">
                <a:off x="8979008" y="2801836"/>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grpSp>
        <p:cxnSp>
          <p:nvCxnSpPr>
            <p:cNvPr id="28" name="Straight Arrow Connector 27">
              <a:extLst>
                <a:ext uri="{FF2B5EF4-FFF2-40B4-BE49-F238E27FC236}">
                  <a16:creationId xmlns:a16="http://schemas.microsoft.com/office/drawing/2014/main" id="{E0C721B6-00A7-6766-A96E-F21C20D3549E}"/>
                </a:ext>
              </a:extLst>
            </p:cNvPr>
            <p:cNvCxnSpPr>
              <a:cxnSpLocks/>
            </p:cNvCxnSpPr>
            <p:nvPr/>
          </p:nvCxnSpPr>
          <p:spPr>
            <a:xfrm flipV="1">
              <a:off x="7973449" y="4926615"/>
              <a:ext cx="551717" cy="825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7800F400-C1AB-1ED4-3A6D-16C93CEE04F9}"/>
                </a:ext>
              </a:extLst>
            </p:cNvPr>
            <p:cNvCxnSpPr>
              <a:cxnSpLocks/>
            </p:cNvCxnSpPr>
            <p:nvPr/>
          </p:nvCxnSpPr>
          <p:spPr>
            <a:xfrm flipV="1">
              <a:off x="8525166" y="4926615"/>
              <a:ext cx="551717" cy="8253"/>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sp>
        <p:nvSpPr>
          <p:cNvPr id="6" name="TextBox 5">
            <a:extLst>
              <a:ext uri="{FF2B5EF4-FFF2-40B4-BE49-F238E27FC236}">
                <a16:creationId xmlns:a16="http://schemas.microsoft.com/office/drawing/2014/main" id="{869CB7E9-1144-B2E7-E7C7-2B4812F83771}"/>
              </a:ext>
            </a:extLst>
          </p:cNvPr>
          <p:cNvSpPr txBox="1"/>
          <p:nvPr/>
        </p:nvSpPr>
        <p:spPr>
          <a:xfrm>
            <a:off x="2411133" y="6220018"/>
            <a:ext cx="4880344"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US" dirty="0"/>
              <a:t>Not responsible for this, just for enrichment</a:t>
            </a:r>
          </a:p>
        </p:txBody>
      </p:sp>
      <p:grpSp>
        <p:nvGrpSpPr>
          <p:cNvPr id="5" name="Group 4">
            <a:extLst>
              <a:ext uri="{FF2B5EF4-FFF2-40B4-BE49-F238E27FC236}">
                <a16:creationId xmlns:a16="http://schemas.microsoft.com/office/drawing/2014/main" id="{350586CF-D077-7D0F-A198-65072EFF5CEB}"/>
              </a:ext>
            </a:extLst>
          </p:cNvPr>
          <p:cNvGrpSpPr/>
          <p:nvPr/>
        </p:nvGrpSpPr>
        <p:grpSpPr>
          <a:xfrm>
            <a:off x="5511863" y="4547077"/>
            <a:ext cx="5942145" cy="2377441"/>
            <a:chOff x="5496218" y="3733768"/>
            <a:chExt cx="5942145" cy="2377441"/>
          </a:xfrm>
        </p:grpSpPr>
        <p:grpSp>
          <p:nvGrpSpPr>
            <p:cNvPr id="23" name="Group 22">
              <a:extLst>
                <a:ext uri="{FF2B5EF4-FFF2-40B4-BE49-F238E27FC236}">
                  <a16:creationId xmlns:a16="http://schemas.microsoft.com/office/drawing/2014/main" id="{38FC1167-FA43-C658-B4C7-CAE00D3D76F1}"/>
                </a:ext>
              </a:extLst>
            </p:cNvPr>
            <p:cNvGrpSpPr/>
            <p:nvPr/>
          </p:nvGrpSpPr>
          <p:grpSpPr>
            <a:xfrm>
              <a:off x="5496218" y="3733769"/>
              <a:ext cx="2345789" cy="2377440"/>
              <a:chOff x="5407853" y="2029265"/>
              <a:chExt cx="2345789" cy="2377440"/>
            </a:xfrm>
          </p:grpSpPr>
          <p:cxnSp>
            <p:nvCxnSpPr>
              <p:cNvPr id="39" name="Straight Arrow Connector 38">
                <a:extLst>
                  <a:ext uri="{FF2B5EF4-FFF2-40B4-BE49-F238E27FC236}">
                    <a16:creationId xmlns:a16="http://schemas.microsoft.com/office/drawing/2014/main" id="{351A15F0-2637-CAFB-0C21-9BAB510CF860}"/>
                  </a:ext>
                </a:extLst>
              </p:cNvPr>
              <p:cNvCxnSpPr/>
              <p:nvPr/>
            </p:nvCxnSpPr>
            <p:spPr>
              <a:xfrm>
                <a:off x="6564922" y="321798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D69C8E8E-BECA-E81E-18F9-01C5A0D04981}"/>
                  </a:ext>
                </a:extLst>
              </p:cNvPr>
              <p:cNvCxnSpPr>
                <a:cxnSpLocks/>
              </p:cNvCxnSpPr>
              <p:nvPr/>
            </p:nvCxnSpPr>
            <p:spPr>
              <a:xfrm rot="5400000">
                <a:off x="6002213" y="381234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9EA95E8F-498F-B4A3-CF12-569E2904A3A5}"/>
                  </a:ext>
                </a:extLst>
              </p:cNvPr>
              <p:cNvCxnSpPr>
                <a:cxnSpLocks/>
              </p:cNvCxnSpPr>
              <p:nvPr/>
            </p:nvCxnSpPr>
            <p:spPr>
              <a:xfrm rot="-5400000">
                <a:off x="6002213" y="262362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12B4201F-A5FE-77FE-6F2F-9340D52325E3}"/>
                  </a:ext>
                </a:extLst>
              </p:cNvPr>
              <p:cNvCxnSpPr>
                <a:cxnSpLocks/>
              </p:cNvCxnSpPr>
              <p:nvPr/>
            </p:nvCxnSpPr>
            <p:spPr>
              <a:xfrm rot="10800000">
                <a:off x="5407853" y="321798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B03B80DD-6DDE-0ED1-97CB-EBEF3575A400}"/>
                  </a:ext>
                </a:extLst>
              </p:cNvPr>
              <p:cNvCxnSpPr>
                <a:cxnSpLocks/>
              </p:cNvCxnSpPr>
              <p:nvPr/>
            </p:nvCxnSpPr>
            <p:spPr>
              <a:xfrm rot="2700000">
                <a:off x="6445936" y="364001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8DB9A7C4-154B-0E5C-C033-58B3608C6576}"/>
                  </a:ext>
                </a:extLst>
              </p:cNvPr>
              <p:cNvCxnSpPr>
                <a:cxnSpLocks/>
              </p:cNvCxnSpPr>
              <p:nvPr/>
            </p:nvCxnSpPr>
            <p:spPr>
              <a:xfrm rot="-2700000">
                <a:off x="6445935" y="2793582"/>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BE4E8A48-AA9B-3B61-272F-D0B480FF73B0}"/>
                  </a:ext>
                </a:extLst>
              </p:cNvPr>
              <p:cNvCxnSpPr>
                <a:cxnSpLocks/>
              </p:cNvCxnSpPr>
              <p:nvPr/>
            </p:nvCxnSpPr>
            <p:spPr>
              <a:xfrm rot="8100000">
                <a:off x="5550286" y="3642388"/>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0D45A1A0-7DA7-4BDD-24B9-5157A438B7DB}"/>
                  </a:ext>
                </a:extLst>
              </p:cNvPr>
              <p:cNvCxnSpPr>
                <a:cxnSpLocks/>
              </p:cNvCxnSpPr>
              <p:nvPr/>
            </p:nvCxnSpPr>
            <p:spPr>
              <a:xfrm rot="-8100000">
                <a:off x="5570215" y="2793582"/>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grpSp>
        <p:grpSp>
          <p:nvGrpSpPr>
            <p:cNvPr id="24" name="Group 23">
              <a:extLst>
                <a:ext uri="{FF2B5EF4-FFF2-40B4-BE49-F238E27FC236}">
                  <a16:creationId xmlns:a16="http://schemas.microsoft.com/office/drawing/2014/main" id="{FE859AD3-6C4A-C7FC-3DA0-7C42EECDCBBB}"/>
                </a:ext>
              </a:extLst>
            </p:cNvPr>
            <p:cNvGrpSpPr/>
            <p:nvPr/>
          </p:nvGrpSpPr>
          <p:grpSpPr>
            <a:xfrm>
              <a:off x="9092574" y="3733768"/>
              <a:ext cx="2345789" cy="2377440"/>
              <a:chOff x="8816646" y="2037519"/>
              <a:chExt cx="2345789" cy="2377440"/>
            </a:xfrm>
          </p:grpSpPr>
          <p:cxnSp>
            <p:nvCxnSpPr>
              <p:cNvPr id="31" name="Straight Arrow Connector 30">
                <a:extLst>
                  <a:ext uri="{FF2B5EF4-FFF2-40B4-BE49-F238E27FC236}">
                    <a16:creationId xmlns:a16="http://schemas.microsoft.com/office/drawing/2014/main" id="{4F3615A1-5A2A-4190-12AE-909632C520F1}"/>
                  </a:ext>
                </a:extLst>
              </p:cNvPr>
              <p:cNvCxnSpPr/>
              <p:nvPr/>
            </p:nvCxnSpPr>
            <p:spPr>
              <a:xfrm>
                <a:off x="9973715" y="322623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11812AC6-16B9-EF72-590D-CD0E260A6133}"/>
                  </a:ext>
                </a:extLst>
              </p:cNvPr>
              <p:cNvCxnSpPr>
                <a:cxnSpLocks/>
              </p:cNvCxnSpPr>
              <p:nvPr/>
            </p:nvCxnSpPr>
            <p:spPr>
              <a:xfrm rot="5400000">
                <a:off x="9411006" y="382059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9D70D990-1269-2602-D8C4-1CC36D3D857B}"/>
                  </a:ext>
                </a:extLst>
              </p:cNvPr>
              <p:cNvCxnSpPr>
                <a:cxnSpLocks/>
              </p:cNvCxnSpPr>
              <p:nvPr/>
            </p:nvCxnSpPr>
            <p:spPr>
              <a:xfrm rot="-5400000">
                <a:off x="9411006" y="263187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929DF1C2-6DDE-BEA5-F465-F2AE9809DECC}"/>
                  </a:ext>
                </a:extLst>
              </p:cNvPr>
              <p:cNvCxnSpPr>
                <a:cxnSpLocks/>
              </p:cNvCxnSpPr>
              <p:nvPr/>
            </p:nvCxnSpPr>
            <p:spPr>
              <a:xfrm rot="10800000">
                <a:off x="8816646" y="322623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E16FAC35-2F31-BFD1-C5B0-764F6B132740}"/>
                  </a:ext>
                </a:extLst>
              </p:cNvPr>
              <p:cNvCxnSpPr>
                <a:cxnSpLocks/>
              </p:cNvCxnSpPr>
              <p:nvPr/>
            </p:nvCxnSpPr>
            <p:spPr>
              <a:xfrm rot="2700000">
                <a:off x="9854729" y="364826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1730F247-9DD5-C5BD-B9FF-891C09125E68}"/>
                  </a:ext>
                </a:extLst>
              </p:cNvPr>
              <p:cNvCxnSpPr>
                <a:cxnSpLocks/>
              </p:cNvCxnSpPr>
              <p:nvPr/>
            </p:nvCxnSpPr>
            <p:spPr>
              <a:xfrm rot="-2700000">
                <a:off x="9854728" y="2801836"/>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482937A7-4476-A757-810E-BD7AF24EA232}"/>
                  </a:ext>
                </a:extLst>
              </p:cNvPr>
              <p:cNvCxnSpPr>
                <a:cxnSpLocks/>
              </p:cNvCxnSpPr>
              <p:nvPr/>
            </p:nvCxnSpPr>
            <p:spPr>
              <a:xfrm rot="8100000">
                <a:off x="8959079" y="3650642"/>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5844930A-E8EB-03AC-6734-E54EADEEE61E}"/>
                  </a:ext>
                </a:extLst>
              </p:cNvPr>
              <p:cNvCxnSpPr>
                <a:cxnSpLocks/>
              </p:cNvCxnSpPr>
              <p:nvPr/>
            </p:nvCxnSpPr>
            <p:spPr>
              <a:xfrm rot="-8100000">
                <a:off x="8979008" y="2801836"/>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grpSp>
        <p:cxnSp>
          <p:nvCxnSpPr>
            <p:cNvPr id="27" name="Straight Arrow Connector 26">
              <a:extLst>
                <a:ext uri="{FF2B5EF4-FFF2-40B4-BE49-F238E27FC236}">
                  <a16:creationId xmlns:a16="http://schemas.microsoft.com/office/drawing/2014/main" id="{EAA74FFB-5DA9-E3D2-BC68-8498D7DF9888}"/>
                </a:ext>
              </a:extLst>
            </p:cNvPr>
            <p:cNvCxnSpPr>
              <a:cxnSpLocks/>
            </p:cNvCxnSpPr>
            <p:nvPr/>
          </p:nvCxnSpPr>
          <p:spPr>
            <a:xfrm flipV="1">
              <a:off x="7973449" y="4926615"/>
              <a:ext cx="551717" cy="825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AC66191C-15BD-61EF-2BA5-9D558026711E}"/>
                </a:ext>
              </a:extLst>
            </p:cNvPr>
            <p:cNvCxnSpPr>
              <a:cxnSpLocks/>
            </p:cNvCxnSpPr>
            <p:nvPr/>
          </p:nvCxnSpPr>
          <p:spPr>
            <a:xfrm flipV="1">
              <a:off x="8525166" y="4926615"/>
              <a:ext cx="551717" cy="8253"/>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7" name="Group 46">
            <a:extLst>
              <a:ext uri="{FF2B5EF4-FFF2-40B4-BE49-F238E27FC236}">
                <a16:creationId xmlns:a16="http://schemas.microsoft.com/office/drawing/2014/main" id="{50C0C757-0454-EEBC-D6A1-6F7AB0346BE6}"/>
              </a:ext>
            </a:extLst>
          </p:cNvPr>
          <p:cNvGrpSpPr/>
          <p:nvPr/>
        </p:nvGrpSpPr>
        <p:grpSpPr>
          <a:xfrm>
            <a:off x="5511862" y="965948"/>
            <a:ext cx="5942145" cy="2377441"/>
            <a:chOff x="5496218" y="3733768"/>
            <a:chExt cx="5942145" cy="2377441"/>
          </a:xfrm>
        </p:grpSpPr>
        <p:grpSp>
          <p:nvGrpSpPr>
            <p:cNvPr id="48" name="Group 47">
              <a:extLst>
                <a:ext uri="{FF2B5EF4-FFF2-40B4-BE49-F238E27FC236}">
                  <a16:creationId xmlns:a16="http://schemas.microsoft.com/office/drawing/2014/main" id="{C6D7D815-0E58-B9D5-C0BD-BCE5C435E2D7}"/>
                </a:ext>
              </a:extLst>
            </p:cNvPr>
            <p:cNvGrpSpPr/>
            <p:nvPr/>
          </p:nvGrpSpPr>
          <p:grpSpPr>
            <a:xfrm>
              <a:off x="5496218" y="3733769"/>
              <a:ext cx="2345789" cy="2377440"/>
              <a:chOff x="5407853" y="2029265"/>
              <a:chExt cx="2345789" cy="2377440"/>
            </a:xfrm>
          </p:grpSpPr>
          <p:cxnSp>
            <p:nvCxnSpPr>
              <p:cNvPr id="60" name="Straight Arrow Connector 59">
                <a:extLst>
                  <a:ext uri="{FF2B5EF4-FFF2-40B4-BE49-F238E27FC236}">
                    <a16:creationId xmlns:a16="http://schemas.microsoft.com/office/drawing/2014/main" id="{40DBCED5-50BE-E5D2-7976-8630564B41D1}"/>
                  </a:ext>
                </a:extLst>
              </p:cNvPr>
              <p:cNvCxnSpPr/>
              <p:nvPr/>
            </p:nvCxnSpPr>
            <p:spPr>
              <a:xfrm>
                <a:off x="6564922" y="321798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D2E3023C-25F4-7A12-EF44-984E6658C6CC}"/>
                  </a:ext>
                </a:extLst>
              </p:cNvPr>
              <p:cNvCxnSpPr>
                <a:cxnSpLocks/>
              </p:cNvCxnSpPr>
              <p:nvPr/>
            </p:nvCxnSpPr>
            <p:spPr>
              <a:xfrm rot="5400000">
                <a:off x="6002213" y="381234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37257DF8-922D-C87B-B8FB-5C14BDFCEC55}"/>
                  </a:ext>
                </a:extLst>
              </p:cNvPr>
              <p:cNvCxnSpPr>
                <a:cxnSpLocks/>
              </p:cNvCxnSpPr>
              <p:nvPr/>
            </p:nvCxnSpPr>
            <p:spPr>
              <a:xfrm rot="-5400000">
                <a:off x="6002213" y="262362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4F65BEA6-6279-3343-DC78-3E9EBF087D4F}"/>
                  </a:ext>
                </a:extLst>
              </p:cNvPr>
              <p:cNvCxnSpPr>
                <a:cxnSpLocks/>
              </p:cNvCxnSpPr>
              <p:nvPr/>
            </p:nvCxnSpPr>
            <p:spPr>
              <a:xfrm rot="10800000">
                <a:off x="5407853" y="321798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7D33AA60-EED9-B219-84A4-43029AE3E339}"/>
                  </a:ext>
                </a:extLst>
              </p:cNvPr>
              <p:cNvCxnSpPr>
                <a:cxnSpLocks/>
              </p:cNvCxnSpPr>
              <p:nvPr/>
            </p:nvCxnSpPr>
            <p:spPr>
              <a:xfrm rot="2700000">
                <a:off x="6445936" y="364001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C23C91EF-EC27-49E3-BD13-3B1662EC55D5}"/>
                  </a:ext>
                </a:extLst>
              </p:cNvPr>
              <p:cNvCxnSpPr>
                <a:cxnSpLocks/>
              </p:cNvCxnSpPr>
              <p:nvPr/>
            </p:nvCxnSpPr>
            <p:spPr>
              <a:xfrm rot="-2700000">
                <a:off x="6445935" y="2793582"/>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2850AB9D-5F7A-53AE-65D5-EFBF6D0654D4}"/>
                  </a:ext>
                </a:extLst>
              </p:cNvPr>
              <p:cNvCxnSpPr>
                <a:cxnSpLocks/>
              </p:cNvCxnSpPr>
              <p:nvPr/>
            </p:nvCxnSpPr>
            <p:spPr>
              <a:xfrm rot="8100000">
                <a:off x="5550286" y="3642388"/>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FAE9DE36-08D0-DF68-8472-F8950F2CDB01}"/>
                  </a:ext>
                </a:extLst>
              </p:cNvPr>
              <p:cNvCxnSpPr>
                <a:cxnSpLocks/>
              </p:cNvCxnSpPr>
              <p:nvPr/>
            </p:nvCxnSpPr>
            <p:spPr>
              <a:xfrm rot="-8100000">
                <a:off x="5570215" y="2793582"/>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grpSp>
        <p:grpSp>
          <p:nvGrpSpPr>
            <p:cNvPr id="49" name="Group 48">
              <a:extLst>
                <a:ext uri="{FF2B5EF4-FFF2-40B4-BE49-F238E27FC236}">
                  <a16:creationId xmlns:a16="http://schemas.microsoft.com/office/drawing/2014/main" id="{7BFFC205-1BC6-5958-6FDC-829A5F3C930E}"/>
                </a:ext>
              </a:extLst>
            </p:cNvPr>
            <p:cNvGrpSpPr/>
            <p:nvPr/>
          </p:nvGrpSpPr>
          <p:grpSpPr>
            <a:xfrm>
              <a:off x="9092574" y="3733768"/>
              <a:ext cx="2345789" cy="2377440"/>
              <a:chOff x="8816646" y="2037519"/>
              <a:chExt cx="2345789" cy="2377440"/>
            </a:xfrm>
          </p:grpSpPr>
          <p:cxnSp>
            <p:nvCxnSpPr>
              <p:cNvPr id="52" name="Straight Arrow Connector 51">
                <a:extLst>
                  <a:ext uri="{FF2B5EF4-FFF2-40B4-BE49-F238E27FC236}">
                    <a16:creationId xmlns:a16="http://schemas.microsoft.com/office/drawing/2014/main" id="{616C9A24-FAC5-6769-56B8-BB8ED68C3327}"/>
                  </a:ext>
                </a:extLst>
              </p:cNvPr>
              <p:cNvCxnSpPr/>
              <p:nvPr/>
            </p:nvCxnSpPr>
            <p:spPr>
              <a:xfrm>
                <a:off x="9973715" y="322623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F658D91D-CAF3-5DDC-14EC-8F250C4DA873}"/>
                  </a:ext>
                </a:extLst>
              </p:cNvPr>
              <p:cNvCxnSpPr>
                <a:cxnSpLocks/>
              </p:cNvCxnSpPr>
              <p:nvPr/>
            </p:nvCxnSpPr>
            <p:spPr>
              <a:xfrm rot="5400000">
                <a:off x="9411006" y="382059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2E75155E-ED45-D09F-727B-3C6BB663CCE9}"/>
                  </a:ext>
                </a:extLst>
              </p:cNvPr>
              <p:cNvCxnSpPr>
                <a:cxnSpLocks/>
              </p:cNvCxnSpPr>
              <p:nvPr/>
            </p:nvCxnSpPr>
            <p:spPr>
              <a:xfrm rot="-5400000">
                <a:off x="9411006" y="263187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FF7B86A7-D1EF-0626-AF21-D65F215661DC}"/>
                  </a:ext>
                </a:extLst>
              </p:cNvPr>
              <p:cNvCxnSpPr>
                <a:cxnSpLocks/>
              </p:cNvCxnSpPr>
              <p:nvPr/>
            </p:nvCxnSpPr>
            <p:spPr>
              <a:xfrm rot="10800000">
                <a:off x="8816646" y="322623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69944E20-D779-5296-515E-656230830652}"/>
                  </a:ext>
                </a:extLst>
              </p:cNvPr>
              <p:cNvCxnSpPr>
                <a:cxnSpLocks/>
              </p:cNvCxnSpPr>
              <p:nvPr/>
            </p:nvCxnSpPr>
            <p:spPr>
              <a:xfrm rot="2700000">
                <a:off x="9854729" y="364826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7C4048C3-29A9-F180-4C08-BB8CC77FA1EE}"/>
                  </a:ext>
                </a:extLst>
              </p:cNvPr>
              <p:cNvCxnSpPr>
                <a:cxnSpLocks/>
              </p:cNvCxnSpPr>
              <p:nvPr/>
            </p:nvCxnSpPr>
            <p:spPr>
              <a:xfrm rot="-2700000">
                <a:off x="9854728" y="2801836"/>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8B26876A-2FB6-2810-1C52-39B282A4B27E}"/>
                  </a:ext>
                </a:extLst>
              </p:cNvPr>
              <p:cNvCxnSpPr>
                <a:cxnSpLocks/>
              </p:cNvCxnSpPr>
              <p:nvPr/>
            </p:nvCxnSpPr>
            <p:spPr>
              <a:xfrm rot="8100000">
                <a:off x="8959079" y="3650642"/>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B76F2CE8-CE72-8BBE-1869-DE50745BE52B}"/>
                  </a:ext>
                </a:extLst>
              </p:cNvPr>
              <p:cNvCxnSpPr>
                <a:cxnSpLocks/>
              </p:cNvCxnSpPr>
              <p:nvPr/>
            </p:nvCxnSpPr>
            <p:spPr>
              <a:xfrm rot="-8100000">
                <a:off x="8979008" y="2801836"/>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grpSp>
        <p:cxnSp>
          <p:nvCxnSpPr>
            <p:cNvPr id="50" name="Straight Arrow Connector 49">
              <a:extLst>
                <a:ext uri="{FF2B5EF4-FFF2-40B4-BE49-F238E27FC236}">
                  <a16:creationId xmlns:a16="http://schemas.microsoft.com/office/drawing/2014/main" id="{D5B1BA3B-E78A-BC2F-3939-B2A6031703B7}"/>
                </a:ext>
              </a:extLst>
            </p:cNvPr>
            <p:cNvCxnSpPr>
              <a:cxnSpLocks/>
            </p:cNvCxnSpPr>
            <p:nvPr/>
          </p:nvCxnSpPr>
          <p:spPr>
            <a:xfrm flipV="1">
              <a:off x="7973449" y="4926615"/>
              <a:ext cx="551717" cy="825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07835DE8-7661-E6D5-7C02-77786614B1D9}"/>
                </a:ext>
              </a:extLst>
            </p:cNvPr>
            <p:cNvCxnSpPr>
              <a:cxnSpLocks/>
            </p:cNvCxnSpPr>
            <p:nvPr/>
          </p:nvCxnSpPr>
          <p:spPr>
            <a:xfrm flipV="1">
              <a:off x="8525166" y="4926615"/>
              <a:ext cx="551717" cy="8253"/>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sp>
        <p:nvSpPr>
          <p:cNvPr id="68" name="TextBox 67">
            <a:extLst>
              <a:ext uri="{FF2B5EF4-FFF2-40B4-BE49-F238E27FC236}">
                <a16:creationId xmlns:a16="http://schemas.microsoft.com/office/drawing/2014/main" id="{AF2962FA-CA1D-291E-994C-73242FE1F9FF}"/>
              </a:ext>
            </a:extLst>
          </p:cNvPr>
          <p:cNvSpPr txBox="1"/>
          <p:nvPr/>
        </p:nvSpPr>
        <p:spPr>
          <a:xfrm>
            <a:off x="7084660" y="314615"/>
            <a:ext cx="3180627"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US" dirty="0"/>
              <a:t>Add more together</a:t>
            </a:r>
          </a:p>
        </p:txBody>
      </p:sp>
      <p:grpSp>
        <p:nvGrpSpPr>
          <p:cNvPr id="69" name="Group 68">
            <a:extLst>
              <a:ext uri="{FF2B5EF4-FFF2-40B4-BE49-F238E27FC236}">
                <a16:creationId xmlns:a16="http://schemas.microsoft.com/office/drawing/2014/main" id="{ACE7B12D-9CCC-F8BD-7305-07B9ED7A4A57}"/>
              </a:ext>
            </a:extLst>
          </p:cNvPr>
          <p:cNvGrpSpPr/>
          <p:nvPr/>
        </p:nvGrpSpPr>
        <p:grpSpPr>
          <a:xfrm>
            <a:off x="5467971" y="1834468"/>
            <a:ext cx="5942145" cy="2377441"/>
            <a:chOff x="5496218" y="3733768"/>
            <a:chExt cx="5942145" cy="2377441"/>
          </a:xfrm>
        </p:grpSpPr>
        <p:grpSp>
          <p:nvGrpSpPr>
            <p:cNvPr id="70" name="Group 69">
              <a:extLst>
                <a:ext uri="{FF2B5EF4-FFF2-40B4-BE49-F238E27FC236}">
                  <a16:creationId xmlns:a16="http://schemas.microsoft.com/office/drawing/2014/main" id="{284C250E-62B3-EDBA-79B2-4DF6C4D0D3C5}"/>
                </a:ext>
              </a:extLst>
            </p:cNvPr>
            <p:cNvGrpSpPr/>
            <p:nvPr/>
          </p:nvGrpSpPr>
          <p:grpSpPr>
            <a:xfrm>
              <a:off x="5496218" y="3733769"/>
              <a:ext cx="2345789" cy="2377440"/>
              <a:chOff x="5407853" y="2029265"/>
              <a:chExt cx="2345789" cy="2377440"/>
            </a:xfrm>
          </p:grpSpPr>
          <p:cxnSp>
            <p:nvCxnSpPr>
              <p:cNvPr id="82" name="Straight Arrow Connector 81">
                <a:extLst>
                  <a:ext uri="{FF2B5EF4-FFF2-40B4-BE49-F238E27FC236}">
                    <a16:creationId xmlns:a16="http://schemas.microsoft.com/office/drawing/2014/main" id="{5C68EBCF-4C84-EA25-0DC8-EF94837F7120}"/>
                  </a:ext>
                </a:extLst>
              </p:cNvPr>
              <p:cNvCxnSpPr/>
              <p:nvPr/>
            </p:nvCxnSpPr>
            <p:spPr>
              <a:xfrm>
                <a:off x="6564922" y="321798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83" name="Straight Arrow Connector 82">
                <a:extLst>
                  <a:ext uri="{FF2B5EF4-FFF2-40B4-BE49-F238E27FC236}">
                    <a16:creationId xmlns:a16="http://schemas.microsoft.com/office/drawing/2014/main" id="{E7E85599-A73F-549F-33AD-39A6978ACEB4}"/>
                  </a:ext>
                </a:extLst>
              </p:cNvPr>
              <p:cNvCxnSpPr>
                <a:cxnSpLocks/>
              </p:cNvCxnSpPr>
              <p:nvPr/>
            </p:nvCxnSpPr>
            <p:spPr>
              <a:xfrm rot="5400000">
                <a:off x="6002213" y="381234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430645B3-1293-068F-8FE9-99DF10E88718}"/>
                  </a:ext>
                </a:extLst>
              </p:cNvPr>
              <p:cNvCxnSpPr>
                <a:cxnSpLocks/>
              </p:cNvCxnSpPr>
              <p:nvPr/>
            </p:nvCxnSpPr>
            <p:spPr>
              <a:xfrm rot="-5400000">
                <a:off x="6002213" y="262362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85" name="Straight Arrow Connector 84">
                <a:extLst>
                  <a:ext uri="{FF2B5EF4-FFF2-40B4-BE49-F238E27FC236}">
                    <a16:creationId xmlns:a16="http://schemas.microsoft.com/office/drawing/2014/main" id="{2AE96087-1BBD-010E-53F2-BD416EFE3BAE}"/>
                  </a:ext>
                </a:extLst>
              </p:cNvPr>
              <p:cNvCxnSpPr>
                <a:cxnSpLocks/>
              </p:cNvCxnSpPr>
              <p:nvPr/>
            </p:nvCxnSpPr>
            <p:spPr>
              <a:xfrm rot="10800000">
                <a:off x="5407853" y="321798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86" name="Straight Arrow Connector 85">
                <a:extLst>
                  <a:ext uri="{FF2B5EF4-FFF2-40B4-BE49-F238E27FC236}">
                    <a16:creationId xmlns:a16="http://schemas.microsoft.com/office/drawing/2014/main" id="{4ABDC1FE-237F-B982-F71D-24C59B3C4BD9}"/>
                  </a:ext>
                </a:extLst>
              </p:cNvPr>
              <p:cNvCxnSpPr>
                <a:cxnSpLocks/>
              </p:cNvCxnSpPr>
              <p:nvPr/>
            </p:nvCxnSpPr>
            <p:spPr>
              <a:xfrm rot="2700000">
                <a:off x="6445936" y="364001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39909672-975C-ECDC-CE9B-727A99B6C6D9}"/>
                  </a:ext>
                </a:extLst>
              </p:cNvPr>
              <p:cNvCxnSpPr>
                <a:cxnSpLocks/>
              </p:cNvCxnSpPr>
              <p:nvPr/>
            </p:nvCxnSpPr>
            <p:spPr>
              <a:xfrm rot="-2700000">
                <a:off x="6445935" y="2793582"/>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E5C3E5E6-3148-337C-488D-DB3ADB14FE72}"/>
                  </a:ext>
                </a:extLst>
              </p:cNvPr>
              <p:cNvCxnSpPr>
                <a:cxnSpLocks/>
              </p:cNvCxnSpPr>
              <p:nvPr/>
            </p:nvCxnSpPr>
            <p:spPr>
              <a:xfrm rot="8100000">
                <a:off x="5550286" y="3642388"/>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EFBC206A-F659-99B3-05F4-17A38931DCE5}"/>
                  </a:ext>
                </a:extLst>
              </p:cNvPr>
              <p:cNvCxnSpPr>
                <a:cxnSpLocks/>
              </p:cNvCxnSpPr>
              <p:nvPr/>
            </p:nvCxnSpPr>
            <p:spPr>
              <a:xfrm rot="-8100000">
                <a:off x="5570215" y="2793582"/>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grpSp>
        <p:grpSp>
          <p:nvGrpSpPr>
            <p:cNvPr id="71" name="Group 70">
              <a:extLst>
                <a:ext uri="{FF2B5EF4-FFF2-40B4-BE49-F238E27FC236}">
                  <a16:creationId xmlns:a16="http://schemas.microsoft.com/office/drawing/2014/main" id="{98F7523F-8C2C-9839-D164-6964FCFC08E8}"/>
                </a:ext>
              </a:extLst>
            </p:cNvPr>
            <p:cNvGrpSpPr/>
            <p:nvPr/>
          </p:nvGrpSpPr>
          <p:grpSpPr>
            <a:xfrm>
              <a:off x="9092574" y="3733768"/>
              <a:ext cx="2345789" cy="2377440"/>
              <a:chOff x="8816646" y="2037519"/>
              <a:chExt cx="2345789" cy="2377440"/>
            </a:xfrm>
          </p:grpSpPr>
          <p:cxnSp>
            <p:nvCxnSpPr>
              <p:cNvPr id="74" name="Straight Arrow Connector 73">
                <a:extLst>
                  <a:ext uri="{FF2B5EF4-FFF2-40B4-BE49-F238E27FC236}">
                    <a16:creationId xmlns:a16="http://schemas.microsoft.com/office/drawing/2014/main" id="{F2A68209-E704-EB62-47D9-CC85B57B2997}"/>
                  </a:ext>
                </a:extLst>
              </p:cNvPr>
              <p:cNvCxnSpPr/>
              <p:nvPr/>
            </p:nvCxnSpPr>
            <p:spPr>
              <a:xfrm>
                <a:off x="9973715" y="322623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75" name="Straight Arrow Connector 74">
                <a:extLst>
                  <a:ext uri="{FF2B5EF4-FFF2-40B4-BE49-F238E27FC236}">
                    <a16:creationId xmlns:a16="http://schemas.microsoft.com/office/drawing/2014/main" id="{0833326B-A27A-F25A-6849-FD7F689A06CF}"/>
                  </a:ext>
                </a:extLst>
              </p:cNvPr>
              <p:cNvCxnSpPr>
                <a:cxnSpLocks/>
              </p:cNvCxnSpPr>
              <p:nvPr/>
            </p:nvCxnSpPr>
            <p:spPr>
              <a:xfrm rot="5400000">
                <a:off x="9411006" y="382059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76" name="Straight Arrow Connector 75">
                <a:extLst>
                  <a:ext uri="{FF2B5EF4-FFF2-40B4-BE49-F238E27FC236}">
                    <a16:creationId xmlns:a16="http://schemas.microsoft.com/office/drawing/2014/main" id="{D2D42C57-25B0-6F96-B31A-AADCBB19A967}"/>
                  </a:ext>
                </a:extLst>
              </p:cNvPr>
              <p:cNvCxnSpPr>
                <a:cxnSpLocks/>
              </p:cNvCxnSpPr>
              <p:nvPr/>
            </p:nvCxnSpPr>
            <p:spPr>
              <a:xfrm rot="-5400000">
                <a:off x="9411006" y="263187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6A5FA519-E713-AF64-1BA7-2411550B430F}"/>
                  </a:ext>
                </a:extLst>
              </p:cNvPr>
              <p:cNvCxnSpPr>
                <a:cxnSpLocks/>
              </p:cNvCxnSpPr>
              <p:nvPr/>
            </p:nvCxnSpPr>
            <p:spPr>
              <a:xfrm rot="10800000">
                <a:off x="8816646" y="322623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A669DD91-FE4F-8559-B1D4-3CC4D8CB0225}"/>
                  </a:ext>
                </a:extLst>
              </p:cNvPr>
              <p:cNvCxnSpPr>
                <a:cxnSpLocks/>
              </p:cNvCxnSpPr>
              <p:nvPr/>
            </p:nvCxnSpPr>
            <p:spPr>
              <a:xfrm rot="2700000">
                <a:off x="9854729" y="364826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79" name="Straight Arrow Connector 78">
                <a:extLst>
                  <a:ext uri="{FF2B5EF4-FFF2-40B4-BE49-F238E27FC236}">
                    <a16:creationId xmlns:a16="http://schemas.microsoft.com/office/drawing/2014/main" id="{FC5EB7C7-1AE3-B16A-298D-0AE94CA83B37}"/>
                  </a:ext>
                </a:extLst>
              </p:cNvPr>
              <p:cNvCxnSpPr>
                <a:cxnSpLocks/>
              </p:cNvCxnSpPr>
              <p:nvPr/>
            </p:nvCxnSpPr>
            <p:spPr>
              <a:xfrm rot="-2700000">
                <a:off x="9854728" y="2801836"/>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7F02D579-AE2B-5A87-7905-265ACA569614}"/>
                  </a:ext>
                </a:extLst>
              </p:cNvPr>
              <p:cNvCxnSpPr>
                <a:cxnSpLocks/>
              </p:cNvCxnSpPr>
              <p:nvPr/>
            </p:nvCxnSpPr>
            <p:spPr>
              <a:xfrm rot="8100000">
                <a:off x="8959079" y="3650642"/>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81" name="Straight Arrow Connector 80">
                <a:extLst>
                  <a:ext uri="{FF2B5EF4-FFF2-40B4-BE49-F238E27FC236}">
                    <a16:creationId xmlns:a16="http://schemas.microsoft.com/office/drawing/2014/main" id="{1E624E5D-286B-1BFC-4800-04AF5657358A}"/>
                  </a:ext>
                </a:extLst>
              </p:cNvPr>
              <p:cNvCxnSpPr>
                <a:cxnSpLocks/>
              </p:cNvCxnSpPr>
              <p:nvPr/>
            </p:nvCxnSpPr>
            <p:spPr>
              <a:xfrm rot="-8100000">
                <a:off x="8979008" y="2801836"/>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grpSp>
        <p:cxnSp>
          <p:nvCxnSpPr>
            <p:cNvPr id="72" name="Straight Arrow Connector 71">
              <a:extLst>
                <a:ext uri="{FF2B5EF4-FFF2-40B4-BE49-F238E27FC236}">
                  <a16:creationId xmlns:a16="http://schemas.microsoft.com/office/drawing/2014/main" id="{5D19D316-10A4-2297-7D92-57291F57825F}"/>
                </a:ext>
              </a:extLst>
            </p:cNvPr>
            <p:cNvCxnSpPr>
              <a:cxnSpLocks/>
            </p:cNvCxnSpPr>
            <p:nvPr/>
          </p:nvCxnSpPr>
          <p:spPr>
            <a:xfrm flipV="1">
              <a:off x="7973449" y="4926615"/>
              <a:ext cx="551717" cy="825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73" name="Straight Arrow Connector 72">
              <a:extLst>
                <a:ext uri="{FF2B5EF4-FFF2-40B4-BE49-F238E27FC236}">
                  <a16:creationId xmlns:a16="http://schemas.microsoft.com/office/drawing/2014/main" id="{2A91A943-D045-6AE1-D185-D9B2324ACEED}"/>
                </a:ext>
              </a:extLst>
            </p:cNvPr>
            <p:cNvCxnSpPr>
              <a:cxnSpLocks/>
            </p:cNvCxnSpPr>
            <p:nvPr/>
          </p:nvCxnSpPr>
          <p:spPr>
            <a:xfrm flipV="1">
              <a:off x="8525166" y="4926615"/>
              <a:ext cx="551717" cy="8253"/>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grpSp>
        <p:nvGrpSpPr>
          <p:cNvPr id="90" name="Group 89">
            <a:extLst>
              <a:ext uri="{FF2B5EF4-FFF2-40B4-BE49-F238E27FC236}">
                <a16:creationId xmlns:a16="http://schemas.microsoft.com/office/drawing/2014/main" id="{16FA440D-BE77-1673-59BF-30D00A440DC3}"/>
              </a:ext>
            </a:extLst>
          </p:cNvPr>
          <p:cNvGrpSpPr/>
          <p:nvPr/>
        </p:nvGrpSpPr>
        <p:grpSpPr>
          <a:xfrm>
            <a:off x="5511862" y="3719111"/>
            <a:ext cx="5942145" cy="2377441"/>
            <a:chOff x="5496218" y="3733768"/>
            <a:chExt cx="5942145" cy="2377441"/>
          </a:xfrm>
        </p:grpSpPr>
        <p:grpSp>
          <p:nvGrpSpPr>
            <p:cNvPr id="91" name="Group 90">
              <a:extLst>
                <a:ext uri="{FF2B5EF4-FFF2-40B4-BE49-F238E27FC236}">
                  <a16:creationId xmlns:a16="http://schemas.microsoft.com/office/drawing/2014/main" id="{B2F66349-26CD-4290-5245-E65B7EA8E43E}"/>
                </a:ext>
              </a:extLst>
            </p:cNvPr>
            <p:cNvGrpSpPr/>
            <p:nvPr/>
          </p:nvGrpSpPr>
          <p:grpSpPr>
            <a:xfrm>
              <a:off x="5496218" y="3733769"/>
              <a:ext cx="2345789" cy="2377440"/>
              <a:chOff x="5407853" y="2029265"/>
              <a:chExt cx="2345789" cy="2377440"/>
            </a:xfrm>
          </p:grpSpPr>
          <p:cxnSp>
            <p:nvCxnSpPr>
              <p:cNvPr id="104" name="Straight Arrow Connector 103">
                <a:extLst>
                  <a:ext uri="{FF2B5EF4-FFF2-40B4-BE49-F238E27FC236}">
                    <a16:creationId xmlns:a16="http://schemas.microsoft.com/office/drawing/2014/main" id="{C860D250-49A6-20B1-CE7F-E7F667103099}"/>
                  </a:ext>
                </a:extLst>
              </p:cNvPr>
              <p:cNvCxnSpPr/>
              <p:nvPr/>
            </p:nvCxnSpPr>
            <p:spPr>
              <a:xfrm>
                <a:off x="6564922" y="321798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05" name="Straight Arrow Connector 104">
                <a:extLst>
                  <a:ext uri="{FF2B5EF4-FFF2-40B4-BE49-F238E27FC236}">
                    <a16:creationId xmlns:a16="http://schemas.microsoft.com/office/drawing/2014/main" id="{F8A7DE2E-BF0D-B891-E259-AD8E5AD9070A}"/>
                  </a:ext>
                </a:extLst>
              </p:cNvPr>
              <p:cNvCxnSpPr>
                <a:cxnSpLocks/>
              </p:cNvCxnSpPr>
              <p:nvPr/>
            </p:nvCxnSpPr>
            <p:spPr>
              <a:xfrm rot="5400000">
                <a:off x="6002213" y="381234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06" name="Straight Arrow Connector 105">
                <a:extLst>
                  <a:ext uri="{FF2B5EF4-FFF2-40B4-BE49-F238E27FC236}">
                    <a16:creationId xmlns:a16="http://schemas.microsoft.com/office/drawing/2014/main" id="{6BF6D728-96C1-2856-4F3A-A251546444C8}"/>
                  </a:ext>
                </a:extLst>
              </p:cNvPr>
              <p:cNvCxnSpPr>
                <a:cxnSpLocks/>
              </p:cNvCxnSpPr>
              <p:nvPr/>
            </p:nvCxnSpPr>
            <p:spPr>
              <a:xfrm rot="-5400000">
                <a:off x="6002213" y="262362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07" name="Straight Arrow Connector 106">
                <a:extLst>
                  <a:ext uri="{FF2B5EF4-FFF2-40B4-BE49-F238E27FC236}">
                    <a16:creationId xmlns:a16="http://schemas.microsoft.com/office/drawing/2014/main" id="{2B74E680-FBC9-9E75-EA8D-BA7583226351}"/>
                  </a:ext>
                </a:extLst>
              </p:cNvPr>
              <p:cNvCxnSpPr>
                <a:cxnSpLocks/>
              </p:cNvCxnSpPr>
              <p:nvPr/>
            </p:nvCxnSpPr>
            <p:spPr>
              <a:xfrm rot="10800000">
                <a:off x="5407853" y="321798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08" name="Straight Arrow Connector 107">
                <a:extLst>
                  <a:ext uri="{FF2B5EF4-FFF2-40B4-BE49-F238E27FC236}">
                    <a16:creationId xmlns:a16="http://schemas.microsoft.com/office/drawing/2014/main" id="{FA847A9C-5DE7-2C1C-290F-712057462956}"/>
                  </a:ext>
                </a:extLst>
              </p:cNvPr>
              <p:cNvCxnSpPr>
                <a:cxnSpLocks/>
              </p:cNvCxnSpPr>
              <p:nvPr/>
            </p:nvCxnSpPr>
            <p:spPr>
              <a:xfrm rot="2700000">
                <a:off x="6445936" y="364001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09" name="Straight Arrow Connector 108">
                <a:extLst>
                  <a:ext uri="{FF2B5EF4-FFF2-40B4-BE49-F238E27FC236}">
                    <a16:creationId xmlns:a16="http://schemas.microsoft.com/office/drawing/2014/main" id="{2352720F-B0CE-2264-1A2B-B6DF3809EEE9}"/>
                  </a:ext>
                </a:extLst>
              </p:cNvPr>
              <p:cNvCxnSpPr>
                <a:cxnSpLocks/>
              </p:cNvCxnSpPr>
              <p:nvPr/>
            </p:nvCxnSpPr>
            <p:spPr>
              <a:xfrm rot="-2700000">
                <a:off x="6445935" y="2793582"/>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10" name="Straight Arrow Connector 109">
                <a:extLst>
                  <a:ext uri="{FF2B5EF4-FFF2-40B4-BE49-F238E27FC236}">
                    <a16:creationId xmlns:a16="http://schemas.microsoft.com/office/drawing/2014/main" id="{58593EA6-63C7-A8C2-3039-7FE96E6C5473}"/>
                  </a:ext>
                </a:extLst>
              </p:cNvPr>
              <p:cNvCxnSpPr>
                <a:cxnSpLocks/>
              </p:cNvCxnSpPr>
              <p:nvPr/>
            </p:nvCxnSpPr>
            <p:spPr>
              <a:xfrm rot="8100000">
                <a:off x="5550286" y="3642388"/>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11" name="Straight Arrow Connector 110">
                <a:extLst>
                  <a:ext uri="{FF2B5EF4-FFF2-40B4-BE49-F238E27FC236}">
                    <a16:creationId xmlns:a16="http://schemas.microsoft.com/office/drawing/2014/main" id="{315AC4D8-49C5-D196-AB2A-31DF99FB64AD}"/>
                  </a:ext>
                </a:extLst>
              </p:cNvPr>
              <p:cNvCxnSpPr>
                <a:cxnSpLocks/>
              </p:cNvCxnSpPr>
              <p:nvPr/>
            </p:nvCxnSpPr>
            <p:spPr>
              <a:xfrm rot="-8100000">
                <a:off x="5570215" y="2793582"/>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grpSp>
        <p:grpSp>
          <p:nvGrpSpPr>
            <p:cNvPr id="93" name="Group 92">
              <a:extLst>
                <a:ext uri="{FF2B5EF4-FFF2-40B4-BE49-F238E27FC236}">
                  <a16:creationId xmlns:a16="http://schemas.microsoft.com/office/drawing/2014/main" id="{78E356FE-02C5-3036-0754-55F5A4B4E1B8}"/>
                </a:ext>
              </a:extLst>
            </p:cNvPr>
            <p:cNvGrpSpPr/>
            <p:nvPr/>
          </p:nvGrpSpPr>
          <p:grpSpPr>
            <a:xfrm>
              <a:off x="9092574" y="3733768"/>
              <a:ext cx="2345789" cy="2377440"/>
              <a:chOff x="8816646" y="2037519"/>
              <a:chExt cx="2345789" cy="2377440"/>
            </a:xfrm>
          </p:grpSpPr>
          <p:cxnSp>
            <p:nvCxnSpPr>
              <p:cNvPr id="96" name="Straight Arrow Connector 95">
                <a:extLst>
                  <a:ext uri="{FF2B5EF4-FFF2-40B4-BE49-F238E27FC236}">
                    <a16:creationId xmlns:a16="http://schemas.microsoft.com/office/drawing/2014/main" id="{D674B58D-A140-6468-7B10-3AE83AC55DFE}"/>
                  </a:ext>
                </a:extLst>
              </p:cNvPr>
              <p:cNvCxnSpPr/>
              <p:nvPr/>
            </p:nvCxnSpPr>
            <p:spPr>
              <a:xfrm>
                <a:off x="9973715" y="322623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97" name="Straight Arrow Connector 96">
                <a:extLst>
                  <a:ext uri="{FF2B5EF4-FFF2-40B4-BE49-F238E27FC236}">
                    <a16:creationId xmlns:a16="http://schemas.microsoft.com/office/drawing/2014/main" id="{437167FC-862D-285B-A731-C5F0E3DD1016}"/>
                  </a:ext>
                </a:extLst>
              </p:cNvPr>
              <p:cNvCxnSpPr>
                <a:cxnSpLocks/>
              </p:cNvCxnSpPr>
              <p:nvPr/>
            </p:nvCxnSpPr>
            <p:spPr>
              <a:xfrm rot="5400000">
                <a:off x="9411006" y="382059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98" name="Straight Arrow Connector 97">
                <a:extLst>
                  <a:ext uri="{FF2B5EF4-FFF2-40B4-BE49-F238E27FC236}">
                    <a16:creationId xmlns:a16="http://schemas.microsoft.com/office/drawing/2014/main" id="{F1C5310A-A8DE-DD12-8F3F-9B7AEEBA4983}"/>
                  </a:ext>
                </a:extLst>
              </p:cNvPr>
              <p:cNvCxnSpPr>
                <a:cxnSpLocks/>
              </p:cNvCxnSpPr>
              <p:nvPr/>
            </p:nvCxnSpPr>
            <p:spPr>
              <a:xfrm rot="-5400000">
                <a:off x="9411006" y="263187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C6567630-D421-858C-4C2B-379707042352}"/>
                  </a:ext>
                </a:extLst>
              </p:cNvPr>
              <p:cNvCxnSpPr>
                <a:cxnSpLocks/>
              </p:cNvCxnSpPr>
              <p:nvPr/>
            </p:nvCxnSpPr>
            <p:spPr>
              <a:xfrm rot="10800000">
                <a:off x="8816646" y="322623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00" name="Straight Arrow Connector 99">
                <a:extLst>
                  <a:ext uri="{FF2B5EF4-FFF2-40B4-BE49-F238E27FC236}">
                    <a16:creationId xmlns:a16="http://schemas.microsoft.com/office/drawing/2014/main" id="{9F7E45BD-CFFC-F749-8E72-604AD6FEA03C}"/>
                  </a:ext>
                </a:extLst>
              </p:cNvPr>
              <p:cNvCxnSpPr>
                <a:cxnSpLocks/>
              </p:cNvCxnSpPr>
              <p:nvPr/>
            </p:nvCxnSpPr>
            <p:spPr>
              <a:xfrm rot="2700000">
                <a:off x="9854729" y="364826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01" name="Straight Arrow Connector 100">
                <a:extLst>
                  <a:ext uri="{FF2B5EF4-FFF2-40B4-BE49-F238E27FC236}">
                    <a16:creationId xmlns:a16="http://schemas.microsoft.com/office/drawing/2014/main" id="{A71114F3-183D-D21A-CED3-7B4712616C19}"/>
                  </a:ext>
                </a:extLst>
              </p:cNvPr>
              <p:cNvCxnSpPr>
                <a:cxnSpLocks/>
              </p:cNvCxnSpPr>
              <p:nvPr/>
            </p:nvCxnSpPr>
            <p:spPr>
              <a:xfrm rot="-2700000">
                <a:off x="9854728" y="2801836"/>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02" name="Straight Arrow Connector 101">
                <a:extLst>
                  <a:ext uri="{FF2B5EF4-FFF2-40B4-BE49-F238E27FC236}">
                    <a16:creationId xmlns:a16="http://schemas.microsoft.com/office/drawing/2014/main" id="{7621B4C9-0632-ED50-B775-9A69F81DAD00}"/>
                  </a:ext>
                </a:extLst>
              </p:cNvPr>
              <p:cNvCxnSpPr>
                <a:cxnSpLocks/>
              </p:cNvCxnSpPr>
              <p:nvPr/>
            </p:nvCxnSpPr>
            <p:spPr>
              <a:xfrm rot="8100000">
                <a:off x="8959079" y="3650642"/>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03" name="Straight Arrow Connector 102">
                <a:extLst>
                  <a:ext uri="{FF2B5EF4-FFF2-40B4-BE49-F238E27FC236}">
                    <a16:creationId xmlns:a16="http://schemas.microsoft.com/office/drawing/2014/main" id="{B2C5AFFE-D92E-64D5-6E1D-37493891A4AC}"/>
                  </a:ext>
                </a:extLst>
              </p:cNvPr>
              <p:cNvCxnSpPr>
                <a:cxnSpLocks/>
              </p:cNvCxnSpPr>
              <p:nvPr/>
            </p:nvCxnSpPr>
            <p:spPr>
              <a:xfrm rot="-8100000">
                <a:off x="8979008" y="2801836"/>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grpSp>
        <p:cxnSp>
          <p:nvCxnSpPr>
            <p:cNvPr id="94" name="Straight Arrow Connector 93">
              <a:extLst>
                <a:ext uri="{FF2B5EF4-FFF2-40B4-BE49-F238E27FC236}">
                  <a16:creationId xmlns:a16="http://schemas.microsoft.com/office/drawing/2014/main" id="{72FFBB2E-3A91-F5E5-D003-8B84758AA026}"/>
                </a:ext>
              </a:extLst>
            </p:cNvPr>
            <p:cNvCxnSpPr>
              <a:cxnSpLocks/>
            </p:cNvCxnSpPr>
            <p:nvPr/>
          </p:nvCxnSpPr>
          <p:spPr>
            <a:xfrm flipV="1">
              <a:off x="7973449" y="4926615"/>
              <a:ext cx="551717" cy="825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95" name="Straight Arrow Connector 94">
              <a:extLst>
                <a:ext uri="{FF2B5EF4-FFF2-40B4-BE49-F238E27FC236}">
                  <a16:creationId xmlns:a16="http://schemas.microsoft.com/office/drawing/2014/main" id="{272BA6B8-C7DD-8269-8C96-F63C695ADB7F}"/>
                </a:ext>
              </a:extLst>
            </p:cNvPr>
            <p:cNvCxnSpPr>
              <a:cxnSpLocks/>
            </p:cNvCxnSpPr>
            <p:nvPr/>
          </p:nvCxnSpPr>
          <p:spPr>
            <a:xfrm flipV="1">
              <a:off x="8525166" y="4926615"/>
              <a:ext cx="551717" cy="8253"/>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12" name="Group 111">
            <a:extLst>
              <a:ext uri="{FF2B5EF4-FFF2-40B4-BE49-F238E27FC236}">
                <a16:creationId xmlns:a16="http://schemas.microsoft.com/office/drawing/2014/main" id="{4B684199-1AAA-1882-7409-D26E57A5F09F}"/>
              </a:ext>
            </a:extLst>
          </p:cNvPr>
          <p:cNvGrpSpPr/>
          <p:nvPr/>
        </p:nvGrpSpPr>
        <p:grpSpPr>
          <a:xfrm>
            <a:off x="5511863" y="2313512"/>
            <a:ext cx="5942145" cy="2377441"/>
            <a:chOff x="5496218" y="3733768"/>
            <a:chExt cx="5942145" cy="2377441"/>
          </a:xfrm>
        </p:grpSpPr>
        <p:grpSp>
          <p:nvGrpSpPr>
            <p:cNvPr id="113" name="Group 112">
              <a:extLst>
                <a:ext uri="{FF2B5EF4-FFF2-40B4-BE49-F238E27FC236}">
                  <a16:creationId xmlns:a16="http://schemas.microsoft.com/office/drawing/2014/main" id="{0CA8BE46-FDB2-22AD-5753-3D1E42B0A5E5}"/>
                </a:ext>
              </a:extLst>
            </p:cNvPr>
            <p:cNvGrpSpPr/>
            <p:nvPr/>
          </p:nvGrpSpPr>
          <p:grpSpPr>
            <a:xfrm>
              <a:off x="5496218" y="3733769"/>
              <a:ext cx="2345789" cy="2377440"/>
              <a:chOff x="5407853" y="2029265"/>
              <a:chExt cx="2345789" cy="2377440"/>
            </a:xfrm>
          </p:grpSpPr>
          <p:cxnSp>
            <p:nvCxnSpPr>
              <p:cNvPr id="125" name="Straight Arrow Connector 124">
                <a:extLst>
                  <a:ext uri="{FF2B5EF4-FFF2-40B4-BE49-F238E27FC236}">
                    <a16:creationId xmlns:a16="http://schemas.microsoft.com/office/drawing/2014/main" id="{1AEE7D8F-1D6C-0037-6C10-3CD8400B03F1}"/>
                  </a:ext>
                </a:extLst>
              </p:cNvPr>
              <p:cNvCxnSpPr/>
              <p:nvPr/>
            </p:nvCxnSpPr>
            <p:spPr>
              <a:xfrm>
                <a:off x="6564922" y="321798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26" name="Straight Arrow Connector 125">
                <a:extLst>
                  <a:ext uri="{FF2B5EF4-FFF2-40B4-BE49-F238E27FC236}">
                    <a16:creationId xmlns:a16="http://schemas.microsoft.com/office/drawing/2014/main" id="{4325EE3A-EA4C-8193-C523-DA88D42C5D57}"/>
                  </a:ext>
                </a:extLst>
              </p:cNvPr>
              <p:cNvCxnSpPr>
                <a:cxnSpLocks/>
              </p:cNvCxnSpPr>
              <p:nvPr/>
            </p:nvCxnSpPr>
            <p:spPr>
              <a:xfrm rot="5400000">
                <a:off x="6002213" y="381234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27" name="Straight Arrow Connector 126">
                <a:extLst>
                  <a:ext uri="{FF2B5EF4-FFF2-40B4-BE49-F238E27FC236}">
                    <a16:creationId xmlns:a16="http://schemas.microsoft.com/office/drawing/2014/main" id="{F9E8AE63-097E-9811-9599-24F073AA3858}"/>
                  </a:ext>
                </a:extLst>
              </p:cNvPr>
              <p:cNvCxnSpPr>
                <a:cxnSpLocks/>
              </p:cNvCxnSpPr>
              <p:nvPr/>
            </p:nvCxnSpPr>
            <p:spPr>
              <a:xfrm rot="-5400000">
                <a:off x="6002213" y="262362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28" name="Straight Arrow Connector 127">
                <a:extLst>
                  <a:ext uri="{FF2B5EF4-FFF2-40B4-BE49-F238E27FC236}">
                    <a16:creationId xmlns:a16="http://schemas.microsoft.com/office/drawing/2014/main" id="{3FF3BB38-0075-6EAD-DC89-21ACEAFCF358}"/>
                  </a:ext>
                </a:extLst>
              </p:cNvPr>
              <p:cNvCxnSpPr>
                <a:cxnSpLocks/>
              </p:cNvCxnSpPr>
              <p:nvPr/>
            </p:nvCxnSpPr>
            <p:spPr>
              <a:xfrm rot="10800000">
                <a:off x="5407853" y="321798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29" name="Straight Arrow Connector 128">
                <a:extLst>
                  <a:ext uri="{FF2B5EF4-FFF2-40B4-BE49-F238E27FC236}">
                    <a16:creationId xmlns:a16="http://schemas.microsoft.com/office/drawing/2014/main" id="{8B70399D-432B-92E5-7E83-5A47104AF784}"/>
                  </a:ext>
                </a:extLst>
              </p:cNvPr>
              <p:cNvCxnSpPr>
                <a:cxnSpLocks/>
              </p:cNvCxnSpPr>
              <p:nvPr/>
            </p:nvCxnSpPr>
            <p:spPr>
              <a:xfrm rot="2700000">
                <a:off x="6445936" y="364001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30" name="Straight Arrow Connector 129">
                <a:extLst>
                  <a:ext uri="{FF2B5EF4-FFF2-40B4-BE49-F238E27FC236}">
                    <a16:creationId xmlns:a16="http://schemas.microsoft.com/office/drawing/2014/main" id="{CEC930B9-20CF-413B-3831-D2BB4861B052}"/>
                  </a:ext>
                </a:extLst>
              </p:cNvPr>
              <p:cNvCxnSpPr>
                <a:cxnSpLocks/>
              </p:cNvCxnSpPr>
              <p:nvPr/>
            </p:nvCxnSpPr>
            <p:spPr>
              <a:xfrm rot="-2700000">
                <a:off x="6445935" y="2793582"/>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31" name="Straight Arrow Connector 130">
                <a:extLst>
                  <a:ext uri="{FF2B5EF4-FFF2-40B4-BE49-F238E27FC236}">
                    <a16:creationId xmlns:a16="http://schemas.microsoft.com/office/drawing/2014/main" id="{E85C273C-017D-4F18-F061-7809B6E5A100}"/>
                  </a:ext>
                </a:extLst>
              </p:cNvPr>
              <p:cNvCxnSpPr>
                <a:cxnSpLocks/>
              </p:cNvCxnSpPr>
              <p:nvPr/>
            </p:nvCxnSpPr>
            <p:spPr>
              <a:xfrm rot="8100000">
                <a:off x="5550286" y="3642388"/>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32" name="Straight Arrow Connector 131">
                <a:extLst>
                  <a:ext uri="{FF2B5EF4-FFF2-40B4-BE49-F238E27FC236}">
                    <a16:creationId xmlns:a16="http://schemas.microsoft.com/office/drawing/2014/main" id="{4E4CA61B-BD69-B61F-61E5-191DF4267DBE}"/>
                  </a:ext>
                </a:extLst>
              </p:cNvPr>
              <p:cNvCxnSpPr>
                <a:cxnSpLocks/>
              </p:cNvCxnSpPr>
              <p:nvPr/>
            </p:nvCxnSpPr>
            <p:spPr>
              <a:xfrm rot="-8100000">
                <a:off x="5570215" y="2793582"/>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grpSp>
        <p:grpSp>
          <p:nvGrpSpPr>
            <p:cNvPr id="114" name="Group 113">
              <a:extLst>
                <a:ext uri="{FF2B5EF4-FFF2-40B4-BE49-F238E27FC236}">
                  <a16:creationId xmlns:a16="http://schemas.microsoft.com/office/drawing/2014/main" id="{B6F08C6F-6296-78DF-8C18-F315B9F36193}"/>
                </a:ext>
              </a:extLst>
            </p:cNvPr>
            <p:cNvGrpSpPr/>
            <p:nvPr/>
          </p:nvGrpSpPr>
          <p:grpSpPr>
            <a:xfrm>
              <a:off x="9092574" y="3733768"/>
              <a:ext cx="2345789" cy="2377440"/>
              <a:chOff x="8816646" y="2037519"/>
              <a:chExt cx="2345789" cy="2377440"/>
            </a:xfrm>
          </p:grpSpPr>
          <p:cxnSp>
            <p:nvCxnSpPr>
              <p:cNvPr id="117" name="Straight Arrow Connector 116">
                <a:extLst>
                  <a:ext uri="{FF2B5EF4-FFF2-40B4-BE49-F238E27FC236}">
                    <a16:creationId xmlns:a16="http://schemas.microsoft.com/office/drawing/2014/main" id="{27983A80-6442-5C69-A356-DE6338358BF0}"/>
                  </a:ext>
                </a:extLst>
              </p:cNvPr>
              <p:cNvCxnSpPr/>
              <p:nvPr/>
            </p:nvCxnSpPr>
            <p:spPr>
              <a:xfrm>
                <a:off x="9973715" y="322623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18" name="Straight Arrow Connector 117">
                <a:extLst>
                  <a:ext uri="{FF2B5EF4-FFF2-40B4-BE49-F238E27FC236}">
                    <a16:creationId xmlns:a16="http://schemas.microsoft.com/office/drawing/2014/main" id="{135A3FEA-482E-BAAA-D710-41ECAE55C216}"/>
                  </a:ext>
                </a:extLst>
              </p:cNvPr>
              <p:cNvCxnSpPr>
                <a:cxnSpLocks/>
              </p:cNvCxnSpPr>
              <p:nvPr/>
            </p:nvCxnSpPr>
            <p:spPr>
              <a:xfrm rot="5400000">
                <a:off x="9411006" y="382059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19" name="Straight Arrow Connector 118">
                <a:extLst>
                  <a:ext uri="{FF2B5EF4-FFF2-40B4-BE49-F238E27FC236}">
                    <a16:creationId xmlns:a16="http://schemas.microsoft.com/office/drawing/2014/main" id="{D85872D2-A1E1-C8D2-F5B7-A9232DF902E8}"/>
                  </a:ext>
                </a:extLst>
              </p:cNvPr>
              <p:cNvCxnSpPr>
                <a:cxnSpLocks/>
              </p:cNvCxnSpPr>
              <p:nvPr/>
            </p:nvCxnSpPr>
            <p:spPr>
              <a:xfrm rot="-5400000">
                <a:off x="9411006" y="263187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20" name="Straight Arrow Connector 119">
                <a:extLst>
                  <a:ext uri="{FF2B5EF4-FFF2-40B4-BE49-F238E27FC236}">
                    <a16:creationId xmlns:a16="http://schemas.microsoft.com/office/drawing/2014/main" id="{12B19F2D-0309-7BFD-AEEA-DFD73170D3CD}"/>
                  </a:ext>
                </a:extLst>
              </p:cNvPr>
              <p:cNvCxnSpPr>
                <a:cxnSpLocks/>
              </p:cNvCxnSpPr>
              <p:nvPr/>
            </p:nvCxnSpPr>
            <p:spPr>
              <a:xfrm rot="10800000">
                <a:off x="8816646" y="322623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21" name="Straight Arrow Connector 120">
                <a:extLst>
                  <a:ext uri="{FF2B5EF4-FFF2-40B4-BE49-F238E27FC236}">
                    <a16:creationId xmlns:a16="http://schemas.microsoft.com/office/drawing/2014/main" id="{4C888973-F623-E29F-CB03-9A4C3B92D1BC}"/>
                  </a:ext>
                </a:extLst>
              </p:cNvPr>
              <p:cNvCxnSpPr>
                <a:cxnSpLocks/>
              </p:cNvCxnSpPr>
              <p:nvPr/>
            </p:nvCxnSpPr>
            <p:spPr>
              <a:xfrm rot="2700000">
                <a:off x="9854729" y="364826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22" name="Straight Arrow Connector 121">
                <a:extLst>
                  <a:ext uri="{FF2B5EF4-FFF2-40B4-BE49-F238E27FC236}">
                    <a16:creationId xmlns:a16="http://schemas.microsoft.com/office/drawing/2014/main" id="{FFF2FF89-583C-8E0A-4851-C9AE25CF8FFA}"/>
                  </a:ext>
                </a:extLst>
              </p:cNvPr>
              <p:cNvCxnSpPr>
                <a:cxnSpLocks/>
              </p:cNvCxnSpPr>
              <p:nvPr/>
            </p:nvCxnSpPr>
            <p:spPr>
              <a:xfrm rot="-2700000">
                <a:off x="9854728" y="2801836"/>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23" name="Straight Arrow Connector 122">
                <a:extLst>
                  <a:ext uri="{FF2B5EF4-FFF2-40B4-BE49-F238E27FC236}">
                    <a16:creationId xmlns:a16="http://schemas.microsoft.com/office/drawing/2014/main" id="{02C8FA46-21B6-710D-3C7D-17B9730A6764}"/>
                  </a:ext>
                </a:extLst>
              </p:cNvPr>
              <p:cNvCxnSpPr>
                <a:cxnSpLocks/>
              </p:cNvCxnSpPr>
              <p:nvPr/>
            </p:nvCxnSpPr>
            <p:spPr>
              <a:xfrm rot="8100000">
                <a:off x="8959079" y="3650642"/>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24" name="Straight Arrow Connector 123">
                <a:extLst>
                  <a:ext uri="{FF2B5EF4-FFF2-40B4-BE49-F238E27FC236}">
                    <a16:creationId xmlns:a16="http://schemas.microsoft.com/office/drawing/2014/main" id="{D88BDAD3-0928-6C61-1BE3-BF91FB8B0608}"/>
                  </a:ext>
                </a:extLst>
              </p:cNvPr>
              <p:cNvCxnSpPr>
                <a:cxnSpLocks/>
              </p:cNvCxnSpPr>
              <p:nvPr/>
            </p:nvCxnSpPr>
            <p:spPr>
              <a:xfrm rot="-8100000">
                <a:off x="8979008" y="2801836"/>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grpSp>
        <p:cxnSp>
          <p:nvCxnSpPr>
            <p:cNvPr id="115" name="Straight Arrow Connector 114">
              <a:extLst>
                <a:ext uri="{FF2B5EF4-FFF2-40B4-BE49-F238E27FC236}">
                  <a16:creationId xmlns:a16="http://schemas.microsoft.com/office/drawing/2014/main" id="{A3F12E26-2DBA-62D2-93A2-D59BA60CC7BF}"/>
                </a:ext>
              </a:extLst>
            </p:cNvPr>
            <p:cNvCxnSpPr>
              <a:cxnSpLocks/>
            </p:cNvCxnSpPr>
            <p:nvPr/>
          </p:nvCxnSpPr>
          <p:spPr>
            <a:xfrm flipV="1">
              <a:off x="7973449" y="4926615"/>
              <a:ext cx="551717" cy="825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16" name="Straight Arrow Connector 115">
              <a:extLst>
                <a:ext uri="{FF2B5EF4-FFF2-40B4-BE49-F238E27FC236}">
                  <a16:creationId xmlns:a16="http://schemas.microsoft.com/office/drawing/2014/main" id="{68EBCBBF-76C4-1406-E2CD-AF8693E98938}"/>
                </a:ext>
              </a:extLst>
            </p:cNvPr>
            <p:cNvCxnSpPr>
              <a:cxnSpLocks/>
            </p:cNvCxnSpPr>
            <p:nvPr/>
          </p:nvCxnSpPr>
          <p:spPr>
            <a:xfrm flipV="1">
              <a:off x="8525166" y="4926615"/>
              <a:ext cx="551717" cy="8253"/>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33" name="Group 132">
            <a:extLst>
              <a:ext uri="{FF2B5EF4-FFF2-40B4-BE49-F238E27FC236}">
                <a16:creationId xmlns:a16="http://schemas.microsoft.com/office/drawing/2014/main" id="{F1530157-455F-5387-0D71-D74E2BFA6820}"/>
              </a:ext>
            </a:extLst>
          </p:cNvPr>
          <p:cNvGrpSpPr/>
          <p:nvPr/>
        </p:nvGrpSpPr>
        <p:grpSpPr>
          <a:xfrm>
            <a:off x="5511863" y="3209987"/>
            <a:ext cx="5942145" cy="2377441"/>
            <a:chOff x="5496218" y="3733768"/>
            <a:chExt cx="5942145" cy="2377441"/>
          </a:xfrm>
        </p:grpSpPr>
        <p:grpSp>
          <p:nvGrpSpPr>
            <p:cNvPr id="134" name="Group 133">
              <a:extLst>
                <a:ext uri="{FF2B5EF4-FFF2-40B4-BE49-F238E27FC236}">
                  <a16:creationId xmlns:a16="http://schemas.microsoft.com/office/drawing/2014/main" id="{4D7D9C38-F50F-F687-D978-47B15E3D90C7}"/>
                </a:ext>
              </a:extLst>
            </p:cNvPr>
            <p:cNvGrpSpPr/>
            <p:nvPr/>
          </p:nvGrpSpPr>
          <p:grpSpPr>
            <a:xfrm>
              <a:off x="5496218" y="3733769"/>
              <a:ext cx="2345789" cy="2377440"/>
              <a:chOff x="5407853" y="2029265"/>
              <a:chExt cx="2345789" cy="2377440"/>
            </a:xfrm>
          </p:grpSpPr>
          <p:cxnSp>
            <p:nvCxnSpPr>
              <p:cNvPr id="146" name="Straight Arrow Connector 145">
                <a:extLst>
                  <a:ext uri="{FF2B5EF4-FFF2-40B4-BE49-F238E27FC236}">
                    <a16:creationId xmlns:a16="http://schemas.microsoft.com/office/drawing/2014/main" id="{309A2572-E4AA-7B66-0128-5824282265E0}"/>
                  </a:ext>
                </a:extLst>
              </p:cNvPr>
              <p:cNvCxnSpPr/>
              <p:nvPr/>
            </p:nvCxnSpPr>
            <p:spPr>
              <a:xfrm>
                <a:off x="6564922" y="321798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47" name="Straight Arrow Connector 146">
                <a:extLst>
                  <a:ext uri="{FF2B5EF4-FFF2-40B4-BE49-F238E27FC236}">
                    <a16:creationId xmlns:a16="http://schemas.microsoft.com/office/drawing/2014/main" id="{E2AE2BC1-3518-249E-E54F-59FCCD5B5204}"/>
                  </a:ext>
                </a:extLst>
              </p:cNvPr>
              <p:cNvCxnSpPr>
                <a:cxnSpLocks/>
              </p:cNvCxnSpPr>
              <p:nvPr/>
            </p:nvCxnSpPr>
            <p:spPr>
              <a:xfrm rot="5400000">
                <a:off x="6002213" y="381234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48" name="Straight Arrow Connector 147">
                <a:extLst>
                  <a:ext uri="{FF2B5EF4-FFF2-40B4-BE49-F238E27FC236}">
                    <a16:creationId xmlns:a16="http://schemas.microsoft.com/office/drawing/2014/main" id="{5F892516-6A68-DA8A-5691-40387EB1A742}"/>
                  </a:ext>
                </a:extLst>
              </p:cNvPr>
              <p:cNvCxnSpPr>
                <a:cxnSpLocks/>
              </p:cNvCxnSpPr>
              <p:nvPr/>
            </p:nvCxnSpPr>
            <p:spPr>
              <a:xfrm rot="-5400000">
                <a:off x="6002213" y="262362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49" name="Straight Arrow Connector 148">
                <a:extLst>
                  <a:ext uri="{FF2B5EF4-FFF2-40B4-BE49-F238E27FC236}">
                    <a16:creationId xmlns:a16="http://schemas.microsoft.com/office/drawing/2014/main" id="{BC9A0DFE-D471-39A3-FD3F-B783678063CF}"/>
                  </a:ext>
                </a:extLst>
              </p:cNvPr>
              <p:cNvCxnSpPr>
                <a:cxnSpLocks/>
              </p:cNvCxnSpPr>
              <p:nvPr/>
            </p:nvCxnSpPr>
            <p:spPr>
              <a:xfrm rot="10800000">
                <a:off x="5407853" y="321798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50" name="Straight Arrow Connector 149">
                <a:extLst>
                  <a:ext uri="{FF2B5EF4-FFF2-40B4-BE49-F238E27FC236}">
                    <a16:creationId xmlns:a16="http://schemas.microsoft.com/office/drawing/2014/main" id="{509BE71C-C105-D60F-EFC1-62EC74F88034}"/>
                  </a:ext>
                </a:extLst>
              </p:cNvPr>
              <p:cNvCxnSpPr>
                <a:cxnSpLocks/>
              </p:cNvCxnSpPr>
              <p:nvPr/>
            </p:nvCxnSpPr>
            <p:spPr>
              <a:xfrm rot="2700000">
                <a:off x="6445936" y="364001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51" name="Straight Arrow Connector 150">
                <a:extLst>
                  <a:ext uri="{FF2B5EF4-FFF2-40B4-BE49-F238E27FC236}">
                    <a16:creationId xmlns:a16="http://schemas.microsoft.com/office/drawing/2014/main" id="{D8CC64DC-C571-4915-D2B3-03FE4DAB05FD}"/>
                  </a:ext>
                </a:extLst>
              </p:cNvPr>
              <p:cNvCxnSpPr>
                <a:cxnSpLocks/>
              </p:cNvCxnSpPr>
              <p:nvPr/>
            </p:nvCxnSpPr>
            <p:spPr>
              <a:xfrm rot="-2700000">
                <a:off x="6445935" y="2793582"/>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52" name="Straight Arrow Connector 151">
                <a:extLst>
                  <a:ext uri="{FF2B5EF4-FFF2-40B4-BE49-F238E27FC236}">
                    <a16:creationId xmlns:a16="http://schemas.microsoft.com/office/drawing/2014/main" id="{9E7AE9F2-9F59-DD17-5416-731A687F5CDE}"/>
                  </a:ext>
                </a:extLst>
              </p:cNvPr>
              <p:cNvCxnSpPr>
                <a:cxnSpLocks/>
              </p:cNvCxnSpPr>
              <p:nvPr/>
            </p:nvCxnSpPr>
            <p:spPr>
              <a:xfrm rot="8100000">
                <a:off x="5550286" y="3642388"/>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53" name="Straight Arrow Connector 152">
                <a:extLst>
                  <a:ext uri="{FF2B5EF4-FFF2-40B4-BE49-F238E27FC236}">
                    <a16:creationId xmlns:a16="http://schemas.microsoft.com/office/drawing/2014/main" id="{BAABA0A5-14B4-CB5E-AA25-86EB1A278051}"/>
                  </a:ext>
                </a:extLst>
              </p:cNvPr>
              <p:cNvCxnSpPr>
                <a:cxnSpLocks/>
              </p:cNvCxnSpPr>
              <p:nvPr/>
            </p:nvCxnSpPr>
            <p:spPr>
              <a:xfrm rot="-8100000">
                <a:off x="5570215" y="2793582"/>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grpSp>
        <p:grpSp>
          <p:nvGrpSpPr>
            <p:cNvPr id="135" name="Group 134">
              <a:extLst>
                <a:ext uri="{FF2B5EF4-FFF2-40B4-BE49-F238E27FC236}">
                  <a16:creationId xmlns:a16="http://schemas.microsoft.com/office/drawing/2014/main" id="{48199D77-D152-DDE5-236B-2CBE458EBBD7}"/>
                </a:ext>
              </a:extLst>
            </p:cNvPr>
            <p:cNvGrpSpPr/>
            <p:nvPr/>
          </p:nvGrpSpPr>
          <p:grpSpPr>
            <a:xfrm>
              <a:off x="9092574" y="3733768"/>
              <a:ext cx="2345789" cy="2377440"/>
              <a:chOff x="8816646" y="2037519"/>
              <a:chExt cx="2345789" cy="2377440"/>
            </a:xfrm>
          </p:grpSpPr>
          <p:cxnSp>
            <p:nvCxnSpPr>
              <p:cNvPr id="138" name="Straight Arrow Connector 137">
                <a:extLst>
                  <a:ext uri="{FF2B5EF4-FFF2-40B4-BE49-F238E27FC236}">
                    <a16:creationId xmlns:a16="http://schemas.microsoft.com/office/drawing/2014/main" id="{8FD38664-9C0A-74E3-9053-763B56465216}"/>
                  </a:ext>
                </a:extLst>
              </p:cNvPr>
              <p:cNvCxnSpPr/>
              <p:nvPr/>
            </p:nvCxnSpPr>
            <p:spPr>
              <a:xfrm>
                <a:off x="9973715" y="322623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39" name="Straight Arrow Connector 138">
                <a:extLst>
                  <a:ext uri="{FF2B5EF4-FFF2-40B4-BE49-F238E27FC236}">
                    <a16:creationId xmlns:a16="http://schemas.microsoft.com/office/drawing/2014/main" id="{BF4CD599-AB55-B353-07B5-A64B38B9D1FD}"/>
                  </a:ext>
                </a:extLst>
              </p:cNvPr>
              <p:cNvCxnSpPr>
                <a:cxnSpLocks/>
              </p:cNvCxnSpPr>
              <p:nvPr/>
            </p:nvCxnSpPr>
            <p:spPr>
              <a:xfrm rot="5400000">
                <a:off x="9411006" y="382059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40" name="Straight Arrow Connector 139">
                <a:extLst>
                  <a:ext uri="{FF2B5EF4-FFF2-40B4-BE49-F238E27FC236}">
                    <a16:creationId xmlns:a16="http://schemas.microsoft.com/office/drawing/2014/main" id="{84989688-AAC7-AA6F-2F73-DBC88B12ED9D}"/>
                  </a:ext>
                </a:extLst>
              </p:cNvPr>
              <p:cNvCxnSpPr>
                <a:cxnSpLocks/>
              </p:cNvCxnSpPr>
              <p:nvPr/>
            </p:nvCxnSpPr>
            <p:spPr>
              <a:xfrm rot="-5400000">
                <a:off x="9411006" y="263187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41" name="Straight Arrow Connector 140">
                <a:extLst>
                  <a:ext uri="{FF2B5EF4-FFF2-40B4-BE49-F238E27FC236}">
                    <a16:creationId xmlns:a16="http://schemas.microsoft.com/office/drawing/2014/main" id="{60EB85C7-387B-C250-1DF7-A2100D5B7633}"/>
                  </a:ext>
                </a:extLst>
              </p:cNvPr>
              <p:cNvCxnSpPr>
                <a:cxnSpLocks/>
              </p:cNvCxnSpPr>
              <p:nvPr/>
            </p:nvCxnSpPr>
            <p:spPr>
              <a:xfrm rot="10800000">
                <a:off x="8816646" y="322623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42" name="Straight Arrow Connector 141">
                <a:extLst>
                  <a:ext uri="{FF2B5EF4-FFF2-40B4-BE49-F238E27FC236}">
                    <a16:creationId xmlns:a16="http://schemas.microsoft.com/office/drawing/2014/main" id="{82E48545-7A2B-C589-5292-A9FA0D56BF3E}"/>
                  </a:ext>
                </a:extLst>
              </p:cNvPr>
              <p:cNvCxnSpPr>
                <a:cxnSpLocks/>
              </p:cNvCxnSpPr>
              <p:nvPr/>
            </p:nvCxnSpPr>
            <p:spPr>
              <a:xfrm rot="2700000">
                <a:off x="9854729" y="364826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43" name="Straight Arrow Connector 142">
                <a:extLst>
                  <a:ext uri="{FF2B5EF4-FFF2-40B4-BE49-F238E27FC236}">
                    <a16:creationId xmlns:a16="http://schemas.microsoft.com/office/drawing/2014/main" id="{53739D7C-1EA0-A8EE-2342-9C5BB1F22777}"/>
                  </a:ext>
                </a:extLst>
              </p:cNvPr>
              <p:cNvCxnSpPr>
                <a:cxnSpLocks/>
              </p:cNvCxnSpPr>
              <p:nvPr/>
            </p:nvCxnSpPr>
            <p:spPr>
              <a:xfrm rot="-2700000">
                <a:off x="9854728" y="2801836"/>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44" name="Straight Arrow Connector 143">
                <a:extLst>
                  <a:ext uri="{FF2B5EF4-FFF2-40B4-BE49-F238E27FC236}">
                    <a16:creationId xmlns:a16="http://schemas.microsoft.com/office/drawing/2014/main" id="{2DB96C1E-185A-8B8E-63A5-C7EFFD352143}"/>
                  </a:ext>
                </a:extLst>
              </p:cNvPr>
              <p:cNvCxnSpPr>
                <a:cxnSpLocks/>
              </p:cNvCxnSpPr>
              <p:nvPr/>
            </p:nvCxnSpPr>
            <p:spPr>
              <a:xfrm rot="8100000">
                <a:off x="8959079" y="3650642"/>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45" name="Straight Arrow Connector 144">
                <a:extLst>
                  <a:ext uri="{FF2B5EF4-FFF2-40B4-BE49-F238E27FC236}">
                    <a16:creationId xmlns:a16="http://schemas.microsoft.com/office/drawing/2014/main" id="{59DEB7AB-3F59-D17E-BEC6-F6A1D630C81C}"/>
                  </a:ext>
                </a:extLst>
              </p:cNvPr>
              <p:cNvCxnSpPr>
                <a:cxnSpLocks/>
              </p:cNvCxnSpPr>
              <p:nvPr/>
            </p:nvCxnSpPr>
            <p:spPr>
              <a:xfrm rot="-8100000">
                <a:off x="8979008" y="2801836"/>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grpSp>
        <p:cxnSp>
          <p:nvCxnSpPr>
            <p:cNvPr id="136" name="Straight Arrow Connector 135">
              <a:extLst>
                <a:ext uri="{FF2B5EF4-FFF2-40B4-BE49-F238E27FC236}">
                  <a16:creationId xmlns:a16="http://schemas.microsoft.com/office/drawing/2014/main" id="{639C0DC4-1D8A-B196-6E90-DACAC50AFAA8}"/>
                </a:ext>
              </a:extLst>
            </p:cNvPr>
            <p:cNvCxnSpPr>
              <a:cxnSpLocks/>
            </p:cNvCxnSpPr>
            <p:nvPr/>
          </p:nvCxnSpPr>
          <p:spPr>
            <a:xfrm flipV="1">
              <a:off x="7973449" y="4926615"/>
              <a:ext cx="551717" cy="825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37" name="Straight Arrow Connector 136">
              <a:extLst>
                <a:ext uri="{FF2B5EF4-FFF2-40B4-BE49-F238E27FC236}">
                  <a16:creationId xmlns:a16="http://schemas.microsoft.com/office/drawing/2014/main" id="{A1235D25-189A-26FC-563F-C34265D3BF96}"/>
                </a:ext>
              </a:extLst>
            </p:cNvPr>
            <p:cNvCxnSpPr>
              <a:cxnSpLocks/>
            </p:cNvCxnSpPr>
            <p:nvPr/>
          </p:nvCxnSpPr>
          <p:spPr>
            <a:xfrm flipV="1">
              <a:off x="8525166" y="4926615"/>
              <a:ext cx="551717" cy="8253"/>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54" name="Group 153">
            <a:extLst>
              <a:ext uri="{FF2B5EF4-FFF2-40B4-BE49-F238E27FC236}">
                <a16:creationId xmlns:a16="http://schemas.microsoft.com/office/drawing/2014/main" id="{3BC69324-F72E-0FB4-2730-14CEBBCCDC5F}"/>
              </a:ext>
            </a:extLst>
          </p:cNvPr>
          <p:cNvGrpSpPr/>
          <p:nvPr/>
        </p:nvGrpSpPr>
        <p:grpSpPr>
          <a:xfrm>
            <a:off x="5511863" y="1371616"/>
            <a:ext cx="5942145" cy="2377441"/>
            <a:chOff x="5496218" y="3733768"/>
            <a:chExt cx="5942145" cy="2377441"/>
          </a:xfrm>
        </p:grpSpPr>
        <p:grpSp>
          <p:nvGrpSpPr>
            <p:cNvPr id="155" name="Group 154">
              <a:extLst>
                <a:ext uri="{FF2B5EF4-FFF2-40B4-BE49-F238E27FC236}">
                  <a16:creationId xmlns:a16="http://schemas.microsoft.com/office/drawing/2014/main" id="{E854B7D2-0720-8AC8-865A-D17DDD0E19BD}"/>
                </a:ext>
              </a:extLst>
            </p:cNvPr>
            <p:cNvGrpSpPr/>
            <p:nvPr/>
          </p:nvGrpSpPr>
          <p:grpSpPr>
            <a:xfrm>
              <a:off x="5496218" y="3733769"/>
              <a:ext cx="2345789" cy="2377440"/>
              <a:chOff x="5407853" y="2029265"/>
              <a:chExt cx="2345789" cy="2377440"/>
            </a:xfrm>
          </p:grpSpPr>
          <p:cxnSp>
            <p:nvCxnSpPr>
              <p:cNvPr id="167" name="Straight Arrow Connector 166">
                <a:extLst>
                  <a:ext uri="{FF2B5EF4-FFF2-40B4-BE49-F238E27FC236}">
                    <a16:creationId xmlns:a16="http://schemas.microsoft.com/office/drawing/2014/main" id="{8CC366EB-C20B-1299-651C-4693277D95EB}"/>
                  </a:ext>
                </a:extLst>
              </p:cNvPr>
              <p:cNvCxnSpPr/>
              <p:nvPr/>
            </p:nvCxnSpPr>
            <p:spPr>
              <a:xfrm>
                <a:off x="6564922" y="321798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68" name="Straight Arrow Connector 167">
                <a:extLst>
                  <a:ext uri="{FF2B5EF4-FFF2-40B4-BE49-F238E27FC236}">
                    <a16:creationId xmlns:a16="http://schemas.microsoft.com/office/drawing/2014/main" id="{406A4A30-35CA-0AA2-EDBE-F834BC94843B}"/>
                  </a:ext>
                </a:extLst>
              </p:cNvPr>
              <p:cNvCxnSpPr>
                <a:cxnSpLocks/>
              </p:cNvCxnSpPr>
              <p:nvPr/>
            </p:nvCxnSpPr>
            <p:spPr>
              <a:xfrm rot="5400000">
                <a:off x="6002213" y="381234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69" name="Straight Arrow Connector 168">
                <a:extLst>
                  <a:ext uri="{FF2B5EF4-FFF2-40B4-BE49-F238E27FC236}">
                    <a16:creationId xmlns:a16="http://schemas.microsoft.com/office/drawing/2014/main" id="{34E0A19E-33C9-FE84-AF1C-7C3812826C9C}"/>
                  </a:ext>
                </a:extLst>
              </p:cNvPr>
              <p:cNvCxnSpPr>
                <a:cxnSpLocks/>
              </p:cNvCxnSpPr>
              <p:nvPr/>
            </p:nvCxnSpPr>
            <p:spPr>
              <a:xfrm rot="-5400000">
                <a:off x="6002213" y="262362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70" name="Straight Arrow Connector 169">
                <a:extLst>
                  <a:ext uri="{FF2B5EF4-FFF2-40B4-BE49-F238E27FC236}">
                    <a16:creationId xmlns:a16="http://schemas.microsoft.com/office/drawing/2014/main" id="{A478A5AF-3586-8279-018C-38781EFE79E1}"/>
                  </a:ext>
                </a:extLst>
              </p:cNvPr>
              <p:cNvCxnSpPr>
                <a:cxnSpLocks/>
              </p:cNvCxnSpPr>
              <p:nvPr/>
            </p:nvCxnSpPr>
            <p:spPr>
              <a:xfrm rot="10800000">
                <a:off x="5407853" y="321798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71" name="Straight Arrow Connector 170">
                <a:extLst>
                  <a:ext uri="{FF2B5EF4-FFF2-40B4-BE49-F238E27FC236}">
                    <a16:creationId xmlns:a16="http://schemas.microsoft.com/office/drawing/2014/main" id="{8267CE84-D976-3BAC-CD06-922D09601592}"/>
                  </a:ext>
                </a:extLst>
              </p:cNvPr>
              <p:cNvCxnSpPr>
                <a:cxnSpLocks/>
              </p:cNvCxnSpPr>
              <p:nvPr/>
            </p:nvCxnSpPr>
            <p:spPr>
              <a:xfrm rot="2700000">
                <a:off x="6445936" y="364001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72" name="Straight Arrow Connector 171">
                <a:extLst>
                  <a:ext uri="{FF2B5EF4-FFF2-40B4-BE49-F238E27FC236}">
                    <a16:creationId xmlns:a16="http://schemas.microsoft.com/office/drawing/2014/main" id="{E67C098A-2CAC-9989-E741-8F6F871B325B}"/>
                  </a:ext>
                </a:extLst>
              </p:cNvPr>
              <p:cNvCxnSpPr>
                <a:cxnSpLocks/>
              </p:cNvCxnSpPr>
              <p:nvPr/>
            </p:nvCxnSpPr>
            <p:spPr>
              <a:xfrm rot="-2700000">
                <a:off x="6445935" y="2793582"/>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73" name="Straight Arrow Connector 172">
                <a:extLst>
                  <a:ext uri="{FF2B5EF4-FFF2-40B4-BE49-F238E27FC236}">
                    <a16:creationId xmlns:a16="http://schemas.microsoft.com/office/drawing/2014/main" id="{A84CD06F-0224-AE68-F044-223C11AAAE50}"/>
                  </a:ext>
                </a:extLst>
              </p:cNvPr>
              <p:cNvCxnSpPr>
                <a:cxnSpLocks/>
              </p:cNvCxnSpPr>
              <p:nvPr/>
            </p:nvCxnSpPr>
            <p:spPr>
              <a:xfrm rot="8100000">
                <a:off x="5550286" y="3642388"/>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74" name="Straight Arrow Connector 173">
                <a:extLst>
                  <a:ext uri="{FF2B5EF4-FFF2-40B4-BE49-F238E27FC236}">
                    <a16:creationId xmlns:a16="http://schemas.microsoft.com/office/drawing/2014/main" id="{6A2D7818-8A4A-2849-DFE7-8F17E977A76D}"/>
                  </a:ext>
                </a:extLst>
              </p:cNvPr>
              <p:cNvCxnSpPr>
                <a:cxnSpLocks/>
              </p:cNvCxnSpPr>
              <p:nvPr/>
            </p:nvCxnSpPr>
            <p:spPr>
              <a:xfrm rot="-8100000">
                <a:off x="5570215" y="2793582"/>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grpSp>
        <p:grpSp>
          <p:nvGrpSpPr>
            <p:cNvPr id="156" name="Group 155">
              <a:extLst>
                <a:ext uri="{FF2B5EF4-FFF2-40B4-BE49-F238E27FC236}">
                  <a16:creationId xmlns:a16="http://schemas.microsoft.com/office/drawing/2014/main" id="{79941AF8-4E93-06BD-AF37-4BEA39E46BC5}"/>
                </a:ext>
              </a:extLst>
            </p:cNvPr>
            <p:cNvGrpSpPr/>
            <p:nvPr/>
          </p:nvGrpSpPr>
          <p:grpSpPr>
            <a:xfrm>
              <a:off x="9092574" y="3733768"/>
              <a:ext cx="2345789" cy="2377440"/>
              <a:chOff x="8816646" y="2037519"/>
              <a:chExt cx="2345789" cy="2377440"/>
            </a:xfrm>
          </p:grpSpPr>
          <p:cxnSp>
            <p:nvCxnSpPr>
              <p:cNvPr id="159" name="Straight Arrow Connector 158">
                <a:extLst>
                  <a:ext uri="{FF2B5EF4-FFF2-40B4-BE49-F238E27FC236}">
                    <a16:creationId xmlns:a16="http://schemas.microsoft.com/office/drawing/2014/main" id="{2078B7B8-93ED-BE48-8051-38FB0CBDBD03}"/>
                  </a:ext>
                </a:extLst>
              </p:cNvPr>
              <p:cNvCxnSpPr/>
              <p:nvPr/>
            </p:nvCxnSpPr>
            <p:spPr>
              <a:xfrm>
                <a:off x="9973715" y="322623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60" name="Straight Arrow Connector 159">
                <a:extLst>
                  <a:ext uri="{FF2B5EF4-FFF2-40B4-BE49-F238E27FC236}">
                    <a16:creationId xmlns:a16="http://schemas.microsoft.com/office/drawing/2014/main" id="{3CA03214-FF34-BC60-0E4E-97985B339F44}"/>
                  </a:ext>
                </a:extLst>
              </p:cNvPr>
              <p:cNvCxnSpPr>
                <a:cxnSpLocks/>
              </p:cNvCxnSpPr>
              <p:nvPr/>
            </p:nvCxnSpPr>
            <p:spPr>
              <a:xfrm rot="5400000">
                <a:off x="9411006" y="382059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61" name="Straight Arrow Connector 160">
                <a:extLst>
                  <a:ext uri="{FF2B5EF4-FFF2-40B4-BE49-F238E27FC236}">
                    <a16:creationId xmlns:a16="http://schemas.microsoft.com/office/drawing/2014/main" id="{9C00E2FE-AA55-022B-093D-13F03051F959}"/>
                  </a:ext>
                </a:extLst>
              </p:cNvPr>
              <p:cNvCxnSpPr>
                <a:cxnSpLocks/>
              </p:cNvCxnSpPr>
              <p:nvPr/>
            </p:nvCxnSpPr>
            <p:spPr>
              <a:xfrm rot="-5400000">
                <a:off x="9411006" y="263187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62" name="Straight Arrow Connector 161">
                <a:extLst>
                  <a:ext uri="{FF2B5EF4-FFF2-40B4-BE49-F238E27FC236}">
                    <a16:creationId xmlns:a16="http://schemas.microsoft.com/office/drawing/2014/main" id="{3F911468-9E68-4743-9B7A-28440E964DA8}"/>
                  </a:ext>
                </a:extLst>
              </p:cNvPr>
              <p:cNvCxnSpPr>
                <a:cxnSpLocks/>
              </p:cNvCxnSpPr>
              <p:nvPr/>
            </p:nvCxnSpPr>
            <p:spPr>
              <a:xfrm rot="10800000">
                <a:off x="8816646" y="322623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63" name="Straight Arrow Connector 162">
                <a:extLst>
                  <a:ext uri="{FF2B5EF4-FFF2-40B4-BE49-F238E27FC236}">
                    <a16:creationId xmlns:a16="http://schemas.microsoft.com/office/drawing/2014/main" id="{2444B756-AFCD-A179-96CD-3B592FD78194}"/>
                  </a:ext>
                </a:extLst>
              </p:cNvPr>
              <p:cNvCxnSpPr>
                <a:cxnSpLocks/>
              </p:cNvCxnSpPr>
              <p:nvPr/>
            </p:nvCxnSpPr>
            <p:spPr>
              <a:xfrm rot="2700000">
                <a:off x="9854729" y="364826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64" name="Straight Arrow Connector 163">
                <a:extLst>
                  <a:ext uri="{FF2B5EF4-FFF2-40B4-BE49-F238E27FC236}">
                    <a16:creationId xmlns:a16="http://schemas.microsoft.com/office/drawing/2014/main" id="{406C41D2-C893-4F01-2286-A7344096BCBF}"/>
                  </a:ext>
                </a:extLst>
              </p:cNvPr>
              <p:cNvCxnSpPr>
                <a:cxnSpLocks/>
              </p:cNvCxnSpPr>
              <p:nvPr/>
            </p:nvCxnSpPr>
            <p:spPr>
              <a:xfrm rot="-2700000">
                <a:off x="9854728" y="2801836"/>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65" name="Straight Arrow Connector 164">
                <a:extLst>
                  <a:ext uri="{FF2B5EF4-FFF2-40B4-BE49-F238E27FC236}">
                    <a16:creationId xmlns:a16="http://schemas.microsoft.com/office/drawing/2014/main" id="{3D1685A6-5AA0-0744-8DC0-7746815BD8D5}"/>
                  </a:ext>
                </a:extLst>
              </p:cNvPr>
              <p:cNvCxnSpPr>
                <a:cxnSpLocks/>
              </p:cNvCxnSpPr>
              <p:nvPr/>
            </p:nvCxnSpPr>
            <p:spPr>
              <a:xfrm rot="8100000">
                <a:off x="8959079" y="3650642"/>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66" name="Straight Arrow Connector 165">
                <a:extLst>
                  <a:ext uri="{FF2B5EF4-FFF2-40B4-BE49-F238E27FC236}">
                    <a16:creationId xmlns:a16="http://schemas.microsoft.com/office/drawing/2014/main" id="{86FC2C36-9895-4392-8760-51502C73B52E}"/>
                  </a:ext>
                </a:extLst>
              </p:cNvPr>
              <p:cNvCxnSpPr>
                <a:cxnSpLocks/>
              </p:cNvCxnSpPr>
              <p:nvPr/>
            </p:nvCxnSpPr>
            <p:spPr>
              <a:xfrm rot="-8100000">
                <a:off x="8979008" y="2801836"/>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grpSp>
        <p:cxnSp>
          <p:nvCxnSpPr>
            <p:cNvPr id="157" name="Straight Arrow Connector 156">
              <a:extLst>
                <a:ext uri="{FF2B5EF4-FFF2-40B4-BE49-F238E27FC236}">
                  <a16:creationId xmlns:a16="http://schemas.microsoft.com/office/drawing/2014/main" id="{15AC2838-5682-4042-83CF-20F593DF0F0F}"/>
                </a:ext>
              </a:extLst>
            </p:cNvPr>
            <p:cNvCxnSpPr>
              <a:cxnSpLocks/>
            </p:cNvCxnSpPr>
            <p:nvPr/>
          </p:nvCxnSpPr>
          <p:spPr>
            <a:xfrm flipV="1">
              <a:off x="7973449" y="4926615"/>
              <a:ext cx="551717" cy="825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58" name="Straight Arrow Connector 157">
              <a:extLst>
                <a:ext uri="{FF2B5EF4-FFF2-40B4-BE49-F238E27FC236}">
                  <a16:creationId xmlns:a16="http://schemas.microsoft.com/office/drawing/2014/main" id="{55AFF457-6EEE-0ADD-68EC-AD24743551CB}"/>
                </a:ext>
              </a:extLst>
            </p:cNvPr>
            <p:cNvCxnSpPr>
              <a:cxnSpLocks/>
            </p:cNvCxnSpPr>
            <p:nvPr/>
          </p:nvCxnSpPr>
          <p:spPr>
            <a:xfrm flipV="1">
              <a:off x="8525166" y="4926615"/>
              <a:ext cx="551717" cy="8253"/>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75" name="Group 174">
            <a:extLst>
              <a:ext uri="{FF2B5EF4-FFF2-40B4-BE49-F238E27FC236}">
                <a16:creationId xmlns:a16="http://schemas.microsoft.com/office/drawing/2014/main" id="{DDF5EF81-9AF0-870C-845C-98882A725BD5}"/>
              </a:ext>
            </a:extLst>
          </p:cNvPr>
          <p:cNvGrpSpPr/>
          <p:nvPr/>
        </p:nvGrpSpPr>
        <p:grpSpPr>
          <a:xfrm>
            <a:off x="5511863" y="4094124"/>
            <a:ext cx="5942145" cy="2377441"/>
            <a:chOff x="5496218" y="3733768"/>
            <a:chExt cx="5942145" cy="2377441"/>
          </a:xfrm>
        </p:grpSpPr>
        <p:grpSp>
          <p:nvGrpSpPr>
            <p:cNvPr id="176" name="Group 175">
              <a:extLst>
                <a:ext uri="{FF2B5EF4-FFF2-40B4-BE49-F238E27FC236}">
                  <a16:creationId xmlns:a16="http://schemas.microsoft.com/office/drawing/2014/main" id="{EF4E1D9D-7707-99FB-8410-20260708DDAF}"/>
                </a:ext>
              </a:extLst>
            </p:cNvPr>
            <p:cNvGrpSpPr/>
            <p:nvPr/>
          </p:nvGrpSpPr>
          <p:grpSpPr>
            <a:xfrm>
              <a:off x="5496218" y="3733769"/>
              <a:ext cx="2345789" cy="2377440"/>
              <a:chOff x="5407853" y="2029265"/>
              <a:chExt cx="2345789" cy="2377440"/>
            </a:xfrm>
          </p:grpSpPr>
          <p:cxnSp>
            <p:nvCxnSpPr>
              <p:cNvPr id="188" name="Straight Arrow Connector 187">
                <a:extLst>
                  <a:ext uri="{FF2B5EF4-FFF2-40B4-BE49-F238E27FC236}">
                    <a16:creationId xmlns:a16="http://schemas.microsoft.com/office/drawing/2014/main" id="{D4EB7F20-F45D-9852-52E7-AF2893E92929}"/>
                  </a:ext>
                </a:extLst>
              </p:cNvPr>
              <p:cNvCxnSpPr/>
              <p:nvPr/>
            </p:nvCxnSpPr>
            <p:spPr>
              <a:xfrm>
                <a:off x="6564922" y="321798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89" name="Straight Arrow Connector 188">
                <a:extLst>
                  <a:ext uri="{FF2B5EF4-FFF2-40B4-BE49-F238E27FC236}">
                    <a16:creationId xmlns:a16="http://schemas.microsoft.com/office/drawing/2014/main" id="{33381231-8D75-6CE5-24C8-1AC0AB0FB191}"/>
                  </a:ext>
                </a:extLst>
              </p:cNvPr>
              <p:cNvCxnSpPr>
                <a:cxnSpLocks/>
              </p:cNvCxnSpPr>
              <p:nvPr/>
            </p:nvCxnSpPr>
            <p:spPr>
              <a:xfrm rot="5400000">
                <a:off x="6002213" y="381234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90" name="Straight Arrow Connector 189">
                <a:extLst>
                  <a:ext uri="{FF2B5EF4-FFF2-40B4-BE49-F238E27FC236}">
                    <a16:creationId xmlns:a16="http://schemas.microsoft.com/office/drawing/2014/main" id="{0AF79A22-03E6-20E1-A204-7462365FA101}"/>
                  </a:ext>
                </a:extLst>
              </p:cNvPr>
              <p:cNvCxnSpPr>
                <a:cxnSpLocks/>
              </p:cNvCxnSpPr>
              <p:nvPr/>
            </p:nvCxnSpPr>
            <p:spPr>
              <a:xfrm rot="-5400000">
                <a:off x="6002213" y="262362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91" name="Straight Arrow Connector 190">
                <a:extLst>
                  <a:ext uri="{FF2B5EF4-FFF2-40B4-BE49-F238E27FC236}">
                    <a16:creationId xmlns:a16="http://schemas.microsoft.com/office/drawing/2014/main" id="{3B9C34A9-8BE7-6825-562D-09D947EC1ACD}"/>
                  </a:ext>
                </a:extLst>
              </p:cNvPr>
              <p:cNvCxnSpPr>
                <a:cxnSpLocks/>
              </p:cNvCxnSpPr>
              <p:nvPr/>
            </p:nvCxnSpPr>
            <p:spPr>
              <a:xfrm rot="10800000">
                <a:off x="5407853" y="321798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92" name="Straight Arrow Connector 191">
                <a:extLst>
                  <a:ext uri="{FF2B5EF4-FFF2-40B4-BE49-F238E27FC236}">
                    <a16:creationId xmlns:a16="http://schemas.microsoft.com/office/drawing/2014/main" id="{6491B3E0-6297-8FC9-CE99-40BA26CCEC8A}"/>
                  </a:ext>
                </a:extLst>
              </p:cNvPr>
              <p:cNvCxnSpPr>
                <a:cxnSpLocks/>
              </p:cNvCxnSpPr>
              <p:nvPr/>
            </p:nvCxnSpPr>
            <p:spPr>
              <a:xfrm rot="2700000">
                <a:off x="6445936" y="3640015"/>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93" name="Straight Arrow Connector 192">
                <a:extLst>
                  <a:ext uri="{FF2B5EF4-FFF2-40B4-BE49-F238E27FC236}">
                    <a16:creationId xmlns:a16="http://schemas.microsoft.com/office/drawing/2014/main" id="{78BD1392-D3CD-2EA1-2879-3ED828BABE2F}"/>
                  </a:ext>
                </a:extLst>
              </p:cNvPr>
              <p:cNvCxnSpPr>
                <a:cxnSpLocks/>
              </p:cNvCxnSpPr>
              <p:nvPr/>
            </p:nvCxnSpPr>
            <p:spPr>
              <a:xfrm rot="-2700000">
                <a:off x="6445935" y="2793582"/>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94" name="Straight Arrow Connector 193">
                <a:extLst>
                  <a:ext uri="{FF2B5EF4-FFF2-40B4-BE49-F238E27FC236}">
                    <a16:creationId xmlns:a16="http://schemas.microsoft.com/office/drawing/2014/main" id="{BCFC8D59-652E-F676-88B9-96D9290CDEFD}"/>
                  </a:ext>
                </a:extLst>
              </p:cNvPr>
              <p:cNvCxnSpPr>
                <a:cxnSpLocks/>
              </p:cNvCxnSpPr>
              <p:nvPr/>
            </p:nvCxnSpPr>
            <p:spPr>
              <a:xfrm rot="8100000">
                <a:off x="5550286" y="3642388"/>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95" name="Straight Arrow Connector 194">
                <a:extLst>
                  <a:ext uri="{FF2B5EF4-FFF2-40B4-BE49-F238E27FC236}">
                    <a16:creationId xmlns:a16="http://schemas.microsoft.com/office/drawing/2014/main" id="{A00D858A-E40C-C9A5-AC17-D51E0DB05B19}"/>
                  </a:ext>
                </a:extLst>
              </p:cNvPr>
              <p:cNvCxnSpPr>
                <a:cxnSpLocks/>
              </p:cNvCxnSpPr>
              <p:nvPr/>
            </p:nvCxnSpPr>
            <p:spPr>
              <a:xfrm rot="-8100000">
                <a:off x="5570215" y="2793582"/>
                <a:ext cx="1188720" cy="0"/>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grpSp>
        <p:grpSp>
          <p:nvGrpSpPr>
            <p:cNvPr id="177" name="Group 176">
              <a:extLst>
                <a:ext uri="{FF2B5EF4-FFF2-40B4-BE49-F238E27FC236}">
                  <a16:creationId xmlns:a16="http://schemas.microsoft.com/office/drawing/2014/main" id="{140279E1-E897-C9EF-9879-6B3F36B2763C}"/>
                </a:ext>
              </a:extLst>
            </p:cNvPr>
            <p:cNvGrpSpPr/>
            <p:nvPr/>
          </p:nvGrpSpPr>
          <p:grpSpPr>
            <a:xfrm>
              <a:off x="9092574" y="3733768"/>
              <a:ext cx="2345789" cy="2377440"/>
              <a:chOff x="8816646" y="2037519"/>
              <a:chExt cx="2345789" cy="2377440"/>
            </a:xfrm>
          </p:grpSpPr>
          <p:cxnSp>
            <p:nvCxnSpPr>
              <p:cNvPr id="180" name="Straight Arrow Connector 179">
                <a:extLst>
                  <a:ext uri="{FF2B5EF4-FFF2-40B4-BE49-F238E27FC236}">
                    <a16:creationId xmlns:a16="http://schemas.microsoft.com/office/drawing/2014/main" id="{033B998B-BB47-D0C9-05BB-0560B2856591}"/>
                  </a:ext>
                </a:extLst>
              </p:cNvPr>
              <p:cNvCxnSpPr/>
              <p:nvPr/>
            </p:nvCxnSpPr>
            <p:spPr>
              <a:xfrm>
                <a:off x="9973715" y="322623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81" name="Straight Arrow Connector 180">
                <a:extLst>
                  <a:ext uri="{FF2B5EF4-FFF2-40B4-BE49-F238E27FC236}">
                    <a16:creationId xmlns:a16="http://schemas.microsoft.com/office/drawing/2014/main" id="{B2E1EFE1-3942-1528-3DD5-35F36C7036AD}"/>
                  </a:ext>
                </a:extLst>
              </p:cNvPr>
              <p:cNvCxnSpPr>
                <a:cxnSpLocks/>
              </p:cNvCxnSpPr>
              <p:nvPr/>
            </p:nvCxnSpPr>
            <p:spPr>
              <a:xfrm rot="5400000">
                <a:off x="9411006" y="382059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82" name="Straight Arrow Connector 181">
                <a:extLst>
                  <a:ext uri="{FF2B5EF4-FFF2-40B4-BE49-F238E27FC236}">
                    <a16:creationId xmlns:a16="http://schemas.microsoft.com/office/drawing/2014/main" id="{AB05E383-4F79-490E-A71F-3B978D349556}"/>
                  </a:ext>
                </a:extLst>
              </p:cNvPr>
              <p:cNvCxnSpPr>
                <a:cxnSpLocks/>
              </p:cNvCxnSpPr>
              <p:nvPr/>
            </p:nvCxnSpPr>
            <p:spPr>
              <a:xfrm rot="-5400000">
                <a:off x="9411006" y="263187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83" name="Straight Arrow Connector 182">
                <a:extLst>
                  <a:ext uri="{FF2B5EF4-FFF2-40B4-BE49-F238E27FC236}">
                    <a16:creationId xmlns:a16="http://schemas.microsoft.com/office/drawing/2014/main" id="{B2104C36-07FB-A25B-C456-E75929081672}"/>
                  </a:ext>
                </a:extLst>
              </p:cNvPr>
              <p:cNvCxnSpPr>
                <a:cxnSpLocks/>
              </p:cNvCxnSpPr>
              <p:nvPr/>
            </p:nvCxnSpPr>
            <p:spPr>
              <a:xfrm rot="10800000">
                <a:off x="8816646" y="322623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84" name="Straight Arrow Connector 183">
                <a:extLst>
                  <a:ext uri="{FF2B5EF4-FFF2-40B4-BE49-F238E27FC236}">
                    <a16:creationId xmlns:a16="http://schemas.microsoft.com/office/drawing/2014/main" id="{A14977FE-61B9-5C30-417D-D17162B6D20E}"/>
                  </a:ext>
                </a:extLst>
              </p:cNvPr>
              <p:cNvCxnSpPr>
                <a:cxnSpLocks/>
              </p:cNvCxnSpPr>
              <p:nvPr/>
            </p:nvCxnSpPr>
            <p:spPr>
              <a:xfrm rot="2700000">
                <a:off x="9854729" y="3648269"/>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85" name="Straight Arrow Connector 184">
                <a:extLst>
                  <a:ext uri="{FF2B5EF4-FFF2-40B4-BE49-F238E27FC236}">
                    <a16:creationId xmlns:a16="http://schemas.microsoft.com/office/drawing/2014/main" id="{A865F0F1-50EC-0EEA-F05E-BBE215889C54}"/>
                  </a:ext>
                </a:extLst>
              </p:cNvPr>
              <p:cNvCxnSpPr>
                <a:cxnSpLocks/>
              </p:cNvCxnSpPr>
              <p:nvPr/>
            </p:nvCxnSpPr>
            <p:spPr>
              <a:xfrm rot="-2700000">
                <a:off x="9854728" y="2801836"/>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86" name="Straight Arrow Connector 185">
                <a:extLst>
                  <a:ext uri="{FF2B5EF4-FFF2-40B4-BE49-F238E27FC236}">
                    <a16:creationId xmlns:a16="http://schemas.microsoft.com/office/drawing/2014/main" id="{3D944964-0CAC-FC77-6A05-924150824ADE}"/>
                  </a:ext>
                </a:extLst>
              </p:cNvPr>
              <p:cNvCxnSpPr>
                <a:cxnSpLocks/>
              </p:cNvCxnSpPr>
              <p:nvPr/>
            </p:nvCxnSpPr>
            <p:spPr>
              <a:xfrm rot="8100000">
                <a:off x="8959079" y="3650642"/>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87" name="Straight Arrow Connector 186">
                <a:extLst>
                  <a:ext uri="{FF2B5EF4-FFF2-40B4-BE49-F238E27FC236}">
                    <a16:creationId xmlns:a16="http://schemas.microsoft.com/office/drawing/2014/main" id="{C0F1FBB3-7A89-95AC-433C-757184793F12}"/>
                  </a:ext>
                </a:extLst>
              </p:cNvPr>
              <p:cNvCxnSpPr>
                <a:cxnSpLocks/>
              </p:cNvCxnSpPr>
              <p:nvPr/>
            </p:nvCxnSpPr>
            <p:spPr>
              <a:xfrm rot="-8100000">
                <a:off x="8979008" y="2801836"/>
                <a:ext cx="1188720" cy="0"/>
              </a:xfrm>
              <a:prstGeom prst="straightConnector1">
                <a:avLst/>
              </a:prstGeom>
              <a:ln w="53975">
                <a:solidFill>
                  <a:schemeClr val="accent3">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grpSp>
        <p:cxnSp>
          <p:nvCxnSpPr>
            <p:cNvPr id="178" name="Straight Arrow Connector 177">
              <a:extLst>
                <a:ext uri="{FF2B5EF4-FFF2-40B4-BE49-F238E27FC236}">
                  <a16:creationId xmlns:a16="http://schemas.microsoft.com/office/drawing/2014/main" id="{FDB57F2B-6EE7-806D-38A9-7B9009FB0213}"/>
                </a:ext>
              </a:extLst>
            </p:cNvPr>
            <p:cNvCxnSpPr>
              <a:cxnSpLocks/>
            </p:cNvCxnSpPr>
            <p:nvPr/>
          </p:nvCxnSpPr>
          <p:spPr>
            <a:xfrm flipV="1">
              <a:off x="7973449" y="4926615"/>
              <a:ext cx="551717" cy="825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DCF04C9A-31DA-0D4A-E295-5154FCAA6ED7}"/>
                </a:ext>
              </a:extLst>
            </p:cNvPr>
            <p:cNvCxnSpPr>
              <a:cxnSpLocks/>
            </p:cNvCxnSpPr>
            <p:nvPr/>
          </p:nvCxnSpPr>
          <p:spPr>
            <a:xfrm flipV="1">
              <a:off x="8525166" y="4926615"/>
              <a:ext cx="551717" cy="8253"/>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5094415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557D9-43C3-E22A-B79E-A68E9FF41B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8EF24F-6ACA-A876-E3C0-B5CC6C6553E6}"/>
              </a:ext>
            </a:extLst>
          </p:cNvPr>
          <p:cNvSpPr>
            <a:spLocks noGrp="1"/>
          </p:cNvSpPr>
          <p:nvPr>
            <p:ph type="title"/>
          </p:nvPr>
        </p:nvSpPr>
        <p:spPr/>
        <p:txBody>
          <a:bodyPr/>
          <a:lstStyle/>
          <a:p>
            <a:r>
              <a:rPr lang="en-US" dirty="0"/>
              <a:t>Electricity</a:t>
            </a:r>
          </a:p>
        </p:txBody>
      </p:sp>
      <p:sp>
        <p:nvSpPr>
          <p:cNvPr id="3" name="Content Placeholder 2">
            <a:extLst>
              <a:ext uri="{FF2B5EF4-FFF2-40B4-BE49-F238E27FC236}">
                <a16:creationId xmlns:a16="http://schemas.microsoft.com/office/drawing/2014/main" id="{65DF7CDA-76C1-32CF-2161-E4B6B6FD41F1}"/>
              </a:ext>
            </a:extLst>
          </p:cNvPr>
          <p:cNvSpPr>
            <a:spLocks noGrp="1"/>
          </p:cNvSpPr>
          <p:nvPr>
            <p:ph idx="1"/>
          </p:nvPr>
        </p:nvSpPr>
        <p:spPr>
          <a:xfrm>
            <a:off x="394208" y="2522992"/>
            <a:ext cx="4752223" cy="4048171"/>
          </a:xfrm>
        </p:spPr>
        <p:txBody>
          <a:bodyPr/>
          <a:lstStyle/>
          <a:p>
            <a:r>
              <a:rPr lang="en-US" sz="1600" dirty="0"/>
              <a:t>Teeny tiny bit of vector addition</a:t>
            </a:r>
          </a:p>
          <a:p>
            <a:r>
              <a:rPr lang="en-US" sz="1600" dirty="0"/>
              <a:t>The components of Coulomb’s law parallel to the plates CANCEL, the components perpendicular to the plates ADD, so you get a constant electric field</a:t>
            </a:r>
          </a:p>
          <a:p>
            <a:r>
              <a:rPr lang="en-US" sz="1600" dirty="0"/>
              <a:t>Why is this important? </a:t>
            </a:r>
          </a:p>
          <a:p>
            <a:pPr lvl="1"/>
            <a:r>
              <a:rPr lang="en-US" sz="1600" dirty="0"/>
              <a:t>If you hook up a battery, this supplies a direct current electric field between the plates</a:t>
            </a:r>
          </a:p>
        </p:txBody>
      </p:sp>
      <p:sp>
        <p:nvSpPr>
          <p:cNvPr id="4" name="Slide Number Placeholder 3">
            <a:extLst>
              <a:ext uri="{FF2B5EF4-FFF2-40B4-BE49-F238E27FC236}">
                <a16:creationId xmlns:a16="http://schemas.microsoft.com/office/drawing/2014/main" id="{EFE3319C-0A5F-1091-DEE4-A5938129E1B4}"/>
              </a:ext>
            </a:extLst>
          </p:cNvPr>
          <p:cNvSpPr>
            <a:spLocks noGrp="1"/>
          </p:cNvSpPr>
          <p:nvPr>
            <p:ph type="sldNum" sz="quarter" idx="12"/>
          </p:nvPr>
        </p:nvSpPr>
        <p:spPr/>
        <p:txBody>
          <a:bodyPr/>
          <a:lstStyle/>
          <a:p>
            <a:fld id="{C5EF2332-01BF-834F-8236-50238282D533}" type="slidenum">
              <a:rPr lang="en-US" smtClean="0"/>
              <a:t>27</a:t>
            </a:fld>
            <a:endParaRPr lang="en-US"/>
          </a:p>
        </p:txBody>
      </p:sp>
      <p:cxnSp>
        <p:nvCxnSpPr>
          <p:cNvPr id="28" name="Straight Arrow Connector 27">
            <a:extLst>
              <a:ext uri="{FF2B5EF4-FFF2-40B4-BE49-F238E27FC236}">
                <a16:creationId xmlns:a16="http://schemas.microsoft.com/office/drawing/2014/main" id="{8D0FE8C8-8B62-F7A3-8A82-8B325B629690}"/>
              </a:ext>
            </a:extLst>
          </p:cNvPr>
          <p:cNvCxnSpPr>
            <a:cxnSpLocks/>
          </p:cNvCxnSpPr>
          <p:nvPr/>
        </p:nvCxnSpPr>
        <p:spPr>
          <a:xfrm flipV="1">
            <a:off x="7989094" y="3941876"/>
            <a:ext cx="551717" cy="825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4C214BF2-0F86-D1A8-1735-5FE7C88B8512}"/>
              </a:ext>
            </a:extLst>
          </p:cNvPr>
          <p:cNvCxnSpPr>
            <a:cxnSpLocks/>
          </p:cNvCxnSpPr>
          <p:nvPr/>
        </p:nvCxnSpPr>
        <p:spPr>
          <a:xfrm flipV="1">
            <a:off x="8540811" y="3941876"/>
            <a:ext cx="551717" cy="8253"/>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65ED201A-9C55-60E6-55E0-1D6763886140}"/>
              </a:ext>
            </a:extLst>
          </p:cNvPr>
          <p:cNvSpPr txBox="1"/>
          <p:nvPr/>
        </p:nvSpPr>
        <p:spPr>
          <a:xfrm>
            <a:off x="2411133" y="6220018"/>
            <a:ext cx="4880344"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US" dirty="0"/>
              <a:t>Not responsible for this, just for enrichment</a:t>
            </a:r>
          </a:p>
        </p:txBody>
      </p:sp>
      <p:cxnSp>
        <p:nvCxnSpPr>
          <p:cNvPr id="27" name="Straight Arrow Connector 26">
            <a:extLst>
              <a:ext uri="{FF2B5EF4-FFF2-40B4-BE49-F238E27FC236}">
                <a16:creationId xmlns:a16="http://schemas.microsoft.com/office/drawing/2014/main" id="{4AEF4000-B19B-22F8-8D5D-04798107CD6B}"/>
              </a:ext>
            </a:extLst>
          </p:cNvPr>
          <p:cNvCxnSpPr>
            <a:cxnSpLocks/>
          </p:cNvCxnSpPr>
          <p:nvPr/>
        </p:nvCxnSpPr>
        <p:spPr>
          <a:xfrm flipV="1">
            <a:off x="7989094" y="5739924"/>
            <a:ext cx="551717" cy="825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4C534294-E821-95F5-5173-F5A396ADD53D}"/>
              </a:ext>
            </a:extLst>
          </p:cNvPr>
          <p:cNvCxnSpPr>
            <a:cxnSpLocks/>
          </p:cNvCxnSpPr>
          <p:nvPr/>
        </p:nvCxnSpPr>
        <p:spPr>
          <a:xfrm flipV="1">
            <a:off x="8540811" y="5739924"/>
            <a:ext cx="551717" cy="8253"/>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1684E87B-8FC4-7F4B-F00B-F57F8806AD78}"/>
              </a:ext>
            </a:extLst>
          </p:cNvPr>
          <p:cNvCxnSpPr>
            <a:cxnSpLocks/>
          </p:cNvCxnSpPr>
          <p:nvPr/>
        </p:nvCxnSpPr>
        <p:spPr>
          <a:xfrm flipV="1">
            <a:off x="7989093" y="2158795"/>
            <a:ext cx="551717" cy="825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73FBB395-FC27-9CEF-7920-BC445F3F00DA}"/>
              </a:ext>
            </a:extLst>
          </p:cNvPr>
          <p:cNvCxnSpPr>
            <a:cxnSpLocks/>
          </p:cNvCxnSpPr>
          <p:nvPr/>
        </p:nvCxnSpPr>
        <p:spPr>
          <a:xfrm flipV="1">
            <a:off x="8540810" y="2158795"/>
            <a:ext cx="551717" cy="8253"/>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8" name="TextBox 67">
            <a:extLst>
              <a:ext uri="{FF2B5EF4-FFF2-40B4-BE49-F238E27FC236}">
                <a16:creationId xmlns:a16="http://schemas.microsoft.com/office/drawing/2014/main" id="{11D3F0DD-01DB-6BAC-4E80-97AE8BEA7C08}"/>
              </a:ext>
            </a:extLst>
          </p:cNvPr>
          <p:cNvSpPr txBox="1"/>
          <p:nvPr/>
        </p:nvSpPr>
        <p:spPr>
          <a:xfrm>
            <a:off x="7084660" y="314615"/>
            <a:ext cx="3180627" cy="1200329"/>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US" dirty="0"/>
              <a:t>Now just draw a line to represent the charges, and you get a PARALLEL PLATE CAPACITOR</a:t>
            </a:r>
          </a:p>
        </p:txBody>
      </p:sp>
      <p:cxnSp>
        <p:nvCxnSpPr>
          <p:cNvPr id="72" name="Straight Arrow Connector 71">
            <a:extLst>
              <a:ext uri="{FF2B5EF4-FFF2-40B4-BE49-F238E27FC236}">
                <a16:creationId xmlns:a16="http://schemas.microsoft.com/office/drawing/2014/main" id="{C43FEADE-1047-5DE0-D19D-00F72D16E94F}"/>
              </a:ext>
            </a:extLst>
          </p:cNvPr>
          <p:cNvCxnSpPr>
            <a:cxnSpLocks/>
          </p:cNvCxnSpPr>
          <p:nvPr/>
        </p:nvCxnSpPr>
        <p:spPr>
          <a:xfrm flipV="1">
            <a:off x="7945202" y="3027315"/>
            <a:ext cx="551717" cy="825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73" name="Straight Arrow Connector 72">
            <a:extLst>
              <a:ext uri="{FF2B5EF4-FFF2-40B4-BE49-F238E27FC236}">
                <a16:creationId xmlns:a16="http://schemas.microsoft.com/office/drawing/2014/main" id="{6AB84C54-040F-6854-AEA4-72A0EEC64032}"/>
              </a:ext>
            </a:extLst>
          </p:cNvPr>
          <p:cNvCxnSpPr>
            <a:cxnSpLocks/>
          </p:cNvCxnSpPr>
          <p:nvPr/>
        </p:nvCxnSpPr>
        <p:spPr>
          <a:xfrm flipV="1">
            <a:off x="8496919" y="3027315"/>
            <a:ext cx="551717" cy="8253"/>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4" name="Straight Arrow Connector 93">
            <a:extLst>
              <a:ext uri="{FF2B5EF4-FFF2-40B4-BE49-F238E27FC236}">
                <a16:creationId xmlns:a16="http://schemas.microsoft.com/office/drawing/2014/main" id="{29D61E8F-278C-305D-4B30-A2C2DD21BB58}"/>
              </a:ext>
            </a:extLst>
          </p:cNvPr>
          <p:cNvCxnSpPr>
            <a:cxnSpLocks/>
          </p:cNvCxnSpPr>
          <p:nvPr/>
        </p:nvCxnSpPr>
        <p:spPr>
          <a:xfrm flipV="1">
            <a:off x="7989093" y="4911958"/>
            <a:ext cx="551717" cy="825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95" name="Straight Arrow Connector 94">
            <a:extLst>
              <a:ext uri="{FF2B5EF4-FFF2-40B4-BE49-F238E27FC236}">
                <a16:creationId xmlns:a16="http://schemas.microsoft.com/office/drawing/2014/main" id="{66E3F70E-EBEC-10DC-6A7C-FE5BE51F7899}"/>
              </a:ext>
            </a:extLst>
          </p:cNvPr>
          <p:cNvCxnSpPr>
            <a:cxnSpLocks/>
          </p:cNvCxnSpPr>
          <p:nvPr/>
        </p:nvCxnSpPr>
        <p:spPr>
          <a:xfrm flipV="1">
            <a:off x="8540810" y="4911958"/>
            <a:ext cx="551717" cy="8253"/>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15" name="Straight Arrow Connector 114">
            <a:extLst>
              <a:ext uri="{FF2B5EF4-FFF2-40B4-BE49-F238E27FC236}">
                <a16:creationId xmlns:a16="http://schemas.microsoft.com/office/drawing/2014/main" id="{09A40D29-A654-F638-28C7-F05F1CC7E32D}"/>
              </a:ext>
            </a:extLst>
          </p:cNvPr>
          <p:cNvCxnSpPr>
            <a:cxnSpLocks/>
          </p:cNvCxnSpPr>
          <p:nvPr/>
        </p:nvCxnSpPr>
        <p:spPr>
          <a:xfrm flipV="1">
            <a:off x="7989094" y="3506359"/>
            <a:ext cx="551717" cy="825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16" name="Straight Arrow Connector 115">
            <a:extLst>
              <a:ext uri="{FF2B5EF4-FFF2-40B4-BE49-F238E27FC236}">
                <a16:creationId xmlns:a16="http://schemas.microsoft.com/office/drawing/2014/main" id="{36853E91-650B-A052-8BA1-BE41CDAB66F0}"/>
              </a:ext>
            </a:extLst>
          </p:cNvPr>
          <p:cNvCxnSpPr>
            <a:cxnSpLocks/>
          </p:cNvCxnSpPr>
          <p:nvPr/>
        </p:nvCxnSpPr>
        <p:spPr>
          <a:xfrm flipV="1">
            <a:off x="8540811" y="3506359"/>
            <a:ext cx="551717" cy="8253"/>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36" name="Straight Arrow Connector 135">
            <a:extLst>
              <a:ext uri="{FF2B5EF4-FFF2-40B4-BE49-F238E27FC236}">
                <a16:creationId xmlns:a16="http://schemas.microsoft.com/office/drawing/2014/main" id="{605E9EB2-D976-F8B9-2EAD-6767CEB1FFAD}"/>
              </a:ext>
            </a:extLst>
          </p:cNvPr>
          <p:cNvCxnSpPr>
            <a:cxnSpLocks/>
          </p:cNvCxnSpPr>
          <p:nvPr/>
        </p:nvCxnSpPr>
        <p:spPr>
          <a:xfrm flipV="1">
            <a:off x="7989094" y="4402834"/>
            <a:ext cx="551717" cy="825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37" name="Straight Arrow Connector 136">
            <a:extLst>
              <a:ext uri="{FF2B5EF4-FFF2-40B4-BE49-F238E27FC236}">
                <a16:creationId xmlns:a16="http://schemas.microsoft.com/office/drawing/2014/main" id="{8A5592B6-7DC1-E052-A7E8-EA9DD7D48258}"/>
              </a:ext>
            </a:extLst>
          </p:cNvPr>
          <p:cNvCxnSpPr>
            <a:cxnSpLocks/>
          </p:cNvCxnSpPr>
          <p:nvPr/>
        </p:nvCxnSpPr>
        <p:spPr>
          <a:xfrm flipV="1">
            <a:off x="8540811" y="4402834"/>
            <a:ext cx="551717" cy="8253"/>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57" name="Straight Arrow Connector 156">
            <a:extLst>
              <a:ext uri="{FF2B5EF4-FFF2-40B4-BE49-F238E27FC236}">
                <a16:creationId xmlns:a16="http://schemas.microsoft.com/office/drawing/2014/main" id="{6D77E505-7BE6-14C3-A9C5-A0BC82EE15E7}"/>
              </a:ext>
            </a:extLst>
          </p:cNvPr>
          <p:cNvCxnSpPr>
            <a:cxnSpLocks/>
          </p:cNvCxnSpPr>
          <p:nvPr/>
        </p:nvCxnSpPr>
        <p:spPr>
          <a:xfrm flipV="1">
            <a:off x="7989094" y="2564463"/>
            <a:ext cx="551717" cy="825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58" name="Straight Arrow Connector 157">
            <a:extLst>
              <a:ext uri="{FF2B5EF4-FFF2-40B4-BE49-F238E27FC236}">
                <a16:creationId xmlns:a16="http://schemas.microsoft.com/office/drawing/2014/main" id="{1F4E756C-EC32-0FC9-4B32-6009093BC60F}"/>
              </a:ext>
            </a:extLst>
          </p:cNvPr>
          <p:cNvCxnSpPr>
            <a:cxnSpLocks/>
          </p:cNvCxnSpPr>
          <p:nvPr/>
        </p:nvCxnSpPr>
        <p:spPr>
          <a:xfrm flipV="1">
            <a:off x="8540811" y="2564463"/>
            <a:ext cx="551717" cy="8253"/>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78" name="Straight Arrow Connector 177">
            <a:extLst>
              <a:ext uri="{FF2B5EF4-FFF2-40B4-BE49-F238E27FC236}">
                <a16:creationId xmlns:a16="http://schemas.microsoft.com/office/drawing/2014/main" id="{F0C924C1-34AD-C6B8-5D97-04306B70491C}"/>
              </a:ext>
            </a:extLst>
          </p:cNvPr>
          <p:cNvCxnSpPr>
            <a:cxnSpLocks/>
          </p:cNvCxnSpPr>
          <p:nvPr/>
        </p:nvCxnSpPr>
        <p:spPr>
          <a:xfrm flipV="1">
            <a:off x="7989094" y="5286971"/>
            <a:ext cx="551717" cy="825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13DFEF3C-8557-F253-CEB9-D667B9414149}"/>
              </a:ext>
            </a:extLst>
          </p:cNvPr>
          <p:cNvCxnSpPr>
            <a:cxnSpLocks/>
          </p:cNvCxnSpPr>
          <p:nvPr/>
        </p:nvCxnSpPr>
        <p:spPr>
          <a:xfrm flipV="1">
            <a:off x="8540811" y="5286971"/>
            <a:ext cx="551717" cy="8253"/>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96" name="Straight Arrow Connector 195">
            <a:extLst>
              <a:ext uri="{FF2B5EF4-FFF2-40B4-BE49-F238E27FC236}">
                <a16:creationId xmlns:a16="http://schemas.microsoft.com/office/drawing/2014/main" id="{2AFC7AAA-CEEE-A7CC-2CC0-E7FA00A4526D}"/>
              </a:ext>
            </a:extLst>
          </p:cNvPr>
          <p:cNvCxnSpPr>
            <a:cxnSpLocks/>
          </p:cNvCxnSpPr>
          <p:nvPr/>
        </p:nvCxnSpPr>
        <p:spPr>
          <a:xfrm>
            <a:off x="7437376" y="1967638"/>
            <a:ext cx="0" cy="4081470"/>
          </a:xfrm>
          <a:prstGeom prst="straightConnector1">
            <a:avLst/>
          </a:prstGeom>
          <a:ln w="57150">
            <a:tailEnd type="none"/>
          </a:ln>
        </p:spPr>
        <p:style>
          <a:lnRef idx="2">
            <a:schemeClr val="accent1"/>
          </a:lnRef>
          <a:fillRef idx="0">
            <a:schemeClr val="accent1"/>
          </a:fillRef>
          <a:effectRef idx="1">
            <a:schemeClr val="accent1"/>
          </a:effectRef>
          <a:fontRef idx="minor">
            <a:schemeClr val="tx1"/>
          </a:fontRef>
        </p:style>
      </p:cxnSp>
      <p:cxnSp>
        <p:nvCxnSpPr>
          <p:cNvPr id="198" name="Straight Arrow Connector 197">
            <a:extLst>
              <a:ext uri="{FF2B5EF4-FFF2-40B4-BE49-F238E27FC236}">
                <a16:creationId xmlns:a16="http://schemas.microsoft.com/office/drawing/2014/main" id="{BD5AAE38-2D08-6639-B2CB-9FBCF57935F6}"/>
              </a:ext>
            </a:extLst>
          </p:cNvPr>
          <p:cNvCxnSpPr>
            <a:cxnSpLocks/>
          </p:cNvCxnSpPr>
          <p:nvPr/>
        </p:nvCxnSpPr>
        <p:spPr>
          <a:xfrm>
            <a:off x="9570976" y="1909394"/>
            <a:ext cx="0" cy="4081470"/>
          </a:xfrm>
          <a:prstGeom prst="straightConnector1">
            <a:avLst/>
          </a:prstGeom>
          <a:ln w="57150">
            <a:solidFill>
              <a:schemeClr val="accent3">
                <a:lumMod val="75000"/>
              </a:schemeClr>
            </a:solidFill>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311288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F95F5-F2F9-1E35-D1D6-074D94BF498F}"/>
              </a:ext>
            </a:extLst>
          </p:cNvPr>
          <p:cNvSpPr>
            <a:spLocks noGrp="1"/>
          </p:cNvSpPr>
          <p:nvPr>
            <p:ph type="title"/>
          </p:nvPr>
        </p:nvSpPr>
        <p:spPr/>
        <p:txBody>
          <a:bodyPr/>
          <a:lstStyle/>
          <a:p>
            <a:r>
              <a:rPr lang="en-US" dirty="0"/>
              <a:t>Electricity</a:t>
            </a:r>
          </a:p>
        </p:txBody>
      </p:sp>
      <p:sp>
        <p:nvSpPr>
          <p:cNvPr id="3" name="Content Placeholder 2">
            <a:extLst>
              <a:ext uri="{FF2B5EF4-FFF2-40B4-BE49-F238E27FC236}">
                <a16:creationId xmlns:a16="http://schemas.microsoft.com/office/drawing/2014/main" id="{DD068DBE-1F82-02F2-63B0-D1B4EADF2B52}"/>
              </a:ext>
            </a:extLst>
          </p:cNvPr>
          <p:cNvSpPr>
            <a:spLocks noGrp="1"/>
          </p:cNvSpPr>
          <p:nvPr>
            <p:ph idx="1"/>
          </p:nvPr>
        </p:nvSpPr>
        <p:spPr>
          <a:xfrm>
            <a:off x="394208" y="2522992"/>
            <a:ext cx="6158992" cy="4048171"/>
          </a:xfrm>
        </p:spPr>
        <p:txBody>
          <a:bodyPr/>
          <a:lstStyle/>
          <a:p>
            <a:r>
              <a:rPr lang="en-US" dirty="0"/>
              <a:t>Then you can attach a WIRE between them, and electrons will be repelled from the negative side and attracted to the positive side</a:t>
            </a:r>
          </a:p>
        </p:txBody>
      </p:sp>
      <p:sp>
        <p:nvSpPr>
          <p:cNvPr id="4" name="Slide Number Placeholder 3">
            <a:extLst>
              <a:ext uri="{FF2B5EF4-FFF2-40B4-BE49-F238E27FC236}">
                <a16:creationId xmlns:a16="http://schemas.microsoft.com/office/drawing/2014/main" id="{F1675614-B2AD-99EE-DFD1-AAE88AB53041}"/>
              </a:ext>
            </a:extLst>
          </p:cNvPr>
          <p:cNvSpPr>
            <a:spLocks noGrp="1"/>
          </p:cNvSpPr>
          <p:nvPr>
            <p:ph type="sldNum" sz="quarter" idx="12"/>
          </p:nvPr>
        </p:nvSpPr>
        <p:spPr/>
        <p:txBody>
          <a:bodyPr/>
          <a:lstStyle/>
          <a:p>
            <a:fld id="{C5EF2332-01BF-834F-8236-50238282D533}" type="slidenum">
              <a:rPr lang="en-US" smtClean="0"/>
              <a:t>28</a:t>
            </a:fld>
            <a:endParaRPr lang="en-US"/>
          </a:p>
        </p:txBody>
      </p:sp>
      <p:sp>
        <p:nvSpPr>
          <p:cNvPr id="11" name="Can 10">
            <a:extLst>
              <a:ext uri="{FF2B5EF4-FFF2-40B4-BE49-F238E27FC236}">
                <a16:creationId xmlns:a16="http://schemas.microsoft.com/office/drawing/2014/main" id="{00C59839-8C97-CC56-0D3D-325E604F3941}"/>
              </a:ext>
            </a:extLst>
          </p:cNvPr>
          <p:cNvSpPr/>
          <p:nvPr/>
        </p:nvSpPr>
        <p:spPr>
          <a:xfrm rot="5400000">
            <a:off x="5870997" y="1659084"/>
            <a:ext cx="1364405" cy="6024176"/>
          </a:xfrm>
          <a:prstGeom prst="ca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03E5D3C-4E8F-5C9B-243F-87582700E7FA}"/>
              </a:ext>
            </a:extLst>
          </p:cNvPr>
          <p:cNvSpPr txBox="1"/>
          <p:nvPr/>
        </p:nvSpPr>
        <p:spPr>
          <a:xfrm>
            <a:off x="2344615" y="3906824"/>
            <a:ext cx="843501" cy="1446550"/>
          </a:xfrm>
          <a:prstGeom prst="rect">
            <a:avLst/>
          </a:prstGeom>
          <a:noFill/>
        </p:spPr>
        <p:txBody>
          <a:bodyPr wrap="none" rtlCol="0">
            <a:spAutoFit/>
          </a:bodyPr>
          <a:lstStyle/>
          <a:p>
            <a:r>
              <a:rPr lang="en-US" sz="8800" dirty="0"/>
              <a:t>+</a:t>
            </a:r>
          </a:p>
        </p:txBody>
      </p:sp>
      <p:sp>
        <p:nvSpPr>
          <p:cNvPr id="13" name="TextBox 12">
            <a:extLst>
              <a:ext uri="{FF2B5EF4-FFF2-40B4-BE49-F238E27FC236}">
                <a16:creationId xmlns:a16="http://schemas.microsoft.com/office/drawing/2014/main" id="{53667CC5-C0E2-5F62-6407-684ED6ADB75F}"/>
              </a:ext>
            </a:extLst>
          </p:cNvPr>
          <p:cNvSpPr txBox="1"/>
          <p:nvPr/>
        </p:nvSpPr>
        <p:spPr>
          <a:xfrm>
            <a:off x="10034953" y="3823802"/>
            <a:ext cx="559769" cy="1446550"/>
          </a:xfrm>
          <a:prstGeom prst="rect">
            <a:avLst/>
          </a:prstGeom>
          <a:noFill/>
        </p:spPr>
        <p:txBody>
          <a:bodyPr wrap="none" rtlCol="0">
            <a:spAutoFit/>
          </a:bodyPr>
          <a:lstStyle/>
          <a:p>
            <a:r>
              <a:rPr lang="en-US" sz="8800" dirty="0"/>
              <a:t>-</a:t>
            </a:r>
          </a:p>
        </p:txBody>
      </p:sp>
      <p:sp>
        <p:nvSpPr>
          <p:cNvPr id="14" name="Oval 13">
            <a:extLst>
              <a:ext uri="{FF2B5EF4-FFF2-40B4-BE49-F238E27FC236}">
                <a16:creationId xmlns:a16="http://schemas.microsoft.com/office/drawing/2014/main" id="{CE635BE4-2085-50C8-97FA-CE4F7D11D320}"/>
              </a:ext>
            </a:extLst>
          </p:cNvPr>
          <p:cNvSpPr/>
          <p:nvPr/>
        </p:nvSpPr>
        <p:spPr>
          <a:xfrm>
            <a:off x="3533061" y="3988969"/>
            <a:ext cx="410308" cy="1364405"/>
          </a:xfrm>
          <a:prstGeom prst="ellipse">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A518BB02-40E2-9202-EF12-87086923C5DB}"/>
              </a:ext>
            </a:extLst>
          </p:cNvPr>
          <p:cNvSpPr/>
          <p:nvPr/>
        </p:nvSpPr>
        <p:spPr>
          <a:xfrm>
            <a:off x="4465560" y="4126522"/>
            <a:ext cx="152400" cy="155448"/>
          </a:xfrm>
          <a:prstGeom prst="ellipse">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FFAC97C-B400-F78C-826E-6D7B77CBE474}"/>
              </a:ext>
            </a:extLst>
          </p:cNvPr>
          <p:cNvSpPr/>
          <p:nvPr/>
        </p:nvSpPr>
        <p:spPr>
          <a:xfrm>
            <a:off x="5312906" y="4235077"/>
            <a:ext cx="152400" cy="155448"/>
          </a:xfrm>
          <a:prstGeom prst="ellipse">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DC97A38-790E-F871-E19E-314CF5139603}"/>
              </a:ext>
            </a:extLst>
          </p:cNvPr>
          <p:cNvSpPr/>
          <p:nvPr/>
        </p:nvSpPr>
        <p:spPr>
          <a:xfrm>
            <a:off x="4634612" y="5005753"/>
            <a:ext cx="152400" cy="155448"/>
          </a:xfrm>
          <a:prstGeom prst="ellipse">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803B14A5-3E85-F787-9613-A28C25376FDF}"/>
              </a:ext>
            </a:extLst>
          </p:cNvPr>
          <p:cNvSpPr/>
          <p:nvPr/>
        </p:nvSpPr>
        <p:spPr>
          <a:xfrm>
            <a:off x="6182619" y="4850305"/>
            <a:ext cx="152400" cy="155448"/>
          </a:xfrm>
          <a:prstGeom prst="ellipse">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4F0A0F04-98A0-3A89-D54F-1676A05E6991}"/>
              </a:ext>
            </a:extLst>
          </p:cNvPr>
          <p:cNvSpPr/>
          <p:nvPr/>
        </p:nvSpPr>
        <p:spPr>
          <a:xfrm>
            <a:off x="5332415" y="4843971"/>
            <a:ext cx="152400" cy="155448"/>
          </a:xfrm>
          <a:prstGeom prst="ellipse">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442E38AD-C84F-886C-B9DC-FD2A2C83D149}"/>
              </a:ext>
            </a:extLst>
          </p:cNvPr>
          <p:cNvSpPr/>
          <p:nvPr/>
        </p:nvSpPr>
        <p:spPr>
          <a:xfrm>
            <a:off x="6321431" y="4145630"/>
            <a:ext cx="152400" cy="155448"/>
          </a:xfrm>
          <a:prstGeom prst="ellipse">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01333579-130E-266C-1054-C3917DC7E9AA}"/>
              </a:ext>
            </a:extLst>
          </p:cNvPr>
          <p:cNvSpPr/>
          <p:nvPr/>
        </p:nvSpPr>
        <p:spPr>
          <a:xfrm>
            <a:off x="5936806" y="4410737"/>
            <a:ext cx="152400" cy="155448"/>
          </a:xfrm>
          <a:prstGeom prst="ellipse">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046CCD5B-A89D-ECFC-5212-877D3AA04923}"/>
              </a:ext>
            </a:extLst>
          </p:cNvPr>
          <p:cNvSpPr/>
          <p:nvPr/>
        </p:nvSpPr>
        <p:spPr>
          <a:xfrm>
            <a:off x="6999191" y="4067906"/>
            <a:ext cx="152400" cy="155448"/>
          </a:xfrm>
          <a:prstGeom prst="ellipse">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59048733-465E-36CA-21B7-A01128E473A2}"/>
              </a:ext>
            </a:extLst>
          </p:cNvPr>
          <p:cNvSpPr/>
          <p:nvPr/>
        </p:nvSpPr>
        <p:spPr>
          <a:xfrm>
            <a:off x="6870465" y="4474651"/>
            <a:ext cx="152400" cy="155448"/>
          </a:xfrm>
          <a:prstGeom prst="ellipse">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16C0F6DD-DD1F-A9DC-D73E-470567AEF663}"/>
              </a:ext>
            </a:extLst>
          </p:cNvPr>
          <p:cNvSpPr/>
          <p:nvPr/>
        </p:nvSpPr>
        <p:spPr>
          <a:xfrm>
            <a:off x="7397518" y="4842680"/>
            <a:ext cx="152400" cy="155448"/>
          </a:xfrm>
          <a:prstGeom prst="ellipse">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5A4B2F99-31C0-FDE7-30EB-A45053515CA3}"/>
              </a:ext>
            </a:extLst>
          </p:cNvPr>
          <p:cNvSpPr/>
          <p:nvPr/>
        </p:nvSpPr>
        <p:spPr>
          <a:xfrm>
            <a:off x="7947313" y="4145630"/>
            <a:ext cx="152400" cy="155448"/>
          </a:xfrm>
          <a:prstGeom prst="ellipse">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569D7853-F31C-3CBB-0A95-8F551E4BAACE}"/>
              </a:ext>
            </a:extLst>
          </p:cNvPr>
          <p:cNvSpPr/>
          <p:nvPr/>
        </p:nvSpPr>
        <p:spPr>
          <a:xfrm>
            <a:off x="8631718" y="4930889"/>
            <a:ext cx="152400" cy="155448"/>
          </a:xfrm>
          <a:prstGeom prst="ellipse">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CD3A6FC8-96A8-C435-1871-6E325EBCA624}"/>
              </a:ext>
            </a:extLst>
          </p:cNvPr>
          <p:cNvSpPr/>
          <p:nvPr/>
        </p:nvSpPr>
        <p:spPr>
          <a:xfrm>
            <a:off x="8707918" y="4281970"/>
            <a:ext cx="152400" cy="155448"/>
          </a:xfrm>
          <a:prstGeom prst="ellipse">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AF29EAC0-D4F2-9990-A39C-DD30D5A5653F}"/>
              </a:ext>
            </a:extLst>
          </p:cNvPr>
          <p:cNvCxnSpPr>
            <a:cxnSpLocks/>
          </p:cNvCxnSpPr>
          <p:nvPr/>
        </p:nvCxnSpPr>
        <p:spPr>
          <a:xfrm>
            <a:off x="4617960" y="4204246"/>
            <a:ext cx="509679" cy="0"/>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4D32430A-3E78-85B2-5644-13C6ACBADF13}"/>
              </a:ext>
            </a:extLst>
          </p:cNvPr>
          <p:cNvCxnSpPr>
            <a:cxnSpLocks/>
          </p:cNvCxnSpPr>
          <p:nvPr/>
        </p:nvCxnSpPr>
        <p:spPr>
          <a:xfrm>
            <a:off x="5408615" y="4312801"/>
            <a:ext cx="509679" cy="0"/>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36028306-0125-DDF7-770A-C17D25C074B1}"/>
              </a:ext>
            </a:extLst>
          </p:cNvPr>
          <p:cNvCxnSpPr>
            <a:cxnSpLocks/>
          </p:cNvCxnSpPr>
          <p:nvPr/>
        </p:nvCxnSpPr>
        <p:spPr>
          <a:xfrm>
            <a:off x="4787012" y="5086524"/>
            <a:ext cx="509679" cy="0"/>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82EA7538-3CD6-5C2F-3117-941E7E422EBD}"/>
              </a:ext>
            </a:extLst>
          </p:cNvPr>
          <p:cNvCxnSpPr>
            <a:cxnSpLocks/>
          </p:cNvCxnSpPr>
          <p:nvPr/>
        </p:nvCxnSpPr>
        <p:spPr>
          <a:xfrm>
            <a:off x="5484815" y="4928029"/>
            <a:ext cx="509679" cy="0"/>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F0A53C06-7B16-1B39-8583-E1D5BA712C9B}"/>
              </a:ext>
            </a:extLst>
          </p:cNvPr>
          <p:cNvCxnSpPr>
            <a:cxnSpLocks/>
          </p:cNvCxnSpPr>
          <p:nvPr/>
        </p:nvCxnSpPr>
        <p:spPr>
          <a:xfrm>
            <a:off x="6058594" y="4493759"/>
            <a:ext cx="509679" cy="0"/>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7FCEFBCF-ADD9-E3B1-A190-BF1F177A65A2}"/>
              </a:ext>
            </a:extLst>
          </p:cNvPr>
          <p:cNvCxnSpPr>
            <a:cxnSpLocks/>
          </p:cNvCxnSpPr>
          <p:nvPr/>
        </p:nvCxnSpPr>
        <p:spPr>
          <a:xfrm>
            <a:off x="6313433" y="4928029"/>
            <a:ext cx="509679" cy="0"/>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203EF433-EA41-9BC1-89BE-27B856BC29F6}"/>
              </a:ext>
            </a:extLst>
          </p:cNvPr>
          <p:cNvCxnSpPr>
            <a:cxnSpLocks/>
          </p:cNvCxnSpPr>
          <p:nvPr/>
        </p:nvCxnSpPr>
        <p:spPr>
          <a:xfrm>
            <a:off x="6397631" y="4235077"/>
            <a:ext cx="509679" cy="0"/>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353BF826-E979-4F1C-DE61-D1835A374900}"/>
              </a:ext>
            </a:extLst>
          </p:cNvPr>
          <p:cNvCxnSpPr>
            <a:cxnSpLocks/>
          </p:cNvCxnSpPr>
          <p:nvPr/>
        </p:nvCxnSpPr>
        <p:spPr>
          <a:xfrm>
            <a:off x="7142678" y="4145630"/>
            <a:ext cx="509679" cy="0"/>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6C9C3853-54D1-B035-CCEB-0FCC4316D15D}"/>
              </a:ext>
            </a:extLst>
          </p:cNvPr>
          <p:cNvCxnSpPr>
            <a:cxnSpLocks/>
          </p:cNvCxnSpPr>
          <p:nvPr/>
        </p:nvCxnSpPr>
        <p:spPr>
          <a:xfrm>
            <a:off x="6964039" y="4531015"/>
            <a:ext cx="509679" cy="0"/>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9368DF09-ECFB-E230-99FE-1D8FA01616C5}"/>
              </a:ext>
            </a:extLst>
          </p:cNvPr>
          <p:cNvCxnSpPr>
            <a:cxnSpLocks/>
          </p:cNvCxnSpPr>
          <p:nvPr/>
        </p:nvCxnSpPr>
        <p:spPr>
          <a:xfrm>
            <a:off x="7437634" y="4920404"/>
            <a:ext cx="509679" cy="0"/>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D8BC90D3-EACE-D4C7-837C-93100E45FE86}"/>
              </a:ext>
            </a:extLst>
          </p:cNvPr>
          <p:cNvCxnSpPr>
            <a:cxnSpLocks/>
          </p:cNvCxnSpPr>
          <p:nvPr/>
        </p:nvCxnSpPr>
        <p:spPr>
          <a:xfrm>
            <a:off x="8122039" y="4230738"/>
            <a:ext cx="509679" cy="0"/>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BD2DA3EA-A431-9EE1-AAE5-D749D27E8772}"/>
              </a:ext>
            </a:extLst>
          </p:cNvPr>
          <p:cNvCxnSpPr>
            <a:cxnSpLocks/>
          </p:cNvCxnSpPr>
          <p:nvPr/>
        </p:nvCxnSpPr>
        <p:spPr>
          <a:xfrm>
            <a:off x="8860318" y="4359694"/>
            <a:ext cx="509679" cy="0"/>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96262E0B-0395-089E-8EA5-F52868D0723C}"/>
              </a:ext>
            </a:extLst>
          </p:cNvPr>
          <p:cNvCxnSpPr>
            <a:cxnSpLocks/>
          </p:cNvCxnSpPr>
          <p:nvPr/>
        </p:nvCxnSpPr>
        <p:spPr>
          <a:xfrm>
            <a:off x="8784118" y="4998128"/>
            <a:ext cx="509679" cy="0"/>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573228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315D7-4699-4F0D-D9D8-F363FE7462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2CDFD6-DC9E-DD09-BB46-BAA83D9C080C}"/>
              </a:ext>
            </a:extLst>
          </p:cNvPr>
          <p:cNvSpPr>
            <a:spLocks noGrp="1"/>
          </p:cNvSpPr>
          <p:nvPr>
            <p:ph type="title"/>
          </p:nvPr>
        </p:nvSpPr>
        <p:spPr/>
        <p:txBody>
          <a:bodyPr/>
          <a:lstStyle/>
          <a:p>
            <a:r>
              <a:rPr lang="en-US" dirty="0"/>
              <a:t>Electricity</a:t>
            </a:r>
          </a:p>
        </p:txBody>
      </p:sp>
      <p:sp>
        <p:nvSpPr>
          <p:cNvPr id="3" name="Content Placeholder 2">
            <a:extLst>
              <a:ext uri="{FF2B5EF4-FFF2-40B4-BE49-F238E27FC236}">
                <a16:creationId xmlns:a16="http://schemas.microsoft.com/office/drawing/2014/main" id="{CFB0D117-D198-FD06-D8C4-EF0792A33356}"/>
              </a:ext>
            </a:extLst>
          </p:cNvPr>
          <p:cNvSpPr>
            <a:spLocks noGrp="1"/>
          </p:cNvSpPr>
          <p:nvPr>
            <p:ph idx="1"/>
          </p:nvPr>
        </p:nvSpPr>
        <p:spPr>
          <a:xfrm>
            <a:off x="394208" y="2124128"/>
            <a:ext cx="11406229" cy="1366893"/>
          </a:xfrm>
        </p:spPr>
        <p:txBody>
          <a:bodyPr/>
          <a:lstStyle/>
          <a:p>
            <a:r>
              <a:rPr lang="en-US" dirty="0"/>
              <a:t>Unfortunately, friction exists</a:t>
            </a:r>
          </a:p>
          <a:p>
            <a:r>
              <a:rPr lang="en-US" dirty="0"/>
              <a:t>The electrons flowing through the wires bump into other electrons in the metal, so you get RESISTANCE</a:t>
            </a:r>
          </a:p>
          <a:p>
            <a:r>
              <a:rPr lang="en-US" dirty="0"/>
              <a:t>Just like all resistance, it generates heat. </a:t>
            </a:r>
          </a:p>
        </p:txBody>
      </p:sp>
      <p:sp>
        <p:nvSpPr>
          <p:cNvPr id="4" name="Slide Number Placeholder 3">
            <a:extLst>
              <a:ext uri="{FF2B5EF4-FFF2-40B4-BE49-F238E27FC236}">
                <a16:creationId xmlns:a16="http://schemas.microsoft.com/office/drawing/2014/main" id="{384F9E54-2843-4FA3-D922-1F4BB0052927}"/>
              </a:ext>
            </a:extLst>
          </p:cNvPr>
          <p:cNvSpPr>
            <a:spLocks noGrp="1"/>
          </p:cNvSpPr>
          <p:nvPr>
            <p:ph type="sldNum" sz="quarter" idx="12"/>
          </p:nvPr>
        </p:nvSpPr>
        <p:spPr/>
        <p:txBody>
          <a:bodyPr/>
          <a:lstStyle/>
          <a:p>
            <a:fld id="{C5EF2332-01BF-834F-8236-50238282D533}" type="slidenum">
              <a:rPr lang="en-US" smtClean="0"/>
              <a:t>29</a:t>
            </a:fld>
            <a:endParaRPr lang="en-US"/>
          </a:p>
        </p:txBody>
      </p:sp>
      <p:sp>
        <p:nvSpPr>
          <p:cNvPr id="11" name="Can 10">
            <a:extLst>
              <a:ext uri="{FF2B5EF4-FFF2-40B4-BE49-F238E27FC236}">
                <a16:creationId xmlns:a16="http://schemas.microsoft.com/office/drawing/2014/main" id="{6FB3E516-4540-EB5D-F40C-238E4B76CDBB}"/>
              </a:ext>
            </a:extLst>
          </p:cNvPr>
          <p:cNvSpPr/>
          <p:nvPr/>
        </p:nvSpPr>
        <p:spPr>
          <a:xfrm rot="5400000">
            <a:off x="5870997" y="1659084"/>
            <a:ext cx="1364405" cy="6024176"/>
          </a:xfrm>
          <a:prstGeom prst="ca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F796E95-BFFB-B490-02CF-DC1CF410C22E}"/>
              </a:ext>
            </a:extLst>
          </p:cNvPr>
          <p:cNvSpPr txBox="1"/>
          <p:nvPr/>
        </p:nvSpPr>
        <p:spPr>
          <a:xfrm>
            <a:off x="2344615" y="3906824"/>
            <a:ext cx="843501" cy="1446550"/>
          </a:xfrm>
          <a:prstGeom prst="rect">
            <a:avLst/>
          </a:prstGeom>
          <a:noFill/>
        </p:spPr>
        <p:txBody>
          <a:bodyPr wrap="none" rtlCol="0">
            <a:spAutoFit/>
          </a:bodyPr>
          <a:lstStyle/>
          <a:p>
            <a:r>
              <a:rPr lang="en-US" sz="8800" dirty="0"/>
              <a:t>+</a:t>
            </a:r>
          </a:p>
        </p:txBody>
      </p:sp>
      <p:sp>
        <p:nvSpPr>
          <p:cNvPr id="13" name="TextBox 12">
            <a:extLst>
              <a:ext uri="{FF2B5EF4-FFF2-40B4-BE49-F238E27FC236}">
                <a16:creationId xmlns:a16="http://schemas.microsoft.com/office/drawing/2014/main" id="{E406C73F-35B1-76CB-AC9F-F7096DA7A42F}"/>
              </a:ext>
            </a:extLst>
          </p:cNvPr>
          <p:cNvSpPr txBox="1"/>
          <p:nvPr/>
        </p:nvSpPr>
        <p:spPr>
          <a:xfrm>
            <a:off x="10034953" y="3823802"/>
            <a:ext cx="559769" cy="1446550"/>
          </a:xfrm>
          <a:prstGeom prst="rect">
            <a:avLst/>
          </a:prstGeom>
          <a:noFill/>
        </p:spPr>
        <p:txBody>
          <a:bodyPr wrap="none" rtlCol="0">
            <a:spAutoFit/>
          </a:bodyPr>
          <a:lstStyle/>
          <a:p>
            <a:r>
              <a:rPr lang="en-US" sz="8800" dirty="0"/>
              <a:t>-</a:t>
            </a:r>
          </a:p>
        </p:txBody>
      </p:sp>
      <p:sp>
        <p:nvSpPr>
          <p:cNvPr id="14" name="Oval 13">
            <a:extLst>
              <a:ext uri="{FF2B5EF4-FFF2-40B4-BE49-F238E27FC236}">
                <a16:creationId xmlns:a16="http://schemas.microsoft.com/office/drawing/2014/main" id="{BC7FA406-0A1F-2479-B27F-2BE3EB906DD9}"/>
              </a:ext>
            </a:extLst>
          </p:cNvPr>
          <p:cNvSpPr/>
          <p:nvPr/>
        </p:nvSpPr>
        <p:spPr>
          <a:xfrm>
            <a:off x="3533061" y="3988969"/>
            <a:ext cx="410308" cy="1364405"/>
          </a:xfrm>
          <a:prstGeom prst="ellipse">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2B8C8463-13C0-959A-9BFA-B0DE0EEDEEE1}"/>
              </a:ext>
            </a:extLst>
          </p:cNvPr>
          <p:cNvSpPr/>
          <p:nvPr/>
        </p:nvSpPr>
        <p:spPr>
          <a:xfrm>
            <a:off x="4465560" y="4126522"/>
            <a:ext cx="152400" cy="155448"/>
          </a:xfrm>
          <a:prstGeom prst="ellipse">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A6DE824B-B73E-ABCE-768B-A7BA926B39C6}"/>
              </a:ext>
            </a:extLst>
          </p:cNvPr>
          <p:cNvSpPr/>
          <p:nvPr/>
        </p:nvSpPr>
        <p:spPr>
          <a:xfrm>
            <a:off x="5312906" y="4235077"/>
            <a:ext cx="152400" cy="155448"/>
          </a:xfrm>
          <a:prstGeom prst="ellipse">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27490863-A082-D82A-A260-B61157ED9721}"/>
              </a:ext>
            </a:extLst>
          </p:cNvPr>
          <p:cNvSpPr/>
          <p:nvPr/>
        </p:nvSpPr>
        <p:spPr>
          <a:xfrm>
            <a:off x="4634612" y="5005753"/>
            <a:ext cx="152400" cy="155448"/>
          </a:xfrm>
          <a:prstGeom prst="ellipse">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630CF4C0-0D55-851A-8AF0-52EAFF9F0806}"/>
              </a:ext>
            </a:extLst>
          </p:cNvPr>
          <p:cNvSpPr/>
          <p:nvPr/>
        </p:nvSpPr>
        <p:spPr>
          <a:xfrm>
            <a:off x="6182619" y="4850305"/>
            <a:ext cx="152400" cy="155448"/>
          </a:xfrm>
          <a:prstGeom prst="ellipse">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ABD6634-E48C-310D-A247-2D895A61B7F3}"/>
              </a:ext>
            </a:extLst>
          </p:cNvPr>
          <p:cNvSpPr/>
          <p:nvPr/>
        </p:nvSpPr>
        <p:spPr>
          <a:xfrm>
            <a:off x="5332415" y="4843971"/>
            <a:ext cx="152400" cy="155448"/>
          </a:xfrm>
          <a:prstGeom prst="ellipse">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1839F58-2D08-811A-D951-06EA545DF89D}"/>
              </a:ext>
            </a:extLst>
          </p:cNvPr>
          <p:cNvSpPr/>
          <p:nvPr/>
        </p:nvSpPr>
        <p:spPr>
          <a:xfrm>
            <a:off x="6321431" y="4145630"/>
            <a:ext cx="152400" cy="155448"/>
          </a:xfrm>
          <a:prstGeom prst="ellipse">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93C5C0B3-E0B1-B748-C283-5DE50079C107}"/>
              </a:ext>
            </a:extLst>
          </p:cNvPr>
          <p:cNvSpPr/>
          <p:nvPr/>
        </p:nvSpPr>
        <p:spPr>
          <a:xfrm>
            <a:off x="5936806" y="4410737"/>
            <a:ext cx="152400" cy="155448"/>
          </a:xfrm>
          <a:prstGeom prst="ellipse">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EAE71F25-D5EC-80C3-3AC5-9A2AEF7B8FB1}"/>
              </a:ext>
            </a:extLst>
          </p:cNvPr>
          <p:cNvSpPr/>
          <p:nvPr/>
        </p:nvSpPr>
        <p:spPr>
          <a:xfrm>
            <a:off x="6999191" y="4067906"/>
            <a:ext cx="152400" cy="155448"/>
          </a:xfrm>
          <a:prstGeom prst="ellipse">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C5F5E75-5A39-96F8-8EDA-D5DF1F920E71}"/>
              </a:ext>
            </a:extLst>
          </p:cNvPr>
          <p:cNvSpPr/>
          <p:nvPr/>
        </p:nvSpPr>
        <p:spPr>
          <a:xfrm>
            <a:off x="6870465" y="4474651"/>
            <a:ext cx="152400" cy="155448"/>
          </a:xfrm>
          <a:prstGeom prst="ellipse">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D8F7F7D6-7349-2DA6-E313-D72F91582EFE}"/>
              </a:ext>
            </a:extLst>
          </p:cNvPr>
          <p:cNvSpPr/>
          <p:nvPr/>
        </p:nvSpPr>
        <p:spPr>
          <a:xfrm>
            <a:off x="7397518" y="4842680"/>
            <a:ext cx="152400" cy="155448"/>
          </a:xfrm>
          <a:prstGeom prst="ellipse">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AD6B495B-82E1-97C0-03CD-952A68CD5EC1}"/>
              </a:ext>
            </a:extLst>
          </p:cNvPr>
          <p:cNvSpPr/>
          <p:nvPr/>
        </p:nvSpPr>
        <p:spPr>
          <a:xfrm>
            <a:off x="7947313" y="4145630"/>
            <a:ext cx="152400" cy="155448"/>
          </a:xfrm>
          <a:prstGeom prst="ellipse">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9290E4B4-DFCF-9BB2-4C8D-9E69C7320861}"/>
              </a:ext>
            </a:extLst>
          </p:cNvPr>
          <p:cNvSpPr/>
          <p:nvPr/>
        </p:nvSpPr>
        <p:spPr>
          <a:xfrm>
            <a:off x="8631718" y="4930889"/>
            <a:ext cx="152400" cy="155448"/>
          </a:xfrm>
          <a:prstGeom prst="ellipse">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D2FFDA0C-FCBA-2CAD-68EF-84E304E550D8}"/>
              </a:ext>
            </a:extLst>
          </p:cNvPr>
          <p:cNvSpPr/>
          <p:nvPr/>
        </p:nvSpPr>
        <p:spPr>
          <a:xfrm>
            <a:off x="8707918" y="4281970"/>
            <a:ext cx="152400" cy="155448"/>
          </a:xfrm>
          <a:prstGeom prst="ellipse">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7D83E36A-E322-EE25-1FD9-8399F6228622}"/>
              </a:ext>
            </a:extLst>
          </p:cNvPr>
          <p:cNvCxnSpPr>
            <a:cxnSpLocks/>
          </p:cNvCxnSpPr>
          <p:nvPr/>
        </p:nvCxnSpPr>
        <p:spPr>
          <a:xfrm>
            <a:off x="4617960" y="4204246"/>
            <a:ext cx="519247" cy="108555"/>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BA8A5347-F2FA-5D00-291A-72498C18E404}"/>
              </a:ext>
            </a:extLst>
          </p:cNvPr>
          <p:cNvCxnSpPr>
            <a:cxnSpLocks/>
          </p:cNvCxnSpPr>
          <p:nvPr/>
        </p:nvCxnSpPr>
        <p:spPr>
          <a:xfrm flipV="1">
            <a:off x="5408615" y="4230738"/>
            <a:ext cx="557343" cy="82063"/>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A30D4B13-2D9F-A805-1565-0F26E201E411}"/>
              </a:ext>
            </a:extLst>
          </p:cNvPr>
          <p:cNvCxnSpPr>
            <a:cxnSpLocks/>
          </p:cNvCxnSpPr>
          <p:nvPr/>
        </p:nvCxnSpPr>
        <p:spPr>
          <a:xfrm flipV="1">
            <a:off x="4787012" y="5005753"/>
            <a:ext cx="525894" cy="80771"/>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7388CD28-664A-9D15-B866-380048CA3F5E}"/>
              </a:ext>
            </a:extLst>
          </p:cNvPr>
          <p:cNvCxnSpPr>
            <a:cxnSpLocks/>
          </p:cNvCxnSpPr>
          <p:nvPr/>
        </p:nvCxnSpPr>
        <p:spPr>
          <a:xfrm>
            <a:off x="5484815" y="4928029"/>
            <a:ext cx="451991" cy="158308"/>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7A26E4AC-B750-3C24-F825-659065CC8987}"/>
              </a:ext>
            </a:extLst>
          </p:cNvPr>
          <p:cNvCxnSpPr>
            <a:cxnSpLocks/>
            <a:endCxn id="60" idx="2"/>
          </p:cNvCxnSpPr>
          <p:nvPr/>
        </p:nvCxnSpPr>
        <p:spPr>
          <a:xfrm>
            <a:off x="6058594" y="4493759"/>
            <a:ext cx="382144" cy="176358"/>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1EDE2DA3-AC5E-7E84-4D76-E9E549462FD8}"/>
              </a:ext>
            </a:extLst>
          </p:cNvPr>
          <p:cNvCxnSpPr>
            <a:cxnSpLocks/>
          </p:cNvCxnSpPr>
          <p:nvPr/>
        </p:nvCxnSpPr>
        <p:spPr>
          <a:xfrm flipV="1">
            <a:off x="6313433" y="4747841"/>
            <a:ext cx="557032" cy="180188"/>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4C0FC7AF-815D-D8A5-B013-63F8BDB4A618}"/>
              </a:ext>
            </a:extLst>
          </p:cNvPr>
          <p:cNvCxnSpPr>
            <a:cxnSpLocks/>
          </p:cNvCxnSpPr>
          <p:nvPr/>
        </p:nvCxnSpPr>
        <p:spPr>
          <a:xfrm>
            <a:off x="6397631" y="4235077"/>
            <a:ext cx="509679" cy="0"/>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8CEE54D1-8B90-C86B-AD9C-3C01ADEBA42E}"/>
              </a:ext>
            </a:extLst>
          </p:cNvPr>
          <p:cNvCxnSpPr>
            <a:cxnSpLocks/>
          </p:cNvCxnSpPr>
          <p:nvPr/>
        </p:nvCxnSpPr>
        <p:spPr>
          <a:xfrm>
            <a:off x="7142678" y="4145630"/>
            <a:ext cx="407240" cy="167171"/>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1AB14811-BB31-4C4A-620E-A5D4BD6969A0}"/>
              </a:ext>
            </a:extLst>
          </p:cNvPr>
          <p:cNvCxnSpPr>
            <a:cxnSpLocks/>
            <a:endCxn id="81" idx="4"/>
          </p:cNvCxnSpPr>
          <p:nvPr/>
        </p:nvCxnSpPr>
        <p:spPr>
          <a:xfrm>
            <a:off x="6964039" y="4531015"/>
            <a:ext cx="502459" cy="216826"/>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308501BC-A20F-A93D-338E-738C5174D3EF}"/>
              </a:ext>
            </a:extLst>
          </p:cNvPr>
          <p:cNvCxnSpPr>
            <a:cxnSpLocks/>
          </p:cNvCxnSpPr>
          <p:nvPr/>
        </p:nvCxnSpPr>
        <p:spPr>
          <a:xfrm>
            <a:off x="7437634" y="4920404"/>
            <a:ext cx="611435" cy="165933"/>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F6B495AD-9FC3-AC0F-3084-537904C63A04}"/>
              </a:ext>
            </a:extLst>
          </p:cNvPr>
          <p:cNvCxnSpPr>
            <a:cxnSpLocks/>
          </p:cNvCxnSpPr>
          <p:nvPr/>
        </p:nvCxnSpPr>
        <p:spPr>
          <a:xfrm flipV="1">
            <a:off x="8122039" y="4172390"/>
            <a:ext cx="509679" cy="58348"/>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D676BE44-13C6-F7A7-FEB8-54DD69DCF3E3}"/>
              </a:ext>
            </a:extLst>
          </p:cNvPr>
          <p:cNvCxnSpPr>
            <a:cxnSpLocks/>
            <a:endCxn id="87" idx="0"/>
          </p:cNvCxnSpPr>
          <p:nvPr/>
        </p:nvCxnSpPr>
        <p:spPr>
          <a:xfrm>
            <a:off x="8860318" y="4359694"/>
            <a:ext cx="536891" cy="232699"/>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7712F91C-EA14-24AD-56DB-673D70E2A3EE}"/>
              </a:ext>
            </a:extLst>
          </p:cNvPr>
          <p:cNvCxnSpPr>
            <a:cxnSpLocks/>
            <a:endCxn id="78" idx="0"/>
          </p:cNvCxnSpPr>
          <p:nvPr/>
        </p:nvCxnSpPr>
        <p:spPr>
          <a:xfrm>
            <a:off x="8784118" y="4998128"/>
            <a:ext cx="588694" cy="181940"/>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44" name="Group 43">
            <a:extLst>
              <a:ext uri="{FF2B5EF4-FFF2-40B4-BE49-F238E27FC236}">
                <a16:creationId xmlns:a16="http://schemas.microsoft.com/office/drawing/2014/main" id="{FC01F2AF-FBB0-BD36-0530-7B2B621BCCFD}"/>
              </a:ext>
            </a:extLst>
          </p:cNvPr>
          <p:cNvGrpSpPr/>
          <p:nvPr/>
        </p:nvGrpSpPr>
        <p:grpSpPr>
          <a:xfrm>
            <a:off x="4035247" y="5180068"/>
            <a:ext cx="627180" cy="155448"/>
            <a:chOff x="4541760" y="6310876"/>
            <a:chExt cx="627180" cy="155448"/>
          </a:xfrm>
        </p:grpSpPr>
        <p:sp>
          <p:nvSpPr>
            <p:cNvPr id="6" name="Oval 5">
              <a:extLst>
                <a:ext uri="{FF2B5EF4-FFF2-40B4-BE49-F238E27FC236}">
                  <a16:creationId xmlns:a16="http://schemas.microsoft.com/office/drawing/2014/main" id="{56E809B8-D329-CC41-3DE4-7E7CB25005F3}"/>
                </a:ext>
              </a:extLst>
            </p:cNvPr>
            <p:cNvSpPr/>
            <p:nvPr/>
          </p:nvSpPr>
          <p:spPr>
            <a:xfrm>
              <a:off x="454176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A6CFC87-FAC3-8505-C489-14DC0154E934}"/>
                </a:ext>
              </a:extLst>
            </p:cNvPr>
            <p:cNvSpPr/>
            <p:nvPr/>
          </p:nvSpPr>
          <p:spPr>
            <a:xfrm>
              <a:off x="501654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 name="Group 44">
            <a:extLst>
              <a:ext uri="{FF2B5EF4-FFF2-40B4-BE49-F238E27FC236}">
                <a16:creationId xmlns:a16="http://schemas.microsoft.com/office/drawing/2014/main" id="{A708D431-DCE8-BF42-13C7-3099C761CD12}"/>
              </a:ext>
            </a:extLst>
          </p:cNvPr>
          <p:cNvGrpSpPr/>
          <p:nvPr/>
        </p:nvGrpSpPr>
        <p:grpSpPr>
          <a:xfrm>
            <a:off x="4984807" y="5180068"/>
            <a:ext cx="627180" cy="155448"/>
            <a:chOff x="4541760" y="6310876"/>
            <a:chExt cx="627180" cy="155448"/>
          </a:xfrm>
        </p:grpSpPr>
        <p:sp>
          <p:nvSpPr>
            <p:cNvPr id="46" name="Oval 45">
              <a:extLst>
                <a:ext uri="{FF2B5EF4-FFF2-40B4-BE49-F238E27FC236}">
                  <a16:creationId xmlns:a16="http://schemas.microsoft.com/office/drawing/2014/main" id="{EDC02D5D-B71B-8FEC-B77F-F6D95ACCBA65}"/>
                </a:ext>
              </a:extLst>
            </p:cNvPr>
            <p:cNvSpPr/>
            <p:nvPr/>
          </p:nvSpPr>
          <p:spPr>
            <a:xfrm>
              <a:off x="454176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9E9FF5AC-164E-2EA7-8BCD-DBA845A20EED}"/>
                </a:ext>
              </a:extLst>
            </p:cNvPr>
            <p:cNvSpPr/>
            <p:nvPr/>
          </p:nvSpPr>
          <p:spPr>
            <a:xfrm>
              <a:off x="501654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a:extLst>
              <a:ext uri="{FF2B5EF4-FFF2-40B4-BE49-F238E27FC236}">
                <a16:creationId xmlns:a16="http://schemas.microsoft.com/office/drawing/2014/main" id="{E318E44A-9345-9D13-888F-3CD0EE571261}"/>
              </a:ext>
            </a:extLst>
          </p:cNvPr>
          <p:cNvGrpSpPr/>
          <p:nvPr/>
        </p:nvGrpSpPr>
        <p:grpSpPr>
          <a:xfrm>
            <a:off x="5941561" y="5180068"/>
            <a:ext cx="627180" cy="155448"/>
            <a:chOff x="4541760" y="6310876"/>
            <a:chExt cx="627180" cy="155448"/>
          </a:xfrm>
        </p:grpSpPr>
        <p:sp>
          <p:nvSpPr>
            <p:cNvPr id="49" name="Oval 48">
              <a:extLst>
                <a:ext uri="{FF2B5EF4-FFF2-40B4-BE49-F238E27FC236}">
                  <a16:creationId xmlns:a16="http://schemas.microsoft.com/office/drawing/2014/main" id="{E1BD3D5F-5F33-2511-DCBD-8F49619EBE0A}"/>
                </a:ext>
              </a:extLst>
            </p:cNvPr>
            <p:cNvSpPr/>
            <p:nvPr/>
          </p:nvSpPr>
          <p:spPr>
            <a:xfrm>
              <a:off x="454176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BAC10B89-BD55-2164-084E-22B7EA2A8A4D}"/>
                </a:ext>
              </a:extLst>
            </p:cNvPr>
            <p:cNvSpPr/>
            <p:nvPr/>
          </p:nvSpPr>
          <p:spPr>
            <a:xfrm>
              <a:off x="501654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 name="Group 51">
            <a:extLst>
              <a:ext uri="{FF2B5EF4-FFF2-40B4-BE49-F238E27FC236}">
                <a16:creationId xmlns:a16="http://schemas.microsoft.com/office/drawing/2014/main" id="{0DCCE94A-AF9B-8A42-8D72-EA874DAC5AD9}"/>
              </a:ext>
            </a:extLst>
          </p:cNvPr>
          <p:cNvGrpSpPr/>
          <p:nvPr/>
        </p:nvGrpSpPr>
        <p:grpSpPr>
          <a:xfrm>
            <a:off x="4035247" y="4592393"/>
            <a:ext cx="627180" cy="155448"/>
            <a:chOff x="4541760" y="6310876"/>
            <a:chExt cx="627180" cy="155448"/>
          </a:xfrm>
        </p:grpSpPr>
        <p:sp>
          <p:nvSpPr>
            <p:cNvPr id="53" name="Oval 52">
              <a:extLst>
                <a:ext uri="{FF2B5EF4-FFF2-40B4-BE49-F238E27FC236}">
                  <a16:creationId xmlns:a16="http://schemas.microsoft.com/office/drawing/2014/main" id="{B88DFAAD-98B6-76B1-3D64-A62ABEA75B08}"/>
                </a:ext>
              </a:extLst>
            </p:cNvPr>
            <p:cNvSpPr/>
            <p:nvPr/>
          </p:nvSpPr>
          <p:spPr>
            <a:xfrm>
              <a:off x="454176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DC1F6838-913F-BDF9-1488-EA168AC0B38F}"/>
                </a:ext>
              </a:extLst>
            </p:cNvPr>
            <p:cNvSpPr/>
            <p:nvPr/>
          </p:nvSpPr>
          <p:spPr>
            <a:xfrm>
              <a:off x="501654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5" name="Group 54">
            <a:extLst>
              <a:ext uri="{FF2B5EF4-FFF2-40B4-BE49-F238E27FC236}">
                <a16:creationId xmlns:a16="http://schemas.microsoft.com/office/drawing/2014/main" id="{90976B11-94C3-6A41-DCAB-49B98ABBDE25}"/>
              </a:ext>
            </a:extLst>
          </p:cNvPr>
          <p:cNvGrpSpPr/>
          <p:nvPr/>
        </p:nvGrpSpPr>
        <p:grpSpPr>
          <a:xfrm>
            <a:off x="5016398" y="4599275"/>
            <a:ext cx="627180" cy="155448"/>
            <a:chOff x="4541760" y="6310876"/>
            <a:chExt cx="627180" cy="155448"/>
          </a:xfrm>
        </p:grpSpPr>
        <p:sp>
          <p:nvSpPr>
            <p:cNvPr id="56" name="Oval 55">
              <a:extLst>
                <a:ext uri="{FF2B5EF4-FFF2-40B4-BE49-F238E27FC236}">
                  <a16:creationId xmlns:a16="http://schemas.microsoft.com/office/drawing/2014/main" id="{97456324-9441-5CE5-FF23-41065300E136}"/>
                </a:ext>
              </a:extLst>
            </p:cNvPr>
            <p:cNvSpPr/>
            <p:nvPr/>
          </p:nvSpPr>
          <p:spPr>
            <a:xfrm>
              <a:off x="454176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7A75EE29-7AE2-6433-B1A1-DBE84C91B0B5}"/>
                </a:ext>
              </a:extLst>
            </p:cNvPr>
            <p:cNvSpPr/>
            <p:nvPr/>
          </p:nvSpPr>
          <p:spPr>
            <a:xfrm>
              <a:off x="501654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8" name="Group 57">
            <a:extLst>
              <a:ext uri="{FF2B5EF4-FFF2-40B4-BE49-F238E27FC236}">
                <a16:creationId xmlns:a16="http://schemas.microsoft.com/office/drawing/2014/main" id="{7813BB8B-477C-32EB-26CC-2AF529AC80AE}"/>
              </a:ext>
            </a:extLst>
          </p:cNvPr>
          <p:cNvGrpSpPr/>
          <p:nvPr/>
        </p:nvGrpSpPr>
        <p:grpSpPr>
          <a:xfrm>
            <a:off x="5965958" y="4592393"/>
            <a:ext cx="627180" cy="155448"/>
            <a:chOff x="4541760" y="6310876"/>
            <a:chExt cx="627180" cy="155448"/>
          </a:xfrm>
        </p:grpSpPr>
        <p:sp>
          <p:nvSpPr>
            <p:cNvPr id="59" name="Oval 58">
              <a:extLst>
                <a:ext uri="{FF2B5EF4-FFF2-40B4-BE49-F238E27FC236}">
                  <a16:creationId xmlns:a16="http://schemas.microsoft.com/office/drawing/2014/main" id="{F089FDD0-111B-7D2F-C518-E7AD23B3709A}"/>
                </a:ext>
              </a:extLst>
            </p:cNvPr>
            <p:cNvSpPr/>
            <p:nvPr/>
          </p:nvSpPr>
          <p:spPr>
            <a:xfrm>
              <a:off x="454176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EF04905F-6609-055F-7657-4884111E7029}"/>
                </a:ext>
              </a:extLst>
            </p:cNvPr>
            <p:cNvSpPr/>
            <p:nvPr/>
          </p:nvSpPr>
          <p:spPr>
            <a:xfrm>
              <a:off x="501654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 name="Group 69">
            <a:extLst>
              <a:ext uri="{FF2B5EF4-FFF2-40B4-BE49-F238E27FC236}">
                <a16:creationId xmlns:a16="http://schemas.microsoft.com/office/drawing/2014/main" id="{910B0656-1014-4715-0F4F-37A7DCE2A587}"/>
              </a:ext>
            </a:extLst>
          </p:cNvPr>
          <p:cNvGrpSpPr/>
          <p:nvPr/>
        </p:nvGrpSpPr>
        <p:grpSpPr>
          <a:xfrm>
            <a:off x="6915518" y="5180068"/>
            <a:ext cx="627180" cy="155448"/>
            <a:chOff x="4541760" y="6310876"/>
            <a:chExt cx="627180" cy="155448"/>
          </a:xfrm>
        </p:grpSpPr>
        <p:sp>
          <p:nvSpPr>
            <p:cNvPr id="71" name="Oval 70">
              <a:extLst>
                <a:ext uri="{FF2B5EF4-FFF2-40B4-BE49-F238E27FC236}">
                  <a16:creationId xmlns:a16="http://schemas.microsoft.com/office/drawing/2014/main" id="{D3F976E1-3998-376D-C5FB-79EB3B893273}"/>
                </a:ext>
              </a:extLst>
            </p:cNvPr>
            <p:cNvSpPr/>
            <p:nvPr/>
          </p:nvSpPr>
          <p:spPr>
            <a:xfrm>
              <a:off x="454176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4C01F1A1-57C0-90EE-1D6F-90F41DBF803C}"/>
                </a:ext>
              </a:extLst>
            </p:cNvPr>
            <p:cNvSpPr/>
            <p:nvPr/>
          </p:nvSpPr>
          <p:spPr>
            <a:xfrm>
              <a:off x="501654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72">
            <a:extLst>
              <a:ext uri="{FF2B5EF4-FFF2-40B4-BE49-F238E27FC236}">
                <a16:creationId xmlns:a16="http://schemas.microsoft.com/office/drawing/2014/main" id="{C7D07DAF-E2F0-968C-C4AC-BDC8CF6C0AD3}"/>
              </a:ext>
            </a:extLst>
          </p:cNvPr>
          <p:cNvGrpSpPr/>
          <p:nvPr/>
        </p:nvGrpSpPr>
        <p:grpSpPr>
          <a:xfrm>
            <a:off x="7865078" y="5180068"/>
            <a:ext cx="627180" cy="155448"/>
            <a:chOff x="4541760" y="6310876"/>
            <a:chExt cx="627180" cy="155448"/>
          </a:xfrm>
        </p:grpSpPr>
        <p:sp>
          <p:nvSpPr>
            <p:cNvPr id="74" name="Oval 73">
              <a:extLst>
                <a:ext uri="{FF2B5EF4-FFF2-40B4-BE49-F238E27FC236}">
                  <a16:creationId xmlns:a16="http://schemas.microsoft.com/office/drawing/2014/main" id="{86E09BE3-5857-F60A-0BF6-F08CAC6CB372}"/>
                </a:ext>
              </a:extLst>
            </p:cNvPr>
            <p:cNvSpPr/>
            <p:nvPr/>
          </p:nvSpPr>
          <p:spPr>
            <a:xfrm>
              <a:off x="454176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10B31258-C184-BDAE-296E-0E4FE041DD64}"/>
                </a:ext>
              </a:extLst>
            </p:cNvPr>
            <p:cNvSpPr/>
            <p:nvPr/>
          </p:nvSpPr>
          <p:spPr>
            <a:xfrm>
              <a:off x="501654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75">
            <a:extLst>
              <a:ext uri="{FF2B5EF4-FFF2-40B4-BE49-F238E27FC236}">
                <a16:creationId xmlns:a16="http://schemas.microsoft.com/office/drawing/2014/main" id="{E662E045-BF2B-0D12-98E5-10D11BD0E8DC}"/>
              </a:ext>
            </a:extLst>
          </p:cNvPr>
          <p:cNvGrpSpPr/>
          <p:nvPr/>
        </p:nvGrpSpPr>
        <p:grpSpPr>
          <a:xfrm>
            <a:off x="8821832" y="5180068"/>
            <a:ext cx="627180" cy="155448"/>
            <a:chOff x="4541760" y="6310876"/>
            <a:chExt cx="627180" cy="155448"/>
          </a:xfrm>
        </p:grpSpPr>
        <p:sp>
          <p:nvSpPr>
            <p:cNvPr id="77" name="Oval 76">
              <a:extLst>
                <a:ext uri="{FF2B5EF4-FFF2-40B4-BE49-F238E27FC236}">
                  <a16:creationId xmlns:a16="http://schemas.microsoft.com/office/drawing/2014/main" id="{E98B04CC-E8DB-F668-489B-E49F4582B875}"/>
                </a:ext>
              </a:extLst>
            </p:cNvPr>
            <p:cNvSpPr/>
            <p:nvPr/>
          </p:nvSpPr>
          <p:spPr>
            <a:xfrm>
              <a:off x="454176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93CCC33E-045C-14FA-669D-2529D3102A4C}"/>
                </a:ext>
              </a:extLst>
            </p:cNvPr>
            <p:cNvSpPr/>
            <p:nvPr/>
          </p:nvSpPr>
          <p:spPr>
            <a:xfrm>
              <a:off x="501654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9" name="Group 78">
            <a:extLst>
              <a:ext uri="{FF2B5EF4-FFF2-40B4-BE49-F238E27FC236}">
                <a16:creationId xmlns:a16="http://schemas.microsoft.com/office/drawing/2014/main" id="{A6B55C54-1AF4-2D20-7782-66F6A8AE775E}"/>
              </a:ext>
            </a:extLst>
          </p:cNvPr>
          <p:cNvGrpSpPr/>
          <p:nvPr/>
        </p:nvGrpSpPr>
        <p:grpSpPr>
          <a:xfrm>
            <a:off x="6915518" y="4592393"/>
            <a:ext cx="627180" cy="155448"/>
            <a:chOff x="4541760" y="6310876"/>
            <a:chExt cx="627180" cy="155448"/>
          </a:xfrm>
        </p:grpSpPr>
        <p:sp>
          <p:nvSpPr>
            <p:cNvPr id="80" name="Oval 79">
              <a:extLst>
                <a:ext uri="{FF2B5EF4-FFF2-40B4-BE49-F238E27FC236}">
                  <a16:creationId xmlns:a16="http://schemas.microsoft.com/office/drawing/2014/main" id="{3EFB2ED2-B521-14E7-536E-9E5345A505BD}"/>
                </a:ext>
              </a:extLst>
            </p:cNvPr>
            <p:cNvSpPr/>
            <p:nvPr/>
          </p:nvSpPr>
          <p:spPr>
            <a:xfrm>
              <a:off x="454176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E83C19A5-90B5-245B-315E-53CF2E2866B7}"/>
                </a:ext>
              </a:extLst>
            </p:cNvPr>
            <p:cNvSpPr/>
            <p:nvPr/>
          </p:nvSpPr>
          <p:spPr>
            <a:xfrm>
              <a:off x="501654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2" name="Group 81">
            <a:extLst>
              <a:ext uri="{FF2B5EF4-FFF2-40B4-BE49-F238E27FC236}">
                <a16:creationId xmlns:a16="http://schemas.microsoft.com/office/drawing/2014/main" id="{DB2AB6D1-F276-66C1-67FC-052FEAC23EE2}"/>
              </a:ext>
            </a:extLst>
          </p:cNvPr>
          <p:cNvGrpSpPr/>
          <p:nvPr/>
        </p:nvGrpSpPr>
        <p:grpSpPr>
          <a:xfrm>
            <a:off x="7896669" y="4599275"/>
            <a:ext cx="627180" cy="155448"/>
            <a:chOff x="4541760" y="6310876"/>
            <a:chExt cx="627180" cy="155448"/>
          </a:xfrm>
        </p:grpSpPr>
        <p:sp>
          <p:nvSpPr>
            <p:cNvPr id="83" name="Oval 82">
              <a:extLst>
                <a:ext uri="{FF2B5EF4-FFF2-40B4-BE49-F238E27FC236}">
                  <a16:creationId xmlns:a16="http://schemas.microsoft.com/office/drawing/2014/main" id="{0958D94C-620B-3F71-60FB-6BA38D9CCE86}"/>
                </a:ext>
              </a:extLst>
            </p:cNvPr>
            <p:cNvSpPr/>
            <p:nvPr/>
          </p:nvSpPr>
          <p:spPr>
            <a:xfrm>
              <a:off x="454176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DCCA96B5-7306-6B84-114D-200D60669B41}"/>
                </a:ext>
              </a:extLst>
            </p:cNvPr>
            <p:cNvSpPr/>
            <p:nvPr/>
          </p:nvSpPr>
          <p:spPr>
            <a:xfrm>
              <a:off x="501654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5" name="Group 84">
            <a:extLst>
              <a:ext uri="{FF2B5EF4-FFF2-40B4-BE49-F238E27FC236}">
                <a16:creationId xmlns:a16="http://schemas.microsoft.com/office/drawing/2014/main" id="{71E9D7E9-1EC0-40A4-5629-DB2258A410B9}"/>
              </a:ext>
            </a:extLst>
          </p:cNvPr>
          <p:cNvGrpSpPr/>
          <p:nvPr/>
        </p:nvGrpSpPr>
        <p:grpSpPr>
          <a:xfrm>
            <a:off x="8846229" y="4592393"/>
            <a:ext cx="627180" cy="155448"/>
            <a:chOff x="4541760" y="6310876"/>
            <a:chExt cx="627180" cy="155448"/>
          </a:xfrm>
        </p:grpSpPr>
        <p:sp>
          <p:nvSpPr>
            <p:cNvPr id="86" name="Oval 85">
              <a:extLst>
                <a:ext uri="{FF2B5EF4-FFF2-40B4-BE49-F238E27FC236}">
                  <a16:creationId xmlns:a16="http://schemas.microsoft.com/office/drawing/2014/main" id="{DC4A2F4B-B125-8C61-1680-7A43F6B8F090}"/>
                </a:ext>
              </a:extLst>
            </p:cNvPr>
            <p:cNvSpPr/>
            <p:nvPr/>
          </p:nvSpPr>
          <p:spPr>
            <a:xfrm>
              <a:off x="454176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090623FF-2AFA-8681-72EA-139E48A5B9F8}"/>
                </a:ext>
              </a:extLst>
            </p:cNvPr>
            <p:cNvSpPr/>
            <p:nvPr/>
          </p:nvSpPr>
          <p:spPr>
            <a:xfrm>
              <a:off x="501654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9" name="Group 88">
            <a:extLst>
              <a:ext uri="{FF2B5EF4-FFF2-40B4-BE49-F238E27FC236}">
                <a16:creationId xmlns:a16="http://schemas.microsoft.com/office/drawing/2014/main" id="{4A0CA555-0F86-8092-595B-5C6FD0F6B9F0}"/>
              </a:ext>
            </a:extLst>
          </p:cNvPr>
          <p:cNvGrpSpPr/>
          <p:nvPr/>
        </p:nvGrpSpPr>
        <p:grpSpPr>
          <a:xfrm>
            <a:off x="4035247" y="4016942"/>
            <a:ext cx="627180" cy="155448"/>
            <a:chOff x="4541760" y="6310876"/>
            <a:chExt cx="627180" cy="155448"/>
          </a:xfrm>
        </p:grpSpPr>
        <p:sp>
          <p:nvSpPr>
            <p:cNvPr id="90" name="Oval 89">
              <a:extLst>
                <a:ext uri="{FF2B5EF4-FFF2-40B4-BE49-F238E27FC236}">
                  <a16:creationId xmlns:a16="http://schemas.microsoft.com/office/drawing/2014/main" id="{0BA8D184-18E0-A851-DD62-DEACED48B8EC}"/>
                </a:ext>
              </a:extLst>
            </p:cNvPr>
            <p:cNvSpPr/>
            <p:nvPr/>
          </p:nvSpPr>
          <p:spPr>
            <a:xfrm>
              <a:off x="454176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4A417D0B-DC8E-05C2-BDA5-2A61F957D15D}"/>
                </a:ext>
              </a:extLst>
            </p:cNvPr>
            <p:cNvSpPr/>
            <p:nvPr/>
          </p:nvSpPr>
          <p:spPr>
            <a:xfrm>
              <a:off x="501654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2" name="Group 91">
            <a:extLst>
              <a:ext uri="{FF2B5EF4-FFF2-40B4-BE49-F238E27FC236}">
                <a16:creationId xmlns:a16="http://schemas.microsoft.com/office/drawing/2014/main" id="{FE2CC5A3-8603-7FDA-5CD1-889B9EA72EB5}"/>
              </a:ext>
            </a:extLst>
          </p:cNvPr>
          <p:cNvGrpSpPr/>
          <p:nvPr/>
        </p:nvGrpSpPr>
        <p:grpSpPr>
          <a:xfrm>
            <a:off x="5016398" y="4023824"/>
            <a:ext cx="627180" cy="155448"/>
            <a:chOff x="4541760" y="6310876"/>
            <a:chExt cx="627180" cy="155448"/>
          </a:xfrm>
        </p:grpSpPr>
        <p:sp>
          <p:nvSpPr>
            <p:cNvPr id="93" name="Oval 92">
              <a:extLst>
                <a:ext uri="{FF2B5EF4-FFF2-40B4-BE49-F238E27FC236}">
                  <a16:creationId xmlns:a16="http://schemas.microsoft.com/office/drawing/2014/main" id="{F3E93CAE-4C3D-E3C1-DF3A-DE6BB7D2D4B5}"/>
                </a:ext>
              </a:extLst>
            </p:cNvPr>
            <p:cNvSpPr/>
            <p:nvPr/>
          </p:nvSpPr>
          <p:spPr>
            <a:xfrm>
              <a:off x="454176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FDB11111-684F-EFDA-BA8F-2EC410996250}"/>
                </a:ext>
              </a:extLst>
            </p:cNvPr>
            <p:cNvSpPr/>
            <p:nvPr/>
          </p:nvSpPr>
          <p:spPr>
            <a:xfrm>
              <a:off x="501654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5" name="Group 94">
            <a:extLst>
              <a:ext uri="{FF2B5EF4-FFF2-40B4-BE49-F238E27FC236}">
                <a16:creationId xmlns:a16="http://schemas.microsoft.com/office/drawing/2014/main" id="{74D64569-E73A-AA66-D627-3A565475FB75}"/>
              </a:ext>
            </a:extLst>
          </p:cNvPr>
          <p:cNvGrpSpPr/>
          <p:nvPr/>
        </p:nvGrpSpPr>
        <p:grpSpPr>
          <a:xfrm>
            <a:off x="5965958" y="4016942"/>
            <a:ext cx="627180" cy="155448"/>
            <a:chOff x="4541760" y="6310876"/>
            <a:chExt cx="627180" cy="155448"/>
          </a:xfrm>
        </p:grpSpPr>
        <p:sp>
          <p:nvSpPr>
            <p:cNvPr id="96" name="Oval 95">
              <a:extLst>
                <a:ext uri="{FF2B5EF4-FFF2-40B4-BE49-F238E27FC236}">
                  <a16:creationId xmlns:a16="http://schemas.microsoft.com/office/drawing/2014/main" id="{19A30344-9EEF-A286-69D5-E17CAA735019}"/>
                </a:ext>
              </a:extLst>
            </p:cNvPr>
            <p:cNvSpPr/>
            <p:nvPr/>
          </p:nvSpPr>
          <p:spPr>
            <a:xfrm>
              <a:off x="454176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8FA9342E-970F-CECA-F0E0-5FFC4D16B9BC}"/>
                </a:ext>
              </a:extLst>
            </p:cNvPr>
            <p:cNvSpPr/>
            <p:nvPr/>
          </p:nvSpPr>
          <p:spPr>
            <a:xfrm>
              <a:off x="501654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8" name="Group 97">
            <a:extLst>
              <a:ext uri="{FF2B5EF4-FFF2-40B4-BE49-F238E27FC236}">
                <a16:creationId xmlns:a16="http://schemas.microsoft.com/office/drawing/2014/main" id="{DE23DB29-2BA0-BE03-408E-EB6645DF6470}"/>
              </a:ext>
            </a:extLst>
          </p:cNvPr>
          <p:cNvGrpSpPr/>
          <p:nvPr/>
        </p:nvGrpSpPr>
        <p:grpSpPr>
          <a:xfrm>
            <a:off x="6915518" y="4016942"/>
            <a:ext cx="627180" cy="155448"/>
            <a:chOff x="4541760" y="6310876"/>
            <a:chExt cx="627180" cy="155448"/>
          </a:xfrm>
        </p:grpSpPr>
        <p:sp>
          <p:nvSpPr>
            <p:cNvPr id="99" name="Oval 98">
              <a:extLst>
                <a:ext uri="{FF2B5EF4-FFF2-40B4-BE49-F238E27FC236}">
                  <a16:creationId xmlns:a16="http://schemas.microsoft.com/office/drawing/2014/main" id="{F8F89540-B649-FB1E-D497-661F89ED81C3}"/>
                </a:ext>
              </a:extLst>
            </p:cNvPr>
            <p:cNvSpPr/>
            <p:nvPr/>
          </p:nvSpPr>
          <p:spPr>
            <a:xfrm>
              <a:off x="454176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E8F77997-2C3D-71AF-B746-7EFF05776E39}"/>
                </a:ext>
              </a:extLst>
            </p:cNvPr>
            <p:cNvSpPr/>
            <p:nvPr/>
          </p:nvSpPr>
          <p:spPr>
            <a:xfrm>
              <a:off x="501654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1" name="Group 100">
            <a:extLst>
              <a:ext uri="{FF2B5EF4-FFF2-40B4-BE49-F238E27FC236}">
                <a16:creationId xmlns:a16="http://schemas.microsoft.com/office/drawing/2014/main" id="{9FEDCF2F-249D-C670-FB98-8F280D7698F1}"/>
              </a:ext>
            </a:extLst>
          </p:cNvPr>
          <p:cNvGrpSpPr/>
          <p:nvPr/>
        </p:nvGrpSpPr>
        <p:grpSpPr>
          <a:xfrm>
            <a:off x="7896669" y="4023824"/>
            <a:ext cx="627180" cy="155448"/>
            <a:chOff x="4541760" y="6310876"/>
            <a:chExt cx="627180" cy="155448"/>
          </a:xfrm>
        </p:grpSpPr>
        <p:sp>
          <p:nvSpPr>
            <p:cNvPr id="102" name="Oval 101">
              <a:extLst>
                <a:ext uri="{FF2B5EF4-FFF2-40B4-BE49-F238E27FC236}">
                  <a16:creationId xmlns:a16="http://schemas.microsoft.com/office/drawing/2014/main" id="{90AC7086-DB50-37F3-7342-84503B287584}"/>
                </a:ext>
              </a:extLst>
            </p:cNvPr>
            <p:cNvSpPr/>
            <p:nvPr/>
          </p:nvSpPr>
          <p:spPr>
            <a:xfrm>
              <a:off x="454176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a:extLst>
                <a:ext uri="{FF2B5EF4-FFF2-40B4-BE49-F238E27FC236}">
                  <a16:creationId xmlns:a16="http://schemas.microsoft.com/office/drawing/2014/main" id="{4A70A794-F1F7-C263-531C-41797C4BAA1F}"/>
                </a:ext>
              </a:extLst>
            </p:cNvPr>
            <p:cNvSpPr/>
            <p:nvPr/>
          </p:nvSpPr>
          <p:spPr>
            <a:xfrm>
              <a:off x="501654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4" name="Group 103">
            <a:extLst>
              <a:ext uri="{FF2B5EF4-FFF2-40B4-BE49-F238E27FC236}">
                <a16:creationId xmlns:a16="http://schemas.microsoft.com/office/drawing/2014/main" id="{2DC93C80-405B-727A-A6E6-7D8DDEEDAF32}"/>
              </a:ext>
            </a:extLst>
          </p:cNvPr>
          <p:cNvGrpSpPr/>
          <p:nvPr/>
        </p:nvGrpSpPr>
        <p:grpSpPr>
          <a:xfrm>
            <a:off x="8846229" y="4016942"/>
            <a:ext cx="627180" cy="155448"/>
            <a:chOff x="4541760" y="6310876"/>
            <a:chExt cx="627180" cy="155448"/>
          </a:xfrm>
        </p:grpSpPr>
        <p:sp>
          <p:nvSpPr>
            <p:cNvPr id="105" name="Oval 104">
              <a:extLst>
                <a:ext uri="{FF2B5EF4-FFF2-40B4-BE49-F238E27FC236}">
                  <a16:creationId xmlns:a16="http://schemas.microsoft.com/office/drawing/2014/main" id="{13772292-CE01-C041-4A02-11E3EB1F1B30}"/>
                </a:ext>
              </a:extLst>
            </p:cNvPr>
            <p:cNvSpPr/>
            <p:nvPr/>
          </p:nvSpPr>
          <p:spPr>
            <a:xfrm>
              <a:off x="454176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D41C0BFC-0095-5A15-56E4-9FBC93701A33}"/>
                </a:ext>
              </a:extLst>
            </p:cNvPr>
            <p:cNvSpPr/>
            <p:nvPr/>
          </p:nvSpPr>
          <p:spPr>
            <a:xfrm>
              <a:off x="5016540" y="6310876"/>
              <a:ext cx="152400" cy="155448"/>
            </a:xfrm>
            <a:prstGeom prst="ellipse">
              <a:avLst/>
            </a:prstGeom>
            <a:solidFill>
              <a:schemeClr val="tx2">
                <a:lumMod val="7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mc:Choice xmlns:a14="http://schemas.microsoft.com/office/drawing/2010/main" Requires="a14">
          <p:sp>
            <p:nvSpPr>
              <p:cNvPr id="120" name="TextBox 119">
                <a:extLst>
                  <a:ext uri="{FF2B5EF4-FFF2-40B4-BE49-F238E27FC236}">
                    <a16:creationId xmlns:a16="http://schemas.microsoft.com/office/drawing/2014/main" id="{47C8CE24-EB0D-54AF-BE7A-E2850CEFDDBB}"/>
                  </a:ext>
                </a:extLst>
              </p:cNvPr>
              <p:cNvSpPr txBox="1"/>
              <p:nvPr/>
            </p:nvSpPr>
            <p:spPr>
              <a:xfrm>
                <a:off x="4187647" y="5423945"/>
                <a:ext cx="2880271" cy="1244764"/>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14:m>
                  <m:oMathPara xmlns:m="http://schemas.openxmlformats.org/officeDocument/2006/math">
                    <m:oMath>
                      <m:r>
                        <a:rPr lang="en-US" sz="4000" b="0" i="1" smtClean="0">
                          <a:solidFill>
                            <a:schemeClr val="bg1"/>
                          </a:solidFill>
                          <a:latin typeface="Cambria Math" panose="02040503050406030204" pitchFamily="18" charset="0"/>
                        </a:rPr>
                        <m:t>𝑅</m:t>
                      </m:r>
                      <m:r>
                        <a:rPr lang="en-US" sz="4000" b="0" i="1" smtClean="0">
                          <a:solidFill>
                            <a:schemeClr val="bg1"/>
                          </a:solidFill>
                          <a:latin typeface="Cambria Math" panose="02040503050406030204" pitchFamily="18" charset="0"/>
                        </a:rPr>
                        <m:t>=</m:t>
                      </m:r>
                      <m:f>
                        <m:fPr>
                          <m:ctrlPr>
                            <a:rPr lang="en-US" sz="4000" b="0" i="1" smtClean="0">
                              <a:solidFill>
                                <a:schemeClr val="bg1"/>
                              </a:solidFill>
                              <a:latin typeface="Cambria Math" panose="02040503050406030204" pitchFamily="18" charset="0"/>
                            </a:rPr>
                          </m:ctrlPr>
                        </m:fPr>
                        <m:num>
                          <m:r>
                            <a:rPr lang="en-US" sz="4000" b="0" i="1" smtClean="0">
                              <a:solidFill>
                                <a:schemeClr val="bg1"/>
                              </a:solidFill>
                              <a:latin typeface="Cambria Math" panose="02040503050406030204" pitchFamily="18" charset="0"/>
                            </a:rPr>
                            <m:t>𝑉</m:t>
                          </m:r>
                        </m:num>
                        <m:den>
                          <m:r>
                            <a:rPr lang="en-US" sz="4000" b="0" i="1" smtClean="0">
                              <a:solidFill>
                                <a:schemeClr val="bg1"/>
                              </a:solidFill>
                              <a:latin typeface="Cambria Math" panose="02040503050406030204" pitchFamily="18" charset="0"/>
                            </a:rPr>
                            <m:t>𝑖</m:t>
                          </m:r>
                        </m:den>
                      </m:f>
                    </m:oMath>
                  </m:oMathPara>
                </a14:m>
                <a:endParaRPr lang="en-US" sz="4000" b="0" i="1" dirty="0">
                  <a:solidFill>
                    <a:schemeClr val="bg1"/>
                  </a:solidFill>
                  <a:latin typeface="Cambria Math" panose="02040503050406030204" pitchFamily="18" charset="0"/>
                </a:endParaRPr>
              </a:p>
            </p:txBody>
          </p:sp>
        </mc:Choice>
        <mc:Fallback>
          <p:sp>
            <p:nvSpPr>
              <p:cNvPr id="120" name="TextBox 119">
                <a:extLst>
                  <a:ext uri="{FF2B5EF4-FFF2-40B4-BE49-F238E27FC236}">
                    <a16:creationId xmlns:a16="http://schemas.microsoft.com/office/drawing/2014/main" id="{47C8CE24-EB0D-54AF-BE7A-E2850CEFDDBB}"/>
                  </a:ext>
                </a:extLst>
              </p:cNvPr>
              <p:cNvSpPr txBox="1">
                <a:spLocks noRot="1" noChangeAspect="1" noMove="1" noResize="1" noEditPoints="1" noAdjustHandles="1" noChangeArrowheads="1" noChangeShapeType="1" noTextEdit="1"/>
              </p:cNvSpPr>
              <p:nvPr/>
            </p:nvSpPr>
            <p:spPr>
              <a:xfrm>
                <a:off x="4187647" y="5423945"/>
                <a:ext cx="2880271" cy="1244764"/>
              </a:xfrm>
              <a:prstGeom prst="rect">
                <a:avLst/>
              </a:prstGeom>
              <a:blipFill>
                <a:blip r:embed="rId2"/>
                <a:stretch>
                  <a:fillRect b="-8911"/>
                </a:stretch>
              </a:blipFill>
            </p:spPr>
            <p:txBody>
              <a:bodyPr/>
              <a:lstStyle/>
              <a:p>
                <a:r>
                  <a:rPr lang="en-US">
                    <a:noFill/>
                  </a:rPr>
                  <a:t> </a:t>
                </a:r>
              </a:p>
            </p:txBody>
          </p:sp>
        </mc:Fallback>
      </mc:AlternateContent>
      <p:sp>
        <p:nvSpPr>
          <p:cNvPr id="121" name="TextBox 120">
            <a:extLst>
              <a:ext uri="{FF2B5EF4-FFF2-40B4-BE49-F238E27FC236}">
                <a16:creationId xmlns:a16="http://schemas.microsoft.com/office/drawing/2014/main" id="{3BE83B78-FA11-DDE2-F4D8-A206789F9446}"/>
              </a:ext>
            </a:extLst>
          </p:cNvPr>
          <p:cNvSpPr txBox="1"/>
          <p:nvPr/>
        </p:nvSpPr>
        <p:spPr>
          <a:xfrm>
            <a:off x="569593" y="5715774"/>
            <a:ext cx="2618523"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dirty="0"/>
              <a:t>Resistance</a:t>
            </a:r>
            <a:r>
              <a:rPr lang="en-US" dirty="0"/>
              <a:t>: </a:t>
            </a:r>
          </a:p>
          <a:p>
            <a:r>
              <a:rPr lang="en-US" dirty="0"/>
              <a:t>Ohms = volts per amp</a:t>
            </a:r>
            <a:endParaRPr lang="en-US" b="1" baseline="30000" dirty="0"/>
          </a:p>
        </p:txBody>
      </p:sp>
      <p:sp>
        <p:nvSpPr>
          <p:cNvPr id="122" name="TextBox 121">
            <a:extLst>
              <a:ext uri="{FF2B5EF4-FFF2-40B4-BE49-F238E27FC236}">
                <a16:creationId xmlns:a16="http://schemas.microsoft.com/office/drawing/2014/main" id="{A4E9BA2F-8A16-0259-830F-7AC49B9E730F}"/>
              </a:ext>
            </a:extLst>
          </p:cNvPr>
          <p:cNvSpPr txBox="1"/>
          <p:nvPr/>
        </p:nvSpPr>
        <p:spPr>
          <a:xfrm>
            <a:off x="7265802" y="6133495"/>
            <a:ext cx="3465654"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dirty="0"/>
              <a:t>Current</a:t>
            </a:r>
            <a:r>
              <a:rPr lang="en-US" dirty="0"/>
              <a:t>: </a:t>
            </a:r>
          </a:p>
          <a:p>
            <a:r>
              <a:rPr lang="en-US" dirty="0"/>
              <a:t>Ampere = Coulombs / second</a:t>
            </a:r>
            <a:endParaRPr lang="en-US" baseline="30000" dirty="0"/>
          </a:p>
        </p:txBody>
      </p:sp>
      <p:sp>
        <p:nvSpPr>
          <p:cNvPr id="123" name="TextBox 122">
            <a:extLst>
              <a:ext uri="{FF2B5EF4-FFF2-40B4-BE49-F238E27FC236}">
                <a16:creationId xmlns:a16="http://schemas.microsoft.com/office/drawing/2014/main" id="{53CD1011-D805-A49B-23C9-F851EBFDA53C}"/>
              </a:ext>
            </a:extLst>
          </p:cNvPr>
          <p:cNvSpPr txBox="1"/>
          <p:nvPr/>
        </p:nvSpPr>
        <p:spPr>
          <a:xfrm>
            <a:off x="7265802" y="5404141"/>
            <a:ext cx="3465654"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dirty="0"/>
              <a:t>Electric potential</a:t>
            </a:r>
            <a:r>
              <a:rPr lang="en-US" dirty="0"/>
              <a:t>: </a:t>
            </a:r>
          </a:p>
          <a:p>
            <a:r>
              <a:rPr lang="en-US" dirty="0"/>
              <a:t>Joules / Coulomb or </a:t>
            </a:r>
            <a:r>
              <a:rPr lang="en-US" b="1" dirty="0"/>
              <a:t>VOLTS</a:t>
            </a:r>
            <a:endParaRPr lang="en-US" b="1" baseline="30000" dirty="0"/>
          </a:p>
        </p:txBody>
      </p:sp>
      <p:cxnSp>
        <p:nvCxnSpPr>
          <p:cNvPr id="124" name="Straight Arrow Connector 123">
            <a:extLst>
              <a:ext uri="{FF2B5EF4-FFF2-40B4-BE49-F238E27FC236}">
                <a16:creationId xmlns:a16="http://schemas.microsoft.com/office/drawing/2014/main" id="{2605D69F-FA69-19E7-FF14-AC5F6BF1CB47}"/>
              </a:ext>
            </a:extLst>
          </p:cNvPr>
          <p:cNvCxnSpPr>
            <a:cxnSpLocks/>
          </p:cNvCxnSpPr>
          <p:nvPr/>
        </p:nvCxnSpPr>
        <p:spPr>
          <a:xfrm>
            <a:off x="3213265" y="6133495"/>
            <a:ext cx="1421347" cy="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125" name="Straight Arrow Connector 124">
            <a:extLst>
              <a:ext uri="{FF2B5EF4-FFF2-40B4-BE49-F238E27FC236}">
                <a16:creationId xmlns:a16="http://schemas.microsoft.com/office/drawing/2014/main" id="{D87D91B4-E76D-321D-5DB6-E5C6D2CAAFEE}"/>
              </a:ext>
            </a:extLst>
          </p:cNvPr>
          <p:cNvCxnSpPr>
            <a:cxnSpLocks/>
          </p:cNvCxnSpPr>
          <p:nvPr/>
        </p:nvCxnSpPr>
        <p:spPr>
          <a:xfrm flipH="1">
            <a:off x="6335019" y="5741546"/>
            <a:ext cx="930783" cy="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127" name="Straight Arrow Connector 126">
            <a:extLst>
              <a:ext uri="{FF2B5EF4-FFF2-40B4-BE49-F238E27FC236}">
                <a16:creationId xmlns:a16="http://schemas.microsoft.com/office/drawing/2014/main" id="{B54679B2-9BB8-F33D-BAD7-16DACA84F8BD}"/>
              </a:ext>
            </a:extLst>
          </p:cNvPr>
          <p:cNvCxnSpPr>
            <a:cxnSpLocks/>
          </p:cNvCxnSpPr>
          <p:nvPr/>
        </p:nvCxnSpPr>
        <p:spPr>
          <a:xfrm flipH="1">
            <a:off x="6335019" y="6480099"/>
            <a:ext cx="930783" cy="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128" name="TextBox 127">
            <a:extLst>
              <a:ext uri="{FF2B5EF4-FFF2-40B4-BE49-F238E27FC236}">
                <a16:creationId xmlns:a16="http://schemas.microsoft.com/office/drawing/2014/main" id="{14C26DDA-B9EE-2AFD-344E-7A9A2B772E8B}"/>
              </a:ext>
            </a:extLst>
          </p:cNvPr>
          <p:cNvSpPr txBox="1"/>
          <p:nvPr/>
        </p:nvSpPr>
        <p:spPr>
          <a:xfrm>
            <a:off x="5576441" y="1366466"/>
            <a:ext cx="4880344" cy="646331"/>
          </a:xfrm>
          <a:prstGeom prst="rect">
            <a:avLst/>
          </a:prstGeom>
          <a:solidFill>
            <a:schemeClr val="accent3">
              <a:lumMod val="60000"/>
              <a:lumOff val="40000"/>
            </a:schemeClr>
          </a:solidFill>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chemeClr val="tx1">
                    <a:lumMod val="50000"/>
                  </a:schemeClr>
                </a:solidFill>
              </a:rPr>
              <a:t>You ARE responsible to understand that resistance is voltage divided by current</a:t>
            </a:r>
          </a:p>
        </p:txBody>
      </p:sp>
    </p:spTree>
    <p:extLst>
      <p:ext uri="{BB962C8B-B14F-4D97-AF65-F5344CB8AC3E}">
        <p14:creationId xmlns:p14="http://schemas.microsoft.com/office/powerpoint/2010/main" val="38652839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C97D1-8FF7-2FE4-3FCA-110749BD3403}"/>
              </a:ext>
            </a:extLst>
          </p:cNvPr>
          <p:cNvSpPr>
            <a:spLocks noGrp="1"/>
          </p:cNvSpPr>
          <p:nvPr>
            <p:ph type="title"/>
          </p:nvPr>
        </p:nvSpPr>
        <p:spPr/>
        <p:txBody>
          <a:bodyPr/>
          <a:lstStyle/>
          <a:p>
            <a:r>
              <a:rPr lang="en-US" dirty="0"/>
              <a:t>Electricity</a:t>
            </a:r>
          </a:p>
        </p:txBody>
      </p:sp>
      <p:sp>
        <p:nvSpPr>
          <p:cNvPr id="3" name="Content Placeholder 2">
            <a:extLst>
              <a:ext uri="{FF2B5EF4-FFF2-40B4-BE49-F238E27FC236}">
                <a16:creationId xmlns:a16="http://schemas.microsoft.com/office/drawing/2014/main" id="{6D974624-8C12-2E89-48FB-80447AE20631}"/>
              </a:ext>
            </a:extLst>
          </p:cNvPr>
          <p:cNvSpPr>
            <a:spLocks noGrp="1"/>
          </p:cNvSpPr>
          <p:nvPr>
            <p:ph idx="1"/>
          </p:nvPr>
        </p:nvSpPr>
        <p:spPr>
          <a:xfrm>
            <a:off x="391565" y="2276876"/>
            <a:ext cx="6161636" cy="4111724"/>
          </a:xfrm>
        </p:spPr>
        <p:txBody>
          <a:bodyPr/>
          <a:lstStyle/>
          <a:p>
            <a:pPr lvl="0"/>
            <a:r>
              <a:rPr lang="en-US" sz="2800" dirty="0"/>
              <a:t>Now we have: </a:t>
            </a:r>
          </a:p>
          <a:p>
            <a:pPr lvl="1"/>
            <a:r>
              <a:rPr lang="en-US" sz="2800" b="1" dirty="0"/>
              <a:t>Current</a:t>
            </a:r>
            <a:r>
              <a:rPr lang="en-US" sz="2800" dirty="0"/>
              <a:t> (amps) : charge per unit time</a:t>
            </a:r>
            <a:endParaRPr lang="en-US" sz="2800" b="1" dirty="0"/>
          </a:p>
          <a:p>
            <a:pPr lvl="1"/>
            <a:r>
              <a:rPr lang="en-US" sz="2800" b="1" dirty="0"/>
              <a:t>Voltage</a:t>
            </a:r>
            <a:r>
              <a:rPr lang="en-US" sz="2800" dirty="0"/>
              <a:t> (volts) : pushes current</a:t>
            </a:r>
          </a:p>
          <a:p>
            <a:pPr lvl="1"/>
            <a:r>
              <a:rPr lang="en-US" sz="2800" b="1" dirty="0"/>
              <a:t>Resistance</a:t>
            </a:r>
            <a:r>
              <a:rPr lang="en-US" sz="2800" dirty="0"/>
              <a:t> (ohms): restricts current</a:t>
            </a:r>
          </a:p>
        </p:txBody>
      </p:sp>
      <p:sp>
        <p:nvSpPr>
          <p:cNvPr id="4" name="Slide Number Placeholder 3">
            <a:extLst>
              <a:ext uri="{FF2B5EF4-FFF2-40B4-BE49-F238E27FC236}">
                <a16:creationId xmlns:a16="http://schemas.microsoft.com/office/drawing/2014/main" id="{A7C31B77-1C3D-3AD2-C351-E8BA6026DE19}"/>
              </a:ext>
            </a:extLst>
          </p:cNvPr>
          <p:cNvSpPr>
            <a:spLocks noGrp="1"/>
          </p:cNvSpPr>
          <p:nvPr>
            <p:ph type="sldNum" sz="quarter" idx="12"/>
          </p:nvPr>
        </p:nvSpPr>
        <p:spPr/>
        <p:txBody>
          <a:bodyPr/>
          <a:lstStyle/>
          <a:p>
            <a:fld id="{C5EF2332-01BF-834F-8236-50238282D533}" type="slidenum">
              <a:rPr lang="en-US" smtClean="0"/>
              <a:t>30</a:t>
            </a:fld>
            <a:endParaRPr lang="en-US"/>
          </a:p>
        </p:txBody>
      </p:sp>
      <p:pic>
        <p:nvPicPr>
          <p:cNvPr id="6" name="Picture 5" descr="Three cartoon figures are interacting. A green figure (Amp) is trying to pass through a tube. A red figure (Ohm) is trying to restrict the flow with a rope. A yellow figure (Volt) is pushing Amp through the tube.&#10;">
            <a:extLst>
              <a:ext uri="{FF2B5EF4-FFF2-40B4-BE49-F238E27FC236}">
                <a16:creationId xmlns:a16="http://schemas.microsoft.com/office/drawing/2014/main" id="{ABC7BD12-E973-2672-BE45-9ABB910A845B}"/>
              </a:ext>
            </a:extLst>
          </p:cNvPr>
          <p:cNvPicPr>
            <a:picLocks noChangeAspect="1"/>
          </p:cNvPicPr>
          <p:nvPr/>
        </p:nvPicPr>
        <p:blipFill>
          <a:blip r:embed="rId2"/>
          <a:stretch>
            <a:fillRect/>
          </a:stretch>
        </p:blipFill>
        <p:spPr>
          <a:xfrm>
            <a:off x="6645929" y="118323"/>
            <a:ext cx="5454145" cy="4509965"/>
          </a:xfrm>
          <a:prstGeom prst="rect">
            <a:avLst/>
          </a:prstGeom>
        </p:spPr>
      </p:pic>
      <p:sp>
        <p:nvSpPr>
          <p:cNvPr id="8" name="TextBox 7">
            <a:extLst>
              <a:ext uri="{FF2B5EF4-FFF2-40B4-BE49-F238E27FC236}">
                <a16:creationId xmlns:a16="http://schemas.microsoft.com/office/drawing/2014/main" id="{5C027010-7561-FF5F-E1D0-EF353F5B4C62}"/>
              </a:ext>
            </a:extLst>
          </p:cNvPr>
          <p:cNvSpPr txBox="1"/>
          <p:nvPr/>
        </p:nvSpPr>
        <p:spPr>
          <a:xfrm>
            <a:off x="7511152" y="4232604"/>
            <a:ext cx="3942856" cy="276999"/>
          </a:xfrm>
          <a:prstGeom prst="rect">
            <a:avLst/>
          </a:prstGeom>
          <a:noFill/>
        </p:spPr>
        <p:txBody>
          <a:bodyPr wrap="square">
            <a:spAutoFit/>
          </a:bodyPr>
          <a:lstStyle/>
          <a:p>
            <a:r>
              <a:rPr lang="en-US" sz="1200" dirty="0"/>
              <a:t>https://</a:t>
            </a:r>
            <a:r>
              <a:rPr lang="en-US" sz="1200" dirty="0" err="1"/>
              <a:t>www.build</a:t>
            </a:r>
            <a:r>
              <a:rPr lang="en-US" sz="1200" dirty="0"/>
              <a:t>-electronic-</a:t>
            </a:r>
            <a:r>
              <a:rPr lang="en-US" sz="1200" dirty="0" err="1"/>
              <a:t>circuits.com</a:t>
            </a:r>
            <a:r>
              <a:rPr lang="en-US" sz="1200" dirty="0"/>
              <a:t>/ohms-law/</a:t>
            </a:r>
          </a:p>
        </p:txBody>
      </p:sp>
    </p:spTree>
    <p:extLst>
      <p:ext uri="{BB962C8B-B14F-4D97-AF65-F5344CB8AC3E}">
        <p14:creationId xmlns:p14="http://schemas.microsoft.com/office/powerpoint/2010/main" val="36669785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BE4A0-4EF8-5EAF-30F0-AD2AC2E06C19}"/>
              </a:ext>
            </a:extLst>
          </p:cNvPr>
          <p:cNvSpPr>
            <a:spLocks noGrp="1"/>
          </p:cNvSpPr>
          <p:nvPr>
            <p:ph type="title"/>
          </p:nvPr>
        </p:nvSpPr>
        <p:spPr/>
        <p:txBody>
          <a:bodyPr/>
          <a:lstStyle/>
          <a:p>
            <a:r>
              <a:rPr lang="en-US" dirty="0"/>
              <a:t>Electricity</a:t>
            </a:r>
          </a:p>
        </p:txBody>
      </p:sp>
      <p:sp>
        <p:nvSpPr>
          <p:cNvPr id="3" name="Content Placeholder 2">
            <a:extLst>
              <a:ext uri="{FF2B5EF4-FFF2-40B4-BE49-F238E27FC236}">
                <a16:creationId xmlns:a16="http://schemas.microsoft.com/office/drawing/2014/main" id="{EF19DF59-DBF3-C4D2-F56D-63400D310CE3}"/>
              </a:ext>
            </a:extLst>
          </p:cNvPr>
          <p:cNvSpPr>
            <a:spLocks noGrp="1"/>
          </p:cNvSpPr>
          <p:nvPr>
            <p:ph idx="1"/>
          </p:nvPr>
        </p:nvSpPr>
        <p:spPr>
          <a:xfrm>
            <a:off x="394208" y="2522992"/>
            <a:ext cx="4963238" cy="4048171"/>
          </a:xfrm>
        </p:spPr>
        <p:txBody>
          <a:bodyPr/>
          <a:lstStyle/>
          <a:p>
            <a:r>
              <a:rPr lang="en-US" dirty="0"/>
              <a:t>We now have enough knowledge to understand </a:t>
            </a:r>
            <a:r>
              <a:rPr lang="en-US" b="1" dirty="0"/>
              <a:t>DIRECT CURRENT (DC)</a:t>
            </a:r>
          </a:p>
          <a:p>
            <a:r>
              <a:rPr lang="en-US" dirty="0"/>
              <a:t>DC is supplied by batteries and solar panels</a:t>
            </a:r>
          </a:p>
          <a:p>
            <a:r>
              <a:rPr lang="en-US" dirty="0"/>
              <a:t>You can then combine elements (wires, light bulbs, batteries) to make a </a:t>
            </a:r>
            <a:r>
              <a:rPr lang="en-US" b="1" dirty="0"/>
              <a:t>circuit</a:t>
            </a:r>
          </a:p>
        </p:txBody>
      </p:sp>
      <p:sp>
        <p:nvSpPr>
          <p:cNvPr id="4" name="Slide Number Placeholder 3">
            <a:extLst>
              <a:ext uri="{FF2B5EF4-FFF2-40B4-BE49-F238E27FC236}">
                <a16:creationId xmlns:a16="http://schemas.microsoft.com/office/drawing/2014/main" id="{7613596E-FB5E-33F5-E4F4-0A56C7546451}"/>
              </a:ext>
            </a:extLst>
          </p:cNvPr>
          <p:cNvSpPr>
            <a:spLocks noGrp="1"/>
          </p:cNvSpPr>
          <p:nvPr>
            <p:ph type="sldNum" sz="quarter" idx="12"/>
          </p:nvPr>
        </p:nvSpPr>
        <p:spPr/>
        <p:txBody>
          <a:bodyPr/>
          <a:lstStyle/>
          <a:p>
            <a:fld id="{C5EF2332-01BF-834F-8236-50238282D533}" type="slidenum">
              <a:rPr lang="en-US" smtClean="0"/>
              <a:t>31</a:t>
            </a:fld>
            <a:endParaRPr lang="en-US"/>
          </a:p>
        </p:txBody>
      </p:sp>
      <p:sp>
        <p:nvSpPr>
          <p:cNvPr id="72" name="TextBox 71">
            <a:extLst>
              <a:ext uri="{FF2B5EF4-FFF2-40B4-BE49-F238E27FC236}">
                <a16:creationId xmlns:a16="http://schemas.microsoft.com/office/drawing/2014/main" id="{24737DED-EA89-2396-B3AF-89D3AF2E737F}"/>
              </a:ext>
            </a:extLst>
          </p:cNvPr>
          <p:cNvSpPr txBox="1"/>
          <p:nvPr/>
        </p:nvSpPr>
        <p:spPr>
          <a:xfrm>
            <a:off x="6236675" y="5370823"/>
            <a:ext cx="3698632" cy="461665"/>
          </a:xfrm>
          <a:prstGeom prst="rect">
            <a:avLst/>
          </a:prstGeom>
          <a:noFill/>
        </p:spPr>
        <p:txBody>
          <a:bodyPr wrap="square">
            <a:spAutoFit/>
          </a:bodyPr>
          <a:lstStyle/>
          <a:p>
            <a:r>
              <a:rPr lang="en-US" sz="1200" dirty="0"/>
              <a:t>https://</a:t>
            </a:r>
            <a:r>
              <a:rPr lang="en-US" sz="1200" dirty="0" err="1"/>
              <a:t>www.build</a:t>
            </a:r>
            <a:r>
              <a:rPr lang="en-US" sz="1200" dirty="0"/>
              <a:t>-electronic-</a:t>
            </a:r>
            <a:r>
              <a:rPr lang="en-US" sz="1200" dirty="0" err="1"/>
              <a:t>circuits.com</a:t>
            </a:r>
            <a:r>
              <a:rPr lang="en-US" sz="1200" dirty="0"/>
              <a:t>/difference-ac-vs-dc/</a:t>
            </a:r>
          </a:p>
        </p:txBody>
      </p:sp>
      <p:pic>
        <p:nvPicPr>
          <p:cNvPr id="73" name="Picture 72" descr="Animated gif that shows the flow of current in a DC circuit">
            <a:extLst>
              <a:ext uri="{FF2B5EF4-FFF2-40B4-BE49-F238E27FC236}">
                <a16:creationId xmlns:a16="http://schemas.microsoft.com/office/drawing/2014/main" id="{7AFECB50-CD7A-E9C7-3112-3D12112E778F}"/>
              </a:ext>
            </a:extLst>
          </p:cNvPr>
          <p:cNvPicPr>
            <a:picLocks noChangeAspect="1"/>
          </p:cNvPicPr>
          <p:nvPr/>
        </p:nvPicPr>
        <p:blipFill>
          <a:blip r:embed="rId2"/>
          <a:stretch>
            <a:fillRect/>
          </a:stretch>
        </p:blipFill>
        <p:spPr>
          <a:xfrm>
            <a:off x="5652008" y="1258881"/>
            <a:ext cx="5051161" cy="4111942"/>
          </a:xfrm>
          <a:prstGeom prst="rect">
            <a:avLst/>
          </a:prstGeom>
        </p:spPr>
      </p:pic>
    </p:spTree>
    <p:extLst>
      <p:ext uri="{BB962C8B-B14F-4D97-AF65-F5344CB8AC3E}">
        <p14:creationId xmlns:p14="http://schemas.microsoft.com/office/powerpoint/2010/main" val="23165411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CEB65-A25E-0342-F0AC-D4B5AD24D883}"/>
              </a:ext>
            </a:extLst>
          </p:cNvPr>
          <p:cNvSpPr>
            <a:spLocks noGrp="1"/>
          </p:cNvSpPr>
          <p:nvPr>
            <p:ph type="title"/>
          </p:nvPr>
        </p:nvSpPr>
        <p:spPr/>
        <p:txBody>
          <a:bodyPr/>
          <a:lstStyle/>
          <a:p>
            <a:r>
              <a:rPr lang="en-US" dirty="0"/>
              <a:t>Energy and Power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3536574-C5F2-0CBB-0906-B240D00563DE}"/>
                  </a:ext>
                </a:extLst>
              </p:cNvPr>
              <p:cNvSpPr>
                <a:spLocks noGrp="1"/>
              </p:cNvSpPr>
              <p:nvPr>
                <p:ph idx="1"/>
              </p:nvPr>
            </p:nvSpPr>
            <p:spPr/>
            <p:txBody>
              <a:bodyPr/>
              <a:lstStyle/>
              <a:p>
                <a:r>
                  <a:rPr lang="en-US" dirty="0"/>
                  <a:t>Remember that power is energy over time</a:t>
                </a:r>
              </a:p>
              <a:p>
                <a:r>
                  <a:rPr lang="en-US" dirty="0"/>
                  <a:t>But now do a trick… multiply and divide by </a:t>
                </a:r>
                <a14:m>
                  <m:oMath xmlns:m="http://schemas.openxmlformats.org/officeDocument/2006/math">
                    <m:r>
                      <m:rPr>
                        <m:sty m:val="p"/>
                      </m:rPr>
                      <a:rPr lang="en-US" dirty="0" smtClean="0">
                        <a:latin typeface="Cambria Math" panose="02040503050406030204" pitchFamily="18" charset="0"/>
                      </a:rPr>
                      <m:t>Δ</m:t>
                    </m:r>
                    <m:r>
                      <a:rPr lang="en-US" i="1" dirty="0" smtClean="0">
                        <a:latin typeface="Cambria Math" panose="02040503050406030204" pitchFamily="18" charset="0"/>
                      </a:rPr>
                      <m:t>𝑄</m:t>
                    </m:r>
                    <m:r>
                      <a:rPr lang="en-US" b="0" i="1" dirty="0" smtClean="0">
                        <a:latin typeface="Cambria Math" panose="02040503050406030204" pitchFamily="18" charset="0"/>
                      </a:rPr>
                      <m:t>: </m:t>
                    </m:r>
                  </m:oMath>
                </a14:m>
                <a:endParaRPr lang="en-US" dirty="0"/>
              </a:p>
            </p:txBody>
          </p:sp>
        </mc:Choice>
        <mc:Fallback>
          <p:sp>
            <p:nvSpPr>
              <p:cNvPr id="3" name="Content Placeholder 2">
                <a:extLst>
                  <a:ext uri="{FF2B5EF4-FFF2-40B4-BE49-F238E27FC236}">
                    <a16:creationId xmlns:a16="http://schemas.microsoft.com/office/drawing/2014/main" id="{53536574-C5F2-0CBB-0906-B240D00563DE}"/>
                  </a:ext>
                </a:extLst>
              </p:cNvPr>
              <p:cNvSpPr>
                <a:spLocks noGrp="1" noRot="1" noChangeAspect="1" noMove="1" noResize="1" noEditPoints="1" noAdjustHandles="1" noChangeArrowheads="1" noChangeShapeType="1" noTextEdit="1"/>
              </p:cNvSpPr>
              <p:nvPr>
                <p:ph idx="1"/>
              </p:nvPr>
            </p:nvSpPr>
            <p:spPr>
              <a:blipFill>
                <a:blip r:embed="rId2"/>
                <a:stretch>
                  <a:fillRect l="-60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00B5D2A-8B43-044B-6689-CB9BE2BC390D}"/>
              </a:ext>
            </a:extLst>
          </p:cNvPr>
          <p:cNvSpPr>
            <a:spLocks noGrp="1"/>
          </p:cNvSpPr>
          <p:nvPr>
            <p:ph type="sldNum" sz="quarter" idx="12"/>
          </p:nvPr>
        </p:nvSpPr>
        <p:spPr/>
        <p:txBody>
          <a:bodyPr/>
          <a:lstStyle/>
          <a:p>
            <a:fld id="{C5EF2332-01BF-834F-8236-50238282D533}" type="slidenum">
              <a:rPr lang="en-US" smtClean="0"/>
              <a:t>32</a:t>
            </a:fld>
            <a:endParaRPr lang="en-US"/>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4208FA85-A4CE-746D-EACE-BAF0FC16D701}"/>
                  </a:ext>
                </a:extLst>
              </p:cNvPr>
              <p:cNvSpPr txBox="1"/>
              <p:nvPr/>
            </p:nvSpPr>
            <p:spPr>
              <a:xfrm>
                <a:off x="5804407" y="1750892"/>
                <a:ext cx="2973158" cy="1244828"/>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14:m>
                  <m:oMathPara xmlns:m="http://schemas.openxmlformats.org/officeDocument/2006/math">
                    <m:oMath>
                      <m:r>
                        <a:rPr lang="en-US" sz="4000" b="0" i="1" smtClean="0">
                          <a:solidFill>
                            <a:schemeClr val="bg1"/>
                          </a:solidFill>
                          <a:latin typeface="Cambria Math" panose="02040503050406030204" pitchFamily="18" charset="0"/>
                        </a:rPr>
                        <m:t>𝑃</m:t>
                      </m:r>
                      <m:r>
                        <a:rPr lang="en-US" sz="4000" b="0" i="1" smtClean="0">
                          <a:solidFill>
                            <a:schemeClr val="bg1"/>
                          </a:solidFill>
                          <a:latin typeface="Cambria Math" panose="02040503050406030204" pitchFamily="18" charset="0"/>
                        </a:rPr>
                        <m:t>=</m:t>
                      </m:r>
                      <m:f>
                        <m:fPr>
                          <m:ctrlPr>
                            <a:rPr lang="en-US" sz="4000" b="0" i="1" smtClean="0">
                              <a:solidFill>
                                <a:schemeClr val="bg1"/>
                              </a:solidFill>
                              <a:latin typeface="Cambria Math" panose="02040503050406030204" pitchFamily="18" charset="0"/>
                            </a:rPr>
                          </m:ctrlPr>
                        </m:fPr>
                        <m:num>
                          <m:r>
                            <a:rPr lang="en-US" sz="4000" b="0" i="1" smtClean="0">
                              <a:solidFill>
                                <a:schemeClr val="bg1"/>
                              </a:solidFill>
                              <a:latin typeface="Cambria Math" panose="02040503050406030204" pitchFamily="18" charset="0"/>
                            </a:rPr>
                            <m:t>𝑊</m:t>
                          </m:r>
                        </m:num>
                        <m:den>
                          <m:r>
                            <m:rPr>
                              <m:sty m:val="p"/>
                            </m:rPr>
                            <a:rPr lang="en-US" sz="4000" b="0" i="1" smtClean="0">
                              <a:solidFill>
                                <a:schemeClr val="bg1"/>
                              </a:solidFill>
                              <a:latin typeface="Cambria Math" panose="02040503050406030204" pitchFamily="18" charset="0"/>
                            </a:rPr>
                            <m:t>Δ</m:t>
                          </m:r>
                          <m:r>
                            <a:rPr lang="en-US" sz="4000" b="0" i="1" smtClean="0">
                              <a:solidFill>
                                <a:schemeClr val="bg1"/>
                              </a:solidFill>
                              <a:latin typeface="Cambria Math" panose="02040503050406030204" pitchFamily="18" charset="0"/>
                            </a:rPr>
                            <m:t>𝑡</m:t>
                          </m:r>
                        </m:den>
                      </m:f>
                    </m:oMath>
                  </m:oMathPara>
                </a14:m>
                <a:endParaRPr lang="en-US" sz="4000" b="0" i="1" dirty="0">
                  <a:solidFill>
                    <a:schemeClr val="bg1"/>
                  </a:solidFill>
                  <a:latin typeface="Cambria Math" panose="02040503050406030204" pitchFamily="18" charset="0"/>
                </a:endParaRPr>
              </a:p>
            </p:txBody>
          </p:sp>
        </mc:Choice>
        <mc:Fallback>
          <p:sp>
            <p:nvSpPr>
              <p:cNvPr id="6" name="TextBox 5">
                <a:extLst>
                  <a:ext uri="{FF2B5EF4-FFF2-40B4-BE49-F238E27FC236}">
                    <a16:creationId xmlns:a16="http://schemas.microsoft.com/office/drawing/2014/main" id="{4208FA85-A4CE-746D-EACE-BAF0FC16D701}"/>
                  </a:ext>
                </a:extLst>
              </p:cNvPr>
              <p:cNvSpPr txBox="1">
                <a:spLocks noRot="1" noChangeAspect="1" noMove="1" noResize="1" noEditPoints="1" noAdjustHandles="1" noChangeArrowheads="1" noChangeShapeType="1" noTextEdit="1"/>
              </p:cNvSpPr>
              <p:nvPr/>
            </p:nvSpPr>
            <p:spPr>
              <a:xfrm>
                <a:off x="5804407" y="1750892"/>
                <a:ext cx="2973158" cy="1244828"/>
              </a:xfrm>
              <a:prstGeom prst="rect">
                <a:avLst/>
              </a:prstGeom>
              <a:blipFill>
                <a:blip r:embed="rId3"/>
                <a:stretch>
                  <a:fillRect b="-990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A168A1AB-DA41-4A32-EC03-491FC142E983}"/>
                  </a:ext>
                </a:extLst>
              </p:cNvPr>
              <p:cNvSpPr txBox="1"/>
              <p:nvPr/>
            </p:nvSpPr>
            <p:spPr>
              <a:xfrm>
                <a:off x="2873638" y="3497238"/>
                <a:ext cx="5556739" cy="104983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14:m>
                  <m:oMath xmlns:m="http://schemas.openxmlformats.org/officeDocument/2006/math">
                    <m:r>
                      <a:rPr lang="en-US" sz="4000" b="0" i="1" smtClean="0">
                        <a:solidFill>
                          <a:schemeClr val="bg1"/>
                        </a:solidFill>
                        <a:latin typeface="Cambria Math" panose="02040503050406030204" pitchFamily="18" charset="0"/>
                      </a:rPr>
                      <m:t>𝑃</m:t>
                    </m:r>
                    <m:r>
                      <a:rPr lang="en-US" sz="4000" b="0" i="1" smtClean="0">
                        <a:solidFill>
                          <a:schemeClr val="bg1"/>
                        </a:solidFill>
                        <a:latin typeface="Cambria Math" panose="02040503050406030204" pitchFamily="18" charset="0"/>
                      </a:rPr>
                      <m:t>=</m:t>
                    </m:r>
                    <m:f>
                      <m:fPr>
                        <m:ctrlPr>
                          <a:rPr lang="en-US" sz="4000" b="0" i="1" smtClean="0">
                            <a:solidFill>
                              <a:schemeClr val="bg1"/>
                            </a:solidFill>
                            <a:latin typeface="Cambria Math" panose="02040503050406030204" pitchFamily="18" charset="0"/>
                          </a:rPr>
                        </m:ctrlPr>
                      </m:fPr>
                      <m:num>
                        <m:r>
                          <a:rPr lang="en-US" sz="4000" b="0" i="1" smtClean="0">
                            <a:solidFill>
                              <a:schemeClr val="bg1"/>
                            </a:solidFill>
                            <a:latin typeface="Cambria Math" panose="02040503050406030204" pitchFamily="18" charset="0"/>
                          </a:rPr>
                          <m:t>𝑊</m:t>
                        </m:r>
                      </m:num>
                      <m:den>
                        <m:r>
                          <m:rPr>
                            <m:sty m:val="p"/>
                          </m:rPr>
                          <a:rPr lang="en-US" sz="4000" b="0" i="1" smtClean="0">
                            <a:solidFill>
                              <a:schemeClr val="bg1"/>
                            </a:solidFill>
                            <a:latin typeface="Cambria Math" panose="02040503050406030204" pitchFamily="18" charset="0"/>
                          </a:rPr>
                          <m:t>Δ</m:t>
                        </m:r>
                        <m:r>
                          <a:rPr lang="en-US" sz="4000" b="0" i="1" smtClean="0">
                            <a:solidFill>
                              <a:schemeClr val="bg1"/>
                            </a:solidFill>
                            <a:latin typeface="Cambria Math" panose="02040503050406030204" pitchFamily="18" charset="0"/>
                          </a:rPr>
                          <m:t>𝑡</m:t>
                        </m:r>
                      </m:den>
                    </m:f>
                  </m:oMath>
                </a14:m>
                <a:r>
                  <a:rPr lang="en-US" sz="4000" b="0" i="1" dirty="0">
                    <a:solidFill>
                      <a:schemeClr val="bg1"/>
                    </a:solidFill>
                    <a:latin typeface="Cambria Math" panose="02040503050406030204" pitchFamily="18" charset="0"/>
                  </a:rPr>
                  <a:t> = </a:t>
                </a:r>
                <a14:m>
                  <m:oMath xmlns:m="http://schemas.openxmlformats.org/officeDocument/2006/math">
                    <m:f>
                      <m:fPr>
                        <m:ctrlPr>
                          <a:rPr lang="en-US" sz="4000" i="1">
                            <a:solidFill>
                              <a:schemeClr val="bg1"/>
                            </a:solidFill>
                            <a:latin typeface="Cambria Math" panose="02040503050406030204" pitchFamily="18" charset="0"/>
                          </a:rPr>
                        </m:ctrlPr>
                      </m:fPr>
                      <m:num>
                        <m:r>
                          <a:rPr lang="en-US" sz="4000" i="1">
                            <a:solidFill>
                              <a:schemeClr val="bg1"/>
                            </a:solidFill>
                            <a:latin typeface="Cambria Math" panose="02040503050406030204" pitchFamily="18" charset="0"/>
                          </a:rPr>
                          <m:t>𝑊</m:t>
                        </m:r>
                      </m:num>
                      <m:den>
                        <m:r>
                          <m:rPr>
                            <m:sty m:val="p"/>
                          </m:rPr>
                          <a:rPr lang="en-US" sz="4000" i="1">
                            <a:solidFill>
                              <a:schemeClr val="bg1"/>
                            </a:solidFill>
                            <a:latin typeface="Cambria Math" panose="02040503050406030204" pitchFamily="18" charset="0"/>
                          </a:rPr>
                          <m:t>Δ</m:t>
                        </m:r>
                        <m:r>
                          <m:rPr>
                            <m:sty m:val="p"/>
                          </m:rPr>
                          <a:rPr lang="en-US" sz="4000" b="0" i="1" smtClean="0">
                            <a:solidFill>
                              <a:schemeClr val="bg1"/>
                            </a:solidFill>
                            <a:latin typeface="Cambria Math" panose="02040503050406030204" pitchFamily="18" charset="0"/>
                          </a:rPr>
                          <m:t>Q</m:t>
                        </m:r>
                      </m:den>
                    </m:f>
                    <m:f>
                      <m:fPr>
                        <m:ctrlPr>
                          <a:rPr lang="en-US" sz="4000" i="1">
                            <a:solidFill>
                              <a:schemeClr val="bg1"/>
                            </a:solidFill>
                            <a:latin typeface="Cambria Math" panose="02040503050406030204" pitchFamily="18" charset="0"/>
                          </a:rPr>
                        </m:ctrlPr>
                      </m:fPr>
                      <m:num>
                        <m:r>
                          <m:rPr>
                            <m:sty m:val="p"/>
                          </m:rPr>
                          <a:rPr lang="en-US" sz="4000" i="1">
                            <a:solidFill>
                              <a:schemeClr val="bg1"/>
                            </a:solidFill>
                            <a:latin typeface="Cambria Math" panose="02040503050406030204" pitchFamily="18" charset="0"/>
                          </a:rPr>
                          <m:t>ΔQ</m:t>
                        </m:r>
                      </m:num>
                      <m:den>
                        <m:r>
                          <m:rPr>
                            <m:sty m:val="p"/>
                          </m:rPr>
                          <a:rPr lang="en-US" sz="4000" i="1">
                            <a:solidFill>
                              <a:schemeClr val="bg1"/>
                            </a:solidFill>
                            <a:latin typeface="Cambria Math" panose="02040503050406030204" pitchFamily="18" charset="0"/>
                          </a:rPr>
                          <m:t>Δ</m:t>
                        </m:r>
                        <m:r>
                          <a:rPr lang="en-US" sz="4000" i="1">
                            <a:solidFill>
                              <a:schemeClr val="bg1"/>
                            </a:solidFill>
                            <a:latin typeface="Cambria Math" panose="02040503050406030204" pitchFamily="18" charset="0"/>
                          </a:rPr>
                          <m:t>𝑡</m:t>
                        </m:r>
                      </m:den>
                    </m:f>
                  </m:oMath>
                </a14:m>
                <a:endParaRPr lang="en-US" sz="4000" b="0" i="1" dirty="0">
                  <a:solidFill>
                    <a:schemeClr val="bg1"/>
                  </a:solidFill>
                  <a:latin typeface="Cambria Math" panose="02040503050406030204" pitchFamily="18" charset="0"/>
                </a:endParaRPr>
              </a:p>
            </p:txBody>
          </p:sp>
        </mc:Choice>
        <mc:Fallback>
          <p:sp>
            <p:nvSpPr>
              <p:cNvPr id="9" name="TextBox 8">
                <a:extLst>
                  <a:ext uri="{FF2B5EF4-FFF2-40B4-BE49-F238E27FC236}">
                    <a16:creationId xmlns:a16="http://schemas.microsoft.com/office/drawing/2014/main" id="{A168A1AB-DA41-4A32-EC03-491FC142E983}"/>
                  </a:ext>
                </a:extLst>
              </p:cNvPr>
              <p:cNvSpPr txBox="1">
                <a:spLocks noRot="1" noChangeAspect="1" noMove="1" noResize="1" noEditPoints="1" noAdjustHandles="1" noChangeArrowheads="1" noChangeShapeType="1" noTextEdit="1"/>
              </p:cNvSpPr>
              <p:nvPr/>
            </p:nvSpPr>
            <p:spPr>
              <a:xfrm>
                <a:off x="2873638" y="3497238"/>
                <a:ext cx="5556739" cy="1049839"/>
              </a:xfrm>
              <a:prstGeom prst="rect">
                <a:avLst/>
              </a:prstGeom>
              <a:blipFill>
                <a:blip r:embed="rId4"/>
                <a:stretch>
                  <a:fillRect l="-1364" b="-6977"/>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8985A1A1-B24B-009C-F03F-7F25BE535091}"/>
              </a:ext>
            </a:extLst>
          </p:cNvPr>
          <p:cNvSpPr txBox="1"/>
          <p:nvPr/>
        </p:nvSpPr>
        <p:spPr>
          <a:xfrm>
            <a:off x="915107" y="4874992"/>
            <a:ext cx="3465654"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dirty="0"/>
              <a:t>Electric potential</a:t>
            </a:r>
            <a:r>
              <a:rPr lang="en-US" dirty="0"/>
              <a:t>: </a:t>
            </a:r>
          </a:p>
          <a:p>
            <a:r>
              <a:rPr lang="en-US" dirty="0"/>
              <a:t>Joules / Coulomb or </a:t>
            </a:r>
            <a:r>
              <a:rPr lang="en-US" b="1" dirty="0"/>
              <a:t>VOLTS</a:t>
            </a:r>
            <a:endParaRPr lang="en-US" b="1" baseline="30000" dirty="0"/>
          </a:p>
        </p:txBody>
      </p:sp>
      <p:cxnSp>
        <p:nvCxnSpPr>
          <p:cNvPr id="11" name="Straight Arrow Connector 10">
            <a:extLst>
              <a:ext uri="{FF2B5EF4-FFF2-40B4-BE49-F238E27FC236}">
                <a16:creationId xmlns:a16="http://schemas.microsoft.com/office/drawing/2014/main" id="{9A504380-1033-11B0-7EAF-DDB718A7E66B}"/>
              </a:ext>
            </a:extLst>
          </p:cNvPr>
          <p:cNvCxnSpPr>
            <a:cxnSpLocks/>
          </p:cNvCxnSpPr>
          <p:nvPr/>
        </p:nvCxnSpPr>
        <p:spPr>
          <a:xfrm flipV="1">
            <a:off x="3288358" y="4353747"/>
            <a:ext cx="1613302" cy="561214"/>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13" name="TextBox 12">
            <a:extLst>
              <a:ext uri="{FF2B5EF4-FFF2-40B4-BE49-F238E27FC236}">
                <a16:creationId xmlns:a16="http://schemas.microsoft.com/office/drawing/2014/main" id="{BCCF0322-27B0-2130-6EAB-E01453CE25BF}"/>
              </a:ext>
            </a:extLst>
          </p:cNvPr>
          <p:cNvSpPr txBox="1"/>
          <p:nvPr/>
        </p:nvSpPr>
        <p:spPr>
          <a:xfrm>
            <a:off x="6754012" y="4874991"/>
            <a:ext cx="435356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dirty="0"/>
              <a:t>Electric current</a:t>
            </a:r>
            <a:r>
              <a:rPr lang="en-US" dirty="0"/>
              <a:t>: </a:t>
            </a:r>
          </a:p>
          <a:p>
            <a:r>
              <a:rPr lang="en-US" dirty="0"/>
              <a:t>Coulombs / second or </a:t>
            </a:r>
            <a:r>
              <a:rPr lang="en-US" b="1" dirty="0"/>
              <a:t>AMPERES</a:t>
            </a:r>
            <a:endParaRPr lang="en-US" b="1" baseline="30000" dirty="0"/>
          </a:p>
        </p:txBody>
      </p:sp>
      <p:cxnSp>
        <p:nvCxnSpPr>
          <p:cNvPr id="14" name="Straight Arrow Connector 13">
            <a:extLst>
              <a:ext uri="{FF2B5EF4-FFF2-40B4-BE49-F238E27FC236}">
                <a16:creationId xmlns:a16="http://schemas.microsoft.com/office/drawing/2014/main" id="{736163C8-5664-ABCC-13FF-C1913FB70EA6}"/>
              </a:ext>
            </a:extLst>
          </p:cNvPr>
          <p:cNvCxnSpPr>
            <a:cxnSpLocks/>
          </p:cNvCxnSpPr>
          <p:nvPr/>
        </p:nvCxnSpPr>
        <p:spPr>
          <a:xfrm flipH="1" flipV="1">
            <a:off x="6096000" y="4190275"/>
            <a:ext cx="1874914" cy="69463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7E15207A-71C7-35D6-F882-28FDF24D3D8F}"/>
                  </a:ext>
                </a:extLst>
              </p:cNvPr>
              <p:cNvSpPr txBox="1"/>
              <p:nvPr/>
            </p:nvSpPr>
            <p:spPr>
              <a:xfrm>
                <a:off x="3288358" y="5827814"/>
                <a:ext cx="3557921" cy="966418"/>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14:m>
                  <m:oMath xmlns:m="http://schemas.openxmlformats.org/officeDocument/2006/math">
                    <m:r>
                      <a:rPr lang="en-US" sz="4000" b="0" i="1" smtClean="0">
                        <a:solidFill>
                          <a:schemeClr val="bg1"/>
                        </a:solidFill>
                        <a:latin typeface="Cambria Math" panose="02040503050406030204" pitchFamily="18" charset="0"/>
                      </a:rPr>
                      <m:t>𝑃</m:t>
                    </m:r>
                    <m:r>
                      <a:rPr lang="en-US" sz="4000" b="0" i="1" smtClean="0">
                        <a:solidFill>
                          <a:schemeClr val="bg1"/>
                        </a:solidFill>
                        <a:latin typeface="Cambria Math" panose="02040503050406030204" pitchFamily="18" charset="0"/>
                      </a:rPr>
                      <m:t>=</m:t>
                    </m:r>
                    <m:f>
                      <m:fPr>
                        <m:ctrlPr>
                          <a:rPr lang="en-US" sz="4000" b="0" i="1" smtClean="0">
                            <a:solidFill>
                              <a:schemeClr val="bg1"/>
                            </a:solidFill>
                            <a:latin typeface="Cambria Math" panose="02040503050406030204" pitchFamily="18" charset="0"/>
                          </a:rPr>
                        </m:ctrlPr>
                      </m:fPr>
                      <m:num>
                        <m:r>
                          <a:rPr lang="en-US" sz="4000" b="0" i="1" smtClean="0">
                            <a:solidFill>
                              <a:schemeClr val="bg1"/>
                            </a:solidFill>
                            <a:latin typeface="Cambria Math" panose="02040503050406030204" pitchFamily="18" charset="0"/>
                          </a:rPr>
                          <m:t>𝑊</m:t>
                        </m:r>
                      </m:num>
                      <m:den>
                        <m:r>
                          <m:rPr>
                            <m:sty m:val="p"/>
                          </m:rPr>
                          <a:rPr lang="en-US" sz="4000" b="0" i="1" smtClean="0">
                            <a:solidFill>
                              <a:schemeClr val="bg1"/>
                            </a:solidFill>
                            <a:latin typeface="Cambria Math" panose="02040503050406030204" pitchFamily="18" charset="0"/>
                          </a:rPr>
                          <m:t>Δ</m:t>
                        </m:r>
                        <m:r>
                          <a:rPr lang="en-US" sz="4000" b="0" i="1" smtClean="0">
                            <a:solidFill>
                              <a:schemeClr val="bg1"/>
                            </a:solidFill>
                            <a:latin typeface="Cambria Math" panose="02040503050406030204" pitchFamily="18" charset="0"/>
                          </a:rPr>
                          <m:t>𝑡</m:t>
                        </m:r>
                      </m:den>
                    </m:f>
                  </m:oMath>
                </a14:m>
                <a:r>
                  <a:rPr lang="en-US" sz="4000" b="0" i="1" dirty="0">
                    <a:solidFill>
                      <a:schemeClr val="bg1"/>
                    </a:solidFill>
                    <a:latin typeface="Cambria Math" panose="02040503050406030204" pitchFamily="18" charset="0"/>
                  </a:rPr>
                  <a:t> = </a:t>
                </a:r>
                <a14:m>
                  <m:oMath xmlns:m="http://schemas.openxmlformats.org/officeDocument/2006/math">
                    <m:r>
                      <a:rPr lang="en-US" sz="4000" b="0" i="1" smtClean="0">
                        <a:solidFill>
                          <a:schemeClr val="bg1"/>
                        </a:solidFill>
                        <a:latin typeface="Cambria Math" panose="02040503050406030204" pitchFamily="18" charset="0"/>
                      </a:rPr>
                      <m:t>𝑉</m:t>
                    </m:r>
                    <m:r>
                      <a:rPr lang="en-US" sz="4000" b="0" i="1" smtClean="0">
                        <a:solidFill>
                          <a:schemeClr val="bg1"/>
                        </a:solidFill>
                        <a:latin typeface="Cambria Math" panose="02040503050406030204" pitchFamily="18" charset="0"/>
                      </a:rPr>
                      <m:t>⋅</m:t>
                    </m:r>
                    <m:r>
                      <a:rPr lang="en-US" sz="4000" b="0" i="1" smtClean="0">
                        <a:solidFill>
                          <a:schemeClr val="bg1"/>
                        </a:solidFill>
                        <a:latin typeface="Cambria Math" panose="02040503050406030204" pitchFamily="18" charset="0"/>
                      </a:rPr>
                      <m:t>𝑖</m:t>
                    </m:r>
                  </m:oMath>
                </a14:m>
                <a:endParaRPr lang="en-US" sz="4000" b="0" i="1" dirty="0">
                  <a:solidFill>
                    <a:schemeClr val="bg1"/>
                  </a:solidFill>
                  <a:latin typeface="Cambria Math" panose="02040503050406030204" pitchFamily="18" charset="0"/>
                </a:endParaRPr>
              </a:p>
            </p:txBody>
          </p:sp>
        </mc:Choice>
        <mc:Fallback>
          <p:sp>
            <p:nvSpPr>
              <p:cNvPr id="16" name="TextBox 15">
                <a:extLst>
                  <a:ext uri="{FF2B5EF4-FFF2-40B4-BE49-F238E27FC236}">
                    <a16:creationId xmlns:a16="http://schemas.microsoft.com/office/drawing/2014/main" id="{7E15207A-71C7-35D6-F882-28FDF24D3D8F}"/>
                  </a:ext>
                </a:extLst>
              </p:cNvPr>
              <p:cNvSpPr txBox="1">
                <a:spLocks noRot="1" noChangeAspect="1" noMove="1" noResize="1" noEditPoints="1" noAdjustHandles="1" noChangeArrowheads="1" noChangeShapeType="1" noTextEdit="1"/>
              </p:cNvSpPr>
              <p:nvPr/>
            </p:nvSpPr>
            <p:spPr>
              <a:xfrm>
                <a:off x="3288358" y="5827814"/>
                <a:ext cx="3557921" cy="966418"/>
              </a:xfrm>
              <a:prstGeom prst="rect">
                <a:avLst/>
              </a:prstGeom>
              <a:blipFill>
                <a:blip r:embed="rId5"/>
                <a:stretch>
                  <a:fillRect l="-1767" b="-11250"/>
                </a:stretch>
              </a:blipFill>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2FFAE3AD-C742-7A8E-5556-AD3C47510DDD}"/>
              </a:ext>
            </a:extLst>
          </p:cNvPr>
          <p:cNvCxnSpPr>
            <a:cxnSpLocks/>
          </p:cNvCxnSpPr>
          <p:nvPr/>
        </p:nvCxnSpPr>
        <p:spPr>
          <a:xfrm>
            <a:off x="3147433" y="5536037"/>
            <a:ext cx="2198290" cy="571686"/>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19" name="Straight Arrow Connector 18">
            <a:extLst>
              <a:ext uri="{FF2B5EF4-FFF2-40B4-BE49-F238E27FC236}">
                <a16:creationId xmlns:a16="http://schemas.microsoft.com/office/drawing/2014/main" id="{A1A4281A-BC5E-F52F-49CF-4EE77A9C64A5}"/>
              </a:ext>
            </a:extLst>
          </p:cNvPr>
          <p:cNvCxnSpPr>
            <a:cxnSpLocks/>
          </p:cNvCxnSpPr>
          <p:nvPr/>
        </p:nvCxnSpPr>
        <p:spPr>
          <a:xfrm flipH="1">
            <a:off x="6233113" y="5533484"/>
            <a:ext cx="2269791" cy="632158"/>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21" name="TextBox 20">
            <a:extLst>
              <a:ext uri="{FF2B5EF4-FFF2-40B4-BE49-F238E27FC236}">
                <a16:creationId xmlns:a16="http://schemas.microsoft.com/office/drawing/2014/main" id="{444BD0B1-A8E0-9D51-3376-848E8E28D9B0}"/>
              </a:ext>
            </a:extLst>
          </p:cNvPr>
          <p:cNvSpPr txBox="1"/>
          <p:nvPr/>
        </p:nvSpPr>
        <p:spPr>
          <a:xfrm>
            <a:off x="7232916" y="5870902"/>
            <a:ext cx="4880344" cy="923330"/>
          </a:xfrm>
          <a:prstGeom prst="rect">
            <a:avLst/>
          </a:prstGeom>
          <a:solidFill>
            <a:schemeClr val="accent3">
              <a:lumMod val="60000"/>
              <a:lumOff val="40000"/>
            </a:schemeClr>
          </a:solidFill>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chemeClr val="tx1">
                    <a:lumMod val="50000"/>
                  </a:schemeClr>
                </a:solidFill>
              </a:rPr>
              <a:t>You ARE responsible to understand that power in a circuit is the voltage times the current</a:t>
            </a:r>
          </a:p>
        </p:txBody>
      </p:sp>
    </p:spTree>
    <p:extLst>
      <p:ext uri="{BB962C8B-B14F-4D97-AF65-F5344CB8AC3E}">
        <p14:creationId xmlns:p14="http://schemas.microsoft.com/office/powerpoint/2010/main" val="58379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86426-A8AF-8C40-EE38-20ADB2ABEFDF}"/>
              </a:ext>
            </a:extLst>
          </p:cNvPr>
          <p:cNvSpPr>
            <a:spLocks noGrp="1"/>
          </p:cNvSpPr>
          <p:nvPr>
            <p:ph type="title"/>
          </p:nvPr>
        </p:nvSpPr>
        <p:spPr/>
        <p:txBody>
          <a:bodyPr/>
          <a:lstStyle/>
          <a:p>
            <a:r>
              <a:rPr lang="en-US" dirty="0"/>
              <a:t>Energy and Power</a:t>
            </a:r>
          </a:p>
        </p:txBody>
      </p:sp>
      <p:sp>
        <p:nvSpPr>
          <p:cNvPr id="3" name="Content Placeholder 2">
            <a:extLst>
              <a:ext uri="{FF2B5EF4-FFF2-40B4-BE49-F238E27FC236}">
                <a16:creationId xmlns:a16="http://schemas.microsoft.com/office/drawing/2014/main" id="{F8C4274B-CEB6-DEEC-53F6-875CA6078DB3}"/>
              </a:ext>
            </a:extLst>
          </p:cNvPr>
          <p:cNvSpPr>
            <a:spLocks noGrp="1"/>
          </p:cNvSpPr>
          <p:nvPr>
            <p:ph idx="1"/>
          </p:nvPr>
        </p:nvSpPr>
        <p:spPr/>
        <p:txBody>
          <a:bodyPr/>
          <a:lstStyle/>
          <a:p>
            <a:r>
              <a:rPr lang="en-US" dirty="0"/>
              <a:t>We’re now able to quantify </a:t>
            </a:r>
            <a:r>
              <a:rPr lang="en-US" b="1" dirty="0"/>
              <a:t>resistive losses </a:t>
            </a:r>
            <a:r>
              <a:rPr lang="en-US" dirty="0"/>
              <a:t>in a circuit</a:t>
            </a:r>
          </a:p>
          <a:p>
            <a:pPr marL="0" indent="0">
              <a:buNone/>
            </a:pPr>
            <a:endParaRPr lang="en-US" dirty="0"/>
          </a:p>
        </p:txBody>
      </p:sp>
      <p:sp>
        <p:nvSpPr>
          <p:cNvPr id="4" name="Slide Number Placeholder 3">
            <a:extLst>
              <a:ext uri="{FF2B5EF4-FFF2-40B4-BE49-F238E27FC236}">
                <a16:creationId xmlns:a16="http://schemas.microsoft.com/office/drawing/2014/main" id="{5D53AB9A-F7AF-AC1B-DC0A-09922EAE0878}"/>
              </a:ext>
            </a:extLst>
          </p:cNvPr>
          <p:cNvSpPr>
            <a:spLocks noGrp="1"/>
          </p:cNvSpPr>
          <p:nvPr>
            <p:ph type="sldNum" sz="quarter" idx="12"/>
          </p:nvPr>
        </p:nvSpPr>
        <p:spPr/>
        <p:txBody>
          <a:bodyPr/>
          <a:lstStyle/>
          <a:p>
            <a:fld id="{C5EF2332-01BF-834F-8236-50238282D533}" type="slidenum">
              <a:rPr lang="en-US" smtClean="0"/>
              <a:t>33</a:t>
            </a:fld>
            <a:endParaRPr lang="en-US"/>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751CF098-AD9E-E807-503C-9109FDF9053F}"/>
                  </a:ext>
                </a:extLst>
              </p:cNvPr>
              <p:cNvSpPr txBox="1"/>
              <p:nvPr/>
            </p:nvSpPr>
            <p:spPr>
              <a:xfrm>
                <a:off x="2772635" y="3006969"/>
                <a:ext cx="2973158" cy="1938992"/>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14:m>
                  <m:oMathPara xmlns:m="http://schemas.openxmlformats.org/officeDocument/2006/math">
                    <m:oMath>
                      <m:r>
                        <m:rPr>
                          <m:sty m:val="p"/>
                        </m:rPr>
                        <a:rPr lang="en-US" sz="4000" b="0" i="1" smtClean="0">
                          <a:solidFill>
                            <a:schemeClr val="bg1"/>
                          </a:solidFill>
                          <a:latin typeface="Cambria Math" panose="02040503050406030204" pitchFamily="18" charset="0"/>
                        </a:rPr>
                        <m:t>V</m:t>
                      </m:r>
                      <m:r>
                        <a:rPr lang="en-US" sz="4000" b="0" i="1" smtClean="0">
                          <a:solidFill>
                            <a:schemeClr val="bg1"/>
                          </a:solidFill>
                          <a:latin typeface="Cambria Math" panose="02040503050406030204" pitchFamily="18" charset="0"/>
                        </a:rPr>
                        <m:t> = </m:t>
                      </m:r>
                      <m:r>
                        <m:rPr>
                          <m:sty m:val="p"/>
                        </m:rPr>
                        <a:rPr lang="en-US" sz="4000" b="0" i="1" smtClean="0">
                          <a:solidFill>
                            <a:schemeClr val="bg1"/>
                          </a:solidFill>
                          <a:latin typeface="Cambria Math" panose="02040503050406030204" pitchFamily="18" charset="0"/>
                        </a:rPr>
                        <m:t>iR</m:t>
                      </m:r>
                    </m:oMath>
                  </m:oMathPara>
                </a14:m>
                <a:endParaRPr lang="en-US" sz="4000" b="0" i="1" dirty="0">
                  <a:solidFill>
                    <a:schemeClr val="bg1"/>
                  </a:solidFill>
                  <a:latin typeface="Cambria Math" panose="02040503050406030204" pitchFamily="18" charset="0"/>
                </a:endParaRPr>
              </a:p>
              <a:p>
                <a14:m>
                  <m:oMathPara xmlns:m="http://schemas.openxmlformats.org/officeDocument/2006/math">
                    <m:oMath>
                      <m:r>
                        <m:rPr>
                          <m:sty m:val="p"/>
                        </m:rPr>
                        <a:rPr lang="en-US" sz="4000" b="0" i="1" smtClean="0">
                          <a:solidFill>
                            <a:schemeClr val="bg1"/>
                          </a:solidFill>
                          <a:latin typeface="Cambria Math" panose="02040503050406030204" pitchFamily="18" charset="0"/>
                        </a:rPr>
                        <m:t>P</m:t>
                      </m:r>
                      <m:r>
                        <a:rPr lang="en-US" sz="4000" b="0" i="1" smtClean="0">
                          <a:solidFill>
                            <a:schemeClr val="bg1"/>
                          </a:solidFill>
                          <a:latin typeface="Cambria Math" panose="02040503050406030204" pitchFamily="18" charset="0"/>
                        </a:rPr>
                        <m:t> = </m:t>
                      </m:r>
                      <m:r>
                        <m:rPr>
                          <m:sty m:val="p"/>
                        </m:rPr>
                        <a:rPr lang="en-US" sz="4000" b="0" i="1" smtClean="0">
                          <a:solidFill>
                            <a:schemeClr val="bg1"/>
                          </a:solidFill>
                          <a:latin typeface="Cambria Math" panose="02040503050406030204" pitchFamily="18" charset="0"/>
                        </a:rPr>
                        <m:t>iV</m:t>
                      </m:r>
                    </m:oMath>
                  </m:oMathPara>
                </a14:m>
                <a:endParaRPr lang="en-US" sz="4000" b="0" i="1" dirty="0">
                  <a:solidFill>
                    <a:schemeClr val="bg1"/>
                  </a:solidFill>
                  <a:latin typeface="Cambria Math" panose="02040503050406030204" pitchFamily="18" charset="0"/>
                </a:endParaRPr>
              </a:p>
              <a:p>
                <a14:m>
                  <m:oMathPara xmlns:m="http://schemas.openxmlformats.org/officeDocument/2006/math">
                    <m:oMath>
                      <m:r>
                        <a:rPr lang="en-US" sz="4000" b="0" i="1" smtClean="0">
                          <a:solidFill>
                            <a:schemeClr val="bg1"/>
                          </a:solidFill>
                          <a:latin typeface="Cambria Math" panose="02040503050406030204" pitchFamily="18" charset="0"/>
                        </a:rPr>
                        <m:t>𝑃</m:t>
                      </m:r>
                      <m:r>
                        <a:rPr lang="en-US" sz="4000" b="0" i="1" smtClean="0">
                          <a:solidFill>
                            <a:schemeClr val="bg1"/>
                          </a:solidFill>
                          <a:latin typeface="Cambria Math" panose="02040503050406030204" pitchFamily="18" charset="0"/>
                        </a:rPr>
                        <m:t>=</m:t>
                      </m:r>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𝑖</m:t>
                          </m:r>
                        </m:e>
                        <m:sup>
                          <m:r>
                            <a:rPr lang="en-US" sz="4000" b="0" i="1" smtClean="0">
                              <a:solidFill>
                                <a:schemeClr val="bg1"/>
                              </a:solidFill>
                              <a:latin typeface="Cambria Math" panose="02040503050406030204" pitchFamily="18" charset="0"/>
                            </a:rPr>
                            <m:t>2</m:t>
                          </m:r>
                        </m:sup>
                      </m:sSup>
                      <m:r>
                        <a:rPr lang="en-US" sz="4000" b="0" i="1" smtClean="0">
                          <a:solidFill>
                            <a:schemeClr val="bg1"/>
                          </a:solidFill>
                          <a:latin typeface="Cambria Math" panose="02040503050406030204" pitchFamily="18" charset="0"/>
                        </a:rPr>
                        <m:t>𝑅</m:t>
                      </m:r>
                    </m:oMath>
                  </m:oMathPara>
                </a14:m>
                <a:endParaRPr lang="en-US" sz="4000" b="0" i="1" dirty="0">
                  <a:solidFill>
                    <a:schemeClr val="bg1"/>
                  </a:solidFill>
                  <a:latin typeface="Cambria Math" panose="02040503050406030204" pitchFamily="18" charset="0"/>
                </a:endParaRPr>
              </a:p>
            </p:txBody>
          </p:sp>
        </mc:Choice>
        <mc:Fallback>
          <p:sp>
            <p:nvSpPr>
              <p:cNvPr id="5" name="TextBox 4">
                <a:extLst>
                  <a:ext uri="{FF2B5EF4-FFF2-40B4-BE49-F238E27FC236}">
                    <a16:creationId xmlns:a16="http://schemas.microsoft.com/office/drawing/2014/main" id="{751CF098-AD9E-E807-503C-9109FDF9053F}"/>
                  </a:ext>
                </a:extLst>
              </p:cNvPr>
              <p:cNvSpPr txBox="1">
                <a:spLocks noRot="1" noChangeAspect="1" noMove="1" noResize="1" noEditPoints="1" noAdjustHandles="1" noChangeArrowheads="1" noChangeShapeType="1" noTextEdit="1"/>
              </p:cNvSpPr>
              <p:nvPr/>
            </p:nvSpPr>
            <p:spPr>
              <a:xfrm>
                <a:off x="2772635" y="3006969"/>
                <a:ext cx="2973158" cy="1938992"/>
              </a:xfrm>
              <a:prstGeom prst="rect">
                <a:avLst/>
              </a:prstGeom>
              <a:blipFill>
                <a:blip r:embed="rId2"/>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8297B90F-19F2-E4AD-4BF1-23E6E935CC3D}"/>
              </a:ext>
            </a:extLst>
          </p:cNvPr>
          <p:cNvSpPr txBox="1"/>
          <p:nvPr/>
        </p:nvSpPr>
        <p:spPr>
          <a:xfrm>
            <a:off x="6447692" y="3223846"/>
            <a:ext cx="4325816" cy="1200329"/>
          </a:xfrm>
          <a:prstGeom prst="rect">
            <a:avLst/>
          </a:prstGeom>
        </p:spPr>
        <p:style>
          <a:lnRef idx="1">
            <a:schemeClr val="accent3"/>
          </a:lnRef>
          <a:fillRef idx="3">
            <a:schemeClr val="accent3"/>
          </a:fillRef>
          <a:effectRef idx="2">
            <a:schemeClr val="accent3"/>
          </a:effectRef>
          <a:fontRef idx="minor">
            <a:schemeClr val="lt1"/>
          </a:fontRef>
        </p:style>
        <p:txBody>
          <a:bodyPr wrap="square" rtlCol="0">
            <a:spAutoFit/>
          </a:bodyPr>
          <a:lstStyle/>
          <a:p>
            <a:r>
              <a:rPr lang="en-US" b="1" dirty="0">
                <a:solidFill>
                  <a:schemeClr val="bg1"/>
                </a:solidFill>
              </a:rPr>
              <a:t>Critically</a:t>
            </a:r>
            <a:r>
              <a:rPr lang="en-US" dirty="0">
                <a:solidFill>
                  <a:schemeClr val="bg1"/>
                </a:solidFill>
              </a:rPr>
              <a:t>: </a:t>
            </a:r>
          </a:p>
          <a:p>
            <a:r>
              <a:rPr lang="en-US" dirty="0">
                <a:solidFill>
                  <a:schemeClr val="bg1"/>
                </a:solidFill>
              </a:rPr>
              <a:t>Power dissipated by a circuit is proportional to current times voltage, or current SQUARED times resistance</a:t>
            </a:r>
          </a:p>
        </p:txBody>
      </p:sp>
      <p:sp>
        <p:nvSpPr>
          <p:cNvPr id="8" name="TextBox 7">
            <a:extLst>
              <a:ext uri="{FF2B5EF4-FFF2-40B4-BE49-F238E27FC236}">
                <a16:creationId xmlns:a16="http://schemas.microsoft.com/office/drawing/2014/main" id="{A2F6242C-DB85-8F30-3010-66571EF59705}"/>
              </a:ext>
            </a:extLst>
          </p:cNvPr>
          <p:cNvSpPr txBox="1"/>
          <p:nvPr/>
        </p:nvSpPr>
        <p:spPr>
          <a:xfrm>
            <a:off x="4174140" y="5573896"/>
            <a:ext cx="4325816" cy="369332"/>
          </a:xfrm>
          <a:prstGeom prst="rect">
            <a:avLst/>
          </a:prstGeom>
        </p:spPr>
        <p:style>
          <a:lnRef idx="1">
            <a:schemeClr val="accent3"/>
          </a:lnRef>
          <a:fillRef idx="3">
            <a:schemeClr val="accent3"/>
          </a:fillRef>
          <a:effectRef idx="2">
            <a:schemeClr val="accent3"/>
          </a:effectRef>
          <a:fontRef idx="minor">
            <a:schemeClr val="lt1"/>
          </a:fontRef>
        </p:style>
        <p:txBody>
          <a:bodyPr wrap="square" rtlCol="0">
            <a:spAutoFit/>
          </a:bodyPr>
          <a:lstStyle/>
          <a:p>
            <a:r>
              <a:rPr lang="en-US" b="1" dirty="0">
                <a:solidFill>
                  <a:schemeClr val="bg1"/>
                </a:solidFill>
              </a:rPr>
              <a:t>This sets up the War of the Currents</a:t>
            </a:r>
            <a:endParaRPr lang="en-US" dirty="0">
              <a:solidFill>
                <a:schemeClr val="bg1"/>
              </a:solidFill>
            </a:endParaRPr>
          </a:p>
        </p:txBody>
      </p:sp>
      <p:sp>
        <p:nvSpPr>
          <p:cNvPr id="9" name="TextBox 8">
            <a:extLst>
              <a:ext uri="{FF2B5EF4-FFF2-40B4-BE49-F238E27FC236}">
                <a16:creationId xmlns:a16="http://schemas.microsoft.com/office/drawing/2014/main" id="{10BA5499-8373-DA85-93EE-4125C28F88AB}"/>
              </a:ext>
            </a:extLst>
          </p:cNvPr>
          <p:cNvSpPr txBox="1"/>
          <p:nvPr/>
        </p:nvSpPr>
        <p:spPr>
          <a:xfrm>
            <a:off x="6713580" y="1076858"/>
            <a:ext cx="4880344" cy="646331"/>
          </a:xfrm>
          <a:prstGeom prst="rect">
            <a:avLst/>
          </a:prstGeom>
          <a:solidFill>
            <a:schemeClr val="accent3">
              <a:lumMod val="60000"/>
              <a:lumOff val="40000"/>
            </a:schemeClr>
          </a:solidFill>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chemeClr val="tx1">
                    <a:lumMod val="50000"/>
                  </a:schemeClr>
                </a:solidFill>
              </a:rPr>
              <a:t>You ARE responsible to understand these three concepts</a:t>
            </a:r>
          </a:p>
        </p:txBody>
      </p:sp>
    </p:spTree>
    <p:extLst>
      <p:ext uri="{BB962C8B-B14F-4D97-AF65-F5344CB8AC3E}">
        <p14:creationId xmlns:p14="http://schemas.microsoft.com/office/powerpoint/2010/main" val="41185962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09062-0367-C2EA-A949-0BA1075ACF54}"/>
              </a:ext>
            </a:extLst>
          </p:cNvPr>
          <p:cNvSpPr>
            <a:spLocks noGrp="1"/>
          </p:cNvSpPr>
          <p:nvPr>
            <p:ph type="title"/>
          </p:nvPr>
        </p:nvSpPr>
        <p:spPr/>
        <p:txBody>
          <a:bodyPr/>
          <a:lstStyle/>
          <a:p>
            <a:r>
              <a:rPr lang="en-US" dirty="0"/>
              <a:t>To remember</a:t>
            </a:r>
          </a:p>
        </p:txBody>
      </p:sp>
      <p:sp>
        <p:nvSpPr>
          <p:cNvPr id="3" name="Content Placeholder 2">
            <a:extLst>
              <a:ext uri="{FF2B5EF4-FFF2-40B4-BE49-F238E27FC236}">
                <a16:creationId xmlns:a16="http://schemas.microsoft.com/office/drawing/2014/main" id="{673CFDE3-569F-9DDB-1E1B-0AA2F00751BE}"/>
              </a:ext>
            </a:extLst>
          </p:cNvPr>
          <p:cNvSpPr>
            <a:spLocks noGrp="1"/>
          </p:cNvSpPr>
          <p:nvPr>
            <p:ph idx="1"/>
          </p:nvPr>
        </p:nvSpPr>
        <p:spPr>
          <a:xfrm>
            <a:off x="194916" y="2168769"/>
            <a:ext cx="4056059" cy="4008462"/>
          </a:xfrm>
        </p:spPr>
        <p:txBody>
          <a:bodyPr/>
          <a:lstStyle/>
          <a:p>
            <a:endParaRPr lang="en-US" dirty="0"/>
          </a:p>
          <a:p>
            <a:r>
              <a:rPr lang="en-US" dirty="0"/>
              <a:t>Current is the number of charges per second</a:t>
            </a:r>
          </a:p>
          <a:p>
            <a:r>
              <a:rPr lang="en-US" dirty="0"/>
              <a:t>Voltage is the electric energy (or work) divided by the charge</a:t>
            </a:r>
          </a:p>
          <a:p>
            <a:r>
              <a:rPr lang="en-US" dirty="0"/>
              <a:t>Power is the product of current and voltage</a:t>
            </a:r>
          </a:p>
          <a:p>
            <a:r>
              <a:rPr lang="en-US" dirty="0"/>
              <a:t>Power dissipated in a resistor is current squared times resistance</a:t>
            </a:r>
          </a:p>
        </p:txBody>
      </p:sp>
      <p:sp>
        <p:nvSpPr>
          <p:cNvPr id="4" name="Slide Number Placeholder 3">
            <a:extLst>
              <a:ext uri="{FF2B5EF4-FFF2-40B4-BE49-F238E27FC236}">
                <a16:creationId xmlns:a16="http://schemas.microsoft.com/office/drawing/2014/main" id="{E6B2B0D2-9886-6678-556A-44B65BB23524}"/>
              </a:ext>
            </a:extLst>
          </p:cNvPr>
          <p:cNvSpPr>
            <a:spLocks noGrp="1"/>
          </p:cNvSpPr>
          <p:nvPr>
            <p:ph type="sldNum" sz="quarter" idx="12"/>
          </p:nvPr>
        </p:nvSpPr>
        <p:spPr/>
        <p:txBody>
          <a:bodyPr/>
          <a:lstStyle/>
          <a:p>
            <a:fld id="{C5EF2332-01BF-834F-8236-50238282D533}" type="slidenum">
              <a:rPr lang="en-US" smtClean="0"/>
              <a:t>34</a:t>
            </a:fld>
            <a:endParaRPr lang="en-US"/>
          </a:p>
        </p:txBody>
      </p:sp>
      <p:sp>
        <p:nvSpPr>
          <p:cNvPr id="5" name="TextBox 4">
            <a:extLst>
              <a:ext uri="{FF2B5EF4-FFF2-40B4-BE49-F238E27FC236}">
                <a16:creationId xmlns:a16="http://schemas.microsoft.com/office/drawing/2014/main" id="{A375611F-F6BA-8D6D-829B-4DEC32F2B42B}"/>
              </a:ext>
            </a:extLst>
          </p:cNvPr>
          <p:cNvSpPr txBox="1"/>
          <p:nvPr/>
        </p:nvSpPr>
        <p:spPr>
          <a:xfrm>
            <a:off x="9354814" y="27518"/>
            <a:ext cx="2445622" cy="707886"/>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endParaRPr lang="en-US" sz="4000" b="0" i="1" dirty="0">
              <a:solidFill>
                <a:schemeClr val="bg1"/>
              </a:solidFill>
              <a:latin typeface="Cambria Math" panose="02040503050406030204" pitchFamily="18" charset="0"/>
            </a:endParaRPr>
          </a:p>
        </p:txBody>
      </p:sp>
      <mc:AlternateContent xmlns:mc="http://schemas.openxmlformats.org/markup-compatibility/2006">
        <mc:Choice xmlns:a14="http://schemas.microsoft.com/office/drawing/2010/main" Requires="a14">
          <p:graphicFrame>
            <p:nvGraphicFramePr>
              <p:cNvPr id="6" name="Table 5">
                <a:extLst>
                  <a:ext uri="{FF2B5EF4-FFF2-40B4-BE49-F238E27FC236}">
                    <a16:creationId xmlns:a16="http://schemas.microsoft.com/office/drawing/2014/main" id="{B0D74226-A943-5139-5EDB-929912611AC1}"/>
                  </a:ext>
                </a:extLst>
              </p:cNvPr>
              <p:cNvGraphicFramePr>
                <a:graphicFrameLocks noGrp="1"/>
              </p:cNvGraphicFramePr>
              <p:nvPr>
                <p:extLst>
                  <p:ext uri="{D42A27DB-BD31-4B8C-83A1-F6EECF244321}">
                    <p14:modId xmlns:p14="http://schemas.microsoft.com/office/powerpoint/2010/main" val="1411241117"/>
                  </p:ext>
                </p:extLst>
              </p:nvPr>
            </p:nvGraphicFramePr>
            <p:xfrm>
              <a:off x="4917795" y="1131973"/>
              <a:ext cx="6324636" cy="5439189"/>
            </p:xfrm>
            <a:graphic>
              <a:graphicData uri="http://schemas.openxmlformats.org/drawingml/2006/table">
                <a:tbl>
                  <a:tblPr firstRow="1" bandRow="1">
                    <a:tableStyleId>{5C22544A-7EE6-4342-B048-85BDC9FD1C3A}</a:tableStyleId>
                  </a:tblPr>
                  <a:tblGrid>
                    <a:gridCol w="3013533">
                      <a:extLst>
                        <a:ext uri="{9D8B030D-6E8A-4147-A177-3AD203B41FA5}">
                          <a16:colId xmlns:a16="http://schemas.microsoft.com/office/drawing/2014/main" val="786001398"/>
                        </a:ext>
                      </a:extLst>
                    </a:gridCol>
                    <a:gridCol w="3311103">
                      <a:extLst>
                        <a:ext uri="{9D8B030D-6E8A-4147-A177-3AD203B41FA5}">
                          <a16:colId xmlns:a16="http://schemas.microsoft.com/office/drawing/2014/main" val="2117900827"/>
                        </a:ext>
                      </a:extLst>
                    </a:gridCol>
                  </a:tblGrid>
                  <a:tr h="567734">
                    <a:tc>
                      <a:txBody>
                        <a:bodyPr/>
                        <a:lstStyle/>
                        <a:p>
                          <a:r>
                            <a:rPr lang="en-US" dirty="0">
                              <a:solidFill>
                                <a:schemeClr val="bg1"/>
                              </a:solidFill>
                            </a:rPr>
                            <a:t>Concept</a:t>
                          </a:r>
                        </a:p>
                      </a:txBody>
                      <a:tcPr/>
                    </a:tc>
                    <a:tc>
                      <a:txBody>
                        <a:bodyPr/>
                        <a:lstStyle/>
                        <a:p>
                          <a:r>
                            <a:rPr lang="en-US" dirty="0">
                              <a:solidFill>
                                <a:schemeClr val="bg1"/>
                              </a:solidFill>
                            </a:rPr>
                            <a:t>Formula</a:t>
                          </a:r>
                        </a:p>
                      </a:txBody>
                      <a:tcPr/>
                    </a:tc>
                    <a:extLst>
                      <a:ext uri="{0D108BD9-81ED-4DB2-BD59-A6C34878D82A}">
                        <a16:rowId xmlns:a16="http://schemas.microsoft.com/office/drawing/2014/main" val="2465718451"/>
                      </a:ext>
                    </a:extLst>
                  </a:tr>
                  <a:tr h="944531">
                    <a:tc>
                      <a:txBody>
                        <a:bodyPr/>
                        <a:lstStyle/>
                        <a:p>
                          <a:r>
                            <a:rPr lang="en-US" dirty="0">
                              <a:solidFill>
                                <a:schemeClr val="tx2">
                                  <a:lumMod val="50000"/>
                                </a:schemeClr>
                              </a:solidFill>
                            </a:rPr>
                            <a:t>Current is the number of charges per second</a:t>
                          </a:r>
                        </a:p>
                      </a:txBody>
                      <a:tcPr/>
                    </a:tc>
                    <a:tc>
                      <a:txBody>
                        <a:bodyPr/>
                        <a:lstStyle/>
                        <a:p>
                          <a:pPr/>
                          <a14:m>
                            <m:oMathPara xmlns:m="http://schemas.openxmlformats.org/officeDocument/2006/math">
                              <m:oMath>
                                <m:r>
                                  <a:rPr lang="en-US" b="0" i="1" smtClean="0">
                                    <a:solidFill>
                                      <a:schemeClr val="tx2">
                                        <a:lumMod val="50000"/>
                                      </a:schemeClr>
                                    </a:solidFill>
                                    <a:latin typeface="Cambria Math" panose="02040503050406030204" pitchFamily="18" charset="0"/>
                                  </a:rPr>
                                  <m:t>𝑖</m:t>
                                </m:r>
                                <m:r>
                                  <a:rPr lang="en-US" b="0" i="1" smtClean="0">
                                    <a:solidFill>
                                      <a:schemeClr val="tx2">
                                        <a:lumMod val="50000"/>
                                      </a:schemeClr>
                                    </a:solidFill>
                                    <a:latin typeface="Cambria Math" panose="02040503050406030204" pitchFamily="18" charset="0"/>
                                  </a:rPr>
                                  <m:t>=</m:t>
                                </m:r>
                                <m:f>
                                  <m:fPr>
                                    <m:ctrlPr>
                                      <a:rPr lang="en-US" b="0" i="1" smtClean="0">
                                        <a:solidFill>
                                          <a:schemeClr val="tx2">
                                            <a:lumMod val="50000"/>
                                          </a:schemeClr>
                                        </a:solidFill>
                                        <a:latin typeface="Cambria Math" panose="02040503050406030204" pitchFamily="18" charset="0"/>
                                      </a:rPr>
                                    </m:ctrlPr>
                                  </m:fPr>
                                  <m:num>
                                    <m:r>
                                      <m:rPr>
                                        <m:sty m:val="p"/>
                                      </m:rPr>
                                      <a:rPr lang="en-US" b="0" i="1" smtClean="0">
                                        <a:solidFill>
                                          <a:schemeClr val="tx2">
                                            <a:lumMod val="50000"/>
                                          </a:schemeClr>
                                        </a:solidFill>
                                        <a:latin typeface="Cambria Math" panose="02040503050406030204" pitchFamily="18" charset="0"/>
                                      </a:rPr>
                                      <m:t>Δ</m:t>
                                    </m:r>
                                    <m:r>
                                      <a:rPr lang="en-US" b="0" i="1" smtClean="0">
                                        <a:solidFill>
                                          <a:schemeClr val="tx2">
                                            <a:lumMod val="50000"/>
                                          </a:schemeClr>
                                        </a:solidFill>
                                        <a:latin typeface="Cambria Math" panose="02040503050406030204" pitchFamily="18" charset="0"/>
                                      </a:rPr>
                                      <m:t>𝑄</m:t>
                                    </m:r>
                                  </m:num>
                                  <m:den>
                                    <m:r>
                                      <m:rPr>
                                        <m:sty m:val="p"/>
                                      </m:rPr>
                                      <a:rPr lang="en-US" b="0" i="1" smtClean="0">
                                        <a:solidFill>
                                          <a:schemeClr val="tx2">
                                            <a:lumMod val="50000"/>
                                          </a:schemeClr>
                                        </a:solidFill>
                                        <a:latin typeface="Cambria Math" panose="02040503050406030204" pitchFamily="18" charset="0"/>
                                      </a:rPr>
                                      <m:t>Δ</m:t>
                                    </m:r>
                                    <m:r>
                                      <a:rPr lang="en-US" b="0" i="1" smtClean="0">
                                        <a:solidFill>
                                          <a:schemeClr val="tx2">
                                            <a:lumMod val="50000"/>
                                          </a:schemeClr>
                                        </a:solidFill>
                                        <a:latin typeface="Cambria Math" panose="02040503050406030204" pitchFamily="18" charset="0"/>
                                      </a:rPr>
                                      <m:t>𝑡</m:t>
                                    </m:r>
                                  </m:den>
                                </m:f>
                              </m:oMath>
                            </m:oMathPara>
                          </a14:m>
                          <a:endParaRPr lang="en-US" b="0" dirty="0">
                            <a:solidFill>
                              <a:schemeClr val="tx2">
                                <a:lumMod val="50000"/>
                              </a:schemeClr>
                            </a:solidFill>
                          </a:endParaRPr>
                        </a:p>
                        <a:p>
                          <a:endParaRPr lang="en-US" dirty="0">
                            <a:solidFill>
                              <a:schemeClr val="tx2">
                                <a:lumMod val="50000"/>
                              </a:schemeClr>
                            </a:solidFill>
                          </a:endParaRPr>
                        </a:p>
                      </a:txBody>
                      <a:tcPr/>
                    </a:tc>
                    <a:extLst>
                      <a:ext uri="{0D108BD9-81ED-4DB2-BD59-A6C34878D82A}">
                        <a16:rowId xmlns:a16="http://schemas.microsoft.com/office/drawing/2014/main" val="2410093971"/>
                      </a:ext>
                    </a:extLst>
                  </a:tr>
                  <a:tr h="986326">
                    <a:tc>
                      <a:txBody>
                        <a:bodyPr/>
                        <a:lstStyle/>
                        <a:p>
                          <a:r>
                            <a:rPr lang="en-US" dirty="0">
                              <a:solidFill>
                                <a:schemeClr val="tx2">
                                  <a:lumMod val="50000"/>
                                </a:schemeClr>
                              </a:solidFill>
                            </a:rPr>
                            <a:t>Voltage is electric energy or work divided by charge</a:t>
                          </a:r>
                        </a:p>
                      </a:txBody>
                      <a:tcPr/>
                    </a:tc>
                    <a:tc>
                      <a:txBody>
                        <a:bodyPr/>
                        <a:lstStyle/>
                        <a:p>
                          <a14:m>
                            <m:oMathPara xmlns:m="http://schemas.openxmlformats.org/officeDocument/2006/math">
                              <m:oMath>
                                <m:r>
                                  <a:rPr lang="en-US" b="0" i="1" smtClean="0">
                                    <a:solidFill>
                                      <a:schemeClr val="tx2">
                                        <a:lumMod val="50000"/>
                                      </a:schemeClr>
                                    </a:solidFill>
                                    <a:latin typeface="Cambria Math" panose="02040503050406030204" pitchFamily="18" charset="0"/>
                                  </a:rPr>
                                  <m:t>𝑉</m:t>
                                </m:r>
                                <m:r>
                                  <a:rPr lang="en-US" b="0" i="1" smtClean="0">
                                    <a:solidFill>
                                      <a:schemeClr val="tx2">
                                        <a:lumMod val="50000"/>
                                      </a:schemeClr>
                                    </a:solidFill>
                                    <a:latin typeface="Cambria Math" panose="02040503050406030204" pitchFamily="18" charset="0"/>
                                  </a:rPr>
                                  <m:t>=</m:t>
                                </m:r>
                                <m:f>
                                  <m:fPr>
                                    <m:ctrlPr>
                                      <a:rPr lang="en-US" b="0" i="1" smtClean="0">
                                        <a:solidFill>
                                          <a:schemeClr val="tx2">
                                            <a:lumMod val="50000"/>
                                          </a:schemeClr>
                                        </a:solidFill>
                                        <a:latin typeface="Cambria Math" panose="02040503050406030204" pitchFamily="18" charset="0"/>
                                      </a:rPr>
                                    </m:ctrlPr>
                                  </m:fPr>
                                  <m:num>
                                    <m:r>
                                      <a:rPr lang="en-US" b="0" i="1" smtClean="0">
                                        <a:solidFill>
                                          <a:schemeClr val="tx2">
                                            <a:lumMod val="50000"/>
                                          </a:schemeClr>
                                        </a:solidFill>
                                        <a:latin typeface="Cambria Math" panose="02040503050406030204" pitchFamily="18" charset="0"/>
                                      </a:rPr>
                                      <m:t>𝑊</m:t>
                                    </m:r>
                                  </m:num>
                                  <m:den>
                                    <m:r>
                                      <a:rPr lang="en-US" b="0" i="1" smtClean="0">
                                        <a:solidFill>
                                          <a:schemeClr val="tx2">
                                            <a:lumMod val="50000"/>
                                          </a:schemeClr>
                                        </a:solidFill>
                                        <a:latin typeface="Cambria Math" panose="02040503050406030204" pitchFamily="18" charset="0"/>
                                      </a:rPr>
                                      <m:t>𝑄</m:t>
                                    </m:r>
                                  </m:den>
                                </m:f>
                              </m:oMath>
                            </m:oMathPara>
                          </a14:m>
                          <a:endParaRPr lang="en-US" b="0" dirty="0">
                            <a:solidFill>
                              <a:schemeClr val="tx2">
                                <a:lumMod val="50000"/>
                              </a:schemeClr>
                            </a:solidFill>
                          </a:endParaRPr>
                        </a:p>
                        <a:p>
                          <a:endParaRPr lang="en-US" dirty="0">
                            <a:solidFill>
                              <a:schemeClr val="tx2">
                                <a:lumMod val="50000"/>
                              </a:schemeClr>
                            </a:solidFill>
                          </a:endParaRPr>
                        </a:p>
                      </a:txBody>
                      <a:tcPr/>
                    </a:tc>
                    <a:extLst>
                      <a:ext uri="{0D108BD9-81ED-4DB2-BD59-A6C34878D82A}">
                        <a16:rowId xmlns:a16="http://schemas.microsoft.com/office/drawing/2014/main" val="2879375202"/>
                      </a:ext>
                    </a:extLst>
                  </a:tr>
                  <a:tr h="686140">
                    <a:tc>
                      <a:txBody>
                        <a:bodyPr/>
                        <a:lstStyle/>
                        <a:p>
                          <a:r>
                            <a:rPr lang="en-US" dirty="0">
                              <a:solidFill>
                                <a:schemeClr val="tx2">
                                  <a:lumMod val="50000"/>
                                </a:schemeClr>
                              </a:solidFill>
                            </a:rPr>
                            <a:t>Power is the energy or work per unit time</a:t>
                          </a:r>
                        </a:p>
                      </a:txBody>
                      <a:tcPr/>
                    </a:tc>
                    <a:tc>
                      <a:txBody>
                        <a:bodyPr/>
                        <a:lstStyle/>
                        <a:p>
                          <a:pPr/>
                          <a14:m>
                            <m:oMathPara xmlns:m="http://schemas.openxmlformats.org/officeDocument/2006/math">
                              <m:oMath>
                                <m:r>
                                  <a:rPr lang="en-US" sz="1800" b="0" i="1" smtClean="0">
                                    <a:solidFill>
                                      <a:schemeClr val="tx2">
                                        <a:lumMod val="50000"/>
                                      </a:schemeClr>
                                    </a:solidFill>
                                    <a:latin typeface="Cambria Math" panose="02040503050406030204" pitchFamily="18" charset="0"/>
                                  </a:rPr>
                                  <m:t>𝑃</m:t>
                                </m:r>
                                <m:r>
                                  <a:rPr lang="en-US" sz="1800" b="0" i="1" smtClean="0">
                                    <a:solidFill>
                                      <a:schemeClr val="tx2">
                                        <a:lumMod val="50000"/>
                                      </a:schemeClr>
                                    </a:solidFill>
                                    <a:latin typeface="Cambria Math" panose="02040503050406030204" pitchFamily="18" charset="0"/>
                                  </a:rPr>
                                  <m:t>=</m:t>
                                </m:r>
                                <m:f>
                                  <m:fPr>
                                    <m:ctrlPr>
                                      <a:rPr lang="en-US" sz="1800" b="0" i="1" smtClean="0">
                                        <a:solidFill>
                                          <a:schemeClr val="tx2">
                                            <a:lumMod val="50000"/>
                                          </a:schemeClr>
                                        </a:solidFill>
                                        <a:latin typeface="Cambria Math" panose="02040503050406030204" pitchFamily="18" charset="0"/>
                                      </a:rPr>
                                    </m:ctrlPr>
                                  </m:fPr>
                                  <m:num>
                                    <m:r>
                                      <a:rPr lang="en-US" sz="1800" b="0" i="1" smtClean="0">
                                        <a:solidFill>
                                          <a:schemeClr val="tx2">
                                            <a:lumMod val="50000"/>
                                          </a:schemeClr>
                                        </a:solidFill>
                                        <a:latin typeface="Cambria Math" panose="02040503050406030204" pitchFamily="18" charset="0"/>
                                      </a:rPr>
                                      <m:t>𝑊</m:t>
                                    </m:r>
                                  </m:num>
                                  <m:den>
                                    <m:r>
                                      <m:rPr>
                                        <m:sty m:val="p"/>
                                      </m:rPr>
                                      <a:rPr lang="en-US" sz="1800" b="0" i="1" smtClean="0">
                                        <a:solidFill>
                                          <a:schemeClr val="tx2">
                                            <a:lumMod val="50000"/>
                                          </a:schemeClr>
                                        </a:solidFill>
                                        <a:latin typeface="Cambria Math" panose="02040503050406030204" pitchFamily="18" charset="0"/>
                                      </a:rPr>
                                      <m:t>Δ</m:t>
                                    </m:r>
                                    <m:r>
                                      <a:rPr lang="en-US" sz="1800" b="0" i="1" smtClean="0">
                                        <a:solidFill>
                                          <a:schemeClr val="tx2">
                                            <a:lumMod val="50000"/>
                                          </a:schemeClr>
                                        </a:solidFill>
                                        <a:latin typeface="Cambria Math" panose="02040503050406030204" pitchFamily="18" charset="0"/>
                                      </a:rPr>
                                      <m:t>𝑡</m:t>
                                    </m:r>
                                  </m:den>
                                </m:f>
                              </m:oMath>
                            </m:oMathPara>
                          </a14:m>
                          <a:endParaRPr lang="en-US" dirty="0">
                            <a:solidFill>
                              <a:schemeClr val="tx2">
                                <a:lumMod val="50000"/>
                              </a:schemeClr>
                            </a:solidFill>
                          </a:endParaRPr>
                        </a:p>
                      </a:txBody>
                      <a:tcPr/>
                    </a:tc>
                    <a:extLst>
                      <a:ext uri="{0D108BD9-81ED-4DB2-BD59-A6C34878D82A}">
                        <a16:rowId xmlns:a16="http://schemas.microsoft.com/office/drawing/2014/main" val="3448931379"/>
                      </a:ext>
                    </a:extLst>
                  </a:tr>
                  <a:tr h="980199">
                    <a:tc>
                      <a:txBody>
                        <a:bodyPr/>
                        <a:lstStyle/>
                        <a:p>
                          <a:r>
                            <a:rPr lang="en-US" dirty="0">
                              <a:solidFill>
                                <a:schemeClr val="tx2">
                                  <a:lumMod val="50000"/>
                                </a:schemeClr>
                              </a:solidFill>
                            </a:rPr>
                            <a:t>In a circuit, power is the product of current and voltage</a:t>
                          </a:r>
                        </a:p>
                      </a:txBody>
                      <a:tcPr/>
                    </a:tc>
                    <a:tc>
                      <a:txBody>
                        <a:bodyPr/>
                        <a:lstStyle/>
                        <a:p>
                          <a14:m>
                            <m:oMathPara xmlns:m="http://schemas.openxmlformats.org/officeDocument/2006/math">
                              <m:oMath>
                                <m:r>
                                  <a:rPr lang="en-US" b="0" i="1" smtClean="0">
                                    <a:solidFill>
                                      <a:schemeClr val="tx2">
                                        <a:lumMod val="50000"/>
                                      </a:schemeClr>
                                    </a:solidFill>
                                    <a:latin typeface="Cambria Math" panose="02040503050406030204" pitchFamily="18" charset="0"/>
                                  </a:rPr>
                                  <m:t>𝑃</m:t>
                                </m:r>
                                <m:r>
                                  <a:rPr lang="en-US" b="0" i="1" smtClean="0">
                                    <a:solidFill>
                                      <a:schemeClr val="tx2">
                                        <a:lumMod val="50000"/>
                                      </a:schemeClr>
                                    </a:solidFill>
                                    <a:latin typeface="Cambria Math" panose="02040503050406030204" pitchFamily="18" charset="0"/>
                                  </a:rPr>
                                  <m:t>=</m:t>
                                </m:r>
                                <m:r>
                                  <a:rPr lang="en-US" b="0" i="1" smtClean="0">
                                    <a:solidFill>
                                      <a:schemeClr val="tx2">
                                        <a:lumMod val="50000"/>
                                      </a:schemeClr>
                                    </a:solidFill>
                                    <a:latin typeface="Cambria Math" panose="02040503050406030204" pitchFamily="18" charset="0"/>
                                  </a:rPr>
                                  <m:t>𝑖</m:t>
                                </m:r>
                                <m:r>
                                  <a:rPr lang="en-US" b="0" i="1" smtClean="0">
                                    <a:solidFill>
                                      <a:schemeClr val="tx2">
                                        <a:lumMod val="50000"/>
                                      </a:schemeClr>
                                    </a:solidFill>
                                    <a:latin typeface="Cambria Math" panose="02040503050406030204" pitchFamily="18" charset="0"/>
                                  </a:rPr>
                                  <m:t>⋅</m:t>
                                </m:r>
                                <m:r>
                                  <a:rPr lang="en-US" b="0" i="1" smtClean="0">
                                    <a:solidFill>
                                      <a:schemeClr val="tx2">
                                        <a:lumMod val="50000"/>
                                      </a:schemeClr>
                                    </a:solidFill>
                                    <a:latin typeface="Cambria Math" panose="02040503050406030204" pitchFamily="18" charset="0"/>
                                  </a:rPr>
                                  <m:t>𝑉</m:t>
                                </m:r>
                              </m:oMath>
                            </m:oMathPara>
                          </a14:m>
                          <a:endParaRPr lang="en-US" b="0" dirty="0">
                            <a:solidFill>
                              <a:schemeClr val="tx2">
                                <a:lumMod val="50000"/>
                              </a:schemeClr>
                            </a:solidFill>
                          </a:endParaRPr>
                        </a:p>
                        <a:p>
                          <a:endParaRPr lang="en-US" dirty="0">
                            <a:solidFill>
                              <a:schemeClr val="tx2">
                                <a:lumMod val="50000"/>
                              </a:schemeClr>
                            </a:solidFill>
                          </a:endParaRPr>
                        </a:p>
                      </a:txBody>
                      <a:tcPr/>
                    </a:tc>
                    <a:extLst>
                      <a:ext uri="{0D108BD9-81ED-4DB2-BD59-A6C34878D82A}">
                        <a16:rowId xmlns:a16="http://schemas.microsoft.com/office/drawing/2014/main" val="2269582634"/>
                      </a:ext>
                    </a:extLst>
                  </a:tr>
                  <a:tr h="1274259">
                    <a:tc>
                      <a:txBody>
                        <a:bodyPr/>
                        <a:lstStyle/>
                        <a:p>
                          <a:r>
                            <a:rPr lang="en-US" dirty="0">
                              <a:solidFill>
                                <a:schemeClr val="tx2">
                                  <a:lumMod val="50000"/>
                                </a:schemeClr>
                              </a:solidFill>
                            </a:rPr>
                            <a:t>In a resistive circuit, power is the product of current squared and resistance</a:t>
                          </a:r>
                        </a:p>
                      </a:txBody>
                      <a:tcPr/>
                    </a:tc>
                    <a:tc>
                      <a:txBody>
                        <a:bodyPr/>
                        <a:lstStyle/>
                        <a:p>
                          <a14:m>
                            <m:oMathPara xmlns:m="http://schemas.openxmlformats.org/officeDocument/2006/math">
                              <m:oMath>
                                <m:r>
                                  <a:rPr lang="en-US" b="0" i="1" smtClean="0">
                                    <a:solidFill>
                                      <a:schemeClr val="tx2">
                                        <a:lumMod val="50000"/>
                                      </a:schemeClr>
                                    </a:solidFill>
                                    <a:latin typeface="Cambria Math" panose="02040503050406030204" pitchFamily="18" charset="0"/>
                                  </a:rPr>
                                  <m:t>𝑃</m:t>
                                </m:r>
                                <m:r>
                                  <a:rPr lang="en-US" b="0" i="1" smtClean="0">
                                    <a:solidFill>
                                      <a:schemeClr val="tx2">
                                        <a:lumMod val="50000"/>
                                      </a:schemeClr>
                                    </a:solidFill>
                                    <a:latin typeface="Cambria Math" panose="02040503050406030204" pitchFamily="18" charset="0"/>
                                  </a:rPr>
                                  <m:t>=</m:t>
                                </m:r>
                                <m:sSup>
                                  <m:sSupPr>
                                    <m:ctrlPr>
                                      <a:rPr lang="en-US" b="0" i="1" smtClean="0">
                                        <a:solidFill>
                                          <a:schemeClr val="tx2">
                                            <a:lumMod val="50000"/>
                                          </a:schemeClr>
                                        </a:solidFill>
                                        <a:latin typeface="Cambria Math" panose="02040503050406030204" pitchFamily="18" charset="0"/>
                                      </a:rPr>
                                    </m:ctrlPr>
                                  </m:sSupPr>
                                  <m:e>
                                    <m:r>
                                      <a:rPr lang="en-US" b="0" i="1" smtClean="0">
                                        <a:solidFill>
                                          <a:schemeClr val="tx2">
                                            <a:lumMod val="50000"/>
                                          </a:schemeClr>
                                        </a:solidFill>
                                        <a:latin typeface="Cambria Math" panose="02040503050406030204" pitchFamily="18" charset="0"/>
                                      </a:rPr>
                                      <m:t>𝑖</m:t>
                                    </m:r>
                                  </m:e>
                                  <m:sup>
                                    <m:r>
                                      <a:rPr lang="en-US" b="0" i="1" smtClean="0">
                                        <a:solidFill>
                                          <a:schemeClr val="tx2">
                                            <a:lumMod val="50000"/>
                                          </a:schemeClr>
                                        </a:solidFill>
                                        <a:latin typeface="Cambria Math" panose="02040503050406030204" pitchFamily="18" charset="0"/>
                                      </a:rPr>
                                      <m:t>2</m:t>
                                    </m:r>
                                  </m:sup>
                                </m:sSup>
                                <m:r>
                                  <a:rPr lang="en-US" b="0" i="1" smtClean="0">
                                    <a:solidFill>
                                      <a:schemeClr val="tx2">
                                        <a:lumMod val="50000"/>
                                      </a:schemeClr>
                                    </a:solidFill>
                                    <a:latin typeface="Cambria Math" panose="02040503050406030204" pitchFamily="18" charset="0"/>
                                  </a:rPr>
                                  <m:t>𝑅</m:t>
                                </m:r>
                              </m:oMath>
                            </m:oMathPara>
                          </a14:m>
                          <a:endParaRPr lang="en-US" b="0" dirty="0">
                            <a:solidFill>
                              <a:schemeClr val="tx2">
                                <a:lumMod val="50000"/>
                              </a:schemeClr>
                            </a:solidFill>
                          </a:endParaRPr>
                        </a:p>
                        <a:p>
                          <a:endParaRPr lang="en-US" dirty="0">
                            <a:solidFill>
                              <a:schemeClr val="tx2">
                                <a:lumMod val="50000"/>
                              </a:schemeClr>
                            </a:solidFill>
                          </a:endParaRPr>
                        </a:p>
                      </a:txBody>
                      <a:tcPr/>
                    </a:tc>
                    <a:extLst>
                      <a:ext uri="{0D108BD9-81ED-4DB2-BD59-A6C34878D82A}">
                        <a16:rowId xmlns:a16="http://schemas.microsoft.com/office/drawing/2014/main" val="3836257181"/>
                      </a:ext>
                    </a:extLst>
                  </a:tr>
                </a:tbl>
              </a:graphicData>
            </a:graphic>
          </p:graphicFrame>
        </mc:Choice>
        <mc:Fallback>
          <p:graphicFrame>
            <p:nvGraphicFramePr>
              <p:cNvPr id="6" name="Table 5">
                <a:extLst>
                  <a:ext uri="{FF2B5EF4-FFF2-40B4-BE49-F238E27FC236}">
                    <a16:creationId xmlns:a16="http://schemas.microsoft.com/office/drawing/2014/main" id="{B0D74226-A943-5139-5EDB-929912611AC1}"/>
                  </a:ext>
                </a:extLst>
              </p:cNvPr>
              <p:cNvGraphicFramePr>
                <a:graphicFrameLocks noGrp="1"/>
              </p:cNvGraphicFramePr>
              <p:nvPr>
                <p:extLst>
                  <p:ext uri="{D42A27DB-BD31-4B8C-83A1-F6EECF244321}">
                    <p14:modId xmlns:p14="http://schemas.microsoft.com/office/powerpoint/2010/main" val="1411241117"/>
                  </p:ext>
                </p:extLst>
              </p:nvPr>
            </p:nvGraphicFramePr>
            <p:xfrm>
              <a:off x="4917795" y="1131973"/>
              <a:ext cx="6324636" cy="5439189"/>
            </p:xfrm>
            <a:graphic>
              <a:graphicData uri="http://schemas.openxmlformats.org/drawingml/2006/table">
                <a:tbl>
                  <a:tblPr firstRow="1" bandRow="1">
                    <a:tableStyleId>{5C22544A-7EE6-4342-B048-85BDC9FD1C3A}</a:tableStyleId>
                  </a:tblPr>
                  <a:tblGrid>
                    <a:gridCol w="3013533">
                      <a:extLst>
                        <a:ext uri="{9D8B030D-6E8A-4147-A177-3AD203B41FA5}">
                          <a16:colId xmlns:a16="http://schemas.microsoft.com/office/drawing/2014/main" val="786001398"/>
                        </a:ext>
                      </a:extLst>
                    </a:gridCol>
                    <a:gridCol w="3311103">
                      <a:extLst>
                        <a:ext uri="{9D8B030D-6E8A-4147-A177-3AD203B41FA5}">
                          <a16:colId xmlns:a16="http://schemas.microsoft.com/office/drawing/2014/main" val="2117900827"/>
                        </a:ext>
                      </a:extLst>
                    </a:gridCol>
                  </a:tblGrid>
                  <a:tr h="567734">
                    <a:tc>
                      <a:txBody>
                        <a:bodyPr/>
                        <a:lstStyle/>
                        <a:p>
                          <a:r>
                            <a:rPr lang="en-US" dirty="0">
                              <a:solidFill>
                                <a:schemeClr val="bg1"/>
                              </a:solidFill>
                            </a:rPr>
                            <a:t>Concept</a:t>
                          </a:r>
                        </a:p>
                      </a:txBody>
                      <a:tcPr/>
                    </a:tc>
                    <a:tc>
                      <a:txBody>
                        <a:bodyPr/>
                        <a:lstStyle/>
                        <a:p>
                          <a:r>
                            <a:rPr lang="en-US" dirty="0">
                              <a:solidFill>
                                <a:schemeClr val="bg1"/>
                              </a:solidFill>
                            </a:rPr>
                            <a:t>Formula</a:t>
                          </a:r>
                        </a:p>
                      </a:txBody>
                      <a:tcPr/>
                    </a:tc>
                    <a:extLst>
                      <a:ext uri="{0D108BD9-81ED-4DB2-BD59-A6C34878D82A}">
                        <a16:rowId xmlns:a16="http://schemas.microsoft.com/office/drawing/2014/main" val="2465718451"/>
                      </a:ext>
                    </a:extLst>
                  </a:tr>
                  <a:tr h="944531">
                    <a:tc>
                      <a:txBody>
                        <a:bodyPr/>
                        <a:lstStyle/>
                        <a:p>
                          <a:r>
                            <a:rPr lang="en-US" dirty="0">
                              <a:solidFill>
                                <a:schemeClr val="tx2">
                                  <a:lumMod val="50000"/>
                                </a:schemeClr>
                              </a:solidFill>
                            </a:rPr>
                            <a:t>Current is the number of charges per second</a:t>
                          </a:r>
                        </a:p>
                      </a:txBody>
                      <a:tcPr/>
                    </a:tc>
                    <a:tc>
                      <a:txBody>
                        <a:bodyPr/>
                        <a:lstStyle/>
                        <a:p>
                          <a:endParaRPr lang="en-US"/>
                        </a:p>
                      </a:txBody>
                      <a:tcPr>
                        <a:blipFill>
                          <a:blip r:embed="rId2"/>
                          <a:stretch>
                            <a:fillRect l="-91571" t="-64865" r="-766" b="-420270"/>
                          </a:stretch>
                        </a:blipFill>
                      </a:tcPr>
                    </a:tc>
                    <a:extLst>
                      <a:ext uri="{0D108BD9-81ED-4DB2-BD59-A6C34878D82A}">
                        <a16:rowId xmlns:a16="http://schemas.microsoft.com/office/drawing/2014/main" val="2410093971"/>
                      </a:ext>
                    </a:extLst>
                  </a:tr>
                  <a:tr h="986326">
                    <a:tc>
                      <a:txBody>
                        <a:bodyPr/>
                        <a:lstStyle/>
                        <a:p>
                          <a:r>
                            <a:rPr lang="en-US" dirty="0">
                              <a:solidFill>
                                <a:schemeClr val="tx2">
                                  <a:lumMod val="50000"/>
                                </a:schemeClr>
                              </a:solidFill>
                            </a:rPr>
                            <a:t>Voltage is electric energy or work divided by charge</a:t>
                          </a:r>
                        </a:p>
                      </a:txBody>
                      <a:tcPr/>
                    </a:tc>
                    <a:tc>
                      <a:txBody>
                        <a:bodyPr/>
                        <a:lstStyle/>
                        <a:p>
                          <a:endParaRPr lang="en-US"/>
                        </a:p>
                      </a:txBody>
                      <a:tcPr>
                        <a:blipFill>
                          <a:blip r:embed="rId2"/>
                          <a:stretch>
                            <a:fillRect l="-91571" t="-156410" r="-766" b="-298718"/>
                          </a:stretch>
                        </a:blipFill>
                      </a:tcPr>
                    </a:tc>
                    <a:extLst>
                      <a:ext uri="{0D108BD9-81ED-4DB2-BD59-A6C34878D82A}">
                        <a16:rowId xmlns:a16="http://schemas.microsoft.com/office/drawing/2014/main" val="2879375202"/>
                      </a:ext>
                    </a:extLst>
                  </a:tr>
                  <a:tr h="686140">
                    <a:tc>
                      <a:txBody>
                        <a:bodyPr/>
                        <a:lstStyle/>
                        <a:p>
                          <a:r>
                            <a:rPr lang="en-US" dirty="0">
                              <a:solidFill>
                                <a:schemeClr val="tx2">
                                  <a:lumMod val="50000"/>
                                </a:schemeClr>
                              </a:solidFill>
                            </a:rPr>
                            <a:t>Power is the energy or work per unit time</a:t>
                          </a:r>
                        </a:p>
                      </a:txBody>
                      <a:tcPr/>
                    </a:tc>
                    <a:tc>
                      <a:txBody>
                        <a:bodyPr/>
                        <a:lstStyle/>
                        <a:p>
                          <a:endParaRPr lang="en-US"/>
                        </a:p>
                      </a:txBody>
                      <a:tcPr>
                        <a:blipFill>
                          <a:blip r:embed="rId2"/>
                          <a:stretch>
                            <a:fillRect l="-91571" t="-370370" r="-766" b="-331481"/>
                          </a:stretch>
                        </a:blipFill>
                      </a:tcPr>
                    </a:tc>
                    <a:extLst>
                      <a:ext uri="{0D108BD9-81ED-4DB2-BD59-A6C34878D82A}">
                        <a16:rowId xmlns:a16="http://schemas.microsoft.com/office/drawing/2014/main" val="3448931379"/>
                      </a:ext>
                    </a:extLst>
                  </a:tr>
                  <a:tr h="980199">
                    <a:tc>
                      <a:txBody>
                        <a:bodyPr/>
                        <a:lstStyle/>
                        <a:p>
                          <a:r>
                            <a:rPr lang="en-US" dirty="0">
                              <a:solidFill>
                                <a:schemeClr val="tx2">
                                  <a:lumMod val="50000"/>
                                </a:schemeClr>
                              </a:solidFill>
                            </a:rPr>
                            <a:t>In a circuit, power is the product of current and voltage</a:t>
                          </a:r>
                        </a:p>
                      </a:txBody>
                      <a:tcPr/>
                    </a:tc>
                    <a:tc>
                      <a:txBody>
                        <a:bodyPr/>
                        <a:lstStyle/>
                        <a:p>
                          <a:endParaRPr lang="en-US"/>
                        </a:p>
                      </a:txBody>
                      <a:tcPr>
                        <a:blipFill>
                          <a:blip r:embed="rId2"/>
                          <a:stretch>
                            <a:fillRect l="-91571" t="-329870" r="-766" b="-132468"/>
                          </a:stretch>
                        </a:blipFill>
                      </a:tcPr>
                    </a:tc>
                    <a:extLst>
                      <a:ext uri="{0D108BD9-81ED-4DB2-BD59-A6C34878D82A}">
                        <a16:rowId xmlns:a16="http://schemas.microsoft.com/office/drawing/2014/main" val="2269582634"/>
                      </a:ext>
                    </a:extLst>
                  </a:tr>
                  <a:tr h="1274259">
                    <a:tc>
                      <a:txBody>
                        <a:bodyPr/>
                        <a:lstStyle/>
                        <a:p>
                          <a:r>
                            <a:rPr lang="en-US" dirty="0">
                              <a:solidFill>
                                <a:schemeClr val="tx2">
                                  <a:lumMod val="50000"/>
                                </a:schemeClr>
                              </a:solidFill>
                            </a:rPr>
                            <a:t>In a resistive circuit, power is the product of current squared and resistance</a:t>
                          </a:r>
                        </a:p>
                      </a:txBody>
                      <a:tcPr/>
                    </a:tc>
                    <a:tc>
                      <a:txBody>
                        <a:bodyPr/>
                        <a:lstStyle/>
                        <a:p>
                          <a:endParaRPr lang="en-US"/>
                        </a:p>
                      </a:txBody>
                      <a:tcPr>
                        <a:blipFill>
                          <a:blip r:embed="rId2"/>
                          <a:stretch>
                            <a:fillRect l="-91571" t="-327723" r="-766" b="-990"/>
                          </a:stretch>
                        </a:blipFill>
                      </a:tcPr>
                    </a:tc>
                    <a:extLst>
                      <a:ext uri="{0D108BD9-81ED-4DB2-BD59-A6C34878D82A}">
                        <a16:rowId xmlns:a16="http://schemas.microsoft.com/office/drawing/2014/main" val="3836257181"/>
                      </a:ext>
                    </a:extLst>
                  </a:tr>
                </a:tbl>
              </a:graphicData>
            </a:graphic>
          </p:graphicFrame>
        </mc:Fallback>
      </mc:AlternateContent>
    </p:spTree>
    <p:extLst>
      <p:ext uri="{BB962C8B-B14F-4D97-AF65-F5344CB8AC3E}">
        <p14:creationId xmlns:p14="http://schemas.microsoft.com/office/powerpoint/2010/main" val="1511167711"/>
      </p:ext>
    </p:extLst>
  </p:cSld>
  <p:clrMapOvr>
    <a:masterClrMapping/>
  </p:clrMapOvr>
</p:sld>
</file>

<file path=ppt/theme/theme1.xml><?xml version="1.0" encoding="utf-8"?>
<a:theme xmlns:a="http://schemas.openxmlformats.org/drawingml/2006/main" name="UB Unit Presentation Template">
  <a:themeElements>
    <a:clrScheme name="UB Brand Colors">
      <a:dk1>
        <a:srgbClr val="FFFFFF"/>
      </a:dk1>
      <a:lt1>
        <a:srgbClr val="4D4D4D"/>
      </a:lt1>
      <a:dk2>
        <a:srgbClr val="FFFFFF"/>
      </a:dk2>
      <a:lt2>
        <a:srgbClr val="005BBB"/>
      </a:lt2>
      <a:accent1>
        <a:srgbClr val="005BBB"/>
      </a:accent1>
      <a:accent2>
        <a:srgbClr val="2F9FD0"/>
      </a:accent2>
      <a:accent3>
        <a:srgbClr val="E56954"/>
      </a:accent3>
      <a:accent4>
        <a:srgbClr val="002F56"/>
      </a:accent4>
      <a:accent5>
        <a:srgbClr val="E3E3E3"/>
      </a:accent5>
      <a:accent6>
        <a:srgbClr val="006570"/>
      </a:accent6>
      <a:hlink>
        <a:srgbClr val="005BBB"/>
      </a:hlink>
      <a:folHlink>
        <a:srgbClr val="2F9FD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3111</TotalTime>
  <Words>2332</Words>
  <Application>Microsoft Macintosh PowerPoint</Application>
  <PresentationFormat>Widescreen</PresentationFormat>
  <Paragraphs>339</Paragraphs>
  <Slides>34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Aptos</vt:lpstr>
      <vt:lpstr>Arial</vt:lpstr>
      <vt:lpstr>Cambria Math</vt:lpstr>
      <vt:lpstr>Georgia</vt:lpstr>
      <vt:lpstr>System Font Regular</vt:lpstr>
      <vt:lpstr>UB Unit Presentation Template</vt:lpstr>
      <vt:lpstr>Lecture 2 — Energy generation</vt:lpstr>
      <vt:lpstr>Forces and energy</vt:lpstr>
      <vt:lpstr>Energy</vt:lpstr>
      <vt:lpstr>The Four Forces</vt:lpstr>
      <vt:lpstr>Force</vt:lpstr>
      <vt:lpstr>Work</vt:lpstr>
      <vt:lpstr>Work and Kinetic Energy</vt:lpstr>
      <vt:lpstr>Kinetic and Potential Energy</vt:lpstr>
      <vt:lpstr>Using Energy</vt:lpstr>
      <vt:lpstr>Using Energy</vt:lpstr>
      <vt:lpstr>Kinetic and Potential</vt:lpstr>
      <vt:lpstr>Power</vt:lpstr>
      <vt:lpstr>Power</vt:lpstr>
      <vt:lpstr>Electricity</vt:lpstr>
      <vt:lpstr>Electricity</vt:lpstr>
      <vt:lpstr>Electricity</vt:lpstr>
      <vt:lpstr>Electricity</vt:lpstr>
      <vt:lpstr>Electricity</vt:lpstr>
      <vt:lpstr>Electricity</vt:lpstr>
      <vt:lpstr>Electricity</vt:lpstr>
      <vt:lpstr>Electricity</vt:lpstr>
      <vt:lpstr>Electricity</vt:lpstr>
      <vt:lpstr>Electricity</vt:lpstr>
      <vt:lpstr>Electricity</vt:lpstr>
      <vt:lpstr>Electricity</vt:lpstr>
      <vt:lpstr>Electricity</vt:lpstr>
      <vt:lpstr>Electricity</vt:lpstr>
      <vt:lpstr>Electricity</vt:lpstr>
      <vt:lpstr>Electricity</vt:lpstr>
      <vt:lpstr>Electricity</vt:lpstr>
      <vt:lpstr>Electricity</vt:lpstr>
      <vt:lpstr>Energy and Power</vt:lpstr>
      <vt:lpstr>Energy and Power</vt:lpstr>
      <vt:lpstr>To remember</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emplate/>
  <TotalTime>761</TotalTime>
  <Words>1069</Words>
  <Application>Microsoft Macintosh PowerPoint</Application>
  <PresentationFormat>Widescreen</PresentationFormat>
  <Paragraphs>127</Paragraphs>
  <Slides>17</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Arial</vt:lpstr>
      <vt:lpstr>Georgia</vt:lpstr>
      <vt:lpstr>System Font Regular</vt:lpstr>
      <vt:lpstr>UB Unit Presentation Template</vt:lpstr>
      <vt:lpstr>Presentation Title</vt:lpstr>
      <vt:lpstr>Divider Slide Title</vt:lpstr>
      <vt:lpstr>Title and 1-Column Content</vt:lpstr>
      <vt:lpstr>Title and 2-Column Content</vt:lpstr>
      <vt:lpstr>Title and 1-Column Bulleted List</vt:lpstr>
      <vt:lpstr>Title and 1-Column Bulleted List (no crest)</vt:lpstr>
      <vt:lpstr>Title and 2-Column Bulleted List</vt:lpstr>
      <vt:lpstr>Title, Sub-title and 1-Column Bulleted List</vt:lpstr>
      <vt:lpstr>Title, Sub-title and 2-Column Bulleted List</vt:lpstr>
      <vt:lpstr>Title, Content and Graph</vt:lpstr>
      <vt:lpstr>Title, Content and Photo</vt:lpstr>
      <vt:lpstr>Title, Content and Photos</vt:lpstr>
      <vt:lpstr>Full-width Photo</vt:lpstr>
      <vt:lpstr>Graphic Elements</vt:lpstr>
      <vt:lpstr>Accessibility Tips</vt:lpstr>
      <vt:lpstr>Accessibility Tips (continued)</vt:lpstr>
      <vt:lpstr>Accessibility Tips (continued again)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 — Energy generation</dc:title>
  <dc:creator>Dr. Salvatore Rappoccio</dc:creator>
  <cp:keywords/>
  <cp:lastModifiedBy>Salvatore Rappoccio</cp:lastModifiedBy>
  <cp:revision>20</cp:revision>
  <dcterms:created xsi:type="dcterms:W3CDTF">2026-08-28T18:45:34Z</dcterms:created>
  <dcterms:modified xsi:type="dcterms:W3CDTF">2026-09-03T16:04:23Z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ssignment">
    <vt:lpwstr>Academic Integrity at UB course on UBLearns, with quiz. Share badge on UBLearns.</vt:lpwstr>
  </property>
  <property fmtid="{D5CDD505-2E9C-101B-9397-08002B2CF9AE}" pid="3" name="authors">
    <vt:lpwstr/>
  </property>
  <property fmtid="{D5CDD505-2E9C-101B-9397-08002B2CF9AE}" pid="4" name="biblio-config">
    <vt:lpwstr>True</vt:lpwstr>
  </property>
  <property fmtid="{D5CDD505-2E9C-101B-9397-08002B2CF9AE}" pid="5" name="by-author">
    <vt:lpwstr/>
  </property>
  <property fmtid="{D5CDD505-2E9C-101B-9397-08002B2CF9AE}" pid="6" name="date">
    <vt:lpwstr>2026-08-31</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material">
    <vt:lpwstr>Lecture notes on electricity and magnetism, nuclear fission and fusion, Levelized Cost, the grid. Skill taught: note-taking.</vt:lpwstr>
  </property>
  <property fmtid="{D5CDD505-2E9C-101B-9397-08002B2CF9AE}" pid="12" name="subtitle">
    <vt:lpwstr>PHY199-RAP · Energy in the 21st Century</vt:lpwstr>
  </property>
  <property fmtid="{D5CDD505-2E9C-101B-9397-08002B2CF9AE}" pid="13" name="toc-title">
    <vt:lpwstr>Table of contents</vt:lpwstr>
  </property>
</Properties>
</file>