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81" r:id="rId12"/>
    <p:sldId id="280" r:id="rId13"/>
    <p:sldId id="279" r:id="rId14"/>
    <p:sldId id="282" r:id="rId15"/>
    <p:sldId id="369" r:id="rId16"/>
    <p:sldId id="370" r:id="rId17"/>
    <p:sldId id="283" r:id="rId18"/>
    <p:sldId id="284" r:id="rId19"/>
    <p:sldId id="368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3"/>
    <p:restoredTop sz="94658"/>
  </p:normalViewPr>
  <p:slideViewPr>
    <p:cSldViewPr snapToGrid="0">
      <p:cViewPr varScale="1">
        <p:scale>
          <a:sx n="109" d="100"/>
          <a:sy n="109" d="100"/>
        </p:scale>
        <p:origin x="208" y="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89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45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8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Magnetic_flu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araday's_law_of_induc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agnetic_flux" TargetMode="External"/><Relationship Id="rId3" Type="http://schemas.openxmlformats.org/officeDocument/2006/relationships/hyperlink" Target="https://www.geeksforgeeks.org/physics/spintronics/" TargetMode="External"/><Relationship Id="rId7" Type="http://schemas.openxmlformats.org/officeDocument/2006/relationships/hyperlink" Target="https://www.iqsdirectory.com/articles/electric-coil/solenoid-coils.html" TargetMode="External"/><Relationship Id="rId12" Type="http://schemas.openxmlformats.org/officeDocument/2006/relationships/hyperlink" Target="https://screenrant.com/every-walking-dead-zombie-type-explained-roamer-lurker-variant/" TargetMode="External"/><Relationship Id="rId2" Type="http://schemas.openxmlformats.org/officeDocument/2006/relationships/hyperlink" Target="https://en.wikipedia.org/wiki/Magne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Electromagnet" TargetMode="External"/><Relationship Id="rId11" Type="http://schemas.openxmlformats.org/officeDocument/2006/relationships/hyperlink" Target="https://www.rollingstone.com/tv-movies/tv-movie-news/the-walking-dead-what-the-hell-happened-to-this-show-627893/" TargetMode="External"/><Relationship Id="rId5" Type="http://schemas.openxmlformats.org/officeDocument/2006/relationships/hyperlink" Target="https://sdmmagnets.com/orientation-directions/" TargetMode="External"/><Relationship Id="rId10" Type="http://schemas.openxmlformats.org/officeDocument/2006/relationships/hyperlink" Target="https://www.turbinesinfo.com/steam-turbines/" TargetMode="External"/><Relationship Id="rId4" Type="http://schemas.openxmlformats.org/officeDocument/2006/relationships/hyperlink" Target="https://en.wikipedia.org/wiki/Ising_model" TargetMode="External"/><Relationship Id="rId9" Type="http://schemas.openxmlformats.org/officeDocument/2006/relationships/hyperlink" Target="https://en.wikipedia.org/wiki/Faraday's_law_of_indu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t>Lecture 2 — Energy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Magnetism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A933-350B-9271-6AE6-D3AE39F9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90E9-DC25-E5B0-4142-397849047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64" y="2246546"/>
            <a:ext cx="5187885" cy="4048171"/>
          </a:xfrm>
        </p:spPr>
        <p:txBody>
          <a:bodyPr/>
          <a:lstStyle/>
          <a:p>
            <a:r>
              <a:rPr lang="en-US" dirty="0"/>
              <a:t>Magnets have been known to humans for centuries</a:t>
            </a:r>
          </a:p>
          <a:p>
            <a:r>
              <a:rPr lang="en-US" dirty="0"/>
              <a:t>Similar to electricity, there are two poles (North and South)</a:t>
            </a:r>
          </a:p>
          <a:p>
            <a:r>
              <a:rPr lang="en-US" dirty="0"/>
              <a:t>Distinctly, however, they ALWAYS come in pairs</a:t>
            </a:r>
          </a:p>
          <a:p>
            <a:pPr lvl="1"/>
            <a:r>
              <a:rPr lang="en-US" dirty="0"/>
              <a:t>You can have a single positive charge or a single negative charge, but there is no such thing (that we know of) of a magnetic “monopole”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493D5-45F6-69AA-797C-12FE7250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 descr="&#10;By Newton Henry Black - Black, Newton Henry; Davis, Harvey N. (1913) &quot;fig. 200&quot; in Practical Physics, United States: The MacMillan Co., pp. 242, Public Domain, https://commons.wikimedia.org/w/index.php?curid=73846">
            <a:extLst>
              <a:ext uri="{FF2B5EF4-FFF2-40B4-BE49-F238E27FC236}">
                <a16:creationId xmlns:a16="http://schemas.microsoft.com/office/drawing/2014/main" id="{92AB4EAC-7CB0-E283-CAE3-81539201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765" y="2193792"/>
            <a:ext cx="5353871" cy="3640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D2F5E-D55A-3160-15A0-7855C6A30734}"/>
              </a:ext>
            </a:extLst>
          </p:cNvPr>
          <p:cNvSpPr txBox="1"/>
          <p:nvPr/>
        </p:nvSpPr>
        <p:spPr>
          <a:xfrm>
            <a:off x="6306765" y="5836706"/>
            <a:ext cx="53538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/wiki/Magnet</a:t>
            </a:r>
          </a:p>
        </p:txBody>
      </p:sp>
    </p:spTree>
    <p:extLst>
      <p:ext uri="{BB962C8B-B14F-4D97-AF65-F5344CB8AC3E}">
        <p14:creationId xmlns:p14="http://schemas.microsoft.com/office/powerpoint/2010/main" val="100124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7463-1256-2B86-5189-0C87E329D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77" y="1859914"/>
            <a:ext cx="4904623" cy="4048171"/>
          </a:xfrm>
        </p:spPr>
        <p:txBody>
          <a:bodyPr/>
          <a:lstStyle/>
          <a:p>
            <a:r>
              <a:rPr lang="en-US" dirty="0"/>
              <a:t>The way permanent magnets work is ultimately quantum mechanical</a:t>
            </a:r>
          </a:p>
          <a:p>
            <a:r>
              <a:rPr lang="en-US" dirty="0"/>
              <a:t>Electrons and protons have a quantum property that acts like a “spin”</a:t>
            </a:r>
          </a:p>
          <a:p>
            <a:r>
              <a:rPr lang="en-US" dirty="0"/>
              <a:t>However, it isn’t actually spinning!</a:t>
            </a:r>
          </a:p>
          <a:p>
            <a:pPr lvl="1"/>
            <a:r>
              <a:rPr lang="en-US" dirty="0"/>
              <a:t>As far as we know, electrons are </a:t>
            </a:r>
            <a:r>
              <a:rPr lang="en-US" dirty="0" err="1"/>
              <a:t>pointlike</a:t>
            </a:r>
            <a:r>
              <a:rPr lang="en-US" dirty="0"/>
              <a:t> (it has a radius less than 10</a:t>
            </a:r>
            <a:r>
              <a:rPr lang="en-US" baseline="30000" dirty="0"/>
              <a:t>-18</a:t>
            </a:r>
            <a:r>
              <a:rPr lang="en-US" dirty="0"/>
              <a:t> m), so can’t spin </a:t>
            </a:r>
          </a:p>
          <a:p>
            <a:r>
              <a:rPr lang="en-US" dirty="0"/>
              <a:t>Spins want to be aligned if they can, so the spins at the microscopic level add together to make a macroscopic spin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C65ED-3A19-F847-0E9D-D7448B8F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CAF00F-D6E5-8746-7927-5898AD87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143691"/>
            <a:ext cx="10515600" cy="868680"/>
          </a:xfrm>
        </p:spPr>
        <p:txBody>
          <a:bodyPr/>
          <a:lstStyle/>
          <a:p>
            <a:r>
              <a:rPr lang="en-US" dirty="0"/>
              <a:t>Magnets</a:t>
            </a:r>
          </a:p>
        </p:txBody>
      </p:sp>
      <p:pic>
        <p:nvPicPr>
          <p:cNvPr id="8" name="Picture 7" descr="Image of an electron “spinning”. It carries charge and spin, although it isn’t actually spinning. &#10;">
            <a:extLst>
              <a:ext uri="{FF2B5EF4-FFF2-40B4-BE49-F238E27FC236}">
                <a16:creationId xmlns:a16="http://schemas.microsoft.com/office/drawing/2014/main" id="{BC3193AB-CA46-BEFC-CA1D-2554AC90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08" y="835215"/>
            <a:ext cx="3236546" cy="24240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06EF7-99F9-8E81-9B51-3D89E85E1CAD}"/>
              </a:ext>
            </a:extLst>
          </p:cNvPr>
          <p:cNvSpPr txBox="1"/>
          <p:nvPr/>
        </p:nvSpPr>
        <p:spPr>
          <a:xfrm>
            <a:off x="9102972" y="1322663"/>
            <a:ext cx="2567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lie, it is not actually spinning, it just ACTS like it’s spinning… sort 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51FB7-1070-CAD0-1FAF-626CAF5B85DF}"/>
              </a:ext>
            </a:extLst>
          </p:cNvPr>
          <p:cNvSpPr txBox="1"/>
          <p:nvPr/>
        </p:nvSpPr>
        <p:spPr>
          <a:xfrm>
            <a:off x="5652008" y="3189526"/>
            <a:ext cx="2567352" cy="47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www.geeksforgeeks.org</a:t>
            </a:r>
            <a:r>
              <a:rPr lang="en-US" sz="1200" dirty="0"/>
              <a:t>/physics/spintronics/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587002-3DD8-9720-B2EA-D6949B235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404" y="4200594"/>
            <a:ext cx="4558714" cy="17505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64B8DA-E30D-1BE4-022A-1F72B90E80EC}"/>
              </a:ext>
            </a:extLst>
          </p:cNvPr>
          <p:cNvSpPr txBox="1"/>
          <p:nvPr/>
        </p:nvSpPr>
        <p:spPr>
          <a:xfrm>
            <a:off x="6096000" y="6111601"/>
            <a:ext cx="3017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</a:t>
            </a:r>
            <a:r>
              <a:rPr lang="en-US" sz="1200" dirty="0" err="1"/>
              <a:t>Ising_model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84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D582-8131-0F74-3003-7A12958E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78A53-249F-0916-91DD-71FE19A9A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5303207" cy="4048171"/>
          </a:xfrm>
        </p:spPr>
        <p:txBody>
          <a:bodyPr/>
          <a:lstStyle/>
          <a:p>
            <a:r>
              <a:rPr lang="en-US" dirty="0"/>
              <a:t>Macroscopically, certain metals (like iron) can have DOMAINS of spin</a:t>
            </a:r>
          </a:p>
          <a:p>
            <a:r>
              <a:rPr lang="en-US" dirty="0"/>
              <a:t>If you put them into another magnetic field, they will align and retain their magnetization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7F0FF-1E79-CB76-BED8-AD438A3C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12663-977A-14D4-67DE-1ED51F51C780}"/>
              </a:ext>
            </a:extLst>
          </p:cNvPr>
          <p:cNvSpPr txBox="1"/>
          <p:nvPr/>
        </p:nvSpPr>
        <p:spPr>
          <a:xfrm>
            <a:off x="7369439" y="3749099"/>
            <a:ext cx="3540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sdmmagnets.com</a:t>
            </a:r>
            <a:r>
              <a:rPr lang="en-US" sz="1200" dirty="0"/>
              <a:t>/orientation-directions/</a:t>
            </a:r>
          </a:p>
        </p:txBody>
      </p:sp>
      <p:pic>
        <p:nvPicPr>
          <p:cNvPr id="7" name="Picture 6" descr="Diagram of domains in a magnet. On the left, the domains within a magnet are initially in random directions. On the right, after an external magnetic field is applied, the domains are aligned. ">
            <a:extLst>
              <a:ext uri="{FF2B5EF4-FFF2-40B4-BE49-F238E27FC236}">
                <a16:creationId xmlns:a16="http://schemas.microsoft.com/office/drawing/2014/main" id="{946AC76E-E4ED-F3A5-E592-9660B4658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4" y="1194443"/>
            <a:ext cx="5001398" cy="250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6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F485-0486-8220-A48B-4DF89DA7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11C1-FCC6-CA33-F2AE-36F0B50D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80" y="2195479"/>
            <a:ext cx="7379712" cy="4048171"/>
          </a:xfrm>
        </p:spPr>
        <p:txBody>
          <a:bodyPr/>
          <a:lstStyle/>
          <a:p>
            <a:r>
              <a:rPr lang="en-US" dirty="0"/>
              <a:t>Strength of magnets is measured in Teslas: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 Tesla is a HUGE magnetic field. The experiment I work on (Compact Muon Solenoid) has a 3.8 Tesla magnetic field, and it is the largest flux magnet on earth.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C2B67-1673-CC31-F104-81396674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B79338-A44A-E3A1-3688-1621C4FFF364}"/>
                  </a:ext>
                </a:extLst>
              </p:cNvPr>
              <p:cNvSpPr txBox="1"/>
              <p:nvPr/>
            </p:nvSpPr>
            <p:spPr>
              <a:xfrm>
                <a:off x="1699845" y="2878737"/>
                <a:ext cx="6693878" cy="104176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𝑇𝑒𝑠𝑙𝑎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4000" b="0" dirty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</a:t>
                </a:r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B79338-A44A-E3A1-3688-1621C4FFF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845" y="2878737"/>
                <a:ext cx="6693878" cy="1041760"/>
              </a:xfrm>
              <a:prstGeom prst="rect">
                <a:avLst/>
              </a:prstGeom>
              <a:blipFill>
                <a:blip r:embed="rId2"/>
                <a:stretch>
                  <a:fillRect l="-943" t="-1176" b="-1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3DE4B36-F9D9-1A09-DB2E-1C55917E0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900" y="4057974"/>
            <a:ext cx="3594100" cy="259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C860D6-EBE8-4812-8942-CCA217426A91}"/>
              </a:ext>
            </a:extLst>
          </p:cNvPr>
          <p:cNvSpPr txBox="1"/>
          <p:nvPr/>
        </p:nvSpPr>
        <p:spPr>
          <a:xfrm>
            <a:off x="5576441" y="1366466"/>
            <a:ext cx="488034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Teslas as a unit of magnetic field</a:t>
            </a:r>
          </a:p>
        </p:txBody>
      </p:sp>
    </p:spTree>
    <p:extLst>
      <p:ext uri="{BB962C8B-B14F-4D97-AF65-F5344CB8AC3E}">
        <p14:creationId xmlns:p14="http://schemas.microsoft.com/office/powerpoint/2010/main" val="214032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1CC1-1A3A-0A99-C088-942C362D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Magnets from 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4D6AD-FE8A-7F62-AF8A-C21EEA5D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6041761" cy="4048171"/>
          </a:xfrm>
        </p:spPr>
        <p:txBody>
          <a:bodyPr/>
          <a:lstStyle/>
          <a:p>
            <a:r>
              <a:rPr lang="en-US" dirty="0"/>
              <a:t>If you have a current, the current INDUCES a magnetic field</a:t>
            </a:r>
          </a:p>
          <a:p>
            <a:r>
              <a:rPr lang="en-US" dirty="0"/>
              <a:t>Wrap a wire around an iron core and BOOM. Magnet.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A82F-1DE7-04E4-BE9A-8D0C5363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Image of an electromagnet. A wire is wrapped around an iron core and attached to positive and negative nodes, creating a north and south pole. &#10;Simple_electromagnet.gif, Public Domain, https://commons.wikimedia.org/w/index.php?curid=11750802">
            <a:extLst>
              <a:ext uri="{FF2B5EF4-FFF2-40B4-BE49-F238E27FC236}">
                <a16:creationId xmlns:a16="http://schemas.microsoft.com/office/drawing/2014/main" id="{B3139E2A-FFEE-E547-4EDA-6A7E02AB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122" y="1657817"/>
            <a:ext cx="5034125" cy="3113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21F1A6-D053-A4BA-192C-6FF1DB5EF577}"/>
              </a:ext>
            </a:extLst>
          </p:cNvPr>
          <p:cNvSpPr txBox="1"/>
          <p:nvPr/>
        </p:nvSpPr>
        <p:spPr>
          <a:xfrm>
            <a:off x="7901354" y="4494293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/wiki/Electromagnet</a:t>
            </a:r>
          </a:p>
        </p:txBody>
      </p:sp>
    </p:spTree>
    <p:extLst>
      <p:ext uri="{BB962C8B-B14F-4D97-AF65-F5344CB8AC3E}">
        <p14:creationId xmlns:p14="http://schemas.microsoft.com/office/powerpoint/2010/main" val="2229689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6734-1503-0FC9-D2A1-BE556C9B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Fields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77ABCF-6C3E-F401-8495-BEC70BB1D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4208" y="2522992"/>
                <a:ext cx="5924530" cy="4048171"/>
              </a:xfrm>
            </p:spPr>
            <p:txBody>
              <a:bodyPr/>
              <a:lstStyle/>
              <a:p>
                <a:r>
                  <a:rPr lang="en-US" dirty="0"/>
                  <a:t>Magnets have a magnetic field just like charges have an electric field</a:t>
                </a:r>
              </a:p>
              <a:p>
                <a:r>
                  <a:rPr lang="en-US" sz="2800" b="1" dirty="0"/>
                  <a:t>Circular loop carrying current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77ABCF-6C3E-F401-8495-BEC70BB1D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208" y="2522992"/>
                <a:ext cx="5924530" cy="4048171"/>
              </a:xfrm>
              <a:blipFill>
                <a:blip r:embed="rId2"/>
                <a:stretch>
                  <a:fillRect l="-1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4976A-3002-00E7-7EE4-8C22469C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8FD038-D7C0-8525-5F97-5A30330027D4}"/>
                  </a:ext>
                </a:extLst>
              </p:cNvPr>
              <p:cNvSpPr txBox="1"/>
              <p:nvPr/>
            </p:nvSpPr>
            <p:spPr>
              <a:xfrm>
                <a:off x="4888521" y="4547077"/>
                <a:ext cx="4232031" cy="123655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8FD038-D7C0-8525-5F97-5A303300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521" y="4547077"/>
                <a:ext cx="4232031" cy="123655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EB8525-D726-C1E0-DA3F-AF73D55E3616}"/>
              </a:ext>
            </a:extLst>
          </p:cNvPr>
          <p:cNvSpPr txBox="1"/>
          <p:nvPr/>
        </p:nvSpPr>
        <p:spPr>
          <a:xfrm>
            <a:off x="7988354" y="3436382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Current</a:t>
            </a:r>
            <a:r>
              <a:rPr lang="en-US" dirty="0"/>
              <a:t>: </a:t>
            </a:r>
          </a:p>
          <a:p>
            <a:r>
              <a:rPr lang="en-US" dirty="0"/>
              <a:t>Ampere = Coulombs / second</a:t>
            </a:r>
            <a:endParaRPr lang="en-US" baseline="30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011CF0-0FE1-7B6C-8667-F005A7132E2E}"/>
              </a:ext>
            </a:extLst>
          </p:cNvPr>
          <p:cNvCxnSpPr>
            <a:cxnSpLocks/>
          </p:cNvCxnSpPr>
          <p:nvPr/>
        </p:nvCxnSpPr>
        <p:spPr>
          <a:xfrm flipH="1">
            <a:off x="7988354" y="4089365"/>
            <a:ext cx="1732827" cy="76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F3BE05-2AA7-27BD-ED5A-BCAC02B318FF}"/>
              </a:ext>
            </a:extLst>
          </p:cNvPr>
          <p:cNvSpPr txBox="1"/>
          <p:nvPr/>
        </p:nvSpPr>
        <p:spPr>
          <a:xfrm>
            <a:off x="7387725" y="5933318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Radius of loop</a:t>
            </a:r>
            <a:r>
              <a:rPr lang="en-US" dirty="0"/>
              <a:t>: </a:t>
            </a:r>
          </a:p>
          <a:p>
            <a:r>
              <a:rPr lang="en-US" dirty="0"/>
              <a:t>meters</a:t>
            </a:r>
            <a:endParaRPr lang="en-US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D868B-404D-1778-8921-8C7877F91D48}"/>
              </a:ext>
            </a:extLst>
          </p:cNvPr>
          <p:cNvSpPr txBox="1"/>
          <p:nvPr/>
        </p:nvSpPr>
        <p:spPr>
          <a:xfrm>
            <a:off x="1305638" y="4695199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Magnetic field</a:t>
            </a:r>
            <a:r>
              <a:rPr lang="en-US" dirty="0"/>
              <a:t>: </a:t>
            </a:r>
          </a:p>
          <a:p>
            <a:r>
              <a:rPr lang="en-US" dirty="0"/>
              <a:t>1 Tesla =1 Newton / Amp-meter</a:t>
            </a:r>
            <a:endParaRPr lang="en-US" baseline="30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F56101-0427-9F00-DE59-D576ABEB7AAB}"/>
              </a:ext>
            </a:extLst>
          </p:cNvPr>
          <p:cNvCxnSpPr>
            <a:cxnSpLocks/>
          </p:cNvCxnSpPr>
          <p:nvPr/>
        </p:nvCxnSpPr>
        <p:spPr>
          <a:xfrm>
            <a:off x="4654062" y="5018364"/>
            <a:ext cx="1441938" cy="268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5" name="Picture 14" descr="Image of a wire loop with a current I that induces a magnetic field B. The field lines are also drawn. ">
            <a:extLst>
              <a:ext uri="{FF2B5EF4-FFF2-40B4-BE49-F238E27FC236}">
                <a16:creationId xmlns:a16="http://schemas.microsoft.com/office/drawing/2014/main" id="{2CB39850-94BA-D5C1-317B-2075A3C02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0" y="219509"/>
            <a:ext cx="2186673" cy="27898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C68ABE-1C79-400D-A541-8A8EC6E6564E}"/>
                  </a:ext>
                </a:extLst>
              </p:cNvPr>
              <p:cNvSpPr txBox="1"/>
              <p:nvPr/>
            </p:nvSpPr>
            <p:spPr>
              <a:xfrm>
                <a:off x="908538" y="5744373"/>
                <a:ext cx="3465654" cy="9233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Permeability of free space (constant):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C68ABE-1C79-400D-A541-8A8EC6E65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38" y="5744373"/>
                <a:ext cx="3465654" cy="923330"/>
              </a:xfrm>
              <a:prstGeom prst="rect">
                <a:avLst/>
              </a:prstGeom>
              <a:blipFill>
                <a:blip r:embed="rId5"/>
                <a:stretch>
                  <a:fillRect l="-1455" t="-1333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7C0827-B35E-1085-6608-A9AD93173289}"/>
              </a:ext>
            </a:extLst>
          </p:cNvPr>
          <p:cNvCxnSpPr>
            <a:cxnSpLocks/>
          </p:cNvCxnSpPr>
          <p:nvPr/>
        </p:nvCxnSpPr>
        <p:spPr>
          <a:xfrm flipV="1">
            <a:off x="4308973" y="5018364"/>
            <a:ext cx="2824551" cy="1269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5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62F8-82F5-8D28-322D-80098243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4658A-0AB2-9B3E-1A8E-C9A6DD67C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stack loops together, the magnetic fields add to form a </a:t>
            </a:r>
            <a:r>
              <a:rPr lang="en-US" b="1" dirty="0"/>
              <a:t>solenoid</a:t>
            </a:r>
            <a:r>
              <a:rPr lang="en-US" dirty="0"/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5351E-2034-EAC6-D56E-715B2B92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 descr="Sketch of a wire loop being formed into a solenoid, along with the field lines. Within the solenoid the magnetic field is nearly uniform. ">
            <a:extLst>
              <a:ext uri="{FF2B5EF4-FFF2-40B4-BE49-F238E27FC236}">
                <a16:creationId xmlns:a16="http://schemas.microsoft.com/office/drawing/2014/main" id="{AEB1DF65-4DB5-0E7A-5611-B5893D3D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950" y="2985724"/>
            <a:ext cx="4819630" cy="27044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21EE80-09F2-D185-7CA0-DA2E915AAAE9}"/>
              </a:ext>
            </a:extLst>
          </p:cNvPr>
          <p:cNvSpPr txBox="1"/>
          <p:nvPr/>
        </p:nvSpPr>
        <p:spPr>
          <a:xfrm>
            <a:off x="6440388" y="5853685"/>
            <a:ext cx="4819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www.iqsdirectory.com</a:t>
            </a:r>
            <a:r>
              <a:rPr lang="en-US" sz="1200" dirty="0"/>
              <a:t>/articles/electric-coil/solenoid-</a:t>
            </a:r>
            <a:r>
              <a:rPr lang="en-US" sz="1200" dirty="0" err="1"/>
              <a:t>coils.html</a:t>
            </a:r>
            <a:endParaRPr lang="en-US" sz="1200" dirty="0"/>
          </a:p>
        </p:txBody>
      </p:sp>
      <p:pic>
        <p:nvPicPr>
          <p:cNvPr id="12" name="Picture 11" descr="Image of a loop that can be stacked into a solenoid, which can then be wrapped into a toroid. ">
            <a:extLst>
              <a:ext uri="{FF2B5EF4-FFF2-40B4-BE49-F238E27FC236}">
                <a16:creationId xmlns:a16="http://schemas.microsoft.com/office/drawing/2014/main" id="{3DB8164F-0D05-6197-259E-5DD14E27F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82" y="2895600"/>
            <a:ext cx="3782690" cy="35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9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A51D-1E52-04E7-AF99-9509EF8F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753-BFE0-3F1A-3DAA-E6B3180FF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6240170" cy="4048171"/>
          </a:xfrm>
        </p:spPr>
        <p:txBody>
          <a:bodyPr/>
          <a:lstStyle/>
          <a:p>
            <a:r>
              <a:rPr lang="en-US" dirty="0"/>
              <a:t>We won’t derive the magnetic field of a solenoid (Ampere’s law, PHY108)</a:t>
            </a:r>
          </a:p>
          <a:p>
            <a:r>
              <a:rPr lang="en-US" dirty="0"/>
              <a:t>Just quote the result: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8598B-4FDC-B2A4-855B-97A610CC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2443C-7A5A-1669-9A44-7A9E16959AF4}"/>
              </a:ext>
            </a:extLst>
          </p:cNvPr>
          <p:cNvSpPr txBox="1"/>
          <p:nvPr/>
        </p:nvSpPr>
        <p:spPr>
          <a:xfrm>
            <a:off x="196436" y="4161529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Magnetic field</a:t>
            </a:r>
            <a:r>
              <a:rPr lang="en-US" dirty="0"/>
              <a:t>: </a:t>
            </a:r>
          </a:p>
          <a:p>
            <a:r>
              <a:rPr lang="en-US" dirty="0"/>
              <a:t>1 Tesla =1 Newton / Amp-meter</a:t>
            </a:r>
            <a:endParaRPr 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DCAB09-7F05-FE79-32CC-DE63AD998576}"/>
                  </a:ext>
                </a:extLst>
              </p:cNvPr>
              <p:cNvSpPr txBox="1"/>
              <p:nvPr/>
            </p:nvSpPr>
            <p:spPr>
              <a:xfrm>
                <a:off x="4750063" y="3648387"/>
                <a:ext cx="4624924" cy="125180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𝑖𝑁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DCAB09-7F05-FE79-32CC-DE63AD998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063" y="3648387"/>
                <a:ext cx="4624924" cy="1251802"/>
              </a:xfrm>
              <a:prstGeom prst="rect">
                <a:avLst/>
              </a:prstGeom>
              <a:blipFill>
                <a:blip r:embed="rId2"/>
                <a:stretch>
                  <a:fillRect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0AB395-D75C-27FC-CFCA-1DFB288974F0}"/>
                  </a:ext>
                </a:extLst>
              </p:cNvPr>
              <p:cNvSpPr txBox="1"/>
              <p:nvPr/>
            </p:nvSpPr>
            <p:spPr>
              <a:xfrm>
                <a:off x="908538" y="5744373"/>
                <a:ext cx="3465654" cy="9233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Permeability of free space (constant):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0AB395-D75C-27FC-CFCA-1DFB28897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38" y="5744373"/>
                <a:ext cx="3465654" cy="923330"/>
              </a:xfrm>
              <a:prstGeom prst="rect">
                <a:avLst/>
              </a:prstGeom>
              <a:blipFill>
                <a:blip r:embed="rId3"/>
                <a:stretch>
                  <a:fillRect l="-1455" t="-1333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0A9FAC-AA2E-76FB-A45F-CF667E7D15FA}"/>
              </a:ext>
            </a:extLst>
          </p:cNvPr>
          <p:cNvCxnSpPr>
            <a:cxnSpLocks/>
          </p:cNvCxnSpPr>
          <p:nvPr/>
        </p:nvCxnSpPr>
        <p:spPr>
          <a:xfrm flipV="1">
            <a:off x="4308973" y="4274288"/>
            <a:ext cx="2910534" cy="201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578A72-94B3-E487-9A0C-120B357AB4A2}"/>
              </a:ext>
            </a:extLst>
          </p:cNvPr>
          <p:cNvCxnSpPr>
            <a:cxnSpLocks/>
          </p:cNvCxnSpPr>
          <p:nvPr/>
        </p:nvCxnSpPr>
        <p:spPr>
          <a:xfrm flipV="1">
            <a:off x="3588004" y="4274288"/>
            <a:ext cx="2507996" cy="210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4" name="Picture 13" descr="Sketch of a wire loop being formed into a solenoid, along with the field lines. Within the solenoid the magnetic field is nearly uniform. ">
            <a:extLst>
              <a:ext uri="{FF2B5EF4-FFF2-40B4-BE49-F238E27FC236}">
                <a16:creationId xmlns:a16="http://schemas.microsoft.com/office/drawing/2014/main" id="{D88BA2B3-1B2C-5344-1088-5955DA65B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70" y="381208"/>
            <a:ext cx="4819630" cy="27044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7BE5E6-F199-E868-F340-D61686D1EC3D}"/>
              </a:ext>
            </a:extLst>
          </p:cNvPr>
          <p:cNvSpPr txBox="1"/>
          <p:nvPr/>
        </p:nvSpPr>
        <p:spPr>
          <a:xfrm>
            <a:off x="9067254" y="3623747"/>
            <a:ext cx="212883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Number of turns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32C64D-C104-C138-A496-DE70967E2A22}"/>
              </a:ext>
            </a:extLst>
          </p:cNvPr>
          <p:cNvSpPr txBox="1"/>
          <p:nvPr/>
        </p:nvSpPr>
        <p:spPr>
          <a:xfrm>
            <a:off x="9067254" y="4807860"/>
            <a:ext cx="212883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Length of solenoid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8FAB70-3470-83A9-21F3-3D607B3A570E}"/>
              </a:ext>
            </a:extLst>
          </p:cNvPr>
          <p:cNvCxnSpPr>
            <a:cxnSpLocks/>
          </p:cNvCxnSpPr>
          <p:nvPr/>
        </p:nvCxnSpPr>
        <p:spPr>
          <a:xfrm flipH="1">
            <a:off x="8133907" y="3844991"/>
            <a:ext cx="873786" cy="148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7BE2C6-3053-01EC-5C3A-E760DD476F1A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852864" y="4818449"/>
            <a:ext cx="1214390" cy="312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C69CC84-71AD-420C-26D3-BD21690B7F87}"/>
              </a:ext>
            </a:extLst>
          </p:cNvPr>
          <p:cNvSpPr txBox="1"/>
          <p:nvPr/>
        </p:nvSpPr>
        <p:spPr>
          <a:xfrm>
            <a:off x="5764240" y="5512356"/>
            <a:ext cx="4880344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the magnetic field of a solenoid is proportional to the current and the number of turns per unit length</a:t>
            </a:r>
          </a:p>
        </p:txBody>
      </p:sp>
    </p:spTree>
    <p:extLst>
      <p:ext uri="{BB962C8B-B14F-4D97-AF65-F5344CB8AC3E}">
        <p14:creationId xmlns:p14="http://schemas.microsoft.com/office/powerpoint/2010/main" val="2513127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C326-95AE-801E-E4A0-3990A591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64" y="1247293"/>
            <a:ext cx="10515600" cy="868680"/>
          </a:xfrm>
        </p:spPr>
        <p:txBody>
          <a:bodyPr/>
          <a:lstStyle/>
          <a:p>
            <a:r>
              <a:rPr lang="en-US" dirty="0"/>
              <a:t>Magnetic Flux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817F-5780-5EE5-1EFA-CADEBDEF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64" y="2052386"/>
            <a:ext cx="5701792" cy="4197857"/>
          </a:xfrm>
        </p:spPr>
        <p:txBody>
          <a:bodyPr/>
          <a:lstStyle/>
          <a:p>
            <a:r>
              <a:rPr lang="en-US" dirty="0"/>
              <a:t>An important concept we’re going to use is the idea of a </a:t>
            </a:r>
            <a:r>
              <a:rPr lang="en-US" dirty="0">
                <a:hlinkClick r:id="rId2"/>
              </a:rPr>
              <a:t>magnetic flux</a:t>
            </a:r>
            <a:endParaRPr lang="en-US" dirty="0"/>
          </a:p>
          <a:p>
            <a:r>
              <a:rPr lang="en-US" dirty="0"/>
              <a:t>For simple cases (constant magnetic field passing directly through an area) it is the product of the magnetic field times the area: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5221E-CC66-F445-85D1-B98D46B8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A25308-49EA-CF35-AC4B-6D24CC8B911E}"/>
                  </a:ext>
                </a:extLst>
              </p:cNvPr>
              <p:cNvSpPr txBox="1"/>
              <p:nvPr/>
            </p:nvSpPr>
            <p:spPr>
              <a:xfrm>
                <a:off x="2416362" y="4924558"/>
                <a:ext cx="3351946" cy="70788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A25308-49EA-CF35-AC4B-6D24CC8B9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62" y="4924558"/>
                <a:ext cx="3351946" cy="707886"/>
              </a:xfrm>
              <a:prstGeom prst="rect">
                <a:avLst/>
              </a:prstGeom>
              <a:blipFill>
                <a:blip r:embed="rId3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5DF79F4-8E8B-B06F-AF19-DF97D580D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02" y="3340565"/>
            <a:ext cx="2559601" cy="2152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6EB34-8572-3789-DEB7-DD6A25E44B6B}"/>
              </a:ext>
            </a:extLst>
          </p:cNvPr>
          <p:cNvSpPr txBox="1"/>
          <p:nvPr/>
        </p:nvSpPr>
        <p:spPr>
          <a:xfrm>
            <a:off x="8036429" y="1193892"/>
            <a:ext cx="4014759" cy="369332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those who love calculus like me: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43989-254F-D69C-B13D-1D5E2A97885A}"/>
              </a:ext>
            </a:extLst>
          </p:cNvPr>
          <p:cNvSpPr txBox="1"/>
          <p:nvPr/>
        </p:nvSpPr>
        <p:spPr>
          <a:xfrm>
            <a:off x="8722240" y="1741352"/>
            <a:ext cx="3075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flux is the integral of the dot product of the magnetic field and the plane of the area.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180038-3972-1C07-18B3-F484BEB62D58}"/>
                  </a:ext>
                </a:extLst>
              </p:cNvPr>
              <p:cNvSpPr txBox="1"/>
              <p:nvPr/>
            </p:nvSpPr>
            <p:spPr>
              <a:xfrm>
                <a:off x="8344503" y="2941681"/>
                <a:ext cx="3831026" cy="135094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acc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180038-3972-1C07-18B3-F484BEB62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503" y="2941681"/>
                <a:ext cx="3831026" cy="1350947"/>
              </a:xfrm>
              <a:prstGeom prst="rect">
                <a:avLst/>
              </a:prstGeom>
              <a:blipFill>
                <a:blip r:embed="rId5"/>
                <a:stretch>
                  <a:fillRect l="-12171" t="-188073" r="-1645" b="-266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6FC1662-8F8F-C493-1BFD-3D3F6B74E1BB}"/>
              </a:ext>
            </a:extLst>
          </p:cNvPr>
          <p:cNvSpPr txBox="1"/>
          <p:nvPr/>
        </p:nvSpPr>
        <p:spPr>
          <a:xfrm>
            <a:off x="547310" y="5924832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Magnetic field</a:t>
            </a:r>
            <a:r>
              <a:rPr lang="en-US" dirty="0"/>
              <a:t>: </a:t>
            </a:r>
          </a:p>
          <a:p>
            <a:r>
              <a:rPr lang="en-US" dirty="0"/>
              <a:t>1 Tesla =1 Newton / Amp-meter</a:t>
            </a:r>
            <a:endParaRPr lang="en-US" baseline="30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238FB1-F8CF-E388-F1BD-5E37AA2BA65D}"/>
              </a:ext>
            </a:extLst>
          </p:cNvPr>
          <p:cNvCxnSpPr>
            <a:cxnSpLocks/>
          </p:cNvCxnSpPr>
          <p:nvPr/>
        </p:nvCxnSpPr>
        <p:spPr>
          <a:xfrm flipV="1">
            <a:off x="3090987" y="5502134"/>
            <a:ext cx="1181072" cy="461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8125FA-1263-682C-2D88-E229C9E0B30B}"/>
              </a:ext>
            </a:extLst>
          </p:cNvPr>
          <p:cNvSpPr txBox="1"/>
          <p:nvPr/>
        </p:nvSpPr>
        <p:spPr>
          <a:xfrm>
            <a:off x="4454393" y="6138404"/>
            <a:ext cx="146794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Area: m</a:t>
            </a:r>
            <a:r>
              <a:rPr lang="en-US" b="1" baseline="30000" dirty="0"/>
              <a:t>2</a:t>
            </a:r>
            <a:endParaRPr lang="en-US" baseline="30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ADCB26-D5C1-7A04-2DA5-FDBDF358E987}"/>
              </a:ext>
            </a:extLst>
          </p:cNvPr>
          <p:cNvCxnSpPr>
            <a:cxnSpLocks/>
          </p:cNvCxnSpPr>
          <p:nvPr/>
        </p:nvCxnSpPr>
        <p:spPr>
          <a:xfrm flipH="1" flipV="1">
            <a:off x="5268343" y="5502134"/>
            <a:ext cx="316836" cy="675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EC21F7-80AD-02ED-8130-884523BAF802}"/>
                  </a:ext>
                </a:extLst>
              </p:cNvPr>
              <p:cNvSpPr txBox="1"/>
              <p:nvPr/>
            </p:nvSpPr>
            <p:spPr>
              <a:xfrm>
                <a:off x="199551" y="4217847"/>
                <a:ext cx="3465654" cy="64633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Magnetic flux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1 Weber =1 Tesla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Amp</m:t>
                    </m:r>
                  </m:oMath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EC21F7-80AD-02ED-8130-884523BAF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1" y="4217847"/>
                <a:ext cx="3465654" cy="646331"/>
              </a:xfrm>
              <a:prstGeom prst="rect">
                <a:avLst/>
              </a:prstGeom>
              <a:blipFill>
                <a:blip r:embed="rId6"/>
                <a:stretch>
                  <a:fillRect l="-1460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EF76A5-3ED4-D22B-1625-95B9B99C6704}"/>
              </a:ext>
            </a:extLst>
          </p:cNvPr>
          <p:cNvCxnSpPr>
            <a:cxnSpLocks/>
          </p:cNvCxnSpPr>
          <p:nvPr/>
        </p:nvCxnSpPr>
        <p:spPr>
          <a:xfrm>
            <a:off x="1825826" y="4894368"/>
            <a:ext cx="1013067" cy="269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5ED5B9-C121-1146-A0DE-EA68B4108125}"/>
              </a:ext>
            </a:extLst>
          </p:cNvPr>
          <p:cNvSpPr txBox="1"/>
          <p:nvPr/>
        </p:nvSpPr>
        <p:spPr>
          <a:xfrm>
            <a:off x="7262885" y="5924832"/>
            <a:ext cx="4880344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the flux of a magnetic field is the product of the magnetic field and the area</a:t>
            </a:r>
          </a:p>
        </p:txBody>
      </p:sp>
    </p:spTree>
    <p:extLst>
      <p:ext uri="{BB962C8B-B14F-4D97-AF65-F5344CB8AC3E}">
        <p14:creationId xmlns:p14="http://schemas.microsoft.com/office/powerpoint/2010/main" val="398634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420F-235D-EE11-4BD5-629D4CE91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9D82-EACD-4457-E3ED-0D2723AF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Electricity and magnetism : now together!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91C30-DDF2-61E1-EED2-F4C27096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78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F0A5-931A-0F90-B0D4-65CDA87C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A83D-6014-94F7-40B2-196BC9FB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5549392" cy="4048171"/>
          </a:xfrm>
        </p:spPr>
        <p:txBody>
          <a:bodyPr/>
          <a:lstStyle/>
          <a:p>
            <a:r>
              <a:rPr lang="en-US" dirty="0"/>
              <a:t>The modern electrical grid is built upon the</a:t>
            </a:r>
            <a:r>
              <a:rPr lang="en-US" dirty="0">
                <a:hlinkClick r:id="rId3"/>
              </a:rPr>
              <a:t> law of induction</a:t>
            </a:r>
            <a:r>
              <a:rPr lang="en-US" dirty="0"/>
              <a:t>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E77B-D1DD-84CE-883C-E387BC0D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E02C4-FF5B-B5E0-4C53-883551AF7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723" y="1830743"/>
            <a:ext cx="4498997" cy="3783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A72982-C9EE-6D5D-62C2-EDBAAAB92FE2}"/>
              </a:ext>
            </a:extLst>
          </p:cNvPr>
          <p:cNvSpPr txBox="1"/>
          <p:nvPr/>
        </p:nvSpPr>
        <p:spPr>
          <a:xfrm>
            <a:off x="638580" y="3592970"/>
            <a:ext cx="6097772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/>
              <a:t>A current can be created (“induced”) by a changing magnetic flux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D593D-8F19-3092-7069-ABC9BD6D27D9}"/>
              </a:ext>
            </a:extLst>
          </p:cNvPr>
          <p:cNvSpPr txBox="1"/>
          <p:nvPr/>
        </p:nvSpPr>
        <p:spPr>
          <a:xfrm>
            <a:off x="712280" y="5347596"/>
            <a:ext cx="6912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Arguably the most influential scientific statement in human history.</a:t>
            </a:r>
          </a:p>
          <a:p>
            <a:r>
              <a:rPr lang="en-US" dirty="0"/>
              <a:t>This allows us to generate electric power.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C4F05-B017-9EB4-D15B-BACFA587A396}"/>
              </a:ext>
            </a:extLst>
          </p:cNvPr>
          <p:cNvSpPr txBox="1"/>
          <p:nvPr/>
        </p:nvSpPr>
        <p:spPr>
          <a:xfrm>
            <a:off x="6917448" y="5882872"/>
            <a:ext cx="488034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absolutely need to understand this. Every human should. </a:t>
            </a:r>
          </a:p>
        </p:txBody>
      </p:sp>
    </p:spTree>
    <p:extLst>
      <p:ext uri="{BB962C8B-B14F-4D97-AF65-F5344CB8AC3E}">
        <p14:creationId xmlns:p14="http://schemas.microsoft.com/office/powerpoint/2010/main" val="74312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845F-5EF5-38FB-9322-C437ED3E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AC62F-F1B5-BFEE-8210-488352E9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5389904" cy="4048171"/>
          </a:xfrm>
        </p:spPr>
        <p:txBody>
          <a:bodyPr/>
          <a:lstStyle/>
          <a:p>
            <a:r>
              <a:rPr lang="en-US" dirty="0"/>
              <a:t>Mathematically: </a:t>
            </a:r>
          </a:p>
          <a:p>
            <a:pPr lvl="1"/>
            <a:r>
              <a:rPr lang="en-US" dirty="0"/>
              <a:t>Electromotive force (voltage) is generated by changing magnetic field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0C90A-A534-3534-D952-8ED15563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5380F-E062-31CD-F93A-4045C0D17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583" y="1938966"/>
            <a:ext cx="4498997" cy="3783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D32B6A-5971-0FD7-94EC-0A0C40114788}"/>
                  </a:ext>
                </a:extLst>
              </p:cNvPr>
              <p:cNvSpPr txBox="1"/>
              <p:nvPr/>
            </p:nvSpPr>
            <p:spPr>
              <a:xfrm>
                <a:off x="2670577" y="5035502"/>
                <a:ext cx="2827407" cy="124886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D32B6A-5971-0FD7-94EC-0A0C4011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577" y="5035502"/>
                <a:ext cx="2827407" cy="1248868"/>
              </a:xfrm>
              <a:prstGeom prst="rect">
                <a:avLst/>
              </a:prstGeom>
              <a:blipFill>
                <a:blip r:embed="rId3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CC217-CF15-C3C6-ADAA-169A568D17FB}"/>
                  </a:ext>
                </a:extLst>
              </p:cNvPr>
              <p:cNvSpPr txBox="1"/>
              <p:nvPr/>
            </p:nvSpPr>
            <p:spPr>
              <a:xfrm>
                <a:off x="4565785" y="4172001"/>
                <a:ext cx="3465654" cy="64633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Magnetic flux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1 Weber =1 Tesla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Amp</m:t>
                    </m:r>
                  </m:oMath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CC217-CF15-C3C6-ADAA-169A568D1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785" y="4172001"/>
                <a:ext cx="3465654" cy="646331"/>
              </a:xfrm>
              <a:prstGeom prst="rect">
                <a:avLst/>
              </a:prstGeom>
              <a:blipFill>
                <a:blip r:embed="rId4"/>
                <a:stretch>
                  <a:fillRect l="-1460" t="-188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3E97F99-3C59-356D-B4FE-56B0B304B342}"/>
              </a:ext>
            </a:extLst>
          </p:cNvPr>
          <p:cNvSpPr txBox="1"/>
          <p:nvPr/>
        </p:nvSpPr>
        <p:spPr>
          <a:xfrm>
            <a:off x="5652664" y="5975230"/>
            <a:ext cx="1267428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Time</a:t>
            </a:r>
            <a:r>
              <a:rPr lang="en-US" dirty="0"/>
              <a:t>: </a:t>
            </a:r>
          </a:p>
          <a:p>
            <a:r>
              <a:rPr lang="en-US" dirty="0"/>
              <a:t>seconds</a:t>
            </a:r>
            <a:endParaRPr lang="en-US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1997E-3ECB-96E1-B5B5-212C273BBDAE}"/>
              </a:ext>
            </a:extLst>
          </p:cNvPr>
          <p:cNvSpPr txBox="1"/>
          <p:nvPr/>
        </p:nvSpPr>
        <p:spPr>
          <a:xfrm>
            <a:off x="86160" y="4289912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Electromotive force (Voltage)</a:t>
            </a:r>
            <a:r>
              <a:rPr lang="en-US" dirty="0"/>
              <a:t>: </a:t>
            </a:r>
          </a:p>
          <a:p>
            <a:r>
              <a:rPr lang="en-US" dirty="0"/>
              <a:t>1 Volt</a:t>
            </a:r>
            <a:endParaRPr lang="en-US" baseline="30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B95A95-1967-D526-0A81-36D614236E8F}"/>
              </a:ext>
            </a:extLst>
          </p:cNvPr>
          <p:cNvCxnSpPr>
            <a:cxnSpLocks/>
          </p:cNvCxnSpPr>
          <p:nvPr/>
        </p:nvCxnSpPr>
        <p:spPr>
          <a:xfrm>
            <a:off x="1489644" y="4985873"/>
            <a:ext cx="1599516" cy="736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9F4ED7-4AD4-7EC8-F96E-1182F3BA1928}"/>
              </a:ext>
            </a:extLst>
          </p:cNvPr>
          <p:cNvCxnSpPr>
            <a:cxnSpLocks/>
          </p:cNvCxnSpPr>
          <p:nvPr/>
        </p:nvCxnSpPr>
        <p:spPr>
          <a:xfrm flipH="1">
            <a:off x="5124893" y="4838387"/>
            <a:ext cx="1204007" cy="514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230211-EE85-BD3C-EA66-998301A8283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5050512" y="5970696"/>
            <a:ext cx="602152" cy="327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723529-BE8B-B552-3F3C-FF42638FB0BD}"/>
              </a:ext>
            </a:extLst>
          </p:cNvPr>
          <p:cNvSpPr txBox="1"/>
          <p:nvPr/>
        </p:nvSpPr>
        <p:spPr>
          <a:xfrm>
            <a:off x="7298204" y="5931250"/>
            <a:ext cx="488034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a voltage is induced from a changing magnetic flux</a:t>
            </a:r>
          </a:p>
        </p:txBody>
      </p:sp>
    </p:spTree>
    <p:extLst>
      <p:ext uri="{BB962C8B-B14F-4D97-AF65-F5344CB8AC3E}">
        <p14:creationId xmlns:p14="http://schemas.microsoft.com/office/powerpoint/2010/main" val="1341869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07213-A8E4-6A6A-3054-83239C93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Tophat</a:t>
            </a:r>
            <a:r>
              <a:rPr lang="en-US" dirty="0"/>
              <a:t>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D2688-D657-BC83-2BE9-85275A63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16DCA-DCBF-5D1E-8D16-958F742D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9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9091-A109-2EC8-EBBE-48CBB7DA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Turbines and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A501-B106-9BD1-E510-B511E540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373306"/>
            <a:ext cx="5127361" cy="4197857"/>
          </a:xfrm>
        </p:spPr>
        <p:txBody>
          <a:bodyPr/>
          <a:lstStyle/>
          <a:p>
            <a:r>
              <a:rPr lang="en-US" dirty="0"/>
              <a:t>Turbine: </a:t>
            </a:r>
          </a:p>
          <a:p>
            <a:pPr lvl="1"/>
            <a:r>
              <a:rPr lang="en-US" dirty="0"/>
              <a:t>Fixed blades and rotating blades are inside a casing. </a:t>
            </a:r>
          </a:p>
          <a:p>
            <a:pPr lvl="1"/>
            <a:r>
              <a:rPr lang="en-US" dirty="0"/>
              <a:t>The rotating blades are attached to a shaft, which is then connected to a wire that rotates inside a magnetic field. </a:t>
            </a:r>
          </a:p>
          <a:p>
            <a:pPr lvl="1"/>
            <a:r>
              <a:rPr lang="en-US" dirty="0"/>
              <a:t>Steam passes through, turning the rotating blades and the shaft, generating electricity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93658-DB06-811D-87B9-9679FA3E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0EF9A-44E6-C12B-B2AD-BC18FD1419FA}"/>
              </a:ext>
            </a:extLst>
          </p:cNvPr>
          <p:cNvSpPr txBox="1"/>
          <p:nvPr/>
        </p:nvSpPr>
        <p:spPr>
          <a:xfrm>
            <a:off x="5183850" y="64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www.turbinesinfo.com</a:t>
            </a:r>
            <a:r>
              <a:rPr lang="en-US" dirty="0"/>
              <a:t>/steam-turbines/</a:t>
            </a:r>
          </a:p>
        </p:txBody>
      </p:sp>
      <p:pic>
        <p:nvPicPr>
          <p:cNvPr id="7" name="Picture 6" descr="Schematic of the flow of a steam turbine. Water passes into a boiler, which is converted to steam. The steam turns a generator and is passed back to a condenser, and closes the loop. ">
            <a:extLst>
              <a:ext uri="{FF2B5EF4-FFF2-40B4-BE49-F238E27FC236}">
                <a16:creationId xmlns:a16="http://schemas.microsoft.com/office/drawing/2014/main" id="{694BED89-4C72-67CC-C783-E0F16D89D3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094" y="3647686"/>
            <a:ext cx="4512914" cy="2694021"/>
          </a:xfrm>
          <a:prstGeom prst="rect">
            <a:avLst/>
          </a:prstGeom>
        </p:spPr>
      </p:pic>
      <p:pic>
        <p:nvPicPr>
          <p:cNvPr id="8" name="Picture 7" descr="Schematic of the interior of a steam engine. Fixed blades and rotating blades are inside a casing. The rotating blades are attached to a shaft, which is then connected to a wire that rotates inside a magnetic field. Steam passes through, turning the rotating blades and the shaft, generating electricity. ">
            <a:extLst>
              <a:ext uri="{FF2B5EF4-FFF2-40B4-BE49-F238E27FC236}">
                <a16:creationId xmlns:a16="http://schemas.microsoft.com/office/drawing/2014/main" id="{3C37905D-1653-E460-E057-B4125CC3CF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94" y="516293"/>
            <a:ext cx="3489080" cy="25400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9C7D7E-EB37-6EEE-C935-0D556230A752}"/>
              </a:ext>
            </a:extLst>
          </p:cNvPr>
          <p:cNvCxnSpPr>
            <a:cxnSpLocks/>
          </p:cNvCxnSpPr>
          <p:nvPr/>
        </p:nvCxnSpPr>
        <p:spPr>
          <a:xfrm flipV="1">
            <a:off x="5369169" y="1643973"/>
            <a:ext cx="3001108" cy="148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794A96-0304-BE7C-ADB3-356B42E47039}"/>
              </a:ext>
            </a:extLst>
          </p:cNvPr>
          <p:cNvCxnSpPr>
            <a:cxnSpLocks/>
          </p:cNvCxnSpPr>
          <p:nvPr/>
        </p:nvCxnSpPr>
        <p:spPr>
          <a:xfrm flipV="1">
            <a:off x="5208182" y="2143850"/>
            <a:ext cx="2540772" cy="2033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E11DF3-E5A8-1068-7AB9-969BB02AA61A}"/>
              </a:ext>
            </a:extLst>
          </p:cNvPr>
          <p:cNvCxnSpPr>
            <a:cxnSpLocks/>
          </p:cNvCxnSpPr>
          <p:nvPr/>
        </p:nvCxnSpPr>
        <p:spPr>
          <a:xfrm flipV="1">
            <a:off x="4960946" y="4044676"/>
            <a:ext cx="3409331" cy="1525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274960-5084-147C-0DCC-6226BC7195BD}"/>
              </a:ext>
            </a:extLst>
          </p:cNvPr>
          <p:cNvCxnSpPr>
            <a:cxnSpLocks/>
          </p:cNvCxnSpPr>
          <p:nvPr/>
        </p:nvCxnSpPr>
        <p:spPr>
          <a:xfrm flipV="1">
            <a:off x="3664503" y="4472234"/>
            <a:ext cx="7096649" cy="185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009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A65D-B8BA-3DF1-E1B5-3C8F47CC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036793"/>
            <a:ext cx="10515600" cy="868680"/>
          </a:xfrm>
        </p:spPr>
        <p:txBody>
          <a:bodyPr/>
          <a:lstStyle/>
          <a:p>
            <a:r>
              <a:rPr lang="en-US" dirty="0"/>
              <a:t>REMEMBER THAT!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8AD1-190F-D0C8-A30C-D0CE06D0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1773036"/>
            <a:ext cx="10515600" cy="4048171"/>
          </a:xfrm>
        </p:spPr>
        <p:txBody>
          <a:bodyPr/>
          <a:lstStyle/>
          <a:p>
            <a:r>
              <a:rPr lang="en-US" dirty="0"/>
              <a:t>It could save your life in the zombie apocalypse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EA970-B243-0754-6C24-C92B21C5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Image of characters from the Walking Dead carrying guns in a formation. ">
            <a:extLst>
              <a:ext uri="{FF2B5EF4-FFF2-40B4-BE49-F238E27FC236}">
                <a16:creationId xmlns:a16="http://schemas.microsoft.com/office/drawing/2014/main" id="{9C3F9A30-06B1-ED66-F624-67382DD3C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912" y="2934412"/>
            <a:ext cx="4792030" cy="3194687"/>
          </a:xfrm>
          <a:prstGeom prst="rect">
            <a:avLst/>
          </a:prstGeo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D7B86652-764B-967A-688B-C82D9690035C}"/>
              </a:ext>
            </a:extLst>
          </p:cNvPr>
          <p:cNvSpPr/>
          <p:nvPr/>
        </p:nvSpPr>
        <p:spPr>
          <a:xfrm>
            <a:off x="7708605" y="1253165"/>
            <a:ext cx="3398975" cy="1181691"/>
          </a:xfrm>
          <a:prstGeom prst="wedgeRectCallout">
            <a:avLst>
              <a:gd name="adj1" fmla="val -75468"/>
              <a:gd name="adj2" fmla="val 1422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 do not understand how easy it is to generate electricity with the law of induction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E4D2D1E3-219C-1D59-7869-F9A8234A35CF}"/>
              </a:ext>
            </a:extLst>
          </p:cNvPr>
          <p:cNvSpPr/>
          <p:nvPr/>
        </p:nvSpPr>
        <p:spPr>
          <a:xfrm>
            <a:off x="1300800" y="2394052"/>
            <a:ext cx="1545197" cy="495327"/>
          </a:xfrm>
          <a:prstGeom prst="wedgeRectCallout">
            <a:avLst>
              <a:gd name="adj1" fmla="val 122521"/>
              <a:gd name="adj2" fmla="val 168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Shut up, Rick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DA0D113B-AB0D-A884-8629-268F035BBDF1}"/>
              </a:ext>
            </a:extLst>
          </p:cNvPr>
          <p:cNvSpPr/>
          <p:nvPr/>
        </p:nvSpPr>
        <p:spPr>
          <a:xfrm>
            <a:off x="4483396" y="2280908"/>
            <a:ext cx="1545197" cy="495327"/>
          </a:xfrm>
          <a:prstGeom prst="wedgeRectCallout">
            <a:avLst>
              <a:gd name="adj1" fmla="val 726"/>
              <a:gd name="adj2" fmla="val 131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 neither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9BA4C650-58BD-750A-21B1-EA2AD6092FBF}"/>
              </a:ext>
            </a:extLst>
          </p:cNvPr>
          <p:cNvSpPr/>
          <p:nvPr/>
        </p:nvSpPr>
        <p:spPr>
          <a:xfrm>
            <a:off x="856046" y="5205422"/>
            <a:ext cx="1857169" cy="615785"/>
          </a:xfrm>
          <a:prstGeom prst="wedgeRectCallout">
            <a:avLst>
              <a:gd name="adj1" fmla="val 134176"/>
              <a:gd name="adj2" fmla="val -2884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What’s induction?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7E1A2B0C-46F5-5C81-6BF1-D3BF51944B05}"/>
              </a:ext>
            </a:extLst>
          </p:cNvPr>
          <p:cNvSpPr/>
          <p:nvPr/>
        </p:nvSpPr>
        <p:spPr>
          <a:xfrm>
            <a:off x="3238875" y="5919154"/>
            <a:ext cx="1857169" cy="615785"/>
          </a:xfrm>
          <a:prstGeom prst="wedgeRectCallout">
            <a:avLst>
              <a:gd name="adj1" fmla="val 106696"/>
              <a:gd name="adj2" fmla="val -4196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What’s a law?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A817-9AD1-738D-CC81-87FFF6495A40}"/>
              </a:ext>
            </a:extLst>
          </p:cNvPr>
          <p:cNvSpPr txBox="1"/>
          <p:nvPr/>
        </p:nvSpPr>
        <p:spPr>
          <a:xfrm>
            <a:off x="5713811" y="6227047"/>
            <a:ext cx="3766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www.rollingstone.com</a:t>
            </a:r>
            <a:r>
              <a:rPr lang="en-US" sz="1200" dirty="0"/>
              <a:t>/tv-movies/tv-movie-news/the-walking-dead-what-the-hell-happened-to-this-show-627893/</a:t>
            </a:r>
          </a:p>
        </p:txBody>
      </p:sp>
    </p:spTree>
    <p:extLst>
      <p:ext uri="{BB962C8B-B14F-4D97-AF65-F5344CB8AC3E}">
        <p14:creationId xmlns:p14="http://schemas.microsoft.com/office/powerpoint/2010/main" val="2935642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B41B-79E1-6426-A1F6-6F868F9E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side rant about zombie shows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97B5C-3A75-DD99-AEA1-963FDAFF4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Normally zombies kind of sit around for a long time without eating anything</a:t>
            </a:r>
          </a:p>
          <a:p>
            <a:r>
              <a:rPr lang="en-US" dirty="0"/>
              <a:t>Where do they get the energy to move?</a:t>
            </a:r>
          </a:p>
          <a:p>
            <a:pPr lvl="1"/>
            <a:r>
              <a:rPr lang="en-US" dirty="0"/>
              <a:t>Like, really, they shouldn’t be able to violate the law of conservation of energy, so????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C5041-5336-6569-1132-DF08973A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938EA-D881-47D0-74CA-D104BAF2D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19" y="3979000"/>
            <a:ext cx="5158154" cy="2579077"/>
          </a:xfrm>
          <a:prstGeom prst="rect">
            <a:avLst/>
          </a:prstGeo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DC27DAC9-47CC-7CEE-3B56-95CABAF397EC}"/>
              </a:ext>
            </a:extLst>
          </p:cNvPr>
          <p:cNvSpPr/>
          <p:nvPr/>
        </p:nvSpPr>
        <p:spPr>
          <a:xfrm>
            <a:off x="7227959" y="4171682"/>
            <a:ext cx="3451764" cy="1631241"/>
          </a:xfrm>
          <a:prstGeom prst="wedgeRectCallout">
            <a:avLst>
              <a:gd name="adj1" fmla="val -109634"/>
              <a:gd name="adj2" fmla="val 62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 haven’t eaten in weeks but somehow I can still walk and run and take down a full grown-ass human with my super strength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A077C-B8E7-4ED0-F931-FEEFB62B18A6}"/>
              </a:ext>
            </a:extLst>
          </p:cNvPr>
          <p:cNvSpPr txBox="1"/>
          <p:nvPr/>
        </p:nvSpPr>
        <p:spPr>
          <a:xfrm>
            <a:off x="1542565" y="6526698"/>
            <a:ext cx="6825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screenrant.com</a:t>
            </a:r>
            <a:r>
              <a:rPr lang="en-US" sz="1200" dirty="0"/>
              <a:t>/every-walking-dead-zombie-type-explained-roamer-lurker-variant/</a:t>
            </a:r>
          </a:p>
        </p:txBody>
      </p:sp>
    </p:spTree>
    <p:extLst>
      <p:ext uri="{BB962C8B-B14F-4D97-AF65-F5344CB8AC3E}">
        <p14:creationId xmlns:p14="http://schemas.microsoft.com/office/powerpoint/2010/main" val="1376799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9062-0367-C2EA-A949-0BA1075A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remember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2B0D2-9886-6678-556A-44B65BB2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5611F-F6BA-8D6D-829B-4DEC32F2B42B}"/>
              </a:ext>
            </a:extLst>
          </p:cNvPr>
          <p:cNvSpPr txBox="1"/>
          <p:nvPr/>
        </p:nvSpPr>
        <p:spPr>
          <a:xfrm>
            <a:off x="9354814" y="27518"/>
            <a:ext cx="2445622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4000" b="0" i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0D74226-A943-5139-5EDB-929912611A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2212191"/>
                  </p:ext>
                </p:extLst>
              </p:nvPr>
            </p:nvGraphicFramePr>
            <p:xfrm>
              <a:off x="3609991" y="1610454"/>
              <a:ext cx="6324636" cy="4595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13533">
                      <a:extLst>
                        <a:ext uri="{9D8B030D-6E8A-4147-A177-3AD203B41FA5}">
                          <a16:colId xmlns:a16="http://schemas.microsoft.com/office/drawing/2014/main" val="786001398"/>
                        </a:ext>
                      </a:extLst>
                    </a:gridCol>
                    <a:gridCol w="3311103">
                      <a:extLst>
                        <a:ext uri="{9D8B030D-6E8A-4147-A177-3AD203B41FA5}">
                          <a16:colId xmlns:a16="http://schemas.microsoft.com/office/drawing/2014/main" val="2117900827"/>
                        </a:ext>
                      </a:extLst>
                    </a:gridCol>
                  </a:tblGrid>
                  <a:tr h="567734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5718451"/>
                      </a:ext>
                    </a:extLst>
                  </a:tr>
                  <a:tr h="944531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Teslas are a unit of magnetic field strength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None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093971"/>
                      </a:ext>
                    </a:extLst>
                  </a:tr>
                  <a:tr h="986326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magnetic field of a solenoid is proportional to the current and the number of turns per unit length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𝑖𝑁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/>
                          <a:endParaRPr lang="en-US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9375202"/>
                      </a:ext>
                    </a:extLst>
                  </a:tr>
                  <a:tr h="6861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the flux of a magnetic field is the product of the magnetic field and the area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931379"/>
                      </a:ext>
                    </a:extLst>
                  </a:tr>
                  <a:tr h="98019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a voltage is induced from a changing magnetic flux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95826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0D74226-A943-5139-5EDB-929912611A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2212191"/>
                  </p:ext>
                </p:extLst>
              </p:nvPr>
            </p:nvGraphicFramePr>
            <p:xfrm>
              <a:off x="3609991" y="1610454"/>
              <a:ext cx="6324636" cy="4595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13533">
                      <a:extLst>
                        <a:ext uri="{9D8B030D-6E8A-4147-A177-3AD203B41FA5}">
                          <a16:colId xmlns:a16="http://schemas.microsoft.com/office/drawing/2014/main" val="786001398"/>
                        </a:ext>
                      </a:extLst>
                    </a:gridCol>
                    <a:gridCol w="3311103">
                      <a:extLst>
                        <a:ext uri="{9D8B030D-6E8A-4147-A177-3AD203B41FA5}">
                          <a16:colId xmlns:a16="http://schemas.microsoft.com/office/drawing/2014/main" val="2117900827"/>
                        </a:ext>
                      </a:extLst>
                    </a:gridCol>
                  </a:tblGrid>
                  <a:tr h="567734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5718451"/>
                      </a:ext>
                    </a:extLst>
                  </a:tr>
                  <a:tr h="944531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Teslas are a unit of magnetic field strength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571" t="-63514" r="-766" b="-3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009397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magnetic field of a solenoid is proportional to the current and the number of turns per unit length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571" t="-128723" r="-766" b="-1617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93752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the flux of a magnetic field is the product of the magnetic field and the area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571" t="-294521" r="-766" b="-1082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8931379"/>
                      </a:ext>
                    </a:extLst>
                  </a:tr>
                  <a:tr h="98019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a voltage is induced from a changing magnetic flux</a:t>
                          </a:r>
                          <a:endParaRPr 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571" t="-374026" r="-766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95826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1167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DC0D-A9E7-F353-E38D-85A3C64E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75" y="866673"/>
            <a:ext cx="10515600" cy="868680"/>
          </a:xfrm>
        </p:spPr>
        <p:txBody>
          <a:bodyPr/>
          <a:lstStyle/>
          <a:p>
            <a:r>
              <a:rPr sz="2000" b="1" dirty="0">
                <a:latin typeface="Arial"/>
              </a:rPr>
              <a:t>Links &amp;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D015-9899-771C-FBA7-85562D44E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2" y="1556194"/>
            <a:ext cx="10607047" cy="5206113"/>
          </a:xfrm>
        </p:spPr>
        <p:txBody>
          <a:bodyPr wrap="square"/>
          <a:lstStyle/>
          <a:p>
            <a:r>
              <a:rPr sz="1600" b="1" dirty="0">
                <a:solidFill>
                  <a:srgbClr val="000000"/>
                </a:solidFill>
                <a:latin typeface="Arial"/>
              </a:rPr>
              <a:t>Magnets — </a:t>
            </a:r>
            <a:r>
              <a:rPr sz="1600" dirty="0">
                <a:latin typeface="Arial"/>
                <a:hlinkClick r:id="rId2"/>
              </a:rPr>
              <a:t>https://en.wikipedia.org/wiki/Magnet</a:t>
            </a:r>
            <a:endParaRPr lang="en-US" sz="1600" dirty="0"/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Spintronics — </a:t>
            </a:r>
            <a:r>
              <a:rPr sz="1600" dirty="0">
                <a:latin typeface="Arial"/>
                <a:hlinkClick r:id="rId3"/>
              </a:rPr>
              <a:t>https://www.geeksforgeeks.org/physics/spintronics/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Ising model — </a:t>
            </a:r>
            <a:r>
              <a:rPr sz="1600" dirty="0">
                <a:latin typeface="Arial"/>
                <a:hlinkClick r:id="rId4"/>
              </a:rPr>
              <a:t>https://en.wikipedia.org/wiki/Ising_model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Magnet orientation — </a:t>
            </a:r>
            <a:r>
              <a:rPr sz="1600" dirty="0">
                <a:latin typeface="Arial"/>
                <a:hlinkClick r:id="rId5"/>
              </a:rPr>
              <a:t>https://sdmmagnets.com/orientation-directions/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Electromagnets — </a:t>
            </a:r>
            <a:r>
              <a:rPr sz="1600" dirty="0">
                <a:latin typeface="Arial"/>
                <a:hlinkClick r:id="rId6"/>
              </a:rPr>
              <a:t>https://en.wikipedia.org/wiki/Electromagnet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Solenoid coils — </a:t>
            </a:r>
            <a:r>
              <a:rPr sz="1600" dirty="0">
                <a:latin typeface="Arial"/>
                <a:hlinkClick r:id="rId7"/>
              </a:rPr>
              <a:t>https://www.iqsdirectory.com/articles/electric-coil/solenoid-coils.html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Magnetic flux — </a:t>
            </a:r>
            <a:r>
              <a:rPr sz="1600" dirty="0">
                <a:latin typeface="Arial"/>
                <a:hlinkClick r:id="rId8"/>
              </a:rPr>
              <a:t>https://en.wikipedia.org/wiki/Magnetic_flux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Faraday's law — </a:t>
            </a:r>
            <a:r>
              <a:rPr sz="1600" dirty="0">
                <a:latin typeface="Arial"/>
                <a:hlinkClick r:id="rId9"/>
              </a:rPr>
              <a:t>https://en.wikipedia.org/wiki/Faraday's_law_of_induction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/>
              </a:rPr>
              <a:t>Turbines — </a:t>
            </a:r>
            <a:r>
              <a:rPr lang="en-US" sz="1600" dirty="0">
                <a:hlinkClick r:id="rId10"/>
              </a:rPr>
              <a:t>https://</a:t>
            </a:r>
            <a:r>
              <a:rPr lang="en-US" sz="1600" dirty="0" err="1">
                <a:hlinkClick r:id="rId10"/>
              </a:rPr>
              <a:t>www.turbinesinfo.com</a:t>
            </a:r>
            <a:r>
              <a:rPr lang="en-US" sz="1600" dirty="0">
                <a:hlinkClick r:id="rId10"/>
              </a:rPr>
              <a:t>/steam-turbines/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Walking Dead review — </a:t>
            </a:r>
            <a:r>
              <a:rPr sz="1600" dirty="0">
                <a:latin typeface="Arial"/>
                <a:hlinkClick r:id="rId11"/>
              </a:rPr>
              <a:t>https://www.rollingstone.com/tv-movies/tv-movie-news/the-walking-dead-what-the-hell-happened-to-this-show-627893/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Zombie types — </a:t>
            </a:r>
            <a:r>
              <a:rPr sz="1600" dirty="0">
                <a:latin typeface="Arial"/>
                <a:hlinkClick r:id="rId12"/>
              </a:rPr>
              <a:t>https://screenrant.com/every-walking-dead-zombie-type-explained-roamer-lurker-variant/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0C40-84E0-4AB9-3D1C-CCD4A140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73253"/>
      </p:ext>
    </p:extLst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4437</TotalTime>
  <Words>1222</Words>
  <Application>Microsoft Macintosh PowerPoint</Application>
  <PresentationFormat>Widescreen</PresentationFormat>
  <Paragraphs>158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Cambria Math</vt:lpstr>
      <vt:lpstr>Georgia</vt:lpstr>
      <vt:lpstr>System Font Regular</vt:lpstr>
      <vt:lpstr>UB Unit Presentation Template</vt:lpstr>
      <vt:lpstr>Lecture 2 — Energy generation</vt:lpstr>
      <vt:lpstr>Magnetism</vt:lpstr>
      <vt:lpstr>Magnets</vt:lpstr>
      <vt:lpstr>Magnets</vt:lpstr>
      <vt:lpstr>Magnets</vt:lpstr>
      <vt:lpstr>Magnets</vt:lpstr>
      <vt:lpstr>Magnets from Electricity</vt:lpstr>
      <vt:lpstr>Magnetic Fields </vt:lpstr>
      <vt:lpstr>Magnetic Fields</vt:lpstr>
      <vt:lpstr>Magnetic Fields</vt:lpstr>
      <vt:lpstr>Magnetic Flux</vt:lpstr>
      <vt:lpstr>Electricity and magnetism : now together!</vt:lpstr>
      <vt:lpstr>Magnetic Induction</vt:lpstr>
      <vt:lpstr>Magnetic Induction</vt:lpstr>
      <vt:lpstr>Tophat quiz</vt:lpstr>
      <vt:lpstr>Turbines and Motors</vt:lpstr>
      <vt:lpstr>REMEMBER THAT! </vt:lpstr>
      <vt:lpstr>My side rant about zombie shows</vt:lpstr>
      <vt:lpstr>To remember</vt:lpstr>
      <vt:lpstr>Links &amp; 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Energy generation</dc:title>
  <dc:creator>Dr. Salvatore Rappoccio</dc:creator>
  <cp:keywords/>
  <cp:lastModifiedBy>Salvatore Rappoccio</cp:lastModifiedBy>
  <cp:revision>31</cp:revision>
  <dcterms:created xsi:type="dcterms:W3CDTF">2026-08-28T18:45:34Z</dcterms:created>
  <dcterms:modified xsi:type="dcterms:W3CDTF">2026-09-04T14:16:55Z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Academic Integrity at UB course on UBLearns, with quiz. Share badge on UBLearns.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2026-08-31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Lecture notes on electricity and magnetism, nuclear fission and fusion, Levelized Cost, the grid. Skill taught: note-taking.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