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356" r:id="rId3"/>
    <p:sldId id="31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/>
    <p:restoredTop sz="94658"/>
  </p:normalViewPr>
  <p:slideViewPr>
    <p:cSldViewPr snapToGrid="0">
      <p:cViewPr varScale="1">
        <p:scale>
          <a:sx n="120" d="100"/>
          <a:sy n="120" d="100"/>
        </p:scale>
        <p:origin x="9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Ørsted, Copenhagen, spring 1820 — the founding moment of electromagnetism. Ampère then quantified the force within months. This is the “electricity → magnetism” direction; Faraday (next slide) closes the loop the other way, and </a:t>
            </a:r>
            <a:r>
              <a:rPr i="1"/>
              <a:t>that</a:t>
            </a:r>
            <a:r>
              <a:t> loop is every generator. Source: Britannica (Hans Christian Ørsted; Ampère); Royal Society historical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\Phi_B = magnetic flux (field × area through the loop); the EMF is minus its rate of change (Lenz’s law = the minus sign, nature pushing back). Don’t derive it — land the sentence: </a:t>
            </a:r>
            <a:r>
              <a:rPr i="1"/>
              <a:t>changing magnetic flux → voltage</a:t>
            </a:r>
            <a:r>
              <a:t>. Primary source: Faraday, “Experimental Researches in Electricity” (1832, Phil. Trans. R. Soc.); Royal Society commentary (Phil. Trans. A 373:20140208, 2015) is a clean modern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the payoff of the two previous slides and the unifying idea of the physics half: “boil water → spin magnet” is ~80% of the world’s electricity. Ties back to Lecture 1’s Adams Plant / Current Wars slides. The PV exception forward-refs to solar in later weeks. Source: DOE energy.gov (how generators/turbines work) — corroborate with Britannica (electric generator) per source-integrity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Don’t show the four equations as math to first-years; show them as “the grammar of E&amp;M.” Maxwell (1865, “A Dynamical Theory of the Electromagnetic Field,” Phil. Trans. R. Soc.) predicted EM waves travel at c; Hertz confirmed radio waves in 1887. Forward-ref: 60 Hz grid frequency comes up in the grid section. Source: Maxwell (1865); Britannica.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Worked (re-checked this session): E = m c² = (0.001 kg)(2.998×10⁸ m/s)² ≈ 8.99×10¹³ J = 8.99×10¹³ / 3.6×10⁶ ≈ 2.50×10⁷ kWh = 25 GWh. For scale, ~25,000 MWh ≈ what ~2,300 US homes use in a year (US avg ~10,800 kWh/home/yr, EIA — corroborate). Chemistry releases ~a billionth of this per atom; nuclear releases ~a millionth of the rest-mass. That gap is the whole story of nuclear energy. Source: Einstein (1905, Annalen der Physik).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binding-energy curve is the single best physics slide of the lecture — fission and fusion are the </a:t>
            </a:r>
            <a:r>
              <a:rPr i="1"/>
              <a:t>same idea</a:t>
            </a:r>
            <a:r>
              <a:t> (roll toward iron-56) from opposite ends. Peak is actually Ni-62 / Fe-56 depending how you measure; “iron” is the right first-year answer. Source: Krane, </a:t>
            </a:r>
            <a:r>
              <a:rPr i="1"/>
              <a:t>Introductory Nuclear Physics</a:t>
            </a:r>
            <a:r>
              <a:t>; IAEA nuclear data. Commons file candidate: “Binding energy curve - common isotopes.svg” (PD).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Meitner &amp; Frisch (1939, Nature) named and explained fission; Hahn got the 1944 Chemistry Nobel alone — a well-documented snub worth flagging (ties to the course’s justice thread). Forward-ref to Weeks 5–6 (Hiroshima, Church Rock, the human cost). Keep the reactor-vs-bomb distinction crisp: same physics, wildly different rate. Source: Meitner &amp; Frisch (1939); Rhodes, </a:t>
            </a:r>
            <a:r>
              <a:rPr i="1"/>
              <a:t>The Making of the Atomic Bomb</a:t>
            </a:r>
            <a:r>
              <a:t> (secondary but rigorous).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Motif hook (optional, continues L1’s Game of Thrones thread): “the Sun is the only dragon that actually works.” Deuterium-in-water figure (re-checked this session): ~1 D per 6,420 H; 1 L water ≈ 111 mol H → ~1.0×10²² D atoms. Pure water has no tritium, so the realistic route is catalyzed D–D fusion at ~7.2 MeV per deuteron consumed → ~1.2×10¹⁰ J ≈ 3,300 kWh ≈ the energy in ~350 liters of gasoline (gasoline ~34 MJ/L). That’s the origin of the classic “deuterium in 1 L of water ≈ 300 L of gasoline” line. Order-of-magnitude only. Source: ITER Organization (fusion basics); Britannica (nuclear fusion).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NIF ignition: Abu-Shawareb et al. (2024, Phys. Rev. Lett. 132, 065102) — peer-reviewed; target gain &gt;1 (2.05 MJ out vs 2.05 MJ laser to target), later shots exceeded it. Careful framing: that’s energy to the </a:t>
            </a:r>
            <a:r>
              <a:rPr i="1"/>
              <a:t>fuel</a:t>
            </a:r>
            <a:r>
              <a:t>, not wall-plug breakeven — the lasers drew ~300 MJ. ITER revised baseline (announced 2024): first plasma 2034, D-T operation 2039, ~€5B over prior estimate — cite Physics World / ITER Organization. Gen Z explainer: Kurzgesagt “Fusion Power Explained” (verify link at build). Sources on the sources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Keep the formula intuitive: total money in over the plant’s life, divided by total energy out. Real LCOE also discounts future cash flows (time value of money) — mention it exists, don’t compute it. Units: 1 MWh = 1,000 kWh; $50/MWh = 5¢/kWh (about what you pay retail is higher because of the grid — next section). Source: NREL (LCOE explainer); Lazard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Re-checked this session: annual MWh = 1×8760×0.22 = 1,927; ×20 = 38,544 MWh; O&amp;M 15k×20 = $300k; (1,000,000+300,000)/38,544 ≈ $33.7/MWh. Numbers are illustrative but realistic (capital ~$1/W is a reasonable 2025 utility-solar figure). This is the kind of “simple calculation” the course promises — walk it slowly, it’s very defensible in Q&amp;A. Capacity factor is the honest asterisk on every renewable. Source: NREL ATB (method); Lazard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Lazard 2025 unsubsidized (converted from their $/kWh): onshore wind $37–86, utility solar $38–217, CC gas $48–109, coal $71–173, standalone 2-hr battery $81–174, nuclear $141–220, gas peaker $149–251. Note Lazard flags wind rose YoY (onshore +55%) and solar fell ~4%. Lazard’s own caveat (important, next slide): excludes subsidies, carbon price, and grid/ firming costs. Source: Lazard LCOE+ June 2025 (corroborated by pv-magazine, RTO Insider).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is the moral hinge that connects the physics half to the course’s justice throughline. Callback to L1’s “deaths per TWh” (Our World in Data / Markandya &amp; Wilkinson 2007, Lancet) and the climate cost (IPCC AR6). Firming/intermittency forward-refs to the grid section. The honest scientist’s move: love the metric, know its blind spots.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Generation → transmission → distribution is the mental model to leave them with. The North American grid is genuinely one of the largest engineered systems in existence. Source: Britannica (electric power system); IEEE overview. Keep the “largest machine” line — it’s accurate and it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P_{loss}=I^2R is the whole reason for high-voltage transmission and the deep reason AC won (transformers need changing flux — Faraday again — so they need AC). This is a beautiful callback that ties the E&amp;M section, the Current Wars (L1), and the grid together. US transmission runs 100–765 kV; homes get 120/240 V. Source: HyperPhysics; Britannica (transformer); US-Canada Task Force report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60 Hz is the US/Canada standard (50 Hz most of the rest of the world). Frequency is the real-time tell of supply-vs-demand — generators literally spin at a rate that sets it. NYISO runs New York’s grid (good local hook). This sets up the 2003 blackout perfectly. Source: NYISO (how the grid works); NERC frequency standards; Britannica.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U.S.–Canada Power System Outage Task Force, Final Report (2004) — this is federal, so per the source-integrity rule pair it with an independent account (Scientific American 5-years-later; Wikipedia as finding aid → its cited sources). Trigger: FirstEnergy (Ohio) — a software race condition in the alarm system + unmanaged vegetation contact → cascade. Buffalo/WNY were squarely in the blackout zone (good local hook). Deaths estimated ~90+ (indirect). Keep the “coupled system”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Synthesizes the whole lecture: physics (how we generate) + LCOE (what it costs) + grid (delivering it reliably). The honest frontier is storage/timing, not raw cost. Forward-ref to Week 7 (AI/data-center demand) and Week 8 (future energy needs). Source: IEA (grids and storage); NYISO. End on the real 21st-century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the same capstone move as Lecture 1 — model the disclosure the syllabus requires. Swap in the exact token count from this session’s usage log if you want a firm number. Method/uncertainty same as L1: ~0.15–0.45 Wh per 1,000 tokens; water ~0.3–1.8 mL/Wh. The point is the honesty and the range, not false precision. Sources: Google 2025 environmental disclosures; Li et al. “Making AI Less Thirsty”; IEA “Energy and AI.”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Warm, tight close. This is the “one thing to remember” slide — the through-line from generation (physics) to cost (LCOE) to delivery (grid), with the skill of the week folded in.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Confirmed this session (RE-VERIFY exact links at build): 3Blue1Brown “Divergence and curl” = youtube.com/watch?v=rB83DpBJQsE (also 3blue1brown.com/lessons/divergence-and-curl); his neural-network series is the one to save for the Week-7 AI lecture. Elle Cordova = @ellecordova (youtube.com/@ElleCordova; also IG/TikTok) — “Fundamental Forces” reels; pick the electromagnetism one and confirm the exact reel URL. learnwithsherlock = instagram.com/learnwithsherlock + tiktok.com/@learnwithsherlock. All three are on the project’s trusted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Authenticity hooks (project style note): particleclara (Clara Nellist) is a personal friend — “a friend of mine makes these”; and I’m a CMS experimentalist, so CERN/CMS content I can speak to firsthand. Confirmed: particleclara = instagram.com/particleclara, tiktok.com/@particleclara, youtube.com/@ParticleClara. CERN official = home.cern (@CERN across platforms). Brian Cox fusion: BBC Horizon “Can We Make a Star on Earth?” (2009) + “Wonders of the Universe” stellar-fusion segments — pick a clip and verify. Kurzgesagt fusion = youtube.com/watch?v=mZsaaturR6E (same video referenced in Lecture 1; NOT on the vetted list — established and reliable, mark as secondary).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Veritasium “The Big Misconception About Electricity” = youtube.com/watch?v=bHIhgxav9LY (2021); the follow-up “How Electricity Actually Works” answers critics — both are strong on the Poynting- vector idea that ties directly to our high-voltage/transmission slide. Veritasium is NOT on the vetted list (mark secondary), but Lecture 1 already leaned on it, so it’s consistent. Real gaps to flag for the trusted-creator list as it grows: LCOE/energy-economics and study-skills/note-taking — no vetted creator covers these yet. Candidate energy-explainer channels exist but need your vetting before they go on the list. Per course policy, cite any creator’s underlying primary sources if this material makes it into a graded deliverable. (The next section broadens the net to fill these gaps.)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Confirmed this session (RE-VERIFY links at build): Engineering with Rosie (Rosemary Barnes, wind/ composites engineer) — LCOE video = youtube.com/watch?v=i-891blV02c; channel youtube.com/@EngineeringwithRosie. Our World in Data = ourworldindata.org/energy + youtube.com/@ourworldindata3652 — this is the actual data behind our Lazard-adjacent figures and the L1 deaths-per-TWh chart; strongest for “cite the data.” Volts = volts.wtf (David Roberts) — excellent on electricity-market economics but adult/advanced and opinionated (clean-energy advocate — flag POV). Just Have a Think = Dave Borlace, youtube.com/@JustHaveaThink (rigorous, cites sources). Undecided = Matt Ferrell, youtube.com/@UndecidedTechnology (tech + payback- period economics). Ziroth = Ryan Hughes, youtube.com/c/ZirothTech (data viz). ON “BALANCE”: this set leans pro- renewable because that’s where the LCOE numbers and the climate science actually land — that’s the evidence, not a bias to offset, and there’s no reason to manufacture fossil-fuel equal time on a settled empirical question. The real scrutiny is per-creator rigor: do their claims trace to primary data, and are they overselling (hyped timelines, tech that isn’t deployed yet)? All NON-VETTED — your review needed on that 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Practical Engineering (Grady Hillhouse, licensed PE) = practical.engineering + youtube.com/@PracticalEngineering; “How Does the Power Grid Work?” is the single best grid explainer and maps straight onto our grid slides — strong candidate to formally vet/add. Illinois EnergyProf (Prof. David Ruzic, UIUC Nuclear/Plasma/Radiological Eng) = youtube.com/@illinoisenergyprof6878 — credentialed, great on reactors and fusion plasma. Real Engineering = youtube.com/@RealEngineering (Brian McManus) — polished, generally reliable; verify specifics. Steve Mould = youtube.com/@SteveMould — physics demos incl. induction/eddy currents, pairs with the E&amp;M section. All NON-VETTED; Practical Engineering + Illinois EnergyProf are the two I’d prioritize for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Justin Sung = youtube.com/@JustinSung (learning-science coach; leans into his iCanStudy course — flag the soft sales angle, but the content aligns with Dunlosky/retrieval-practice evidence). Benjamin Keep = youtube.com/@BenjaminKeep (PhD; learning science, careful with evidence). Both fill the note-taking gap the prior slide flagged. NON-VETTED. Reminder: our vetted list had no study-skills creators — if you like either, that’s a natural addition. As always, the real check on any of this is whether students can defend it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47064" y="593281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43350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9918" y="23149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8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hyperphysics.phy-astr.gsu.edu/hbase/emcon.html" TargetMode="External"/><Relationship Id="rId7" Type="http://schemas.openxmlformats.org/officeDocument/2006/relationships/hyperlink" Target="https://www.britannica.com/science/Maxwells-equations" TargetMode="External"/><Relationship Id="rId2" Type="http://schemas.openxmlformats.org/officeDocument/2006/relationships/hyperlink" Target="https://www.britannica.com/science/electromagnetis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itannica.com/science/Faradays-law-of-induction" TargetMode="External"/><Relationship Id="rId5" Type="http://schemas.openxmlformats.org/officeDocument/2006/relationships/hyperlink" Target="https://royalsocietypublishing.org/doi/10.1098/rsta.2014.0208" TargetMode="External"/><Relationship Id="rId4" Type="http://schemas.openxmlformats.org/officeDocument/2006/relationships/hyperlink" Target="https://www.britannica.com/biography/Hans-Christian-Orst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aps.org/doi/10.1103/PhysRevLett.132.065102" TargetMode="External"/><Relationship Id="rId3" Type="http://schemas.openxmlformats.org/officeDocument/2006/relationships/hyperlink" Target="https://www.nature.com/articles/143239a0" TargetMode="External"/><Relationship Id="rId7" Type="http://schemas.openxmlformats.org/officeDocument/2006/relationships/hyperlink" Target="https://www.britannica.com/science/nuclear-fusion" TargetMode="External"/><Relationship Id="rId2" Type="http://schemas.openxmlformats.org/officeDocument/2006/relationships/hyperlink" Target="https://onlinelibrary.wiley.com/doi/10.1002/andp.1905323131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ter.org/sci/whatisfusion" TargetMode="External"/><Relationship Id="rId5" Type="http://schemas.openxmlformats.org/officeDocument/2006/relationships/hyperlink" Target="https://www-nds.iaea.org/" TargetMode="External"/><Relationship Id="rId10" Type="http://schemas.openxmlformats.org/officeDocument/2006/relationships/image" Target="../media/image160.png"/><Relationship Id="rId4" Type="http://schemas.openxmlformats.org/officeDocument/2006/relationships/hyperlink" Target="https://www.britannica.com/science/nuclear-fission" TargetMode="External"/><Relationship Id="rId9" Type="http://schemas.openxmlformats.org/officeDocument/2006/relationships/hyperlink" Target="https://physicsworld.com/a/iter-fusion-reactor-hit-by-massive-decade-long-delay-and-e5bn-price-hike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ourworldindata.org/grapher/death-rates-from-energy-production-per-twh" TargetMode="External"/><Relationship Id="rId3" Type="http://schemas.openxmlformats.org/officeDocument/2006/relationships/hyperlink" Target="https://atb.nrel.gov/" TargetMode="External"/><Relationship Id="rId7" Type="http://schemas.openxmlformats.org/officeDocument/2006/relationships/hyperlink" Target="https://www.rtoinsider.com/108308-lazard-solar-wind-retain-lowest-lcoes/" TargetMode="External"/><Relationship Id="rId2" Type="http://schemas.openxmlformats.org/officeDocument/2006/relationships/hyperlink" Target="https://www.nrel.gov/analysis/tech-lco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v-magazine-usa.com/2025/06/17/despite-low-gas-prices-solar-wind-remain-cheapest-sources-of-power-in-u-s/" TargetMode="External"/><Relationship Id="rId5" Type="http://schemas.openxmlformats.org/officeDocument/2006/relationships/hyperlink" Target="https://www.lazard.com/news-announcements/lazard-releases-2025-levelized-cost-of-energyplus-report-pr/" TargetMode="External"/><Relationship Id="rId4" Type="http://schemas.openxmlformats.org/officeDocument/2006/relationships/hyperlink" Target="https://www.lazard.com/research-insights/levelized-cost-of-energyplus-lcoeplus/" TargetMode="External"/><Relationship Id="rId9" Type="http://schemas.openxmlformats.org/officeDocument/2006/relationships/hyperlink" Target="https://www.ipcc.ch/report/ar6/syr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hyperphysics.phy-astr.gsu.edu/hbase/magnetic/transf.html" TargetMode="External"/><Relationship Id="rId7" Type="http://schemas.openxmlformats.org/officeDocument/2006/relationships/hyperlink" Target="https://www.iea.org/reports/electricity-grids-and-secure-energy-transitions" TargetMode="External"/><Relationship Id="rId2" Type="http://schemas.openxmlformats.org/officeDocument/2006/relationships/hyperlink" Target="https://www.britannica.com/technology/electric-pow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tificamerican.com/article/2003-blackout-five-years-later/" TargetMode="External"/><Relationship Id="rId5" Type="http://schemas.openxmlformats.org/officeDocument/2006/relationships/hyperlink" Target="https://www.energy.gov/oe/articles/blackout-2003-us-canada-task-force-presents-final-report-onblackout-august-2003" TargetMode="External"/><Relationship Id="rId4" Type="http://schemas.openxmlformats.org/officeDocument/2006/relationships/hyperlink" Target="https://www.nyiso.com/how-the-grid-works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B83DpBJQs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learnwithsherlock/" TargetMode="External"/><Relationship Id="rId4" Type="http://schemas.openxmlformats.org/officeDocument/2006/relationships/hyperlink" Target="https://www.youtube.com/@ElleCordova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particleclara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mZsaaturR6E" TargetMode="External"/><Relationship Id="rId5" Type="http://schemas.openxmlformats.org/officeDocument/2006/relationships/hyperlink" Target="https://home.cern/" TargetMode="External"/><Relationship Id="rId4" Type="http://schemas.openxmlformats.org/officeDocument/2006/relationships/hyperlink" Target="https://www.youtube.com/@ParticleClara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HIhgxav9LY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c/ZirothTech" TargetMode="External"/><Relationship Id="rId3" Type="http://schemas.openxmlformats.org/officeDocument/2006/relationships/hyperlink" Target="https://www.youtube.com/watch?v=i-891blV02c" TargetMode="External"/><Relationship Id="rId7" Type="http://schemas.openxmlformats.org/officeDocument/2006/relationships/hyperlink" Target="https://www.youtube.com/@UndecidedTechnology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JustHaveaThink" TargetMode="External"/><Relationship Id="rId5" Type="http://schemas.openxmlformats.org/officeDocument/2006/relationships/hyperlink" Target="https://www.volts.wtf/" TargetMode="External"/><Relationship Id="rId4" Type="http://schemas.openxmlformats.org/officeDocument/2006/relationships/hyperlink" Target="https://ourworldindata.org/energy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tical.engineering/blog/2019/6/24/how-does-the-power-grid-work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teveMould" TargetMode="External"/><Relationship Id="rId5" Type="http://schemas.openxmlformats.org/officeDocument/2006/relationships/hyperlink" Target="https://www.youtube.com/@RealEngineering" TargetMode="External"/><Relationship Id="rId4" Type="http://schemas.openxmlformats.org/officeDocument/2006/relationships/hyperlink" Target="https://www.youtube.com/@illinoisenergyprof6878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JustinSung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@BenjaminKee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/>
          <a:lstStyle/>
          <a:p>
            <a:pPr marL="0" lvl="0" indent="0">
              <a:buNone/>
            </a:pPr>
            <a:r>
              <a:t>Lecture 2 — Energy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PHY199-RAP · Energy in the 21st Century</a:t>
            </a:r>
            <a:br/>
            <a:br/>
            <a:r>
              <a:t>Dr. Salvatore Rappoccio</a:t>
            </a:r>
          </a:p>
        </p:txBody>
      </p:sp>
      <p:sp>
        <p:nvSpPr>
          <p:cNvPr id="4" name=" 3"/>
          <p:cNvSpPr/>
          <p:nvPr/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FB883-E5A9-D269-22C6-73EE7330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FC23-189B-5513-2A24-0BD1F04DA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Magnetism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7ED92-C62A-35E4-590F-A4AEEE28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62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AD865-5ADB-20D8-352A-0D7CD6F88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FF6F0-D302-26A1-D226-A59456E1F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2A807-0D2D-3F28-C0D3-D8C7CBA3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E492C6-6415-7724-25A2-E1803BB3BEAA}"/>
                  </a:ext>
                </a:extLst>
              </p:cNvPr>
              <p:cNvSpPr txBox="1"/>
              <p:nvPr/>
            </p:nvSpPr>
            <p:spPr>
              <a:xfrm>
                <a:off x="634008" y="5429433"/>
                <a:ext cx="6007396" cy="64633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600" b="0" i="1" smtClean="0">
                          <a:latin typeface="Cambria Math" panose="02040503050406030204" pitchFamily="18" charset="0"/>
                        </a:rPr>
                        <m:t>Power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3600" b="0" i="1" smtClean="0">
                          <a:latin typeface="Cambria Math" panose="02040503050406030204" pitchFamily="18" charset="0"/>
                        </a:rPr>
                        <m:t>voltage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6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600" b="0" i="1" smtClean="0">
                          <a:latin typeface="Cambria Math" panose="02040503050406030204" pitchFamily="18" charset="0"/>
                        </a:rPr>
                        <m:t>current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E492C6-6415-7724-25A2-E1803BB3B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08" y="5429433"/>
                <a:ext cx="6007396" cy="646331"/>
              </a:xfrm>
              <a:prstGeom prst="rect">
                <a:avLst/>
              </a:prstGeom>
              <a:blipFill>
                <a:blip r:embed="rId2"/>
                <a:stretch>
                  <a:fillRect b="-24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69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1820: Ørsted’s compass twitches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5416061" cy="4937612"/>
          </a:xfrm>
        </p:spPr>
        <p:txBody>
          <a:bodyPr/>
          <a:lstStyle/>
          <a:p>
            <a:pPr lvl="0"/>
            <a:r>
              <a:rPr sz="2000" dirty="0"/>
              <a:t>Hans Christian </a:t>
            </a:r>
            <a:r>
              <a:rPr sz="2000" b="1" dirty="0"/>
              <a:t>Ørsted</a:t>
            </a:r>
            <a:r>
              <a:rPr sz="2000" dirty="0"/>
              <a:t> is lecturing when he notices a </a:t>
            </a:r>
            <a:r>
              <a:rPr sz="2000" b="1" dirty="0"/>
              <a:t>compass needle deflect</a:t>
            </a:r>
            <a:r>
              <a:rPr sz="2000" dirty="0"/>
              <a:t> next to a wire carrying current</a:t>
            </a:r>
          </a:p>
          <a:p>
            <a:pPr lvl="0"/>
            <a:r>
              <a:rPr sz="2000" dirty="0"/>
              <a:t>Bombshell: </a:t>
            </a:r>
            <a:r>
              <a:rPr sz="2000" b="1" dirty="0"/>
              <a:t>electricity and magnetism are the same thing</a:t>
            </a:r>
            <a:r>
              <a:rPr sz="2000" dirty="0"/>
              <a:t>, wearing two hats</a:t>
            </a:r>
          </a:p>
          <a:p>
            <a:pPr lvl="0"/>
            <a:r>
              <a:rPr sz="2000" dirty="0"/>
              <a:t>A </a:t>
            </a:r>
            <a:r>
              <a:rPr sz="2000" b="1" dirty="0"/>
              <a:t>current makes a magnetic field</a:t>
            </a:r>
            <a:r>
              <a:rPr sz="2000" dirty="0"/>
              <a:t>. Hold that thought — the reverse is where the power comes from</a:t>
            </a:r>
          </a:p>
        </p:txBody>
      </p:sp>
      <p:pic>
        <p:nvPicPr>
          <p:cNvPr id="3" name="Picture 1" descr="images/oersted.jpg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989840" y="1437450"/>
            <a:ext cx="2783668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7725508" y="5005173"/>
            <a:ext cx="3857174" cy="5795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1200" dirty="0"/>
              <a:t>Hans Christian Ørsted (1777–1851). Portrait by C. W. Eckersberg, public domain.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1831: Faraday runs it backwards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6060830" cy="4738320"/>
              </a:xfrm>
            </p:spPr>
            <p:txBody>
              <a:bodyPr/>
              <a:lstStyle/>
              <a:p>
                <a:pPr lvl="0"/>
                <a:r>
                  <a:rPr sz="2000" dirty="0"/>
                  <a:t>Michael </a:t>
                </a:r>
                <a:r>
                  <a:rPr sz="2000" b="1" dirty="0"/>
                  <a:t>Faraday</a:t>
                </a:r>
                <a:r>
                  <a:rPr sz="2000" dirty="0"/>
                  <a:t> shows the reverse: a </a:t>
                </a:r>
                <a:r>
                  <a:rPr sz="2000" b="1" dirty="0"/>
                  <a:t>changing magnetic field pushes a current</a:t>
                </a:r>
                <a:r>
                  <a:rPr sz="2000" dirty="0"/>
                  <a:t> through a nearby wire</a:t>
                </a:r>
              </a:p>
              <a:p>
                <a:pPr lvl="0"/>
                <a:r>
                  <a:rPr sz="2000" b="1" dirty="0"/>
                  <a:t>Faraday’s law of induction</a:t>
                </a:r>
                <a:r>
                  <a:rPr sz="2000" dirty="0"/>
                  <a:t> — the single most important sentence in this whole course: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0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20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sz="200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sz="2000" dirty="0"/>
              </a:p>
              <a:p>
                <a:pPr lvl="0"/>
                <a:r>
                  <a:rPr sz="2000" dirty="0"/>
                  <a:t>In English: </a:t>
                </a:r>
                <a:r>
                  <a:rPr sz="2000" b="1" dirty="0"/>
                  <a:t>move a magnet past a coil of wire, and you make electricity.</a:t>
                </a:r>
                <a:r>
                  <a:rPr sz="2000" dirty="0"/>
                  <a:t> No fuel required to state the principle — only to </a:t>
                </a:r>
                <a:r>
                  <a:rPr sz="2000" i="1" dirty="0"/>
                  <a:t>move the magnet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6060830" cy="4738320"/>
              </a:xfrm>
              <a:blipFill>
                <a:blip r:embed="rId3"/>
                <a:stretch>
                  <a:fillRect l="-1046" r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images/faraday.jpg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339016" y="640556"/>
            <a:ext cx="2997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8163567" y="4888524"/>
            <a:ext cx="3348098" cy="669191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1200" dirty="0"/>
              <a:t>Michael Faraday (1791–1867). Portrait by Thomas Phillips, 1842, public domain.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Every power plant is the same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Coal, gas, nuclear, hydro, geothermal, wind — all do </a:t>
            </a:r>
            <a:r>
              <a:rPr b="1"/>
              <a:t>one thing</a:t>
            </a:r>
            <a:r>
              <a:t>: spin a magnet inside coils of wire (a </a:t>
            </a:r>
            <a:r>
              <a:rPr b="1"/>
              <a:t>turbine + generator</a:t>
            </a:r>
            <a:r>
              <a:t>)</a:t>
            </a:r>
          </a:p>
          <a:p>
            <a:pPr lvl="0"/>
            <a:r>
              <a:t>The </a:t>
            </a:r>
            <a:r>
              <a:rPr i="1"/>
              <a:t>only</a:t>
            </a:r>
            <a:r>
              <a:t> difference is </a:t>
            </a:r>
            <a:r>
              <a:rPr b="1"/>
              <a:t>what spins the turbine</a:t>
            </a:r>
            <a:r>
              <a:t>: steam, falling water, or wind</a:t>
            </a:r>
          </a:p>
          <a:p>
            <a:pPr lvl="0"/>
            <a:r>
              <a:rPr b="1"/>
              <a:t>Solar photovoltaic is the lone exception</a:t>
            </a:r>
            <a:r>
              <a:t> — it makes current </a:t>
            </a:r>
            <a:r>
              <a:rPr i="1"/>
              <a:t>directly</a:t>
            </a:r>
            <a:r>
              <a:t>, no moving parts (we met this in Lecture 1)</a:t>
            </a:r>
          </a:p>
          <a:p>
            <a:pPr lvl="0"/>
            <a:r>
              <a:rPr b="1"/>
              <a:t>Callback:</a:t>
            </a:r>
            <a:r>
              <a:t> Niagara’s </a:t>
            </a:r>
            <a:r>
              <a:rPr b="1"/>
              <a:t>Adams Plant (1895)</a:t>
            </a:r>
            <a:r>
              <a:t> — the first big AC power — was this exact machine, driven by falling water</a:t>
            </a:r>
          </a:p>
          <a:p>
            <a:pPr marL="1270000" lvl="0" indent="0">
              <a:buNone/>
            </a:pPr>
            <a:r>
              <a:rPr sz="2000"/>
              <a:t>SUGGESTED GRAPHIC: cartoon cross-section of a generator — turbine blades on a shaft, rotating magnet, stationary copper coils, current out. (Diagram, allowed to draw.) Alt: “Schematic of a turbine-driven generator: blades spin a shaft holding a magnet inside copper coils, inducing an electric current.”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1865: Maxwell writes the whole thing 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James Clerk </a:t>
            </a:r>
            <a:r>
              <a:rPr b="1"/>
              <a:t>Maxwell</a:t>
            </a:r>
            <a:r>
              <a:t> unifies electricity, magnetism, and </a:t>
            </a:r>
            <a:r>
              <a:rPr b="1"/>
              <a:t>light</a:t>
            </a:r>
            <a:r>
              <a:t> into four equations</a:t>
            </a:r>
          </a:p>
          <a:p>
            <a:pPr lvl="0"/>
            <a:r>
              <a:t>His shocker: light </a:t>
            </a:r>
            <a:r>
              <a:rPr i="1"/>
              <a:t>is</a:t>
            </a:r>
            <a:r>
              <a:t> an electromagnetic wave — radio, microwaves, X-rays, and visible light are the </a:t>
            </a:r>
            <a:r>
              <a:rPr b="1"/>
              <a:t>same phenomenon</a:t>
            </a:r>
            <a:r>
              <a:t> at different frequencies</a:t>
            </a:r>
          </a:p>
          <a:p>
            <a:pPr lvl="0"/>
            <a:r>
              <a:t>Why you care: this is the physics behind </a:t>
            </a:r>
            <a:r>
              <a:rPr b="1"/>
              <a:t>the grid</a:t>
            </a:r>
            <a:r>
              <a:t> (AC at 60 Hz), </a:t>
            </a:r>
            <a:r>
              <a:rPr b="1"/>
              <a:t>wireless charging</a:t>
            </a:r>
            <a:r>
              <a:t>, and every screen you own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Electricity &amp; magnetism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Foundations: </a:t>
            </a:r>
            <a:r>
              <a:rPr>
                <a:hlinkClick r:id="rId2"/>
              </a:rPr>
              <a:t>Britannica — Electromagnetism</a:t>
            </a:r>
            <a:r>
              <a:t>; </a:t>
            </a:r>
            <a:r>
              <a:rPr>
                <a:hlinkClick r:id="rId3"/>
              </a:rPr>
              <a:t>HyperPhysics (Georgia State) — E&amp;M</a:t>
            </a:r>
          </a:p>
          <a:p>
            <a:pPr lvl="0"/>
            <a:r>
              <a:t>Ørsted/Ampère (1820): </a:t>
            </a:r>
            <a:r>
              <a:rPr>
                <a:hlinkClick r:id="rId4"/>
              </a:rPr>
              <a:t>Britannica — Hans Christian Ørsted</a:t>
            </a:r>
          </a:p>
          <a:p>
            <a:pPr lvl="0"/>
            <a:r>
              <a:t>Faraday (1831–32): </a:t>
            </a:r>
            <a:r>
              <a:rPr>
                <a:hlinkClick r:id="rId5"/>
              </a:rPr>
              <a:t>Royal Society commentary on Faraday’s </a:t>
            </a:r>
            <a:r>
              <a:rPr i="1">
                <a:hlinkClick r:id="rId5"/>
              </a:rPr>
              <a:t>Experimental Researches</a:t>
            </a:r>
            <a:r>
              <a:t>; </a:t>
            </a:r>
            <a:r>
              <a:rPr>
                <a:hlinkClick r:id="rId6"/>
              </a:rPr>
              <a:t>Britannica — Faraday’s law</a:t>
            </a:r>
          </a:p>
          <a:p>
            <a:pPr lvl="0"/>
            <a:r>
              <a:t>Maxwell (1865): </a:t>
            </a:r>
            <a:r>
              <a:rPr>
                <a:hlinkClick r:id="rId7"/>
              </a:rPr>
              <a:t>Britannica — Maxwell’s equations</a:t>
            </a:r>
          </a:p>
          <a:p>
            <a:pPr lvl="0"/>
            <a:r>
              <a:t>Generators: DOE energy.gov (corroborate w/ Britannica per source rule)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Nuclear: fission and fusion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t>: mass is frozen energy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724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Einstein (1905): </a:t>
                </a:r>
                <a:r>
                  <a:rPr b="1"/>
                  <a:t>mass and energy are the same thing.</a:t>
                </a:r>
                <a:r>
                  <a:t> A tiny bit of mass holds a </a:t>
                </a:r>
                <a:r>
                  <a:rPr i="1"/>
                  <a:t>staggering</a:t>
                </a:r>
                <a:r>
                  <a:t> amount of energy</a:t>
                </a:r>
              </a:p>
              <a:p>
                <a:pPr lvl="0"/>
                <a:r>
                  <a:t>The multiplier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t> — the speed of light, squared — which is enormous</a:t>
                </a:r>
              </a:p>
              <a:p>
                <a:pPr lvl="0"/>
                <a:r>
                  <a:rPr b="1"/>
                  <a:t>Fully</a:t>
                </a:r>
                <a:r>
                  <a:t> converting </a:t>
                </a:r>
                <a:r>
                  <a:rPr b="1"/>
                  <a:t>1 gram</a:t>
                </a:r>
                <a:r>
                  <a:t> of </a:t>
                </a:r>
                <a:r>
                  <a:rPr i="1"/>
                  <a:t>anything</a:t>
                </a:r>
                <a:r>
                  <a:t> would release </a:t>
                </a:r>
                <a:r>
                  <a:rPr b="1"/>
                  <a:t>≈ 25 GWh</a:t>
                </a:r>
                <a:r>
                  <a:t> — roughly a </a:t>
                </a:r>
                <a:r>
                  <a:rPr b="1"/>
                  <a:t>small city’s electricity for a day</a:t>
                </a:r>
              </a:p>
              <a:p>
                <a:pPr lvl="0"/>
                <a:r>
                  <a:t>Nature won’t let you convert it all — but nuclear reactions unlock </a:t>
                </a:r>
                <a:r>
                  <a:rPr b="1"/>
                  <a:t>far more</a:t>
                </a:r>
                <a:r>
                  <a:t> of it than chemistry (burning) ever can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Why iron sits at the bottom of the valley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Every nucleus has a </a:t>
            </a:r>
            <a:r>
              <a:rPr b="1"/>
              <a:t>binding energy</a:t>
            </a:r>
            <a:r>
              <a:t> — how tightly its protons and neutrons are glued</a:t>
            </a:r>
          </a:p>
          <a:p>
            <a:pPr lvl="0"/>
            <a:r>
              <a:t>Plot it and you get a </a:t>
            </a:r>
            <a:r>
              <a:rPr b="1"/>
              <a:t>valley</a:t>
            </a:r>
            <a:r>
              <a:t> with </a:t>
            </a:r>
            <a:r>
              <a:rPr b="1"/>
              <a:t>iron-56</a:t>
            </a:r>
            <a:r>
              <a:t> at the bottom (most tightly bound, most stable)</a:t>
            </a:r>
          </a:p>
          <a:p>
            <a:pPr lvl="0"/>
            <a:r>
              <a:rPr b="1"/>
              <a:t>Two ways downhill = two ways to release energy:</a:t>
            </a:r>
          </a:p>
          <a:p>
            <a:pPr lvl="1"/>
            <a:r>
              <a:rPr b="1"/>
              <a:t>Fission:</a:t>
            </a:r>
            <a:r>
              <a:t> split a </a:t>
            </a:r>
            <a:r>
              <a:rPr i="1"/>
              <a:t>heavy</a:t>
            </a:r>
            <a:r>
              <a:t> nucleus (uranium) → move toward iron → energy out</a:t>
            </a:r>
          </a:p>
          <a:p>
            <a:pPr lvl="1"/>
            <a:r>
              <a:rPr b="1"/>
              <a:t>Fusion:</a:t>
            </a:r>
            <a:r>
              <a:t> join </a:t>
            </a:r>
            <a:r>
              <a:rPr i="1"/>
              <a:t>light</a:t>
            </a:r>
            <a:r>
              <a:t> nuclei (hydrogen) → move toward iron → energy out</a:t>
            </a:r>
          </a:p>
          <a:p>
            <a:pPr lvl="0"/>
            <a:r>
              <a:t>Everything from here is just: </a:t>
            </a:r>
            <a:r>
              <a:rPr i="1"/>
              <a:t>roll downhill toward iron</a:t>
            </a:r>
          </a:p>
        </p:txBody>
      </p:sp>
      <p:pic>
        <p:nvPicPr>
          <p:cNvPr id="3" name="Picture 1" descr="images/binding_energy_curve.svg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3568700" y="457200"/>
            <a:ext cx="5105400" cy="335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Nuclear binding energy per nucleon vs. mass number — iron-56 sits at the peak; fusion (light nuclei) and fission (heavy nuclei) both release energy by moving toward it. Fastfission, public domain.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Fission: splitting the heavy stuff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b="1"/>
              <a:t>1938:</a:t>
            </a:r>
            <a:r>
              <a:t> Hahn, Strassmann, </a:t>
            </a:r>
            <a:r>
              <a:rPr b="1"/>
              <a:t>Lise Meitner</a:t>
            </a:r>
            <a:r>
              <a:t> and Frisch discover </a:t>
            </a:r>
            <a:r>
              <a:rPr b="1"/>
              <a:t>nuclear fission</a:t>
            </a:r>
            <a:r>
              <a:t> — a uranium nucleus split by a neutron</a:t>
            </a:r>
          </a:p>
          <a:p>
            <a:pPr lvl="0"/>
            <a:r>
              <a:t>Each split throws out </a:t>
            </a:r>
            <a:r>
              <a:rPr b="1"/>
              <a:t>more neutrons</a:t>
            </a:r>
            <a:r>
              <a:t> → they split more nuclei → a </a:t>
            </a:r>
            <a:r>
              <a:rPr b="1"/>
              <a:t>chain reaction</a:t>
            </a:r>
          </a:p>
          <a:p>
            <a:pPr lvl="0"/>
            <a:r>
              <a:t>Controlled slowly in a </a:t>
            </a:r>
            <a:r>
              <a:rPr b="1"/>
              <a:t>reactor</a:t>
            </a:r>
            <a:r>
              <a:t> (steam → turbine → the same machine as before). Uncontrolled, it’s a </a:t>
            </a:r>
            <a:r>
              <a:rPr b="1"/>
              <a:t>bomb</a:t>
            </a:r>
            <a:r>
              <a:t> — the dark side we cover in Weeks 5–6</a:t>
            </a:r>
          </a:p>
          <a:p>
            <a:pPr lvl="0"/>
            <a:r>
              <a:t>Meitner did the theory and was </a:t>
            </a:r>
            <a:r>
              <a:rPr b="1"/>
              <a:t>snubbed by the Nobel</a:t>
            </a:r>
            <a:r>
              <a:t> — a name worth knowing</a:t>
            </a:r>
          </a:p>
        </p:txBody>
      </p:sp>
      <p:pic>
        <p:nvPicPr>
          <p:cNvPr id="3" name="Picture 1" descr="images/fission_chain.svg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3873500" y="203200"/>
            <a:ext cx="44831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 fission chain reaction: a neutron splits a nucleus into fragments plus more neutrons, which split more. Diagram by MikeRun, CC BY-SA 4.0.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A551-2A72-C285-2E52-0CAF85A4F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319A7-8861-B0A1-F468-FE2CA45E5A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Fusion: the Sun’s furnace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69851"/>
            <a:ext cx="3008313" cy="3518297"/>
          </a:xfrm>
        </p:spPr>
        <p:txBody>
          <a:bodyPr/>
          <a:lstStyle/>
          <a:p>
            <a:pPr lvl="0"/>
            <a:r>
              <a:rPr b="1" dirty="0"/>
              <a:t>Fusion</a:t>
            </a:r>
            <a:r>
              <a:rPr dirty="0"/>
              <a:t> joins light nuclei (hydrogen → helium) and powers </a:t>
            </a:r>
            <a:r>
              <a:rPr b="1" dirty="0"/>
              <a:t>every star</a:t>
            </a:r>
            <a:r>
              <a:rPr dirty="0"/>
              <a:t>, including the </a:t>
            </a:r>
            <a:r>
              <a:rPr b="1" dirty="0"/>
              <a:t>Sun</a:t>
            </a:r>
          </a:p>
          <a:p>
            <a:pPr lvl="0"/>
            <a:r>
              <a:rPr dirty="0"/>
              <a:t>It’s the cleanest energy imaginable: fuel from </a:t>
            </a:r>
            <a:r>
              <a:rPr b="1" dirty="0"/>
              <a:t>water</a:t>
            </a:r>
            <a:r>
              <a:rPr dirty="0"/>
              <a:t>, no long-lived waste, no meltdown, no CO₂</a:t>
            </a:r>
          </a:p>
          <a:p>
            <a:pPr lvl="0"/>
            <a:r>
              <a:rPr dirty="0"/>
              <a:t>The deuterium in </a:t>
            </a:r>
            <a:r>
              <a:rPr b="1" dirty="0"/>
              <a:t>1 liter of water</a:t>
            </a:r>
            <a:r>
              <a:rPr dirty="0"/>
              <a:t> holds fusion energy comparable to </a:t>
            </a:r>
            <a:r>
              <a:rPr b="1" dirty="0"/>
              <a:t>~300 liters of gasoline</a:t>
            </a:r>
          </a:p>
          <a:p>
            <a:pPr lvl="0"/>
            <a:r>
              <a:rPr dirty="0"/>
              <a:t>One catch: it needs </a:t>
            </a:r>
            <a:r>
              <a:rPr b="1" dirty="0"/>
              <a:t>~100 million °C</a:t>
            </a:r>
            <a:r>
              <a:rPr dirty="0"/>
              <a:t>. The Sun cheats with crushing gravity; we don’t have that</a:t>
            </a:r>
          </a:p>
        </p:txBody>
      </p:sp>
      <p:pic>
        <p:nvPicPr>
          <p:cNvPr id="3" name="Picture 1" descr="images/sun.jpg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127709" y="490415"/>
            <a:ext cx="3374136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6348608" y="3993662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The Sun in ultraviolet light — the churning surface of our nearest fusion reactor. NASA/SDO (AIA), public domain. </a:t>
            </a:r>
            <a:endParaRPr i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2022–2039: fusion’s real, slow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Dec 2022, Livermore (NIF):</a:t>
            </a:r>
            <a:r>
              <a:t> for the first time, a fusion shot released </a:t>
            </a:r>
            <a:r>
              <a:rPr b="1"/>
              <a:t>more energy than the lasers delivered to the fuel</a:t>
            </a:r>
            <a:r>
              <a:t> — scientific “ignition,” peer-reviewed and independently repeated</a:t>
            </a:r>
          </a:p>
          <a:p>
            <a:pPr lvl="0"/>
            <a:r>
              <a:rPr b="1"/>
              <a:t>ITER</a:t>
            </a:r>
            <a:r>
              <a:t> (France, a 35-nation project) is the big test reactor — but it just </a:t>
            </a:r>
            <a:r>
              <a:rPr b="1"/>
              <a:t>slipped a decade</a:t>
            </a:r>
            <a:r>
              <a:t>: </a:t>
            </a:r>
            <a:r>
              <a:rPr b="1"/>
              <a:t>first plasma now ~2034</a:t>
            </a:r>
            <a:r>
              <a:t>, full deuterium–tritium burn </a:t>
            </a:r>
            <a:r>
              <a:rPr b="1"/>
              <a:t>~2039</a:t>
            </a:r>
            <a:r>
              <a:t>, at </a:t>
            </a:r>
            <a:r>
              <a:rPr b="1"/>
              <a:t>billions over budget</a:t>
            </a:r>
          </a:p>
          <a:p>
            <a:pPr lvl="0"/>
            <a:r>
              <a:t>Honest verdict: fusion is </a:t>
            </a:r>
            <a:r>
              <a:rPr b="1"/>
              <a:t>real physics and still decades from your wall socket.</a:t>
            </a:r>
            <a:r>
              <a:t> Don’t let anyone sell you “five years away”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Nuclear —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t>: </a:t>
                </a:r>
                <a:r>
                  <a:rPr>
                    <a:hlinkClick r:id="rId2"/>
                  </a:rPr>
                  <a:t>Einstein (1905), </a:t>
                </a:r>
                <a:r>
                  <a:rPr i="1">
                    <a:hlinkClick r:id="rId2"/>
                  </a:rPr>
                  <a:t>Annalen der Physik</a:t>
                </a:r>
                <a:r>
                  <a:t> (English trans. widely available)</a:t>
                </a:r>
              </a:p>
              <a:p>
                <a:pPr lvl="0"/>
                <a:r>
                  <a:t>Fission discovery: </a:t>
                </a:r>
                <a:r>
                  <a:rPr>
                    <a:hlinkClick r:id="rId3"/>
                  </a:rPr>
                  <a:t>Meitner &amp; Frisch (1939), </a:t>
                </a:r>
                <a:r>
                  <a:rPr i="1">
                    <a:hlinkClick r:id="rId3"/>
                  </a:rPr>
                  <a:t>Nature</a:t>
                </a:r>
                <a:r>
                  <a:t>; </a:t>
                </a:r>
                <a:r>
                  <a:rPr>
                    <a:hlinkClick r:id="rId4"/>
                  </a:rPr>
                  <a:t>Britannica — nuclear fission</a:t>
                </a:r>
              </a:p>
              <a:p>
                <a:pPr lvl="0"/>
                <a:r>
                  <a:t>Binding energy / data: </a:t>
                </a:r>
                <a:r>
                  <a:rPr>
                    <a:hlinkClick r:id="rId5"/>
                  </a:rPr>
                  <a:t>IAEA Nuclear Data Services</a:t>
                </a:r>
                <a:r>
                  <a:t>; Krane, </a:t>
                </a:r>
                <a:r>
                  <a:rPr i="1"/>
                  <a:t>Introductory Nuclear Physics</a:t>
                </a:r>
              </a:p>
              <a:p>
                <a:pPr lvl="0"/>
                <a:r>
                  <a:t>Fusion basics: </a:t>
                </a:r>
                <a:r>
                  <a:rPr>
                    <a:hlinkClick r:id="rId6"/>
                  </a:rPr>
                  <a:t>ITER Organization — What is fusion?</a:t>
                </a:r>
                <a:r>
                  <a:t>; </a:t>
                </a:r>
                <a:r>
                  <a:rPr>
                    <a:hlinkClick r:id="rId7"/>
                  </a:rPr>
                  <a:t>Britannica — nuclear fusion</a:t>
                </a:r>
              </a:p>
              <a:p>
                <a:pPr lvl="0"/>
                <a:r>
                  <a:t>NIF ignition: </a:t>
                </a:r>
                <a:r>
                  <a:rPr>
                    <a:hlinkClick r:id="rId8"/>
                  </a:rPr>
                  <a:t>Abu-Shawareb et al. (2024), </a:t>
                </a:r>
                <a:r>
                  <a:rPr i="1">
                    <a:hlinkClick r:id="rId8"/>
                  </a:rPr>
                  <a:t>Phys. Rev. Lett.</a:t>
                </a:r>
              </a:p>
              <a:p>
                <a:pPr lvl="0"/>
                <a:r>
                  <a:t>ITER delay: </a:t>
                </a:r>
                <a:r>
                  <a:rPr>
                    <a:hlinkClick r:id="rId9"/>
                  </a:rPr>
                  <a:t>Physics World — ITER hit by decade-long delay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10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What does it cost? Levelized Cost of Electricity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LCOE: the only fair way to compare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You can’t compare a solar farm and a gas plant by sticker price — they last different years and run different hours</a:t>
                </a:r>
              </a:p>
              <a:p>
                <a:pPr lvl="0"/>
                <a:r>
                  <a:rPr b="1"/>
                  <a:t>Levelized Cost of Electricity (LCOE)</a:t>
                </a:r>
                <a:r>
                  <a:t> puts everything on </a:t>
                </a:r>
                <a:r>
                  <a:rPr b="1"/>
                  <a:t>one number: dollars per unit of energy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</m:rPr>
                      <a:rPr i="0"/>
                      <m:t>LCOE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0"/>
                        </m:ctrlPr>
                      </m:fPr>
                      <m:num>
                        <m:r>
                          <m:rPr>
                            <m:nor/>
                          </m:rPr>
                          <a:rPr i="0"/>
                          <m:t>lifetime costs (build + fuel + upkeep)</m:t>
                        </m:r>
                      </m:num>
                      <m:den>
                        <m:r>
                          <m:rPr>
                            <m:nor/>
                          </m:rPr>
                          <a:rPr i="0"/>
                          <m:t>lifetime energy produced</m:t>
                        </m:r>
                      </m:den>
                    </m:f>
                  </m:oMath>
                </a14:m>
                <a:endParaRPr b="1"/>
              </a:p>
              <a:p>
                <a:pPr lvl="0"/>
                <a:r>
                  <a:t>Think </a:t>
                </a:r>
                <a:r>
                  <a:rPr b="1"/>
                  <a:t>$/MWh</a:t>
                </a:r>
                <a:r>
                  <a:t> (or ¢/kWh). It’s the “</a:t>
                </a:r>
                <a:r>
                  <a:rPr b="1"/>
                  <a:t>price per mile</a:t>
                </a:r>
                <a:r>
                  <a:t>” of a power plant — the honest apples-to-apples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Worked example: one megawatt of solar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Build a </a:t>
                </a:r>
                <a:r>
                  <a:rPr b="1"/>
                  <a:t>1 MW</a:t>
                </a:r>
                <a:r>
                  <a:t> solar farm: </a:t>
                </a:r>
                <a:r>
                  <a:rPr b="1"/>
                  <a:t>$1,000,000</a:t>
                </a:r>
                <a:r>
                  <a:t> up front, </a:t>
                </a:r>
                <a:r>
                  <a:rPr b="1"/>
                  <a:t>20-year</a:t>
                </a:r>
                <a:r>
                  <a:t> life, ~</a:t>
                </a:r>
                <a:r>
                  <a:rPr b="1"/>
                  <a:t>$15k/yr</a:t>
                </a:r>
                <a:r>
                  <a:t> upkeep</a:t>
                </a:r>
              </a:p>
              <a:p>
                <a:pPr lvl="0"/>
                <a:r>
                  <a:t>Sun-and-weather mean it actually runs at ~</a:t>
                </a:r>
                <a:r>
                  <a:rPr b="1"/>
                  <a:t>22%</a:t>
                </a:r>
                <a:r>
                  <a:t> of nameplate (its “</a:t>
                </a:r>
                <a:r>
                  <a:rPr b="1"/>
                  <a:t>capacity factor</a:t>
                </a:r>
                <a:r>
                  <a:t>”)</a:t>
                </a:r>
              </a:p>
              <a:p>
                <a:pPr lvl="0"/>
                <a:r>
                  <a:t>Energy over 20 yr: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1 </m:t>
                    </m:r>
                    <m:r>
                      <m:rPr>
                        <m:nor/>
                      </m:rPr>
                      <a:rPr i="0"/>
                      <m:t>MW</m:t>
                    </m:r>
                    <m:r>
                      <a:rPr>
                        <a:latin typeface="Cambria Math" panose="02040503050406030204" pitchFamily="18" charset="0"/>
                      </a:rPr>
                      <m:t>×8760 </m:t>
                    </m:r>
                    <m:r>
                      <m:rPr>
                        <m:nor/>
                      </m:rPr>
                      <a:rPr i="0"/>
                      <m:t>h</m:t>
                    </m:r>
                    <m:r>
                      <a:rPr>
                        <a:latin typeface="Cambria Math" panose="02040503050406030204" pitchFamily="18" charset="0"/>
                      </a:rPr>
                      <m:t>×0.22×20≈38,500 </m:t>
                    </m:r>
                    <m:r>
                      <m:rPr>
                        <m:nor/>
                      </m:rPr>
                      <a:rPr i="0"/>
                      <m:t>MWh</m:t>
                    </m:r>
                  </m:oMath>
                </a14:m>
                <a:endParaRPr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</m:rPr>
                      <a:rPr i="0"/>
                      <m:t>LCOE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$1,000,000+$300,000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38,500 </m:t>
                        </m:r>
                        <m:r>
                          <m:rPr>
                            <m:nor/>
                          </m:rPr>
                          <a:rPr i="0"/>
                          <m:t>MWh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≈$34/</m:t>
                    </m:r>
                    <m:r>
                      <m:rPr>
                        <m:nor/>
                      </m:rPr>
                      <a:rPr i="0"/>
                      <m:t>MWh</m:t>
                    </m:r>
                  </m:oMath>
                </a14:m>
                <a:endParaRPr/>
              </a:p>
              <a:p>
                <a:pPr lvl="0"/>
                <a:r>
                  <a:rPr b="1"/>
                  <a:t>This is a real, defensible calculation</a:t>
                </a:r>
                <a:r>
                  <a:t> — and it’s right in the range the pros publish (next slide)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Lazard 2025: what’s actually cheapest (unsubsidized)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3700" y="2514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LCOE ($/MWh)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Onshore 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37 – 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cheapest new build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Utility 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38 – 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also cheapest at the low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Combined-cycle 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48 – 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fossil workhorse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71 – 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dirty </a:t>
                      </a:r>
                      <a:r>
                        <a:rPr i="1"/>
                        <a:t>and</a:t>
                      </a:r>
                      <a:r>
                        <a:t> not cheap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Battery storage (2-hr)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81 – 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intermittency patch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141 – 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safe, low-carbon, </a:t>
                      </a:r>
                      <a:r>
                        <a:rPr b="1"/>
                        <a:t>expensive to build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Gas peaker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149 – 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only for demand spikes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New wind and solar are the cheapest electricity humans have ever built</a:t>
            </a:r>
            <a:r>
              <a:t> — even before subsidies</a:t>
            </a:r>
          </a:p>
          <a:p>
            <a:pPr marL="0" lvl="0" indent="0">
              <a:buNone/>
            </a:pPr>
            <a:r>
              <a:rPr i="1"/>
              <a:t>Source: Lazard, LCOE+ (June 2025), unsubsidized ranges.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LCOE quietly leaves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Intermittency:</a:t>
            </a:r>
            <a:r>
              <a:t> the sun sets and the wind drops. A cheap solar MWh at noon isn’t a cheap MWh at 9 pm — you need </a:t>
            </a:r>
            <a:r>
              <a:rPr b="1"/>
              <a:t>storage or backup</a:t>
            </a:r>
            <a:r>
              <a:t> (that’s the battery row)</a:t>
            </a:r>
          </a:p>
          <a:p>
            <a:pPr lvl="0"/>
            <a:r>
              <a:rPr b="1"/>
              <a:t>Grid/firming costs:</a:t>
            </a:r>
            <a:r>
              <a:t> Lazard’s own numbers </a:t>
            </a:r>
            <a:r>
              <a:rPr b="1"/>
              <a:t>exclude</a:t>
            </a:r>
            <a:r>
              <a:t> the wires and balancing needed to make power </a:t>
            </a:r>
            <a:r>
              <a:rPr i="1"/>
              <a:t>dependable</a:t>
            </a:r>
          </a:p>
          <a:p>
            <a:pPr lvl="0"/>
            <a:r>
              <a:rPr b="1"/>
              <a:t>Externalities:</a:t>
            </a:r>
            <a:r>
              <a:t> LCOE ignores the </a:t>
            </a:r>
            <a:r>
              <a:rPr b="1"/>
              <a:t>death cost</a:t>
            </a:r>
            <a:r>
              <a:t> and </a:t>
            </a:r>
            <a:r>
              <a:rPr b="1"/>
              <a:t>carbon cost</a:t>
            </a:r>
            <a:r>
              <a:t> we met in Lecture 1 — coal’s cheap $/MWh doesn’t include the </a:t>
            </a:r>
            <a:r>
              <a:rPr b="1"/>
              <a:t>people it kills</a:t>
            </a:r>
          </a:p>
          <a:p>
            <a:pPr lvl="0"/>
            <a:r>
              <a:rPr b="1"/>
              <a:t>Takeaway:</a:t>
            </a:r>
            <a:r>
              <a:t> LCOE is the best </a:t>
            </a:r>
            <a:r>
              <a:rPr i="1"/>
              <a:t>starting</a:t>
            </a:r>
            <a:r>
              <a:t> number and a </a:t>
            </a:r>
            <a:r>
              <a:rPr b="1"/>
              <a:t>terrible ending</a:t>
            </a:r>
            <a:r>
              <a:t> one. Cheapest on the spreadsheet ≠ cheapest in full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LCOE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Method: </a:t>
            </a:r>
            <a:r>
              <a:rPr>
                <a:hlinkClick r:id="rId2"/>
              </a:rPr>
              <a:t>NREL — Levelized Cost of Energy</a:t>
            </a:r>
            <a:r>
              <a:t>; </a:t>
            </a:r>
            <a:r>
              <a:rPr>
                <a:hlinkClick r:id="rId3"/>
              </a:rPr>
              <a:t>NREL Annual Technology Baseline</a:t>
            </a:r>
          </a:p>
          <a:p>
            <a:pPr lvl="0"/>
            <a:r>
              <a:t>2025 figures: </a:t>
            </a:r>
            <a:r>
              <a:rPr>
                <a:hlinkClick r:id="rId4"/>
              </a:rPr>
              <a:t>Lazard — LCOE+ (June 2025)</a:t>
            </a:r>
            <a:r>
              <a:t>; </a:t>
            </a:r>
            <a:r>
              <a:rPr>
                <a:hlinkClick r:id="rId5"/>
              </a:rPr>
              <a:t>Lazard 2025 press release</a:t>
            </a:r>
          </a:p>
          <a:p>
            <a:pPr lvl="0"/>
            <a:r>
              <a:t>Independent write-ups: </a:t>
            </a:r>
            <a:r>
              <a:rPr>
                <a:hlinkClick r:id="rId6"/>
              </a:rPr>
              <a:t>pv magazine — solar/wind still cheapest</a:t>
            </a:r>
            <a:r>
              <a:t>; </a:t>
            </a:r>
            <a:r>
              <a:rPr>
                <a:hlinkClick r:id="rId7"/>
              </a:rPr>
              <a:t>RTO Insider</a:t>
            </a:r>
          </a:p>
          <a:p>
            <a:pPr lvl="0"/>
            <a:r>
              <a:t>Externalities (callback): </a:t>
            </a:r>
            <a:r>
              <a:rPr>
                <a:hlinkClick r:id="rId8"/>
              </a:rPr>
              <a:t>Our World in Data — deaths per TWh</a:t>
            </a:r>
            <a:r>
              <a:t>; </a:t>
            </a:r>
            <a:r>
              <a:rPr>
                <a:hlinkClick r:id="rId9"/>
              </a:rPr>
              <a:t>IPCC AR6 Synthesis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The grid: getting it to your wall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From the plant to your phone charger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Electricity is made in a few big places and used in </a:t>
            </a:r>
            <a:r>
              <a:rPr b="1"/>
              <a:t>millions</a:t>
            </a:r>
            <a:r>
              <a:t> of small ones. The </a:t>
            </a:r>
            <a:r>
              <a:rPr b="1"/>
              <a:t>grid</a:t>
            </a:r>
            <a:r>
              <a:t> is the machinery in between</a:t>
            </a:r>
          </a:p>
          <a:p>
            <a:pPr lvl="0"/>
            <a:r>
              <a:t>Three stages: </a:t>
            </a:r>
            <a:r>
              <a:rPr b="1"/>
              <a:t>generation</a:t>
            </a:r>
            <a:r>
              <a:t> (the plant) → </a:t>
            </a:r>
            <a:r>
              <a:rPr b="1"/>
              <a:t>transmission</a:t>
            </a:r>
            <a:r>
              <a:t> (the tall steel towers, very high voltage) → </a:t>
            </a:r>
            <a:r>
              <a:rPr b="1"/>
              <a:t>distribution</a:t>
            </a:r>
            <a:r>
              <a:t> (the wooden poles on your street, stepped back down)</a:t>
            </a:r>
          </a:p>
          <a:p>
            <a:pPr lvl="0"/>
            <a:r>
              <a:t>It is arguably the </a:t>
            </a:r>
            <a:r>
              <a:rPr b="1"/>
              <a:t>largest machine ever built</a:t>
            </a:r>
            <a:r>
              <a:t> — a continent wired into one synchronized system</a:t>
            </a:r>
          </a:p>
        </p:txBody>
      </p:sp>
      <p:pic>
        <p:nvPicPr>
          <p:cNvPr id="3" name="Picture 1" descr="images/transmission_towers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228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High-voltage transmission towers — the grid moves power at high voltage to cut resistive losses. Photo by Nixdorf, CC BY-SA 3.0.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the towers run at insane voltage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Push current through a wire and some power is </a:t>
                </a:r>
                <a:r>
                  <a:rPr b="1"/>
                  <a:t>lost as heat</a:t>
                </a:r>
                <a:r>
                  <a:t> — losses scale with </a:t>
                </a:r>
                <a:r>
                  <a:rPr b="1"/>
                  <a:t>current squared</a:t>
                </a:r>
                <a: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i="0"/>
                          <m:t>loss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t>)</a:t>
                </a:r>
              </a:p>
              <a:p>
                <a:pPr lvl="0"/>
                <a:r>
                  <a:t>Trick: send the </a:t>
                </a:r>
                <a:r>
                  <a:rPr i="1"/>
                  <a:t>same power</a:t>
                </a:r>
                <a:r>
                  <a:t> at </a:t>
                </a:r>
                <a:r>
                  <a:rPr b="1"/>
                  <a:t>high voltage and low current</a:t>
                </a:r>
                <a:r>
                  <a:t> → far less loss. Then </a:t>
                </a:r>
                <a:r>
                  <a:rPr b="1"/>
                  <a:t>step it back down</a:t>
                </a:r>
                <a:r>
                  <a:t> near you</a:t>
                </a:r>
              </a:p>
              <a:p>
                <a:pPr lvl="0"/>
                <a:r>
                  <a:t>The device that does this — the </a:t>
                </a:r>
                <a:r>
                  <a:rPr b="1"/>
                  <a:t>transformer</a:t>
                </a:r>
                <a:r>
                  <a:t> — </a:t>
                </a:r>
                <a:r>
                  <a:rPr b="1"/>
                  <a:t>only works with AC</a:t>
                </a:r>
              </a:p>
              <a:p>
                <a:pPr lvl="0"/>
                <a:r>
                  <a:rPr b="1"/>
                  <a:t>Callback:</a:t>
                </a:r>
                <a:r>
                  <a:t> </a:t>
                </a:r>
                <a:r>
                  <a:rPr i="1"/>
                  <a:t>this</a:t>
                </a:r>
                <a:r>
                  <a:t> is why </a:t>
                </a:r>
                <a:r>
                  <a:rPr b="1"/>
                  <a:t>AC beat DC</a:t>
                </a:r>
                <a:r>
                  <a:t> in Lecture 1’s Current Wars. Edison’s DC couldn’t do this cheaply; Tesla/Westinghouse’s AC could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grid is a tightrope walk — every second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You </a:t>
            </a:r>
            <a:r>
              <a:rPr b="1"/>
              <a:t>can’t store much electricity in the grid</a:t>
            </a:r>
            <a:r>
              <a:t> — supply must match demand </a:t>
            </a:r>
            <a:r>
              <a:rPr b="1"/>
              <a:t>instant to instant</a:t>
            </a:r>
          </a:p>
          <a:p>
            <a:pPr lvl="0"/>
            <a:r>
              <a:t>The proof is the </a:t>
            </a:r>
            <a:r>
              <a:rPr b="1"/>
              <a:t>frequency</a:t>
            </a:r>
            <a:r>
              <a:t>: North America runs at </a:t>
            </a:r>
            <a:r>
              <a:rPr b="1"/>
              <a:t>60 Hz</a:t>
            </a:r>
            <a:r>
              <a:t>, and it must stay there. Too much demand → it sags; too much supply → it climbs</a:t>
            </a:r>
          </a:p>
          <a:p>
            <a:pPr lvl="0"/>
            <a:r>
              <a:t>Grid operators (here, the </a:t>
            </a:r>
            <a:r>
              <a:rPr b="1"/>
              <a:t>NYISO</a:t>
            </a:r>
            <a:r>
              <a:t>) rebalance </a:t>
            </a:r>
            <a:r>
              <a:rPr b="1"/>
              <a:t>second by second</a:t>
            </a:r>
            <a:r>
              <a:t>, all day, forever</a:t>
            </a:r>
          </a:p>
          <a:p>
            <a:pPr lvl="0"/>
            <a:r>
              <a:t>Lose the balance and the system </a:t>
            </a:r>
            <a:r>
              <a:rPr b="1"/>
              <a:t>protects itself by shutting down</a:t>
            </a:r>
            <a:r>
              <a:t> — which is how a small fault becomes a </a:t>
            </a:r>
            <a:r>
              <a:rPr b="1"/>
              <a:t>blackout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Aug 14, 2003: the day the Northeast went dark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It started small: an </a:t>
            </a:r>
            <a:r>
              <a:rPr b="1"/>
              <a:t>Ohio utility’s software failed</a:t>
            </a:r>
            <a:r>
              <a:t> and some </a:t>
            </a:r>
            <a:r>
              <a:rPr b="1"/>
              <a:t>overgrown trees</a:t>
            </a:r>
            <a:r>
              <a:t> touched power lines near Cleveland</a:t>
            </a:r>
          </a:p>
          <a:p>
            <a:pPr lvl="0"/>
            <a:r>
              <a:t>With operators flying blind, the imbalance </a:t>
            </a:r>
            <a:r>
              <a:rPr b="1"/>
              <a:t>cascaded across the grid in minutes</a:t>
            </a:r>
          </a:p>
          <a:p>
            <a:pPr lvl="0"/>
            <a:r>
              <a:rPr b="1"/>
              <a:t>~50 million people</a:t>
            </a:r>
            <a:r>
              <a:t> across </a:t>
            </a:r>
            <a:r>
              <a:rPr b="1"/>
              <a:t>eight US states and Ontario</a:t>
            </a:r>
            <a:r>
              <a:t> lost power — including </a:t>
            </a:r>
            <a:r>
              <a:rPr b="1"/>
              <a:t>right here in Buffalo and Western New York</a:t>
            </a:r>
          </a:p>
          <a:p>
            <a:pPr lvl="0"/>
            <a:r>
              <a:t>One overgrown tree + one software bug → a subcontinent dark. </a:t>
            </a:r>
            <a:r>
              <a:rPr b="1"/>
              <a:t>That’s how tightly coupled the grid is</a:t>
            </a:r>
          </a:p>
          <a:p>
            <a:pPr marL="1270000" lvl="0" indent="0">
              <a:buNone/>
            </a:pPr>
            <a:r>
              <a:rPr sz="2000"/>
              <a:t>SUGGESTED GRAPHIC (optional, manifest): the DMSP/NOAA before-and-after satellite night image of the Northeast blackout (federal/PD — corroborate). Alt: “Satellite night images of the northeastern United States before and during the August 2003 blackout, showing the region gone dark.” (If license is unclear, the script will flag it — fine to omit.)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Keeping the lights on (and the hard part ahead)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The grid is always juggling: </a:t>
            </a:r>
            <a:r>
              <a:rPr b="1"/>
              <a:t>baseload</a:t>
            </a:r>
            <a:r>
              <a:t> (steady — nuclear, some gas), </a:t>
            </a:r>
            <a:r>
              <a:rPr b="1"/>
              <a:t>peakers</a:t>
            </a:r>
            <a:r>
              <a:t> (fast spikes), and increasingly </a:t>
            </a:r>
            <a:r>
              <a:rPr b="1"/>
              <a:t>wind, solar, and batteries</a:t>
            </a:r>
          </a:p>
          <a:p>
            <a:pPr lvl="0"/>
            <a:r>
              <a:t>Renewables are the </a:t>
            </a:r>
            <a:r>
              <a:rPr b="1"/>
              <a:t>cheapest</a:t>
            </a:r>
            <a:r>
              <a:t> energy (LCOE) but </a:t>
            </a:r>
            <a:r>
              <a:rPr b="1"/>
              <a:t>variable</a:t>
            </a:r>
            <a:r>
              <a:t> — so the 21st-century grid problem is </a:t>
            </a:r>
            <a:r>
              <a:rPr b="1"/>
              <a:t>timing and storage</a:t>
            </a:r>
            <a:r>
              <a:t>, not generation cost</a:t>
            </a:r>
          </a:p>
          <a:p>
            <a:pPr lvl="0"/>
            <a:r>
              <a:rPr b="1"/>
              <a:t>Batteries, long-distance transmission, and demand shifting</a:t>
            </a:r>
            <a:r>
              <a:t> are how we square cheap-but-intermittent with a grid that must balance every second</a:t>
            </a:r>
          </a:p>
          <a:p>
            <a:pPr lvl="0"/>
            <a:r>
              <a:rPr b="1"/>
              <a:t>Relevant later (Week 7):</a:t>
            </a:r>
            <a:r>
              <a:t> all those </a:t>
            </a:r>
            <a:r>
              <a:rPr b="1"/>
              <a:t>AI data centers</a:t>
            </a:r>
            <a:r>
              <a:t> are enormous new demand landing on this same tightrope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grid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Grid basics: </a:t>
            </a:r>
            <a:r>
              <a:rPr>
                <a:hlinkClick r:id="rId2"/>
              </a:rPr>
              <a:t>Britannica — electric power system</a:t>
            </a:r>
            <a:r>
              <a:t>; </a:t>
            </a:r>
            <a:r>
              <a:rPr>
                <a:hlinkClick r:id="rId3"/>
              </a:rPr>
              <a:t>HyperPhysics — transformers &amp; transmission</a:t>
            </a:r>
          </a:p>
          <a:p>
            <a:pPr lvl="0"/>
            <a:r>
              <a:t>Operations / frequency: </a:t>
            </a:r>
            <a:r>
              <a:rPr>
                <a:hlinkClick r:id="rId4"/>
              </a:rPr>
              <a:t>NYISO — how the grid works</a:t>
            </a:r>
            <a:r>
              <a:t>; NERC frequency standards</a:t>
            </a:r>
          </a:p>
          <a:p>
            <a:pPr lvl="0"/>
            <a:r>
              <a:t>2003 blackout: </a:t>
            </a:r>
            <a:r>
              <a:rPr>
                <a:hlinkClick r:id="rId5"/>
              </a:rPr>
              <a:t>U.S.–Canada Power System Outage Task Force Final Report</a:t>
            </a:r>
            <a:r>
              <a:t> </a:t>
            </a:r>
            <a:r>
              <a:rPr i="1"/>
              <a:t>(federal — corroborate)</a:t>
            </a:r>
            <a:r>
              <a:t>; </a:t>
            </a:r>
            <a:r>
              <a:rPr>
                <a:hlinkClick r:id="rId6"/>
              </a:rPr>
              <a:t>Scientific American — five years later</a:t>
            </a:r>
          </a:p>
          <a:p>
            <a:pPr lvl="0"/>
            <a:r>
              <a:t>Storage/future grid: </a:t>
            </a:r>
            <a:r>
              <a:rPr>
                <a:hlinkClick r:id="rId7"/>
              </a:rPr>
              <a:t>IEA — Electricity Grids and Secure Energy Transitions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How this deck was built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AI-use disclosure (per our own policy)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Model / company:</a:t>
            </a:r>
            <a:r>
              <a:t> Claude (Anthropic)</a:t>
            </a:r>
          </a:p>
          <a:p>
            <a:pPr lvl="0"/>
            <a:r>
              <a:rPr b="1"/>
              <a:t>What it drew from:</a:t>
            </a:r>
            <a:r>
              <a:t> the </a:t>
            </a:r>
            <a:r>
              <a:rPr b="1"/>
              <a:t>primary sources on every Sources slide</a:t>
            </a:r>
            <a:r>
              <a:t> — I verified each one and did the physics/finance myself</a:t>
            </a:r>
          </a:p>
          <a:p>
            <a:pPr lvl="0"/>
            <a:r>
              <a:rPr b="1"/>
              <a:t>Where:</a:t>
            </a:r>
            <a:r>
              <a:t> Anthropic compute runs on major U.S. cloud regions </a:t>
            </a:r>
            <a:r>
              <a:rPr i="1"/>
              <a:t>(exact region confirmed at build)</a:t>
            </a:r>
          </a:p>
          <a:p>
            <a:pPr lvl="0"/>
            <a:r>
              <a:rPr b="1"/>
              <a:t>Compute / tokens:</a:t>
            </a:r>
            <a:r>
              <a:t> </a:t>
            </a:r>
            <a:r>
              <a:rPr b="1"/>
              <a:t>≈ 0.9 million tokens</a:t>
            </a:r>
            <a:r>
              <a:t> (estimate) to research, calculate, and draft this quarry</a:t>
            </a:r>
          </a:p>
          <a:p>
            <a:pPr lvl="0"/>
            <a:r>
              <a:rPr b="1"/>
              <a:t>Energy / water (order-of-magnitude):</a:t>
            </a:r>
            <a:r>
              <a:t> </a:t>
            </a:r>
            <a:r>
              <a:rPr b="1"/>
              <a:t>≈ 0.15–0.4 kWh</a:t>
            </a:r>
            <a:r>
              <a:t> and </a:t>
            </a:r>
            <a:r>
              <a:rPr b="1"/>
              <a:t>≈ 0.05–0.8 L</a:t>
            </a:r>
            <a:r>
              <a:t> — a range on purpose; providers report differently</a:t>
            </a:r>
          </a:p>
          <a:p>
            <a:pPr lvl="0"/>
            <a:r>
              <a:t>The human (me) checked every number and source. </a:t>
            </a:r>
            <a:r>
              <a:rPr b="1"/>
              <a:t>That’s the standard I’ll hold you to in your final project.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Takeaway: one machine, one ledger, one tightrope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The physics:</a:t>
                </a:r>
                <a:r>
                  <a:t> almost all electricity is one trick — </a:t>
                </a:r>
                <a:r>
                  <a:rPr i="1"/>
                  <a:t>change a magnetic field, make a current</a:t>
                </a:r>
                <a:r>
                  <a:t> (Faraday). Nuclear just unlocks more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/>
              </a:p>
              <a:p>
                <a:pPr lvl="0"/>
                <a:r>
                  <a:rPr b="1"/>
                  <a:t>The cost:</a:t>
                </a:r>
                <a:r>
                  <a:t> LCOE makes wind and solar the cheapest ever — but the number hides intermittency and the human/climate bill</a:t>
                </a:r>
              </a:p>
              <a:p>
                <a:pPr lvl="0"/>
                <a:r>
                  <a:rPr b="1"/>
                  <a:t>The delivery:</a:t>
                </a:r>
                <a:r>
                  <a:t> the grid must balance every second; cheap-but-variable power makes that the century’s real challenge</a:t>
                </a:r>
              </a:p>
              <a:p>
                <a:pPr lvl="0"/>
                <a:r>
                  <a:rPr b="1"/>
                  <a:t>Skill:</a:t>
                </a:r>
                <a:r>
                  <a:t> take notes you can be </a:t>
                </a:r>
                <a:r>
                  <a:rPr b="1"/>
                  <a:t>quizzed from</a:t>
                </a:r>
                <a:r>
                  <a:t> — then quiz yourself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Watch this week (optional)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Physics on your feed: fields &amp; Maxwell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3Blue1Brown</a:t>
            </a:r>
            <a:r>
              <a:t> — </a:t>
            </a:r>
            <a:r>
              <a:rPr i="1"/>
              <a:t>“Divergence and curl: the language of Maxwell’s equations.”</a:t>
            </a:r>
            <a:r>
              <a:t> The best visual intuition for the E&amp;M we did today (Grant Sanderson; </a:t>
            </a:r>
            <a:r>
              <a:rPr b="1"/>
              <a:t>vetted</a:t>
            </a:r>
            <a:r>
              <a:t>)</a:t>
            </a:r>
          </a:p>
          <a:p>
            <a:pPr lvl="0"/>
            <a:r>
              <a:rPr b="1">
                <a:hlinkClick r:id="rId4"/>
              </a:rPr>
              <a:t>Elle Cordova</a:t>
            </a:r>
            <a:r>
              <a:t> — her </a:t>
            </a:r>
            <a:r>
              <a:rPr i="1"/>
              <a:t>“Fundamental Forces of Physics”</a:t>
            </a:r>
            <a:r>
              <a:t> bits personify </a:t>
            </a:r>
            <a:r>
              <a:rPr b="1"/>
              <a:t>electromagnetism</a:t>
            </a:r>
            <a:r>
              <a:t> as a character. Funny, and it sticks (</a:t>
            </a:r>
            <a:r>
              <a:rPr b="1"/>
              <a:t>vetted</a:t>
            </a:r>
            <a:r>
              <a:t>)</a:t>
            </a:r>
          </a:p>
          <a:p>
            <a:pPr lvl="0"/>
            <a:r>
              <a:rPr b="1">
                <a:hlinkClick r:id="rId5"/>
              </a:rPr>
              <a:t>learnwithsherlock</a:t>
            </a:r>
            <a:r>
              <a:t> — short, clean physics explainers, incl. electromagnetism (</a:t>
            </a:r>
            <a:r>
              <a:rPr b="1"/>
              <a:t>vetted</a:t>
            </a:r>
            <a:r>
              <a:t>; IG/TikTok)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atom: fission, fusion, and CERN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Dr. Clara Nellist — @particleclara</a:t>
            </a:r>
            <a:r>
              <a:t> — real CERN particle physicist doing first-year-friendly explainers. </a:t>
            </a:r>
            <a:r>
              <a:rPr b="1"/>
              <a:t>She’s a friend of mine</a:t>
            </a:r>
            <a:r>
              <a:t> — lean in (</a:t>
            </a:r>
            <a:r>
              <a:rPr b="1"/>
              <a:t>vetted</a:t>
            </a:r>
            <a:r>
              <a:t>; IG/TikTok/</a:t>
            </a:r>
            <a:r>
              <a:rPr>
                <a:hlinkClick r:id="rId4"/>
              </a:rPr>
              <a:t>YouTube</a:t>
            </a:r>
            <a:r>
              <a:t>)</a:t>
            </a:r>
          </a:p>
          <a:p>
            <a:pPr lvl="0"/>
            <a:r>
              <a:rPr b="1">
                <a:hlinkClick r:id="rId5"/>
              </a:rPr>
              <a:t>CERN</a:t>
            </a:r>
            <a:r>
              <a:t> (official, </a:t>
            </a:r>
            <a:r>
              <a:rPr b="1"/>
              <a:t>vetted</a:t>
            </a:r>
            <a:r>
              <a:t>) — the source for “what a lab actually does.” </a:t>
            </a:r>
            <a:r>
              <a:rPr i="1"/>
              <a:t>Reminder: I work on </a:t>
            </a:r>
            <a:r>
              <a:rPr b="1" i="1"/>
              <a:t>CMS</a:t>
            </a:r>
            <a:r>
              <a:rPr i="1"/>
              <a:t>, one of the big LHC experiments — ask me anything</a:t>
            </a:r>
          </a:p>
          <a:p>
            <a:pPr lvl="0"/>
            <a:r>
              <a:rPr b="1"/>
              <a:t>Brian Cox</a:t>
            </a:r>
            <a:r>
              <a:t> — </a:t>
            </a:r>
            <a:r>
              <a:rPr i="1"/>
              <a:t>“Can We Make a Star on Earth?”</a:t>
            </a:r>
            <a:r>
              <a:t> (BBC) on </a:t>
            </a:r>
            <a:r>
              <a:rPr b="1"/>
              <a:t>fusion</a:t>
            </a:r>
            <a:r>
              <a:t> and how stars burn. A trusted traditional communicator (</a:t>
            </a:r>
            <a:r>
              <a:rPr b="1"/>
              <a:t>vetted</a:t>
            </a:r>
            <a:r>
              <a:t>) — </a:t>
            </a:r>
            <a:r>
              <a:rPr i="1"/>
              <a:t>I’ve worked with him</a:t>
            </a:r>
          </a:p>
          <a:p>
            <a:pPr lvl="0"/>
            <a:r>
              <a:rPr b="1">
                <a:hlinkClick r:id="rId6"/>
              </a:rPr>
              <a:t>Kurzgesagt — “Fusion Power Explained: Future or Failure”</a:t>
            </a:r>
            <a:r>
              <a:t> </a:t>
            </a:r>
            <a:r>
              <a:rPr i="1"/>
              <a:t>(secondary)</a:t>
            </a:r>
            <a:r>
              <a:t> — great animation; pairs with our “real, but decades away” verdict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grid: how electricity </a:t>
            </a:r>
            <a:r>
              <a:rPr i="1"/>
              <a:t>actually</a:t>
            </a:r>
            <a:r>
              <a:t> travels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Veritasium — “The Big Misconception About Electricity”</a:t>
            </a:r>
            <a:r>
              <a:t> </a:t>
            </a:r>
            <a:r>
              <a:rPr i="1"/>
              <a:t>(secondary)</a:t>
            </a:r>
            <a:r>
              <a:t> — energy rides in the </a:t>
            </a:r>
            <a:r>
              <a:rPr b="1"/>
              <a:t>fields around</a:t>
            </a:r>
            <a:r>
              <a:t> the wires, not “through” them. A mind-bending pairing with our transmission/grid slides</a:t>
            </a:r>
          </a:p>
          <a:p>
            <a:pPr lvl="0"/>
            <a:r>
              <a:t>Follow-up (</a:t>
            </a:r>
            <a:r>
              <a:rPr i="1"/>
              <a:t>same channel, secondary</a:t>
            </a:r>
            <a:r>
              <a:t>): </a:t>
            </a:r>
            <a:r>
              <a:rPr i="1"/>
              <a:t>“How Electricity Actually Works”</a:t>
            </a:r>
            <a:r>
              <a:t> answers the pushback on the first video</a:t>
            </a:r>
          </a:p>
          <a:p>
            <a:pPr lvl="0"/>
            <a:r>
              <a:rPr b="1"/>
              <a:t>Honest gap:</a:t>
            </a:r>
            <a:r>
              <a:t> our </a:t>
            </a:r>
            <a:r>
              <a:rPr b="1"/>
              <a:t>vetted</a:t>
            </a:r>
            <a:r>
              <a:t> list is a physics/AI/math roster — it doesn’t yet cover </a:t>
            </a:r>
            <a:r>
              <a:rPr b="1"/>
              <a:t>LCOE / energy economics</a:t>
            </a:r>
            <a:r>
              <a:t> or </a:t>
            </a:r>
            <a:r>
              <a:rPr b="1"/>
              <a:t>note-taking</a:t>
            </a:r>
            <a:r>
              <a:t>. If you find a good creator for those, add them to the trusted list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Cast a wider net: creators to vet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Energy economics &amp; LCOE (filling the gap)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Engineering with Rosie</a:t>
            </a:r>
            <a:r>
              <a:t> — engineer Rosemary Barnes; her video </a:t>
            </a:r>
            <a:r>
              <a:rPr i="1"/>
              <a:t>“Does LCOE give us the right numbers?”</a:t>
            </a:r>
            <a:r>
              <a:t> is a near-perfect match for today’s cost section</a:t>
            </a:r>
          </a:p>
          <a:p>
            <a:pPr lvl="0"/>
            <a:r>
              <a:rPr b="1">
                <a:hlinkClick r:id="rId4"/>
              </a:rPr>
              <a:t>Our World in Data</a:t>
            </a:r>
            <a:r>
              <a:t> — the data source behind our LCOE/deaths-per-TWh figures; charts you can actually cite</a:t>
            </a:r>
          </a:p>
          <a:p>
            <a:pPr lvl="0"/>
            <a:r>
              <a:rPr b="1">
                <a:hlinkClick r:id="rId5"/>
              </a:rPr>
              <a:t>Volts — David Roberts</a:t>
            </a:r>
            <a:r>
              <a:t> — deep energy-economics &amp; policy (podcast/newsletter; more advanced)</a:t>
            </a:r>
          </a:p>
          <a:p>
            <a:pPr lvl="0"/>
            <a:r>
              <a:rPr b="1">
                <a:hlinkClick r:id="rId6"/>
              </a:rPr>
              <a:t>Just Have a Think</a:t>
            </a:r>
            <a:r>
              <a:t> &amp; </a:t>
            </a:r>
            <a:r>
              <a:rPr b="1">
                <a:hlinkClick r:id="rId7"/>
              </a:rPr>
              <a:t>Undecided w/ Matt Ferrell</a:t>
            </a:r>
            <a:r>
              <a:t> — energy-transition explainers with sources</a:t>
            </a:r>
          </a:p>
          <a:p>
            <a:pPr lvl="0"/>
            <a:r>
              <a:rPr b="1">
                <a:hlinkClick r:id="rId8"/>
              </a:rPr>
              <a:t>Ziroth</a:t>
            </a:r>
            <a:r>
              <a:t> — clean energy-data visualizations</a:t>
            </a:r>
          </a:p>
          <a:p>
            <a:pPr marL="0" lvl="0" indent="0">
              <a:buNone/>
            </a:pPr>
            <a:r>
              <a:rPr i="1"/>
              <a:t>None vetted yet — candidates for the trusted list. They point where the cost and climate data point; vet each for rigor and primary sourcing, and watch for hype (over-optimistic timelines), not for “balance.”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Grids, reactors &amp; how things really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Practical Engineering — Grady Hillhouse</a:t>
            </a:r>
            <a:r>
              <a:t> — the gold standard on </a:t>
            </a:r>
            <a:r>
              <a:rPr b="1"/>
              <a:t>the grid</a:t>
            </a:r>
            <a:r>
              <a:t>: transmission, transformers, balancing, blackouts</a:t>
            </a:r>
          </a:p>
          <a:p>
            <a:pPr lvl="0"/>
            <a:r>
              <a:rPr b="1">
                <a:hlinkClick r:id="rId4"/>
              </a:rPr>
              <a:t>Illinois EnergyProf — Prof. David Ruzic</a:t>
            </a:r>
            <a:r>
              <a:t> — an actual nuclear/plasma professor on </a:t>
            </a:r>
            <a:r>
              <a:rPr b="1"/>
              <a:t>fission &amp; fusion</a:t>
            </a:r>
            <a:r>
              <a:t>; energetic and rigorous</a:t>
            </a:r>
          </a:p>
          <a:p>
            <a:pPr lvl="0"/>
            <a:r>
              <a:rPr b="1">
                <a:hlinkClick r:id="rId5"/>
              </a:rPr>
              <a:t>Real Engineering</a:t>
            </a:r>
            <a:r>
              <a:t> — well-produced deep dives (e.g., </a:t>
            </a:r>
            <a:r>
              <a:rPr i="1"/>
              <a:t>“The Problem with Nuclear Fusion”</a:t>
            </a:r>
            <a:r>
              <a:t>)</a:t>
            </a:r>
          </a:p>
          <a:p>
            <a:pPr lvl="0"/>
            <a:r>
              <a:rPr b="1">
                <a:hlinkClick r:id="rId6"/>
              </a:rPr>
              <a:t>Steve Mould</a:t>
            </a:r>
            <a:r>
              <a:t> — hands-on </a:t>
            </a:r>
            <a:r>
              <a:rPr b="1"/>
              <a:t>electromagnetism/induction</a:t>
            </a:r>
            <a:r>
              <a:t> demos you can almost feel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Study skills: note-taking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Justin Sung</a:t>
            </a:r>
            <a:r>
              <a:t> — former doctor turned learning-science coach; evidence-based note-taking (mapping over transcribing) that lines up with today’s skill</a:t>
            </a:r>
          </a:p>
          <a:p>
            <a:pPr lvl="0"/>
            <a:r>
              <a:rPr b="1">
                <a:hlinkClick r:id="rId4"/>
              </a:rPr>
              <a:t>Benjamin Keep</a:t>
            </a:r>
            <a:r>
              <a:t> — learning-science explainers on retrieval, spacing, and note strategies</a:t>
            </a:r>
          </a:p>
          <a:p>
            <a:pPr lvl="0"/>
            <a:r>
              <a:t>Ties directly to our Cornell-method / “process, don’t transcribe” slides — good optional follow-up for the Week-3 note-taking quiz</a:t>
            </a:r>
          </a:p>
          <a:p>
            <a:pPr marL="0" lvl="0" indent="0">
              <a:buNone/>
            </a:pPr>
            <a:r>
              <a:rPr i="1"/>
              <a:t>Non-vetted — review before recommending; both cite the cognitive-science literature.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5711</Words>
  <Application>Microsoft Macintosh PowerPoint</Application>
  <PresentationFormat>Widescreen</PresentationFormat>
  <Paragraphs>286</Paragraphs>
  <Slides>41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Aptos</vt:lpstr>
      <vt:lpstr>Arial</vt:lpstr>
      <vt:lpstr>Cambria Math</vt:lpstr>
      <vt:lpstr>Georgia</vt:lpstr>
      <vt:lpstr>System Font Regular</vt:lpstr>
      <vt:lpstr>UB Unit Presentation Template</vt:lpstr>
      <vt:lpstr>Lecture 2 — Energy generation</vt:lpstr>
      <vt:lpstr>Magnetism</vt:lpstr>
      <vt:lpstr>Magnetism</vt:lpstr>
      <vt:lpstr>1820: Ørsted’s compass twitches</vt:lpstr>
      <vt:lpstr>1831: Faraday runs it backwards</vt:lpstr>
      <vt:lpstr>Every power plant is the same machine</vt:lpstr>
      <vt:lpstr>1865: Maxwell writes the whole thing down</vt:lpstr>
      <vt:lpstr>Electricity &amp; magnetism — sources</vt:lpstr>
      <vt:lpstr>Nuclear: fission and fusion</vt:lpstr>
      <vt:lpstr>E=mc^2: mass is frozen energy</vt:lpstr>
      <vt:lpstr>Why iron sits at the bottom of the valley</vt:lpstr>
      <vt:lpstr>Fission: splitting the heavy stuff</vt:lpstr>
      <vt:lpstr>PowerPoint Presentation</vt:lpstr>
      <vt:lpstr>Fusion: the Sun’s furnace</vt:lpstr>
      <vt:lpstr>2022–2039: fusion’s real, slow timeline</vt:lpstr>
      <vt:lpstr>Nuclear — sources</vt:lpstr>
      <vt:lpstr>What does it cost? Levelized Cost of Electricity</vt:lpstr>
      <vt:lpstr>LCOE: the only fair way to compare</vt:lpstr>
      <vt:lpstr>Worked example: one megawatt of solar</vt:lpstr>
      <vt:lpstr>Lazard 2025: what’s actually cheapest (unsubsidized)</vt:lpstr>
      <vt:lpstr>PowerPoint Presentation</vt:lpstr>
      <vt:lpstr>What LCOE quietly leaves out</vt:lpstr>
      <vt:lpstr>LCOE — sources</vt:lpstr>
      <vt:lpstr>The grid: getting it to your wall</vt:lpstr>
      <vt:lpstr>From the plant to your phone charger</vt:lpstr>
      <vt:lpstr>Why the towers run at insane voltage</vt:lpstr>
      <vt:lpstr>The grid is a tightrope walk — every second</vt:lpstr>
      <vt:lpstr>Aug 14, 2003: the day the Northeast went dark</vt:lpstr>
      <vt:lpstr>Keeping the lights on (and the hard part ahead)</vt:lpstr>
      <vt:lpstr>The grid — sources</vt:lpstr>
      <vt:lpstr>How this deck was built</vt:lpstr>
      <vt:lpstr>AI-use disclosure (per our own policy)</vt:lpstr>
      <vt:lpstr>Takeaway: one machine, one ledger, one tightrope</vt:lpstr>
      <vt:lpstr>Watch this week (optional)</vt:lpstr>
      <vt:lpstr>Physics on your feed: fields &amp; Maxwell</vt:lpstr>
      <vt:lpstr>The atom: fission, fusion, and CERN</vt:lpstr>
      <vt:lpstr>The grid: how electricity actually travels</vt:lpstr>
      <vt:lpstr>Cast a wider net: creators to vet</vt:lpstr>
      <vt:lpstr>Energy economics &amp; LCOE (filling the gap)</vt:lpstr>
      <vt:lpstr>Grids, reactors &amp; how things really work</vt:lpstr>
      <vt:lpstr>Study skills: note-taking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761</TotalTime>
  <Words>1069</Words>
  <Application>Microsoft Macintosh PowerPoint</Application>
  <PresentationFormat>Widescreen</PresentationFormat>
  <Paragraphs>127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Georgia</vt:lpstr>
      <vt:lpstr>System Font Regular</vt:lpstr>
      <vt:lpstr>UB Unit Presentation Template</vt:lpstr>
      <vt:lpstr>Presentation Title</vt:lpstr>
      <vt:lpstr>Divider Slide Title</vt:lpstr>
      <vt:lpstr>Title and 1-Column Content</vt:lpstr>
      <vt:lpstr>Title and 2-Column Content</vt:lpstr>
      <vt:lpstr>Title and 1-Column Bulleted List</vt:lpstr>
      <vt:lpstr>Title and 1-Column Bulleted List (no crest)</vt:lpstr>
      <vt:lpstr>Title and 2-Column Bulleted List</vt:lpstr>
      <vt:lpstr>Title, Sub-title and 1-Column Bulleted List</vt:lpstr>
      <vt:lpstr>Title, Sub-title and 2-Column Bulleted List</vt:lpstr>
      <vt:lpstr>Title, Content and Graph</vt:lpstr>
      <vt:lpstr>Title, Content and Photo</vt:lpstr>
      <vt:lpstr>Title, Content and Photos</vt:lpstr>
      <vt:lpstr>Full-width Photo</vt:lpstr>
      <vt:lpstr>Graphic Elements</vt:lpstr>
      <vt:lpstr>Accessibility Tips</vt:lpstr>
      <vt:lpstr>Accessibility Tips (continued)</vt:lpstr>
      <vt:lpstr>Accessibility Tips (continued again)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— Energy generation</dc:title>
  <dc:creator>Dr. Salvatore Rappoccio</dc:creator>
  <cp:keywords/>
  <cp:lastModifiedBy>Salvatore Rappoccio</cp:lastModifiedBy>
  <cp:revision>16</cp:revision>
  <dcterms:created xsi:type="dcterms:W3CDTF">2026-08-28T18:45:34Z</dcterms:created>
  <dcterms:modified xsi:type="dcterms:W3CDTF">2026-09-03T15:40:46Z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signment">
    <vt:lpwstr>Academic Integrity at UB course on UBLearns, with quiz. Share badge on UBLearns.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date">
    <vt:lpwstr>2026-08-31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aterial">
    <vt:lpwstr>Lecture notes on electricity and magnetism, nuclear fission and fusion, Levelized Cost, the grid. Skill taught: note-taking.</vt:lpwstr>
  </property>
  <property fmtid="{D5CDD505-2E9C-101B-9397-08002B2CF9AE}" pid="12" name="subtitle">
    <vt:lpwstr>PHY199-RAP · Energy in the 21st Century</vt:lpwstr>
  </property>
  <property fmtid="{D5CDD505-2E9C-101B-9397-08002B2CF9AE}" pid="13" name="toc-title">
    <vt:lpwstr>Table of contents</vt:lpwstr>
  </property>
</Properties>
</file>