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svg" ContentType="image/svg+xml"/>
  <Default Extension="png" ContentType="image/pn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2665"/>
    <p:restoredTop sz="94694"/>
  </p:normalViewPr>
  <p:slideViewPr>
    <p:cSldViewPr snapToGrid="0">
      <p:cViewPr varScale="1">
        <p:scale>
          <a:sx d="100" n="117"/>
          <a:sy d="100" n="117"/>
        </p:scale>
        <p:origin x="992" y="168"/>
      </p:cViewPr>
      <p:guideLst/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notesMaster" Target="notesMasters/notesMaster1.xml" /><Relationship Id="rId58" Type="http://schemas.openxmlformats.org/officeDocument/2006/relationships/viewProps" Target="viewProps.xml" /><Relationship Id="rId5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0" Type="http://schemas.openxmlformats.org/officeDocument/2006/relationships/tableStyles" Target="tableStyles.xml" /><Relationship Id="rId59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D5BA36-2DBA-8E4B-A80F-E09890FEEA5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65E1F8-3717-4041-B345-9C118A1FFF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239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40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41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42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?><Relationships xmlns="http://schemas.openxmlformats.org/package/2006/relationships"><Relationship Id="rId2" Type="http://schemas.openxmlformats.org/officeDocument/2006/relationships/slide" Target="../slides/slide45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?><Relationships xmlns="http://schemas.openxmlformats.org/package/2006/relationships"><Relationship Id="rId2" Type="http://schemas.openxmlformats.org/officeDocument/2006/relationships/slide" Target="../slides/slide46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?><Relationships xmlns="http://schemas.openxmlformats.org/package/2006/relationships"><Relationship Id="rId2" Type="http://schemas.openxmlformats.org/officeDocument/2006/relationships/slide" Target="../slides/slide48.xml" /><Relationship Id="rId1" Type="http://schemas.openxmlformats.org/officeDocument/2006/relationships/notesMaster" Target="../notesMasters/notesMaster1.xml" /></Relationships>
</file>

<file path=ppt/notesSlides/_rels/notesSlide34.xml.rels><?xml version="1.0" encoding="UTF-8"?><Relationships xmlns="http://schemas.openxmlformats.org/package/2006/relationships"><Relationship Id="rId2" Type="http://schemas.openxmlformats.org/officeDocument/2006/relationships/slide" Target="../slides/slide49.xml" /><Relationship Id="rId1" Type="http://schemas.openxmlformats.org/officeDocument/2006/relationships/notesMaster" Target="../notesMasters/notesMaster1.xml" /></Relationships>
</file>

<file path=ppt/notesSlides/_rels/notesSlide35.xml.rels><?xml version="1.0" encoding="UTF-8"?><Relationships xmlns="http://schemas.openxmlformats.org/package/2006/relationships"><Relationship Id="rId2" Type="http://schemas.openxmlformats.org/officeDocument/2006/relationships/slide" Target="../slides/slide50.xml" /><Relationship Id="rId1" Type="http://schemas.openxmlformats.org/officeDocument/2006/relationships/notesMaster" Target="../notesMasters/notesMaster1.xml" /></Relationships>
</file>

<file path=ppt/notesSlides/_rels/notesSlide36.xml.rels><?xml version="1.0" encoding="UTF-8"?><Relationships xmlns="http://schemas.openxmlformats.org/package/2006/relationships"><Relationship Id="rId2" Type="http://schemas.openxmlformats.org/officeDocument/2006/relationships/slide" Target="../slides/slide52.xml" /><Relationship Id="rId1" Type="http://schemas.openxmlformats.org/officeDocument/2006/relationships/notesMaster" Target="../notesMasters/notesMaster1.xml" /></Relationships>
</file>

<file path=ppt/notesSlides/_rels/notesSlide37.xml.rels><?xml version="1.0" encoding="UTF-8"?><Relationships xmlns="http://schemas.openxmlformats.org/package/2006/relationships"><Relationship Id="rId2" Type="http://schemas.openxmlformats.org/officeDocument/2006/relationships/slide" Target="../slides/slide53.xml" /><Relationship Id="rId1" Type="http://schemas.openxmlformats.org/officeDocument/2006/relationships/notesMaster" Target="../notesMasters/notesMaster1.xml" /></Relationships>
</file>

<file path=ppt/notesSlides/_rels/notesSlide38.xml.rels><?xml version="1.0" encoding="UTF-8"?><Relationships xmlns="http://schemas.openxmlformats.org/package/2006/relationships"><Relationship Id="rId2" Type="http://schemas.openxmlformats.org/officeDocument/2006/relationships/slide" Target="../slides/slide5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Callback to Lecture 1’s “process, don’t transcribe” slide, now the formal skill of the week (course schedule Wk 2 lists “Skill: note-taking”; Wk 3 quiz is on it). Model the course’s sourcing ethic again: cite the original AND the replication, don’t oversell. Sources: Mueller &amp; Oppenheimer (2014, Psychological Science); Urry et al. (2021, Psychological Science) — registered direct replication + mini meta-analysis.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Pauk formalized this at Cornell (his book </a:t>
            </a:r>
            <a:r>
              <a:rPr i="1"/>
              <a:t>How to Study in College</a:t>
            </a:r>
            <a:r>
              <a:rPr/>
              <a:t>, 1962, is the primary source). Keep it concrete — maybe show my own handwritten page. The point isn’t the exact layout, it’s that the layout forces you to (a) write questions and (b) summarize. Source: Pauk &amp; Owens, </a:t>
            </a:r>
            <a:r>
              <a:rPr i="1"/>
              <a:t>How to Study in College</a:t>
            </a:r>
            <a:r>
              <a:rPr/>
              <a:t>; Cornell Learning Strategies Center.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Dunlosky et al. (2013, Psychological Science in the Public Interest) reviewed 10 techniques; practice testing + distributed practice came out on top, highlighting/rereading at the bottom. Tie explicitly to our grading structure (quizzes = retrieval practice). Accessible version: “Strengthening the Student Toolbox,” American Educator (2013).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Deliberately a non-physics, everyday topic so the </a:t>
            </a:r>
            <a:r>
              <a:rPr i="1"/>
              <a:t>method</a:t>
            </a:r>
            <a:r>
              <a:rPr/>
              <a:t> is the star, not the content. Bonus: it has a satisfying “the folk wisdom is wrong” turn, which is exactly what good notes should capture — a claim AND its correction. Narrate what I’d write as if it were a real mini-lecture. Rice-fact sources are in the notes on the following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the shorthand out loud: arrows for “leads to / because,” “ppl” for people, dropping vowels. The point is that I’m writing the </a:t>
            </a:r>
            <a:r>
              <a:rPr i="1"/>
              <a:t>logic</a:t>
            </a:r>
            <a:r>
              <a:rPr/>
              <a:t>, not the sentences. Facts: The Conversation, “Do you need to wash rice before cooking? Here’s the science” (academic-authored), summarizing a study that found washing did not change stickiness/hardness.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Numbers from the same Conversation summary plus the arsenic-cooking literature (Menon et al., Univ. of Sheffield / </a:t>
            </a:r>
            <a:r>
              <a:rPr i="1"/>
              <a:t>Science of the Total Environment</a:t>
            </a:r>
            <a:r>
              <a:rPr/>
              <a:t>, 2020; and the excess-water study “Cooking rice in excess water reduces both arsenic and enriched vitamins in the cooked grain,” 2016). At first-year level the full citations live here in the notes; the slide only carries the shorthand a student would actually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highest-value five minutes of the whole method: turning notes into retrieval cues. If you can’t write a question for a chunk, you didn’t really get it — go back to that chunk. These questions become the self-quiz.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summary is a compression test; “your own words” is the entire point, because copying the slide back defeats the processing. Two lines, no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Bring it back to the two high-utility techniques (practice testing + distributed practice) and to our own low-stakes quizzes. The rice topic is disposable; the loop — notes -&gt; cues -&gt; summary -&gt; self-quiz — is the transferable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whole page, assembled. A cleaner cartoon of the three-zone layout (the schematic suggested on the earlier Cornell slide) with this rice example dropped into the zones would work well here; or show my own handwritten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the water analogy honest but don’t oversell it (it breaks for AC/reactance later). </a:t>
            </a:r>
            <a:r>
              <a:rPr/>
              <a:t>P=VI</a:t>
            </a:r>
            <a:r>
              <a:rPr/>
              <a:t> is the one equation they should leave with. A US wall outlet is ~120 V; a phone charger pulls ~0.15 A → ~18 W. Source: Britannica (electric current, voltage); HyperPhysics (Georgia State) for the water analogy done carefully.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Ørsted, Copenhagen, spring 1820 — the founding moment of electromagnetism. Ampère then quantified the force within months. This is the “electricity → magnetism” direction; Faraday (next slide) closes the loop the other way, and </a:t>
            </a:r>
            <a:r>
              <a:rPr i="1"/>
              <a:t>that</a:t>
            </a:r>
            <a:r>
              <a:rPr/>
              <a:t> loop is every generator. Source: Britannica (Hans Christian Ørsted; Ampère); Royal Society historical accounts.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\Phi_B</a:t>
            </a:r>
            <a:r>
              <a:rPr/>
              <a:t> = magnetic flux (field × area through the loop); the EMF is minus its rate of change (Lenz’s law = the minus sign, nature pushing back). Don’t derive it — land the sentence: </a:t>
            </a:r>
            <a:r>
              <a:rPr i="1"/>
              <a:t>changing magnetic flux → voltage</a:t>
            </a:r>
            <a:r>
              <a:rPr/>
              <a:t>. Primary source: Faraday, “Experimental Researches in Electricity” (1832, Phil. Trans. R. Soc.); Royal Society commentary (Phil. Trans. A 373:20140208, 2015) is a clean modern anchor.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payoff of the two previous slides and the unifying idea of the physics half: “boil water → spin magnet” is ~80% of the world’s electricity. Ties back to Lecture 1’s Adams Plant / Current Wars slides. The PV exception forward-refs to solar in later weeks. Source: DOE energy.gov (how generators/turbines work) — corroborate with Britannica (electric generator) per source-integrity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Don’t show the four equations as math to first-years; show them as “the grammar of E&amp;M.” Maxwell (1865, “A Dynamical Theory of the Electromagnetic Field,” Phil. Trans. R. Soc.) predicted EM waves travel at c; Hertz confirmed radio waves in 1887. Forward-ref: 60 Hz grid frequency comes up in the grid section. Source: Maxwell (1865); Britannica.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Worked (re-checked this session): E = m c² = (0.001 kg)(2.998×10⁸ m/s)² ≈ 8.99×10¹³ J = 8.99×10¹³ / 3.6×10⁶ ≈ 2.50×10⁷ kWh = 25 GWh. For scale, ~25,000 MWh ≈ what ~2,300 US homes use in a year (US avg ~10,800 kWh/home/yr, EIA — corroborate). Chemistry releases ~a billionth of this per atom; nuclear releases ~a millionth of the rest-mass. That gap is the whole story of nuclear energy. Source: Einstein (1905, Annalen der Physik).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binding-energy curve is the single best physics slide of the lecture — fission and fusion are the </a:t>
            </a:r>
            <a:r>
              <a:rPr i="1"/>
              <a:t>same idea</a:t>
            </a:r>
            <a:r>
              <a:rPr/>
              <a:t> (roll toward iron-56) from opposite ends. Peak is actually Ni-62 / Fe-56 depending how you measure; “iron” is the right first-year answer. Source: Krane, </a:t>
            </a:r>
            <a:r>
              <a:rPr i="1"/>
              <a:t>Introductory Nuclear Physics</a:t>
            </a:r>
            <a:r>
              <a:rPr/>
              <a:t>; IAEA nuclear data. Commons file candidate: “Binding energy curve - common isotopes.svg” (PD).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Meitner &amp; Frisch (1939, Nature) named and explained fission; Hahn got the 1944 Chemistry Nobel alone — a well-documented snub worth flagging (ties to the course’s justice thread). Forward-ref to Weeks 5–6 (Hiroshima, Church Rock, the human cost). Keep the reactor-vs-bomb distinction crisp: same physics, wildly different rate. Source: Meitner &amp; Frisch (1939); Rhodes, </a:t>
            </a:r>
            <a:r>
              <a:rPr i="1"/>
              <a:t>The Making of the Atomic Bomb</a:t>
            </a:r>
            <a:r>
              <a:rPr/>
              <a:t> (secondary but rigorous).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Re-checked this session. 1 kg U-235 fission: N = 6.022×10²³/0.235 ≈ 2.56×10²⁴ atoms; ×200 MeV/fission ×1.602×10⁻¹³ J/MeV ≈ 8.2×10¹³ J ≈ 22.8×10⁶ kWh = 22.8 GWh. So 1 g ≈ 22,800 kWh ≈ 23 MWh. Coal ~24 MJ/kg → 1 g coal ≈ 0.0067 kWh; 8.2×10¹³ J / 24×10⁶ J/kg ≈ 3.4×10⁶ kg ≈ 3,400 t coal per kg U (≈3 t per gram). Note fission taps only ~0.09% of the rest-mass — even nuclear leaves most of </a:t>
            </a:r>
            <a:r>
              <a:rPr/>
              <a:t>E=mc^2</a:t>
            </a:r>
            <a:r>
              <a:rPr/>
              <a:t> on the table. Source: IAEA; Krane.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Motif hook (optional, continues L1’s Game of Thrones thread): “the Sun is the only dragon that actually works.” Deuterium-in-water figure (re-checked this session): ~1 D per 6,420 H; 1 L water ≈ 111 mol H → ~1.0×10²² D atoms. Pure water has no tritium, so the realistic route is catalyzed D–D fusion at ~7.2 MeV per deuteron consumed → ~1.2×10¹⁰ J ≈ 3,300 kWh ≈ the energy in ~350 liters of gasoline (gasoline ~34 MJ/L). That’s the origin of the classic “deuterium in 1 L of water ≈ 300 L of gasoline” line. Order-of-magnitude only. Source: ITER Organization (fusion basics); Britannica (nuclear fusion).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NIF ignition: Abu-Shawareb et al. (2024, Phys. Rev. Lett. 132, 065102) — peer-reviewed; target gain &gt;1 (2.05 MJ out vs 2.05 MJ laser to target), later shots exceeded it. Careful framing: that’s energy to the </a:t>
            </a:r>
            <a:r>
              <a:rPr i="1"/>
              <a:t>fuel</a:t>
            </a:r>
            <a:r>
              <a:rPr/>
              <a:t>, not wall-plug breakeven — the lasers drew ~300 MJ. ITER revised baseline (announced 2024): first plasma 2034, D-T operation 2039, ~€5B over prior estimate — cite Physics World / ITER Organization. Gen Z explainer: Kurzgesagt “Fusion Power Explained” (verify link at build). Sources on the sources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28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the formula intuitive: total money in over the plant’s life, divided by total energy out. Real LCOE also discounts future cash flows (time value of money) — mention it exists, don’t compute it. Units: 1 MWh = 1,000 kWh; $50/MWh = 5¢/kWh (about what you pay retail is higher because of the grid — next section). Source: NREL (LCOE explainer); Lazard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31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Re-checked this session: annual MWh = 1×8760×0.22 = 1,927; ×20 = 38,544 MWh; O&amp;M 15k×20 = $300k; (1,000,000+300,000)/38,544 ≈ $33.7/MWh. Numbers are illustrative but realistic (capital ~$1/W is a reasonable 2025 utility-solar figure). This is the kind of “simple calculation” the course promises — walk it slowly, it’s very defensible in Q&amp;A. Capacity factor is the honest asterisk on every renewable. Source: NREL ATB (method); Lazard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32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Lazard 2025 unsubsidized (converted from their $/kWh): onshore wind $37–86, utility solar $38–217, CC gas $48–109, coal $71–173, standalone 2-hr battery $81–174, nuclear $141–220, gas peaker $149–251. Note Lazard flags wind rose YoY (onshore +55%) and solar fell ~4%. Lazard’s own caveat (important, next slide): excludes subsidies, carbon price, and grid/ firming costs. Source: Lazard LCOE+ June 2025 (corroborated by pv-magazine, RTO Insider).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34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slide is the moral hinge that connects the physics half to the course’s justice throughline. Callback to L1’s “deaths per TWh” (Our World in Data / Markandya &amp; Wilkinson 2007, Lancet) and the climate cost (IPCC AR6). Firming/intermittency forward-refs to the grid section. The honest scientist’s move: love the metric, know its blind spots.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35</a:t>
            </a:fld>
            <a:endParaRPr lang="en-US"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Generation → transmission → distribution is the mental model to leave them with. The North American grid is genuinely one of the largest engineered systems in existence. Source: Britannica (electric power system); IEEE overview. Keep the “largest machine” line — it’s accurate and it lands.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38</a:t>
            </a:fld>
            <a:endParaRPr lang="en-US"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P_{loss}=I^2R</a:t>
            </a:r>
            <a:r>
              <a:rPr/>
              <a:t> is the whole reason for high-voltage transmission and the deep reason AC won (transformers need changing flux — Faraday again — so they need AC). This is a beautiful callback that ties the E&amp;M section, the Current Wars (L1), and the grid together. US transmission runs 100–765 kV; homes get 120/240 V. Source: HyperPhysics; Britannica (transformer); US-Canada Task Force report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39</a:t>
            </a:fld>
            <a:endParaRPr lang="en-US"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60 Hz is the US/Canada standard (50 Hz most of the rest of the world). Frequency is the real-time tell of supply-vs-demand — generators literally spin at a rate that sets it. NYISO runs New York’s grid (good local hook). This sets up the 2003 blackout perfectly. Source: NYISO (how the grid works); NERC frequency standards; Britannica.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40</a:t>
            </a:fld>
            <a:endParaRPr lang="en-US"/>
          </a:p>
        </p:txBody>
      </p:sp>
    </p:spTree>
  </p:cSld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Primary source: U.S.–Canada Power System Outage Task Force, Final Report (2004) — this is federal, so per the source-integrity rule pair it with an independent account (Scientific American 5-years-later; Wikipedia as finding aid → its cited sources). Trigger: FirstEnergy (Ohio) — a software race condition in the alarm system + unmanaged vegetation contact → cascade. Buffalo/WNY were squarely in the blackout zone (good local hook). Deaths estimated ~90+ (indirect). Keep the “coupled system”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41</a:t>
            </a:fld>
            <a:endParaRPr lang="en-US"/>
          </a:p>
        </p:txBody>
      </p:sp>
    </p:spTree>
  </p:cSld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Synthesizes the whole lecture: physics (how we generate) + LCOE (what it costs) + grid (delivering it reliably). The honest frontier is storage/timing, not raw cost. Forward-ref to Week 7 (AI/data-center demand) and Week 8 (future energy needs). Source: IEA (grids and storage); NYISO. End on the real 21st-century challenge.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42</a:t>
            </a:fld>
            <a:endParaRPr lang="en-US"/>
          </a:p>
        </p:txBody>
      </p:sp>
    </p:spTree>
  </p:cSld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same capstone move as Lecture 1 — model the disclosure the syllabus requires. Swap in the exact token count from this session’s usage log if you want a firm number. Method/uncertainty same as L1: ~0.15–0.45 Wh per 1,000 tokens; water ~0.3–1.8 mL/Wh. The point is the honesty and the range, not false precision. Sources: Google 2025 environmental disclosures; Li et al. “Making AI Less Thirsty”; IEA “Energy and AI.”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45</a:t>
            </a:fld>
            <a:endParaRPr lang="en-US"/>
          </a:p>
        </p:txBody>
      </p:sp>
    </p:spTree>
  </p:cSld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Warm, tight close. This is the “one thing to remember” slide — the through-line from generation (physics) to cost (LCOE) to delivery (grid), with the skill of the week folded in. Then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46</a:t>
            </a:fld>
            <a:endParaRPr lang="en-US"/>
          </a:p>
        </p:txBody>
      </p:sp>
    </p:spTree>
  </p:cSld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Confirmed this session (RE-VERIFY exact links at build): 3Blue1Brown “Divergence and curl” = youtube.com/watch?v=rB83DpBJQsE (also 3blue1brown.com/lessons/divergence-and-curl); his neural-network series is the one to save for the Week-7 AI lecture. Elle Cordova = @ellecordova (youtube.com/@ElleCordova; also IG/TikTok) — “Fundamental Forces” reels; pick the electromagnetism one and confirm the exact reel URL. learnwithsherlock = instagram.com/learnwithsherlock + tiktok.com/@learnwithsherlock. All three are on the project’s trusted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48</a:t>
            </a:fld>
            <a:endParaRPr lang="en-US"/>
          </a:p>
        </p:txBody>
      </p:sp>
    </p:spTree>
  </p:cSld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Authenticity hooks (project style note): particleclara (Clara Nellist) is a personal friend — “a friend of mine makes these”; and I’m a CMS experimentalist, so CERN/CMS content I can speak to firsthand. Confirmed: particleclara = instagram.com/particleclara, tiktok.com/@particleclara, youtube.com/@ParticleClara. CERN official = home.cern (@CERN across platforms). Brian Cox fusion: BBC Horizon “Can We Make a Star on Earth?” (2009) + “Wonders of the Universe” stellar-fusion segments — pick a clip and verify. Kurzgesagt fusion = youtube.com/watch?v=mZsaaturR6E (same video referenced in Lecture 1; NOT on the vetted list — established and reliable, mark as secondary).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49</a:t>
            </a:fld>
            <a:endParaRPr lang="en-US"/>
          </a:p>
        </p:txBody>
      </p:sp>
    </p:spTree>
  </p:cSld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Veritasium “The Big Misconception About Electricity” = youtube.com/watch?v=bHIhgxav9LY (2021); the follow-up “How Electricity Actually Works” answers critics — both are strong on the Poynting- vector idea that ties directly to our high-voltage/transmission slide. Veritasium is NOT on the vetted list (mark secondary), but Lecture 1 already leaned on it, so it’s consistent. Real gaps to flag for the trusted-creator list as it grows: LCOE/energy-economics and study-skills/note-taking — no vetted creator covers these yet. Candidate energy-explainer channels exist but need your vetting before they go on the list. Per course policy, cite any creator’s underlying primary sources if this material makes it into a graded deliverable. (The next section broadens the net to fill these gaps.)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50</a:t>
            </a:fld>
            <a:endParaRPr lang="en-US"/>
          </a:p>
        </p:txBody>
      </p:sp>
    </p:spTree>
  </p:cSld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Confirmed this session (RE-VERIFY links at build): Engineering with Rosie (Rosemary Barnes, wind/ composites engineer) — LCOE video = youtube.com/watch?v=i-891blV02c; channel youtube.com/@EngineeringwithRosie. Our World in Data = ourworldindata.org/energy + youtube.com/@ourworldindata3652 — this is the actual data behind our Lazard-adjacent figures and the L1 deaths-per-TWh chart; strongest for “cite the data.” Volts = volts.wtf (David Roberts) — excellent on electricity-market economics but adult/advanced and opinionated (clean-energy advocate — flag POV). Just Have a Think = Dave Borlace, youtube.com/@JustHaveaThink (rigorous, cites sources). Undecided = Matt Ferrell, youtube.com/@UndecidedTechnology (tech + payback- period economics). Ziroth = Ryan Hughes, youtube.com/c/ZirothTech (data viz). ON “BALANCE”: this set leans pro- renewable because that’s where the LCOE numbers and the climate science actually land — that’s the evidence, not a bias to offset, and there’s no reason to manufacture fossil-fuel equal time on a settled empirical question. The real scrutiny is per-creator rigor: do their claims trace to primary data, and are they overselling (hyped timelines, tech that isn’t deployed yet)? All NON-VETTED — your review needed on that basis.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52</a:t>
            </a:fld>
            <a:endParaRPr lang="en-US"/>
          </a:p>
        </p:txBody>
      </p:sp>
    </p:spTree>
  </p:cSld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Practical Engineering (Grady Hillhouse, licensed PE) = practical.engineering + youtube.com/@PracticalEngineering; “How Does the Power Grid Work?” is the single best grid explainer and maps straight onto our grid slides — strong candidate to formally vet/add. Illinois EnergyProf (Prof. David Ruzic, UIUC Nuclear/Plasma/Radiological Eng) = youtube.com/@illinoisenergyprof6878 — credentialed, great on reactors and fusion plasma. Real Engineering = youtube.com/@RealEngineering (Brian McManus) — polished, generally reliable; verify specifics. Steve Mould = youtube.com/@SteveMould — physics demos incl. induction/eddy currents, pairs with the E&amp;M section. All NON-VETTED; Practical Engineering + Illinois EnergyProf are the two I’d prioritize for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53</a:t>
            </a:fld>
            <a:endParaRPr lang="en-US"/>
          </a:p>
        </p:txBody>
      </p:sp>
    </p:spTree>
  </p:cSld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Justin Sung = youtube.com/@JustinSung (learning-science coach; leans into his iCanStudy course — flag the soft sales angle, but the content aligns with Dunlosky/retrieval-practice evidence). Benjamin Keep = youtube.com/@BenjaminKeep (PhD; learning science, careful with evidence). Both fill the note-taking gap the prior slide flagged. NON-VETTED. Reminder: our vetted list had no study-skills creators — if you like either, that’s a natural addition. As always, the real check on any of this is whether students can defend it in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65E1F8-3717-4041-B345-9C118A1FFFB2}" type="slidenum">
              <a:rPr lang="en-US"/>
              <a:t>54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10FA-7ECD-D4D9-D377-60E0FE6A90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9184" y="1690710"/>
            <a:ext cx="9144000" cy="2405802"/>
          </a:xfrm>
        </p:spPr>
        <p:txBody>
          <a:bodyPr anchor="b"/>
          <a:lstStyle>
            <a:lvl1pPr algn="l">
              <a:lnSpc>
                <a:spcPts val="6000"/>
              </a:lnSpc>
              <a:defRPr sz="6000" b="1" i="0" cap="all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73CCE-562D-8451-99E0-194B6D8D3B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9184" y="4216314"/>
            <a:ext cx="9144000" cy="14900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Sub-topic text goes 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392352-7DF4-5EB6-32FA-9FB7E764D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347064" y="5932815"/>
            <a:ext cx="5492824" cy="63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816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72111FF-5304-D6B1-8333-440DC4F512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A9F8A-F58D-4DBE-FAEF-CB216CFAB2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5" y="2410823"/>
            <a:ext cx="4245750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et unus sit amet consectetur et pretium a adipiscing elit. Vivamus euismod et leo a vitae condimentum mollis pretium nisl est convallis nisl urna vitae dapibus elit ligula vel urna. Integer mollis elit vel justo bibendum vitae.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29B7451-E98E-FC17-C95F-97570ABD4F77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4909137" y="2410823"/>
            <a:ext cx="4245750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et unus sit amet consectetur et pretium a adipiscing elit. Vivamus euismod et leo a vitae condimentum mollis pretium nisl est convallis nisl urna vitae dapibus elit ligula vel urna. Integer mollis elit vel justo bibendum vitae.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039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Sub-title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9F6CE-B0F0-D865-9FE6-A7F32345C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10515600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FA020-8573-C593-D6BB-C7397DC36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30A87E8-FC38-EF63-519A-A20B6C53B42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206" y="2456033"/>
            <a:ext cx="4939792" cy="517986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00"/>
              </a:spcBef>
              <a:buFont typeface="System Font Regular"/>
              <a:buChar char="−"/>
              <a:defRPr sz="180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3372A22-8E95-EEF5-A75E-63F3C0F2C29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94208" y="3095375"/>
            <a:ext cx="4939792" cy="3184283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spcBef>
                <a:spcPts val="400"/>
              </a:spcBef>
              <a:defRPr/>
            </a:lvl2pPr>
            <a:lvl3pPr>
              <a:spcBef>
                <a:spcPts val="400"/>
              </a:spcBef>
              <a:defRPr/>
            </a:lvl3pPr>
            <a:lvl4pPr>
              <a:spcBef>
                <a:spcPts val="400"/>
              </a:spcBef>
              <a:defRPr/>
            </a:lvl4pPr>
            <a:lvl5pPr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856CF4B-B17A-2337-0D52-61EC19AA7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5977588" y="2456033"/>
            <a:ext cx="4939792" cy="517986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 cap="all" baseline="0">
                <a:solidFill>
                  <a:schemeClr val="tx2"/>
                </a:solidFill>
              </a:defRPr>
            </a:lvl1pPr>
            <a:lvl2pPr>
              <a:buFont typeface="Arial" panose="020B0604020202020204" pitchFamily="34" charset="0"/>
              <a:buChar char="•"/>
              <a:defRPr/>
            </a:lvl2pPr>
            <a:lvl3pPr>
              <a:spcBef>
                <a:spcPts val="400"/>
              </a:spcBef>
              <a:buFont typeface="System Font Regular"/>
              <a:buChar char="−"/>
              <a:defRPr sz="1800"/>
            </a:lvl3pPr>
          </a:lstStyle>
          <a:p>
            <a:pPr lvl="0"/>
            <a:r>
              <a:rPr lang="en-US" dirty="0"/>
              <a:t>Click here to edit Sub-title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3825F99-D766-A623-5D1B-AE0CC6933E0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5977590" y="3095375"/>
            <a:ext cx="4939792" cy="3184283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spcBef>
                <a:spcPts val="400"/>
              </a:spcBef>
              <a:defRPr/>
            </a:lvl2pPr>
            <a:lvl3pPr>
              <a:lnSpc>
                <a:spcPct val="120000"/>
              </a:lnSpc>
              <a:spcBef>
                <a:spcPts val="400"/>
              </a:spcBef>
              <a:defRPr/>
            </a:lvl3pPr>
            <a:lvl4pPr>
              <a:lnSpc>
                <a:spcPct val="120000"/>
              </a:lnSpc>
              <a:spcBef>
                <a:spcPts val="400"/>
              </a:spcBef>
              <a:defRPr/>
            </a:lvl4pPr>
            <a:lvl5pPr>
              <a:lnSpc>
                <a:spcPct val="120000"/>
              </a:lnSpc>
              <a:spcBef>
                <a:spcPts val="400"/>
              </a:spcBef>
              <a:defRPr/>
            </a:lvl5pPr>
          </a:lstStyle>
          <a:p>
            <a:pPr lvl="0"/>
            <a:r>
              <a:rPr lang="en-US" dirty="0"/>
              <a:t>Click here to edit text</a:t>
            </a:r>
          </a:p>
          <a:p>
            <a:pPr lvl="0"/>
            <a:r>
              <a:rPr lang="en-US" dirty="0"/>
              <a:t>Click here to 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391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4" y="2410823"/>
            <a:ext cx="5192807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09B8DD2A-7177-2E52-DD5A-3EAE044C53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834743" y="1433506"/>
            <a:ext cx="5963049" cy="432044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4D129EA-B4FE-13E2-9E6F-CFD7407BEA7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7580" y="6206038"/>
            <a:ext cx="692856" cy="365125"/>
          </a:xfrm>
        </p:spPr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00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45E6A-5CC6-3D59-03B2-79BA22BAC1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7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(No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3871AB5E-101C-7C13-4D65-215EA69060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7580" y="6206038"/>
            <a:ext cx="692856" cy="365125"/>
          </a:xfrm>
        </p:spPr>
        <p:txBody>
          <a:bodyPr/>
          <a:lstStyle/>
          <a:p>
            <a:fld id="{7B670C77-F8D5-0D45-BCC6-7287AA83D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860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 +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4" y="2410823"/>
            <a:ext cx="5192807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18212" y="1175657"/>
            <a:ext cx="6172200" cy="5682343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003926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Text +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A70E803-0CD4-37E6-6B4A-D7207B5FF5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43350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9FC7291-FE51-B6E9-4282-93216FB48CD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1564" y="2410823"/>
            <a:ext cx="5192807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Lorem ipsum dolor sit amet consectetur et adipiscing elit. Vivamus euismod et leo a condimentum pretium nisl est convallis nisl, vitae dapibus elit ligula vel urna. Integer mollis elit vel justo bibendum vitae et efficitur arcu bibendum. consectetur adipiscing elit. Vivamus euismod leo a condimentum.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13295" y="1175657"/>
            <a:ext cx="6175025" cy="2841171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855A2D2-CB1F-E260-6EEA-7E2D6D512F1B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013295" y="4016828"/>
            <a:ext cx="3090672" cy="2843784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bg1"/>
            </a:solidFill>
          </a:ln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9823783-F8CE-C00A-E2E8-141FB0CBA29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9097648" y="4016829"/>
            <a:ext cx="3090672" cy="2841171"/>
          </a:xfrm>
          <a:prstGeom prst="rect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984944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-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50CA1-FF95-DB59-A307-6E7802C571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08" y="1504626"/>
            <a:ext cx="5190163" cy="868680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4453FC-9ACD-2BD9-D95C-9641E9530AE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auto" latinLnBrk="0" hangingPunct="1">
              <a:lnSpc>
                <a:spcPts val="2600"/>
              </a:lnSpc>
              <a:spcBef>
                <a:spcPts val="8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11199705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image2.png" Type="http://schemas.openxmlformats.org/officeDocument/2006/relationships/imag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1.jpg" Type="http://schemas.openxmlformats.org/officeDocument/2006/relationships/image" /><Relationship Id="rId2" Target="../slideLayouts/slideLayout2.xml" Type="http://schemas.openxmlformats.org/officeDocument/2006/relationships/slideLayout" /><Relationship Id="rId16" Target="../theme/theme1.xml" Type="http://schemas.openxmlformats.org/officeDocument/2006/relationships/them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A19231-8A35-C0C4-A52C-FD510095F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208" y="1504626"/>
            <a:ext cx="10515600" cy="868680"/>
          </a:xfrm>
          <a:prstGeom prst="rect">
            <a:avLst/>
          </a:prstGeom>
        </p:spPr>
        <p:txBody>
          <a:bodyPr anchor="ctr" anchorCtr="0" bIns="45720" lIns="91440" rIns="91440" rtlCol="0" tIns="45720" vert="horz">
            <a:noAutofit/>
          </a:bodyPr>
          <a:lstStyle/>
          <a:p>
            <a:r>
              <a:rPr dirty="0"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E5F18-0F44-D0C4-865B-4F1686C20A3A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394208" y="2522992"/>
            <a:ext cx="10515600" cy="4048171"/>
          </a:xfrm>
          <a:prstGeom prst="rect">
            <a:avLst/>
          </a:prstGeom>
        </p:spPr>
        <p:txBody>
          <a:bodyPr bIns="45720" lIns="91440" rIns="91440" rtlCol="0" tIns="45720" vert="horz">
            <a:noAutofit/>
          </a:bodyPr>
          <a:lstStyle/>
          <a:p>
            <a:pPr lvl="0"/>
            <a:r>
              <a:rPr dirty="0" lang="en-US"/>
              <a:t>Click here to edit text</a:t>
            </a:r>
          </a:p>
          <a:p>
            <a:pPr lvl="0"/>
            <a:r>
              <a:rPr dirty="0" lang="en-US"/>
              <a:t>Click here to edit text</a:t>
            </a:r>
          </a:p>
          <a:p>
            <a:pPr lvl="1"/>
            <a:r>
              <a:rPr dirty="0" lang="en-US"/>
              <a:t>Second text level</a:t>
            </a:r>
          </a:p>
          <a:p>
            <a:pPr lvl="1"/>
            <a:r>
              <a:rPr dirty="0" lang="en-US"/>
              <a:t>Second text level</a:t>
            </a:r>
          </a:p>
          <a:p>
            <a:pPr lvl="2"/>
            <a:r>
              <a:rPr dirty="0" lang="en-US"/>
              <a:t>Third text level</a:t>
            </a:r>
          </a:p>
          <a:p>
            <a:pPr lvl="2"/>
            <a:r>
              <a:rPr dirty="0" lang="en-US"/>
              <a:t>Third text level</a:t>
            </a:r>
          </a:p>
          <a:p>
            <a:pPr lvl="3"/>
            <a:r>
              <a:rPr dirty="0" lang="en-US"/>
              <a:t>Fourth text level</a:t>
            </a:r>
          </a:p>
          <a:p>
            <a:pPr lvl="4"/>
            <a:r>
              <a:rPr dirty="0" lang="en-US"/>
              <a:t>Fifth text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7C836-75E5-4C64-D3C5-1D1833BAD80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1107580" y="6206038"/>
            <a:ext cx="692856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1" sz="1200">
                <a:solidFill>
                  <a:schemeClr val="tx1"/>
                </a:solidFill>
                <a:latin charset="0" panose="020B0604020202020204" pitchFamily="34" typeface="Arial"/>
                <a:cs charset="0" panose="020B0604020202020204" pitchFamily="34" typeface="Arial"/>
              </a:defRPr>
            </a:lvl1pPr>
          </a:lstStyle>
          <a:p>
            <a:fld id="{7B670C77-F8D5-0D45-BCC6-7287AA83D132}" type="slidenum">
              <a:rPr lang="en-US" smtClean="0"/>
              <a:pPr/>
              <a:t>‹#›</a:t>
            </a:fld>
            <a:endParaRPr b="1" dirty="0"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3DEE38-7B4E-C8A4-CC0C-614E4A2B6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AdjustHandles="1" noChangeArrowheads="1" noChangeAspect="1" noChangeShapeType="1" noCrop="1" noEditPoints="1" noGrp="1" noMove="1" noResize="1" noRo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219918" y="231495"/>
            <a:ext cx="5492824" cy="63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681390"/>
      </p:ext>
    </p:extLst>
  </p:cSld>
  <p:clrMap accent1="accent1" accent2="accent2" accent3="accent3" accent4="accent4" accent5="accent5" accent6="accent6" bg1="dk1" bg2="dk2" folHlink="folHlink" hlink="hlink" tx1="lt1" tx2="lt2"/>
  <p:sldLayoutIdLst>
    <p:sldLayoutId id="2147483659" r:id="rId1"/>
    <p:sldLayoutId id="2147483649" r:id="rId2"/>
    <p:sldLayoutId id="2147483660" r:id="rId3"/>
    <p:sldLayoutId id="2147483658" r:id="rId4"/>
    <p:sldLayoutId id="2147483656" r:id="rId5"/>
    <p:sldLayoutId id="2147483665" r:id="rId6"/>
    <p:sldLayoutId id="2147483652" r:id="rId7"/>
    <p:sldLayoutId id="2147483666" r:id="rId8"/>
    <p:sldLayoutId id="2147483667" r:id="rId9"/>
    <p:sldLayoutId id="2147483664" r:id="rId10"/>
    <p:sldLayoutId id="2147483669" r:id="rId11"/>
    <p:sldLayoutId id="2147483668" r:id="rId12"/>
    <p:sldLayoutId id="2147483657" r:id="rId13"/>
    <p:sldLayoutId id="2147483663" r:id="rId14"/>
    <p:sldLayoutId id="2147483662" r:id="rId15"/>
  </p:sldLayoutIdLst>
  <p:hf dt="0" ftr="0"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b="0" i="0" kern="1200" sz="3600">
          <a:solidFill>
            <a:schemeClr val="tx2"/>
          </a:solidFill>
          <a:latin charset="0" panose="02040502050405020303" pitchFamily="18" typeface="Georgia"/>
          <a:ea typeface="+mj-ea"/>
          <a:cs charset="0" panose="020B0604020202020204" pitchFamily="34" typeface="Arial"/>
        </a:defRPr>
      </a:lvl1pPr>
    </p:titleStyle>
    <p:bodyStyle>
      <a:lvl1pPr algn="l" defTabSz="914400" eaLnBrk="1" hangingPunct="1" indent="-228600" latinLnBrk="0" marL="228600" rtl="0">
        <a:lnSpc>
          <a:spcPct val="120000"/>
        </a:lnSpc>
        <a:spcBef>
          <a:spcPts val="1000"/>
        </a:spcBef>
        <a:buClr>
          <a:schemeClr val="tx2"/>
        </a:buClr>
        <a:buFont charset="0" panose="020B0604020202020204" pitchFamily="34" typeface="Arial"/>
        <a:buChar char="•"/>
        <a:defRPr kern="1200" sz="2000">
          <a:solidFill>
            <a:schemeClr val="tx1"/>
          </a:solidFill>
          <a:latin charset="0" panose="020B0604020202020204" pitchFamily="34" typeface="Arial"/>
          <a:ea typeface="+mn-ea"/>
          <a:cs charset="0" panose="020B0604020202020204" pitchFamily="34" typeface="Arial"/>
        </a:defRPr>
      </a:lvl1pPr>
      <a:lvl2pPr algn="l" defTabSz="914400" eaLnBrk="1" hangingPunct="1" indent="-228600" latinLnBrk="0" marL="685800" rtl="0">
        <a:lnSpc>
          <a:spcPct val="120000"/>
        </a:lnSpc>
        <a:spcBef>
          <a:spcPts val="1000"/>
        </a:spcBef>
        <a:buClr>
          <a:schemeClr val="tx2"/>
        </a:buClr>
        <a:buFont typeface="System Font Regular"/>
        <a:buChar char="−"/>
        <a:defRPr kern="1200" sz="2000">
          <a:solidFill>
            <a:schemeClr val="tx1"/>
          </a:solidFill>
          <a:latin charset="0" panose="020B0604020202020204" pitchFamily="34" typeface="Arial"/>
          <a:ea typeface="+mn-ea"/>
          <a:cs charset="0" panose="020B0604020202020204" pitchFamily="34" typeface="Arial"/>
        </a:defRPr>
      </a:lvl2pPr>
      <a:lvl3pPr algn="l" defTabSz="914400" eaLnBrk="1" hangingPunct="1" indent="-228600" latinLnBrk="0" marL="1143000" rtl="0">
        <a:lnSpc>
          <a:spcPct val="120000"/>
        </a:lnSpc>
        <a:spcBef>
          <a:spcPts val="1000"/>
        </a:spcBef>
        <a:buClr>
          <a:schemeClr val="tx2"/>
        </a:buClr>
        <a:buFont charset="0" panose="020B0604020202020204" pitchFamily="34" typeface="Arial"/>
        <a:buChar char="•"/>
        <a:defRPr kern="1200" sz="1800">
          <a:solidFill>
            <a:schemeClr val="tx1"/>
          </a:solidFill>
          <a:latin charset="0" panose="020B0604020202020204" pitchFamily="34" typeface="Arial"/>
          <a:ea typeface="+mn-ea"/>
          <a:cs charset="0" panose="020B0604020202020204" pitchFamily="34" typeface="Arial"/>
        </a:defRPr>
      </a:lvl3pPr>
      <a:lvl4pPr algn="l" defTabSz="914400" eaLnBrk="1" hangingPunct="1" indent="-228600" latinLnBrk="0" marL="1600200" rtl="0">
        <a:lnSpc>
          <a:spcPct val="120000"/>
        </a:lnSpc>
        <a:spcBef>
          <a:spcPts val="1000"/>
        </a:spcBef>
        <a:buClr>
          <a:schemeClr val="tx2"/>
        </a:buClr>
        <a:buFont charset="0" panose="020B0604020202020204" pitchFamily="34" typeface="Arial"/>
        <a:buChar char="•"/>
        <a:defRPr kern="1200" sz="1800">
          <a:solidFill>
            <a:schemeClr val="tx1"/>
          </a:solidFill>
          <a:latin charset="0" panose="020B0604020202020204" pitchFamily="34" typeface="Arial"/>
          <a:ea typeface="+mn-ea"/>
          <a:cs charset="0" panose="020B0604020202020204" pitchFamily="34" typeface="Arial"/>
        </a:defRPr>
      </a:lvl4pPr>
      <a:lvl5pPr algn="l" defTabSz="914400" eaLnBrk="1" hangingPunct="1" indent="-228600" latinLnBrk="0" marL="2057400" rtl="0">
        <a:lnSpc>
          <a:spcPct val="120000"/>
        </a:lnSpc>
        <a:spcBef>
          <a:spcPts val="1000"/>
        </a:spcBef>
        <a:buClr>
          <a:schemeClr val="tx2"/>
        </a:buClr>
        <a:buFont charset="0" panose="020B0604020202020204" pitchFamily="34" typeface="Arial"/>
        <a:buChar char="•"/>
        <a:defRPr kern="1200" sz="1800">
          <a:solidFill>
            <a:schemeClr val="tx1"/>
          </a:solidFill>
          <a:latin charset="0" panose="020B0604020202020204" pitchFamily="34" typeface="Arial"/>
          <a:ea typeface="+mn-ea"/>
          <a:cs charset="0" panose="020B0604020202020204" pitchFamily="34" typeface="Arial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journals.sagepub.com/doi/abs/10.1177/0956797614524581" TargetMode="External" /><Relationship Id="rId3" Type="http://schemas.openxmlformats.org/officeDocument/2006/relationships/hyperlink" Target="https://journals.sagepub.com/doi/abs/10.1177/0956797614524581" TargetMode="External" /><Relationship Id="rId4" Type="http://schemas.openxmlformats.org/officeDocument/2006/relationships/hyperlink" Target="https://journals.sagepub.com/doi/abs/10.1177/0956797620965541" TargetMode="External" /><Relationship Id="rId5" Type="http://schemas.openxmlformats.org/officeDocument/2006/relationships/hyperlink" Target="https://journals.sagepub.com/doi/abs/10.1177/1529100612453266" TargetMode="External" /><Relationship Id="rId6" Type="http://schemas.openxmlformats.org/officeDocument/2006/relationships/hyperlink" Target="https://journals.sagepub.com/doi/abs/10.1177/1529100612453266" TargetMode="External" /><Relationship Id="rId7" Type="http://schemas.openxmlformats.org/officeDocument/2006/relationships/hyperlink" Target="https://www.aft.org/ae/fall2013/dunlosky" TargetMode="External" /><Relationship Id="rId8" Type="http://schemas.openxmlformats.org/officeDocument/2006/relationships/hyperlink" Target="https://www.aft.org/ae/fall2013/dunlosky" TargetMode="External" /><Relationship Id="rId9" Type="http://schemas.openxmlformats.org/officeDocument/2006/relationships/hyperlink" Target="https://lsc.cornell.edu/how-to-study/taking-notes/cornell-note-taking-system/" TargetMode="External" /><Relationship Id="rId10" Type="http://schemas.openxmlformats.org/officeDocument/2006/relationships/hyperlink" Target="https://theconversation.com/do-you-need-to-wash-rice-before-cooking-heres-the-science-204692" TargetMode="External" /><Relationship Id="rId11" Type="http://schemas.openxmlformats.org/officeDocument/2006/relationships/hyperlink" Target="https://pubmed.ncbi.nlm.nih.gov/26515534/" TargetMode="External" /><Relationship Id="rId12" Type="http://schemas.openxmlformats.org/officeDocument/2006/relationships/hyperlink" Target="https://www.sciencedirect.com/science/article/pii/S0048969720368728" TargetMode="External" /><Relationship Id="rId13" Type="http://schemas.openxmlformats.org/officeDocument/2006/relationships/hyperlink" Target="https://www.sciencedirect.com/science/article/pii/S0048969720368728" TargetMode="Externa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5.jp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6.jp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britannica.com/science/electromagnetism" TargetMode="External" /><Relationship Id="rId3" Type="http://schemas.openxmlformats.org/officeDocument/2006/relationships/hyperlink" Target="http://hyperphysics.phy-astr.gsu.edu/hbase/emcon.html" TargetMode="External" /><Relationship Id="rId4" Type="http://schemas.openxmlformats.org/officeDocument/2006/relationships/hyperlink" Target="https://www.britannica.com/biography/Hans-Christian-Orsted" TargetMode="External" /><Relationship Id="rId5" Type="http://schemas.openxmlformats.org/officeDocument/2006/relationships/hyperlink" Target="https://royalsocietypublishing.org/doi/10.1098/rsta.2014.0208" TargetMode="External" /><Relationship Id="rId6" Type="http://schemas.openxmlformats.org/officeDocument/2006/relationships/hyperlink" Target="https://royalsocietypublishing.org/doi/10.1098/rsta.2014.0208" TargetMode="External" /><Relationship Id="rId7" Type="http://schemas.openxmlformats.org/officeDocument/2006/relationships/hyperlink" Target="https://www.britannica.com/science/Faradays-law-of-induction" TargetMode="External" /><Relationship Id="rId8" Type="http://schemas.openxmlformats.org/officeDocument/2006/relationships/hyperlink" Target="https://www.britannica.com/science/Maxwells-equations" TargetMode="Externa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7.sv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8.sv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9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9.jp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onlinelibrary.wiley.com/doi/10.1002/andp.19053231314" TargetMode="External" /><Relationship Id="rId3" Type="http://schemas.openxmlformats.org/officeDocument/2006/relationships/hyperlink" Target="https://onlinelibrary.wiley.com/doi/10.1002/andp.19053231314" TargetMode="External" /><Relationship Id="rId4" Type="http://schemas.openxmlformats.org/officeDocument/2006/relationships/hyperlink" Target="https://www.nature.com/articles/143239a0" TargetMode="External" /><Relationship Id="rId5" Type="http://schemas.openxmlformats.org/officeDocument/2006/relationships/hyperlink" Target="https://www.nature.com/articles/143239a0" TargetMode="External" /><Relationship Id="rId6" Type="http://schemas.openxmlformats.org/officeDocument/2006/relationships/hyperlink" Target="https://www.britannica.com/science/nuclear-fission" TargetMode="External" /><Relationship Id="rId7" Type="http://schemas.openxmlformats.org/officeDocument/2006/relationships/hyperlink" Target="https://www-nds.iaea.org/" TargetMode="External" /><Relationship Id="rId8" Type="http://schemas.openxmlformats.org/officeDocument/2006/relationships/hyperlink" Target="https://www.iter.org/sci/whatisfusion" TargetMode="External" /><Relationship Id="rId9" Type="http://schemas.openxmlformats.org/officeDocument/2006/relationships/hyperlink" Target="https://www.britannica.com/science/nuclear-fusion" TargetMode="External" /><Relationship Id="rId10" Type="http://schemas.openxmlformats.org/officeDocument/2006/relationships/hyperlink" Target="https://link.aps.org/doi/10.1103/PhysRevLett.132.065102" TargetMode="External" /><Relationship Id="rId11" Type="http://schemas.openxmlformats.org/officeDocument/2006/relationships/hyperlink" Target="https://link.aps.org/doi/10.1103/PhysRevLett.132.065102" TargetMode="External" /><Relationship Id="rId12" Type="http://schemas.openxmlformats.org/officeDocument/2006/relationships/hyperlink" Target="https://physicsworld.com/a/iter-fusion-reactor-hit-by-massive-decade-long-delay-and-e5bn-price-hike/" TargetMode="Externa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nrel.gov/analysis/tech-lcoe.html" TargetMode="External" /><Relationship Id="rId3" Type="http://schemas.openxmlformats.org/officeDocument/2006/relationships/hyperlink" Target="https://atb.nrel.gov/" TargetMode="External" /><Relationship Id="rId4" Type="http://schemas.openxmlformats.org/officeDocument/2006/relationships/hyperlink" Target="https://www.lazard.com/research-insights/levelized-cost-of-energyplus-lcoeplus/" TargetMode="External" /><Relationship Id="rId5" Type="http://schemas.openxmlformats.org/officeDocument/2006/relationships/hyperlink" Target="https://www.lazard.com/news-announcements/lazard-releases-2025-levelized-cost-of-energyplus-report-pr/" TargetMode="External" /><Relationship Id="rId6" Type="http://schemas.openxmlformats.org/officeDocument/2006/relationships/hyperlink" Target="https://pv-magazine-usa.com/2025/06/17/despite-low-gas-prices-solar-wind-remain-cheapest-sources-of-power-in-u-s/" TargetMode="External" /><Relationship Id="rId7" Type="http://schemas.openxmlformats.org/officeDocument/2006/relationships/hyperlink" Target="https://www.rtoinsider.com/108308-lazard-solar-wind-retain-lowest-lcoes/" TargetMode="External" /><Relationship Id="rId8" Type="http://schemas.openxmlformats.org/officeDocument/2006/relationships/hyperlink" Target="https://ourworldindata.org/grapher/death-rates-from-energy-production-per-twh" TargetMode="External" /><Relationship Id="rId9" Type="http://schemas.openxmlformats.org/officeDocument/2006/relationships/hyperlink" Target="https://www.ipcc.ch/report/ar6/syr/" TargetMode="Externa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10.jp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7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9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0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britannica.com/technology/electric-power" TargetMode="External" /><Relationship Id="rId3" Type="http://schemas.openxmlformats.org/officeDocument/2006/relationships/hyperlink" Target="http://hyperphysics.phy-astr.gsu.edu/hbase/magnetic/transf.html" TargetMode="External" /><Relationship Id="rId4" Type="http://schemas.openxmlformats.org/officeDocument/2006/relationships/hyperlink" Target="https://www.nyiso.com/how-the-grid-works" TargetMode="External" /><Relationship Id="rId5" Type="http://schemas.openxmlformats.org/officeDocument/2006/relationships/hyperlink" Target="https://www.energy.gov/oe/articles/blackout-2003-us-canada-task-force-presents-final-report-onblackout-august-2003" TargetMode="External" /><Relationship Id="rId6" Type="http://schemas.openxmlformats.org/officeDocument/2006/relationships/hyperlink" Target="https://www.scientificamerican.com/article/2003-blackout-five-years-later/" TargetMode="External" /><Relationship Id="rId7" Type="http://schemas.openxmlformats.org/officeDocument/2006/relationships/hyperlink" Target="https://www.iea.org/reports/electricity-grids-and-secure-energy-transitions" TargetMode="Externa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1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3.xml" /><Relationship Id="rId3" Type="http://schemas.openxmlformats.org/officeDocument/2006/relationships/hyperlink" Target="https://www.youtube.com/watch?v=rB83DpBJQsE" TargetMode="External" /><Relationship Id="rId4" Type="http://schemas.openxmlformats.org/officeDocument/2006/relationships/hyperlink" Target="https://www.youtube.com/@ElleCordova" TargetMode="External" /><Relationship Id="rId5" Type="http://schemas.openxmlformats.org/officeDocument/2006/relationships/hyperlink" Target="https://www.instagram.com/learnwithsherlock/" TargetMode="Externa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4.xml" /><Relationship Id="rId3" Type="http://schemas.openxmlformats.org/officeDocument/2006/relationships/hyperlink" Target="https://www.instagram.com/particleclara/" TargetMode="External" /><Relationship Id="rId4" Type="http://schemas.openxmlformats.org/officeDocument/2006/relationships/hyperlink" Target="https://www.youtube.com/@ParticleClara" TargetMode="External" /><Relationship Id="rId5" Type="http://schemas.openxmlformats.org/officeDocument/2006/relationships/hyperlink" Target="https://home.cern/" TargetMode="External" /><Relationship Id="rId6" Type="http://schemas.openxmlformats.org/officeDocument/2006/relationships/hyperlink" Target="https://www.youtube.com/watch?v=mZsaaturR6E" TargetMode="Externa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5.xml" /><Relationship Id="rId3" Type="http://schemas.openxmlformats.org/officeDocument/2006/relationships/hyperlink" Target="https://www.youtube.com/watch?v=bHIhgxav9LY" TargetMode="Externa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6.xml" /><Relationship Id="rId3" Type="http://schemas.openxmlformats.org/officeDocument/2006/relationships/hyperlink" Target="https://www.youtube.com/watch?v=i-891blV02c" TargetMode="External" /><Relationship Id="rId4" Type="http://schemas.openxmlformats.org/officeDocument/2006/relationships/hyperlink" Target="https://ourworldindata.org/energy" TargetMode="External" /><Relationship Id="rId5" Type="http://schemas.openxmlformats.org/officeDocument/2006/relationships/hyperlink" Target="https://www.volts.wtf/" TargetMode="External" /><Relationship Id="rId6" Type="http://schemas.openxmlformats.org/officeDocument/2006/relationships/hyperlink" Target="https://www.youtube.com/@JustHaveaThink" TargetMode="External" /><Relationship Id="rId7" Type="http://schemas.openxmlformats.org/officeDocument/2006/relationships/hyperlink" Target="https://www.youtube.com/@UndecidedTechnology" TargetMode="External" /><Relationship Id="rId8" Type="http://schemas.openxmlformats.org/officeDocument/2006/relationships/hyperlink" Target="https://www.youtube.com/c/ZirothTech" TargetMode="Externa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7.xml" /><Relationship Id="rId3" Type="http://schemas.openxmlformats.org/officeDocument/2006/relationships/hyperlink" Target="https://practical.engineering/blog/2019/6/24/how-does-the-power-grid-work" TargetMode="External" /><Relationship Id="rId4" Type="http://schemas.openxmlformats.org/officeDocument/2006/relationships/hyperlink" Target="https://www.youtube.com/@illinoisenergyprof6878" TargetMode="External" /><Relationship Id="rId5" Type="http://schemas.openxmlformats.org/officeDocument/2006/relationships/hyperlink" Target="https://www.youtube.com/@RealEngineering" TargetMode="External" /><Relationship Id="rId6" Type="http://schemas.openxmlformats.org/officeDocument/2006/relationships/hyperlink" Target="https://www.youtube.com/@SteveMould" TargetMode="Externa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8.xml" /><Relationship Id="rId3" Type="http://schemas.openxmlformats.org/officeDocument/2006/relationships/hyperlink" Target="https://www.youtube.com/@JustinSung" TargetMode="External" /><Relationship Id="rId4" Type="http://schemas.openxmlformats.org/officeDocument/2006/relationships/hyperlink" Target="https://www.youtube.com/@BenjaminKeep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10FA-7ECD-D4D9-D377-60E0FE6A90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hasCustomPrompt="1" type="ctrTitle"/>
          </p:nvPr>
        </p:nvSpPr>
        <p:spPr>
          <a:xfrm>
            <a:off x="409184" y="1690710"/>
            <a:ext cx="9144000" cy="2405802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 — Energy generation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73CCE-562D-8451-99E0-194B6D8D3B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hasCustomPrompt="1" idx="1" type="subTitle"/>
          </p:nvPr>
        </p:nvSpPr>
        <p:spPr>
          <a:xfrm>
            <a:off x="409184" y="4216314"/>
            <a:ext cx="9144000" cy="1490005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PHY199-RAP · Energy in the 21st Century</a:t>
            </a:r>
            <a:br/>
            <a:br/>
            <a:r>
              <a:rPr/>
              <a:t>Dr. Salvatore Rappoccio</a:t>
            </a:r>
          </a:p>
        </p:txBody>
      </p:sp>
      <p:sp/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Skill of the week: note-taking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skill that makes every other class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is a </a:t>
            </a:r>
            <a:r>
              <a:rPr b="1"/>
              <a:t>UB Seminar</a:t>
            </a:r>
            <a:r>
              <a:rPr/>
              <a:t> — we teach the </a:t>
            </a:r>
            <a:r>
              <a:rPr i="1"/>
              <a:t>meta-skills</a:t>
            </a:r>
            <a:r>
              <a:rPr/>
              <a:t>. First one up: </a:t>
            </a:r>
            <a:r>
              <a:rPr b="1"/>
              <a:t>taking notes</a:t>
            </a:r>
          </a:p>
          <a:p>
            <a:pPr lvl="0"/>
            <a:r>
              <a:rPr/>
              <a:t>Last week’s rule, restated: </a:t>
            </a:r>
            <a:r>
              <a:rPr b="1"/>
              <a:t>process, don’t transcribe</a:t>
            </a:r>
          </a:p>
          <a:p>
            <a:pPr lvl="0"/>
            <a:r>
              <a:rPr/>
              <a:t>The old “longhand beats laptops” study (Mueller &amp; Oppenheimer, 2014) had a </a:t>
            </a:r>
            <a:r>
              <a:rPr b="1"/>
              <a:t>weak replication</a:t>
            </a:r>
            <a:r>
              <a:rPr/>
              <a:t> (Urry et al., 2021) — so it’s </a:t>
            </a:r>
            <a:r>
              <a:rPr i="1"/>
              <a:t>not</a:t>
            </a:r>
            <a:r>
              <a:rPr/>
              <a:t> pen-vs-laptop</a:t>
            </a:r>
          </a:p>
          <a:p>
            <a:pPr lvl="0"/>
            <a:r>
              <a:rPr/>
              <a:t>The real lesson: notes are for </a:t>
            </a:r>
            <a:r>
              <a:rPr b="1"/>
              <a:t>thinking</a:t>
            </a:r>
            <a:r>
              <a:rPr/>
              <a:t>, not stenography. If you’re just copying, you’ve turned your brain off</a:t>
            </a:r>
          </a:p>
          <a:p>
            <a:pPr lvl="0"/>
            <a:r>
              <a:rPr b="1"/>
              <a:t>This will be relevant next week</a:t>
            </a:r>
            <a:r>
              <a:rPr/>
              <a:t> — the Week 3 quiz is </a:t>
            </a:r>
            <a:r>
              <a:rPr i="1"/>
              <a:t>on note-taking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Cornell method: a note page that grades itself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1950s, Cornell:</a:t>
            </a:r>
            <a:r>
              <a:rPr/>
              <a:t> Walter Pauk designed a page layout that forces processing</a:t>
            </a:r>
          </a:p>
          <a:p>
            <a:pPr lvl="0"/>
            <a:r>
              <a:rPr/>
              <a:t>Split the page: </a:t>
            </a:r>
            <a:r>
              <a:rPr b="1"/>
              <a:t>narrow left column</a:t>
            </a:r>
            <a:r>
              <a:rPr/>
              <a:t> (cues/questions), </a:t>
            </a:r>
            <a:r>
              <a:rPr b="1"/>
              <a:t>wide right column</a:t>
            </a:r>
            <a:r>
              <a:rPr/>
              <a:t> (notes in class), </a:t>
            </a:r>
            <a:r>
              <a:rPr b="1"/>
              <a:t>strip along the bottom</a:t>
            </a:r>
            <a:r>
              <a:rPr/>
              <a:t> (a 2-line summary you write </a:t>
            </a:r>
            <a:r>
              <a:rPr i="1"/>
              <a:t>after</a:t>
            </a:r>
            <a:r>
              <a:rPr/>
              <a:t>)</a:t>
            </a:r>
          </a:p>
          <a:p>
            <a:pPr lvl="0"/>
            <a:r>
              <a:rPr/>
              <a:t>The trick: cover the right side, and your left-column questions become a </a:t>
            </a:r>
            <a:r>
              <a:rPr b="1"/>
              <a:t>self-quiz</a:t>
            </a:r>
          </a:p>
          <a:p>
            <a:pPr lvl="0"/>
            <a:r>
              <a:rPr/>
              <a:t>It bakes in the two things that actually work (next slide): </a:t>
            </a:r>
            <a:r>
              <a:rPr b="1"/>
              <a:t>retrieval</a:t>
            </a:r>
            <a:r>
              <a:rPr/>
              <a:t> and </a:t>
            </a:r>
            <a:r>
              <a:rPr b="1"/>
              <a:t>spacing</a:t>
            </a:r>
          </a:p>
          <a:p>
            <a:pPr lvl="0" indent="0" marL="1270000">
              <a:buNone/>
            </a:pPr>
            <a:r>
              <a:rPr sz="2000"/>
              <a:t>SUGGESTED GRAPHIC: simple schematic of a Cornell-method page — a rectangle divided into the three zones (left cue column, right note column, bottom summary bar), labeled. This is a cartoon/diagram (allowed to draw). Alt: “Diagram of a Cornell note page split into a left cue column, a wider right notes column, and a bottom summary strip.”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the evidence says actually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Two techniques rate </a:t>
            </a:r>
            <a:r>
              <a:rPr b="1"/>
              <a:t>high-utility</a:t>
            </a:r>
            <a:r>
              <a:rPr/>
              <a:t> in the research: </a:t>
            </a:r>
            <a:r>
              <a:rPr b="1"/>
              <a:t>practice testing</a:t>
            </a:r>
            <a:r>
              <a:rPr/>
              <a:t> (quiz yourself) and </a:t>
            </a:r>
            <a:r>
              <a:rPr b="1"/>
              <a:t>spacing</a:t>
            </a:r>
            <a:r>
              <a:rPr/>
              <a:t> (spread study over days)</a:t>
            </a:r>
          </a:p>
          <a:p>
            <a:pPr lvl="0"/>
            <a:r>
              <a:rPr b="1"/>
              <a:t>Rereading</a:t>
            </a:r>
            <a:r>
              <a:rPr/>
              <a:t> and </a:t>
            </a:r>
            <a:r>
              <a:rPr b="1"/>
              <a:t>highlighting</a:t>
            </a:r>
            <a:r>
              <a:rPr/>
              <a:t> rate </a:t>
            </a:r>
            <a:r>
              <a:rPr b="1"/>
              <a:t>low-utility</a:t>
            </a:r>
            <a:r>
              <a:rPr/>
              <a:t> — they </a:t>
            </a:r>
            <a:r>
              <a:rPr i="1"/>
              <a:t>feel</a:t>
            </a:r>
            <a:r>
              <a:rPr/>
              <a:t> productive and mostly aren’t</a:t>
            </a:r>
          </a:p>
          <a:p>
            <a:pPr lvl="0"/>
            <a:r>
              <a:rPr/>
              <a:t>That’s </a:t>
            </a:r>
            <a:r>
              <a:rPr i="1"/>
              <a:t>why</a:t>
            </a:r>
            <a:r>
              <a:rPr/>
              <a:t> this course runs </a:t>
            </a:r>
            <a:r>
              <a:rPr b="1"/>
              <a:t>low-stakes quizzes</a:t>
            </a:r>
            <a:r>
              <a:rPr/>
              <a:t> — it’s retrieval practice, by design</a:t>
            </a:r>
          </a:p>
          <a:p>
            <a:pPr lvl="0"/>
            <a:r>
              <a:rPr/>
              <a:t>So take notes you can be </a:t>
            </a:r>
            <a:r>
              <a:rPr b="1"/>
              <a:t>quizzed from</a:t>
            </a:r>
            <a:r>
              <a:rPr/>
              <a:t>, then actually quiz yourself — don’t just admire your highlighter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Worked example: notes on a 3-minute “lecture”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Topic on the board: </a:t>
            </a:r>
            <a:r>
              <a:rPr b="1"/>
              <a:t>“Should you wash rice before cooking?”</a:t>
            </a:r>
            <a:r>
              <a:rPr/>
              <a:t> — a tiny, self-contained talk</a:t>
            </a:r>
          </a:p>
          <a:p>
            <a:pPr lvl="0"/>
            <a:r>
              <a:rPr/>
              <a:t>Watch a </a:t>
            </a:r>
            <a:r>
              <a:rPr b="1"/>
              <a:t>Cornell page</a:t>
            </a:r>
            <a:r>
              <a:rPr/>
              <a:t> fill in over the next few slides — we’ll build it live</a:t>
            </a:r>
          </a:p>
          <a:p>
            <a:pPr lvl="0"/>
            <a:r>
              <a:rPr/>
              <a:t>Your job </a:t>
            </a:r>
            <a:r>
              <a:rPr i="1"/>
              <a:t>in the moment</a:t>
            </a:r>
            <a:r>
              <a:rPr/>
              <a:t>: the </a:t>
            </a:r>
            <a:r>
              <a:rPr b="1"/>
              <a:t>right column</a:t>
            </a:r>
            <a:r>
              <a:rPr/>
              <a:t> — capture the ideas in shorthand, </a:t>
            </a:r>
            <a:r>
              <a:rPr b="1"/>
              <a:t>don’t transcribe</a:t>
            </a:r>
          </a:p>
          <a:p>
            <a:pPr lvl="0"/>
            <a:r>
              <a:rPr/>
              <a:t>The </a:t>
            </a:r>
            <a:r>
              <a:rPr b="1"/>
              <a:t>left column</a:t>
            </a:r>
            <a:r>
              <a:rPr/>
              <a:t> and the </a:t>
            </a:r>
            <a:r>
              <a:rPr b="1"/>
              <a:t>summary</a:t>
            </a:r>
            <a:r>
              <a:rPr/>
              <a:t> come </a:t>
            </a:r>
            <a:r>
              <a:rPr i="1"/>
              <a:t>after</a:t>
            </a:r>
            <a:r>
              <a:rPr/>
              <a:t> class — that’s where the actual learning happens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class — the RIGHT column (jot, don’t transcribe)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Raw notes as the talk runs — abbreviations, arrows, no full sentences:</a:t>
            </a:r>
          </a:p>
          <a:p>
            <a:pPr lvl="0"/>
            <a:r>
              <a:rPr/>
              <a:t>Wash rice? 2 reasons ppl give → (1) “less sticky” (2) “cleaner”</a:t>
            </a:r>
          </a:p>
          <a:p>
            <a:pPr lvl="0"/>
            <a:r>
              <a:rPr/>
              <a:t>Cloudy rinse water = </a:t>
            </a:r>
            <a:r>
              <a:rPr b="1"/>
              <a:t>surface starch</a:t>
            </a:r>
            <a:r>
              <a:rPr/>
              <a:t> washing off</a:t>
            </a:r>
          </a:p>
          <a:p>
            <a:pPr lvl="0"/>
            <a:r>
              <a:rPr/>
              <a:t>BUT stickiness ← </a:t>
            </a:r>
            <a:r>
              <a:rPr b="1"/>
              <a:t>amylopectin</a:t>
            </a:r>
            <a:r>
              <a:rPr/>
              <a:t> released </a:t>
            </a:r>
            <a:r>
              <a:rPr i="1"/>
              <a:t>while cooking</a:t>
            </a:r>
            <a:r>
              <a:rPr/>
              <a:t>, not surface starch</a:t>
            </a:r>
          </a:p>
          <a:p>
            <a:pPr lvl="0"/>
            <a:r>
              <a:rPr/>
              <a:t>→ recent study: washing had </a:t>
            </a:r>
            <a:r>
              <a:rPr b="1"/>
              <a:t>no effect</a:t>
            </a:r>
            <a:r>
              <a:rPr/>
              <a:t> on stickiness/hardness; </a:t>
            </a:r>
            <a:r>
              <a:rPr i="1"/>
              <a:t>variety</a:t>
            </a:r>
            <a:r>
              <a:rPr/>
              <a:t> matters more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class — RIGHT column,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 what </a:t>
            </a:r>
            <a:r>
              <a:rPr i="1"/>
              <a:t>does</a:t>
            </a:r>
            <a:r>
              <a:rPr/>
              <a:t> washing actually remove?</a:t>
            </a:r>
          </a:p>
          <a:p>
            <a:pPr lvl="0"/>
            <a:r>
              <a:rPr b="1"/>
              <a:t>Debris</a:t>
            </a:r>
            <a:r>
              <a:rPr/>
              <a:t>: dust, husk fragments, tiny stones — matters most where processing is less tidy</a:t>
            </a:r>
          </a:p>
          <a:p>
            <a:pPr lvl="0"/>
            <a:r>
              <a:rPr b="1"/>
              <a:t>Microplastics</a:t>
            </a:r>
            <a:r>
              <a:rPr/>
              <a:t>: ~</a:t>
            </a:r>
            <a:r>
              <a:rPr b="1"/>
              <a:t>20%</a:t>
            </a:r>
            <a:r>
              <a:rPr/>
              <a:t> off uncooked rice (~</a:t>
            </a:r>
            <a:r>
              <a:rPr b="1"/>
              <a:t>40%</a:t>
            </a:r>
            <a:r>
              <a:rPr/>
              <a:t> for instant rice)</a:t>
            </a:r>
          </a:p>
          <a:p>
            <a:pPr lvl="0"/>
            <a:r>
              <a:rPr b="1"/>
              <a:t>Arsenic</a:t>
            </a:r>
            <a:r>
              <a:rPr/>
              <a:t>: ~</a:t>
            </a:r>
            <a:r>
              <a:rPr b="1"/>
              <a:t>90%</a:t>
            </a:r>
            <a:r>
              <a:rPr/>
              <a:t> of </a:t>
            </a:r>
            <a:r>
              <a:rPr i="1"/>
              <a:t>bio-accessible</a:t>
            </a:r>
            <a:r>
              <a:rPr/>
              <a:t> arsenic (rice takes up more arsenic than most crops)</a:t>
            </a:r>
          </a:p>
          <a:p>
            <a:pPr lvl="0"/>
            <a:r>
              <a:rPr b="1"/>
              <a:t>Tradeoff</a:t>
            </a:r>
            <a:r>
              <a:rPr/>
              <a:t> ⚠ → washing / excess water also rinses out nutrients (Fe, Zn, Cu; enriched rice loses its vitamin coating)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After class — the LEFT column (write the questions)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Cover the notes. For each chunk, write in the cue column the </a:t>
            </a:r>
            <a:r>
              <a:rPr b="1"/>
              <a:t>question it answers</a:t>
            </a:r>
            <a:r>
              <a:rPr/>
              <a:t>:</a:t>
            </a:r>
          </a:p>
          <a:p>
            <a:pPr lvl="0"/>
            <a:r>
              <a:rPr i="1"/>
              <a:t>Does washing make rice less sticky?</a:t>
            </a:r>
          </a:p>
          <a:p>
            <a:pPr lvl="0"/>
            <a:r>
              <a:rPr i="1"/>
              <a:t>What actually causes stickiness?</a:t>
            </a:r>
          </a:p>
          <a:p>
            <a:pPr lvl="0"/>
            <a:r>
              <a:rPr i="1"/>
              <a:t>What does washing really remove?</a:t>
            </a:r>
          </a:p>
          <a:p>
            <a:pPr lvl="0"/>
            <a:r>
              <a:rPr i="1"/>
              <a:t>What’s the catch / tradeoff?</a:t>
            </a:r>
          </a:p>
          <a:p>
            <a:pPr lvl="0"/>
            <a:r>
              <a:rPr i="1"/>
              <a:t>Bottom line — wash or not?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After class — the SUMMARY strip (2 lines, your words)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Washing rice clears surface starch, ~20% of microplastics, and ~90% of bio-accessible arsenic — but </a:t>
            </a:r>
            <a:r>
              <a:rPr sz="2000" b="1"/>
              <a:t>not</a:t>
            </a:r>
            <a:r>
              <a:rPr sz="2000"/>
              <a:t> stickiness (that’s amylopectin from cooking), and it also rinses out some nutrients. </a:t>
            </a:r>
            <a:r>
              <a:rPr sz="2000" b="1"/>
              <a:t>Wash for cleanliness, not for fluffiness.</a:t>
            </a:r>
          </a:p>
          <a:p>
            <a:pPr lvl="0"/>
            <a:r>
              <a:rPr/>
              <a:t>Write it from memory, in </a:t>
            </a:r>
            <a:r>
              <a:rPr b="1"/>
              <a:t>your own words</a:t>
            </a:r>
            <a:r>
              <a:rPr/>
              <a:t> — if you can’t, reread </a:t>
            </a:r>
            <a:r>
              <a:rPr i="1"/>
              <a:t>once</a:t>
            </a:r>
            <a:r>
              <a:rPr/>
              <a:t>, then try again</a:t>
            </a:r>
          </a:p>
          <a:p>
            <a:pPr lvl="0"/>
            <a:r>
              <a:rPr/>
              <a:t>One good summary now saves you rereading the whole page later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payoff: cover the notes, quiz yourself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Left column only — can you answer without peeking?</a:t>
            </a:r>
          </a:p>
          <a:p>
            <a:pPr lvl="0"/>
            <a:r>
              <a:rPr i="1"/>
              <a:t>Does washing reduce stickiness?</a:t>
            </a:r>
            <a:r>
              <a:rPr/>
              <a:t> → </a:t>
            </a:r>
            <a:r>
              <a:rPr b="1"/>
              <a:t>No.</a:t>
            </a:r>
            <a:r>
              <a:rPr/>
              <a:t> Stickiness is amylopectin released during cooking; washing only clears surface starch</a:t>
            </a:r>
          </a:p>
          <a:p>
            <a:pPr lvl="0"/>
            <a:r>
              <a:rPr i="1"/>
              <a:t>What’s the tradeoff?</a:t>
            </a:r>
            <a:r>
              <a:rPr/>
              <a:t> → Removes ~90% of bio-accessible arsenic </a:t>
            </a:r>
            <a:r>
              <a:rPr b="1"/>
              <a:t>but</a:t>
            </a:r>
            <a:r>
              <a:rPr/>
              <a:t> also strips iron/zinc + enriched vitamins</a:t>
            </a:r>
          </a:p>
          <a:p>
            <a:pPr lvl="0"/>
            <a:r>
              <a:rPr/>
              <a:t>Missed one? </a:t>
            </a:r>
            <a:r>
              <a:rPr b="1"/>
              <a:t>That</a:t>
            </a:r>
            <a:r>
              <a:rPr/>
              <a:t> is the bit to restudy — this is retrieval + spacing, exactly what the evidence rewards</a:t>
            </a:r>
          </a:p>
          <a:p>
            <a:pPr lvl="0"/>
            <a:r>
              <a:rPr b="1"/>
              <a:t>Relevant next week:</a:t>
            </a:r>
            <a:r>
              <a:rPr/>
              <a:t> the Week-3 quiz runs the same loop — cue → recall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finished Cornell page (all three zones)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Cues / questions</a:t>
            </a:r>
          </a:p>
          <a:p>
            <a:pPr lvl="0"/>
            <a:r>
              <a:rPr/>
              <a:t>Less sticky?</a:t>
            </a:r>
          </a:p>
          <a:p>
            <a:pPr lvl="0"/>
            <a:r>
              <a:rPr/>
              <a:t>Cause of stickiness?</a:t>
            </a:r>
          </a:p>
          <a:p>
            <a:pPr lvl="0"/>
            <a:r>
              <a:rPr/>
              <a:t>What’s removed?</a:t>
            </a:r>
          </a:p>
          <a:p>
            <a:pPr lvl="0"/>
            <a:r>
              <a:rPr/>
              <a:t>Tradeoff?</a:t>
            </a:r>
          </a:p>
          <a:p>
            <a:pPr lvl="0"/>
            <a:r>
              <a:rPr/>
              <a:t>Bottom line?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Notes (in class)</a:t>
            </a:r>
          </a:p>
          <a:p>
            <a:pPr lvl="0"/>
            <a:r>
              <a:rPr/>
              <a:t>Wash rice → claims: “less sticky” + “cleaner”</a:t>
            </a:r>
          </a:p>
          <a:p>
            <a:pPr lvl="0"/>
            <a:r>
              <a:rPr/>
              <a:t>Sticky ← amylopectin </a:t>
            </a:r>
            <a:r>
              <a:rPr i="1"/>
              <a:t>from cooking</a:t>
            </a:r>
            <a:r>
              <a:rPr/>
              <a:t>; washing ≠ less sticky</a:t>
            </a:r>
          </a:p>
          <a:p>
            <a:pPr lvl="0"/>
            <a:r>
              <a:rPr/>
              <a:t>Removes: debris; microplastics ~20% (~40% instant); arsenic ~90% bio-accessible</a:t>
            </a:r>
          </a:p>
          <a:p>
            <a:pPr lvl="0"/>
            <a:r>
              <a:rPr/>
              <a:t>⚠ also removes Fe / Zn / Cu + enriched vitamins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Summary:</a:t>
            </a:r>
            <a:r>
              <a:rPr/>
              <a:t> Wash to remove grit and contaminants, not to change texture — and know you’re trading away some nutrients.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Note-taking —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Mueller &amp; Oppenheimer (2014), </a:t>
            </a:r>
            <a:r>
              <a:rPr i="1">
                <a:hlinkClick r:id="rId3"/>
              </a:rPr>
              <a:t>Psychological Science</a:t>
            </a:r>
            <a:r>
              <a:rPr/>
              <a:t> · </a:t>
            </a:r>
            <a:r>
              <a:rPr>
                <a:hlinkClick r:id="rId4"/>
              </a:rPr>
              <a:t>Urry et al. (2021) — replication</a:t>
            </a:r>
          </a:p>
          <a:p>
            <a:pPr lvl="0"/>
            <a:r>
              <a:rPr>
                <a:hlinkClick r:id="rId5"/>
              </a:rPr>
              <a:t>Dunlosky et al. (2013), </a:t>
            </a:r>
            <a:r>
              <a:rPr i="1">
                <a:hlinkClick r:id="rId6"/>
              </a:rPr>
              <a:t>Psych. Science in the Public Interest</a:t>
            </a:r>
            <a:r>
              <a:rPr/>
              <a:t> · </a:t>
            </a:r>
            <a:r>
              <a:rPr>
                <a:hlinkClick r:id="rId7"/>
              </a:rPr>
              <a:t>accessible version, </a:t>
            </a:r>
            <a:r>
              <a:rPr i="1">
                <a:hlinkClick r:id="rId8"/>
              </a:rPr>
              <a:t>American Educator</a:t>
            </a:r>
          </a:p>
          <a:p>
            <a:pPr lvl="0"/>
            <a:r>
              <a:rPr/>
              <a:t>Cornell method: Pauk &amp; Owens, </a:t>
            </a:r>
            <a:r>
              <a:rPr i="1"/>
              <a:t>How to Study in College</a:t>
            </a:r>
            <a:r>
              <a:rPr/>
              <a:t>; </a:t>
            </a:r>
            <a:r>
              <a:rPr>
                <a:hlinkClick r:id="rId9"/>
              </a:rPr>
              <a:t>Cornell Learning Strategies Center</a:t>
            </a:r>
          </a:p>
          <a:p>
            <a:pPr lvl="0"/>
            <a:r>
              <a:rPr/>
              <a:t>Worked example (washing rice): </a:t>
            </a:r>
            <a:r>
              <a:rPr>
                <a:hlinkClick r:id="rId10"/>
              </a:rPr>
              <a:t>The Conversation — “Do you need to wash rice? Here’s the science”</a:t>
            </a:r>
            <a:r>
              <a:rPr/>
              <a:t> · arsenic/nutrient tradeoff: </a:t>
            </a:r>
            <a:r>
              <a:rPr>
                <a:hlinkClick r:id="rId11"/>
              </a:rPr>
              <a:t>“Cooking rice in excess water reduces both arsenic and enriched vitamins…” (2016)</a:t>
            </a:r>
            <a:r>
              <a:rPr/>
              <a:t>; </a:t>
            </a:r>
            <a:r>
              <a:rPr>
                <a:hlinkClick r:id="rId12"/>
              </a:rPr>
              <a:t>Menon et al. 2020, </a:t>
            </a:r>
            <a:r>
              <a:rPr i="1">
                <a:hlinkClick r:id="rId13"/>
              </a:rPr>
              <a:t>Sci. Total Environ.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Electricity and magnetism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electricity, really?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Charge</a:t>
                </a:r>
                <a:r>
                  <a:rPr/>
                  <a:t> is a property of matter (electrons carry it); pushing charge around is the whole game</a:t>
                </a:r>
              </a:p>
              <a:p>
                <a:pPr lvl="0"/>
                <a:r>
                  <a:rPr/>
                  <a:t>Three words you need:</a:t>
                </a:r>
              </a:p>
              <a:p>
                <a:pPr lvl="1"/>
                <a:r>
                  <a:rPr b="1"/>
                  <a:t>Voltage</a:t>
                </a:r>
                <a:r>
                  <a:rPr/>
                  <a:t> (volts) — the </a:t>
                </a:r>
                <a:r>
                  <a:rPr i="1"/>
                  <a:t>push</a:t>
                </a:r>
                <a:r>
                  <a:rPr/>
                  <a:t> (like water pressure)</a:t>
                </a:r>
              </a:p>
              <a:p>
                <a:pPr lvl="1"/>
                <a:r>
                  <a:rPr b="1"/>
                  <a:t>Current</a:t>
                </a:r>
                <a:r>
                  <a:rPr/>
                  <a:t> (amps) — the </a:t>
                </a:r>
                <a:r>
                  <a:rPr i="1"/>
                  <a:t>flow rate</a:t>
                </a:r>
                <a:r>
                  <a:rPr/>
                  <a:t> (like gallons per second)</a:t>
                </a:r>
              </a:p>
              <a:p>
                <a:pPr lvl="1"/>
                <a:r>
                  <a:rPr b="1"/>
                  <a:t>Power</a:t>
                </a:r>
                <a:r>
                  <a:rPr/>
                  <a:t> (watts) — how fast energy is delivered: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=</m:t>
                    </m:r>
                    <m:r>
                      <m:t>V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I</m:t>
                    </m:r>
                  </m:oMath>
                </a14:m>
              </a:p>
              <a:p>
                <a:pPr lvl="0"/>
                <a:r>
                  <a:rPr/>
                  <a:t>Your phone charger, Niagara Falls, and a nuclear plant differ only in </a:t>
                </a:r>
                <a:r>
                  <a:rPr b="1"/>
                  <a:t>scale</a:t>
                </a:r>
              </a:p>
              <a:p>
                <a:pPr lvl="0" indent="0" marL="1270000">
                  <a:buNone/>
                </a:pPr>
                <a:r>
                  <a:rPr sz="2000"/>
                  <a:t>SUGGESTED GRAPHIC: cartoon water-tower analogy — pressure = voltage, pipe flow = current, waterwheel = the device doing work. (Diagram, allowed to draw.)</a:t>
                </a:r>
              </a:p>
            </p:txBody>
          </p:sp>
        </mc:Choice>
      </mc:AlternateContent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1820: Ørsted’s compass twitches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Hans Christian </a:t>
            </a:r>
            <a:r>
              <a:rPr b="1"/>
              <a:t>Ørsted</a:t>
            </a:r>
            <a:r>
              <a:rPr/>
              <a:t> is lecturing when he notices a </a:t>
            </a:r>
            <a:r>
              <a:rPr b="1"/>
              <a:t>compass needle deflect</a:t>
            </a:r>
            <a:r>
              <a:rPr/>
              <a:t> next to a wire carrying current</a:t>
            </a:r>
          </a:p>
          <a:p>
            <a:pPr lvl="0"/>
            <a:r>
              <a:rPr/>
              <a:t>Bombshell: </a:t>
            </a:r>
            <a:r>
              <a:rPr b="1"/>
              <a:t>electricity and magnetism are the same thing</a:t>
            </a:r>
            <a:r>
              <a:rPr/>
              <a:t>, wearing two hats</a:t>
            </a:r>
          </a:p>
          <a:p>
            <a:pPr lvl="0"/>
            <a:r>
              <a:rPr/>
              <a:t>A </a:t>
            </a:r>
            <a:r>
              <a:rPr b="1"/>
              <a:t>current makes a magnetic field</a:t>
            </a:r>
            <a:r>
              <a:rPr/>
              <a:t>. Hold that thought — the reverse is where the power comes from</a:t>
            </a:r>
          </a:p>
        </p:txBody>
      </p:sp>
      <p:pic>
        <p:nvPicPr>
          <p:cNvPr descr="images/oersted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431800"/>
            <a:ext cx="5105400" cy="340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Hans Christian Ørsted (1777–1851). Portrait by C. W. Eckersberg, public domain.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1831: Faraday runs it backwards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/>
                <a:r>
                  <a:rPr/>
                  <a:t>Michael </a:t>
                </a:r>
                <a:r>
                  <a:rPr b="1"/>
                  <a:t>Faraday</a:t>
                </a:r>
                <a:r>
                  <a:rPr/>
                  <a:t> shows the reverse: a </a:t>
                </a:r>
                <a:r>
                  <a:rPr b="1"/>
                  <a:t>changing magnetic field pushes a current</a:t>
                </a:r>
                <a:r>
                  <a:rPr/>
                  <a:t> through a nearby wire</a:t>
                </a:r>
              </a:p>
              <a:p>
                <a:pPr lvl="0"/>
                <a:r>
                  <a:rPr b="1"/>
                  <a:t>Faraday’s law of induction</a:t>
                </a:r>
                <a:r>
                  <a:rPr/>
                  <a:t> — the single most important sentence in this whole course: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cr m:val="script"/>
                          <m:sty m:val="p"/>
                        </m:rPr>
                        <m:t>E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m:t>d</m:t>
                          </m:r>
                          <m:sSub>
                            <m:e>
                              <m:r>
                                <m:rPr>
                                  <m:sty m:val="p"/>
                                </m:rPr>
                                <m:t>Φ</m:t>
                              </m:r>
                            </m:e>
                            <m:sub>
                              <m:r>
                                <m:t>B</m:t>
                              </m:r>
                            </m:sub>
                          </m:sSub>
                        </m:num>
                        <m:den>
                          <m:r>
                            <m:t>d</m:t>
                          </m:r>
                          <m:r>
                            <m:t>t</m:t>
                          </m:r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In English: </a:t>
                </a:r>
                <a:r>
                  <a:rPr b="1"/>
                  <a:t>move a magnet past a coil of wire, and you make electricity.</a:t>
                </a:r>
                <a:r>
                  <a:rPr/>
                  <a:t> No fuel required to state the principle — only to </a:t>
                </a:r>
                <a:r>
                  <a:rPr i="1"/>
                  <a:t>move the magnet</a:t>
                </a:r>
              </a:p>
            </p:txBody>
          </p:sp>
        </mc:Choice>
      </mc:AlternateContent>
      <p:pic>
        <p:nvPicPr>
          <p:cNvPr descr="images/faraday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22800" y="203200"/>
            <a:ext cx="29972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Michael Faraday (1791–1867). Portrait by Thomas Phillips, 1842, public domain.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power plant is the same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Coal, gas, nuclear, hydro, geothermal, wind — all do </a:t>
            </a:r>
            <a:r>
              <a:rPr b="1"/>
              <a:t>one thing</a:t>
            </a:r>
            <a:r>
              <a:rPr/>
              <a:t>: spin a magnet inside coils of wire (a </a:t>
            </a:r>
            <a:r>
              <a:rPr b="1"/>
              <a:t>turbine + generator</a:t>
            </a:r>
            <a:r>
              <a:rPr/>
              <a:t>)</a:t>
            </a:r>
          </a:p>
          <a:p>
            <a:pPr lvl="0"/>
            <a:r>
              <a:rPr/>
              <a:t>The </a:t>
            </a:r>
            <a:r>
              <a:rPr i="1"/>
              <a:t>only</a:t>
            </a:r>
            <a:r>
              <a:rPr/>
              <a:t> difference is </a:t>
            </a:r>
            <a:r>
              <a:rPr b="1"/>
              <a:t>what spins the turbine</a:t>
            </a:r>
            <a:r>
              <a:rPr/>
              <a:t>: steam, falling water, or wind</a:t>
            </a:r>
          </a:p>
          <a:p>
            <a:pPr lvl="0"/>
            <a:r>
              <a:rPr b="1"/>
              <a:t>Solar photovoltaic is the lone exception</a:t>
            </a:r>
            <a:r>
              <a:rPr/>
              <a:t> — it makes current </a:t>
            </a:r>
            <a:r>
              <a:rPr i="1"/>
              <a:t>directly</a:t>
            </a:r>
            <a:r>
              <a:rPr/>
              <a:t>, no moving parts (we met this in Lecture 1)</a:t>
            </a:r>
          </a:p>
          <a:p>
            <a:pPr lvl="0"/>
            <a:r>
              <a:rPr b="1"/>
              <a:t>Callback:</a:t>
            </a:r>
            <a:r>
              <a:rPr/>
              <a:t> Niagara’s </a:t>
            </a:r>
            <a:r>
              <a:rPr b="1"/>
              <a:t>Adams Plant (1895)</a:t>
            </a:r>
            <a:r>
              <a:rPr/>
              <a:t> — the first big AC power — was this exact machine, driven by falling water</a:t>
            </a:r>
          </a:p>
          <a:p>
            <a:pPr lvl="0" indent="0" marL="1270000">
              <a:buNone/>
            </a:pPr>
            <a:r>
              <a:rPr sz="2000"/>
              <a:t>SUGGESTED GRAPHIC: cartoon cross-section of a generator — turbine blades on a shaft, rotating magnet, stationary copper coils, current out. (Diagram, allowed to draw.) Alt: “Schematic of a turbine-driven generator: blades spin a shaft holding a magnet inside copper coils, inducing an electric current.”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1865: Maxwell writes the whole thing 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James Clerk </a:t>
            </a:r>
            <a:r>
              <a:rPr b="1"/>
              <a:t>Maxwell</a:t>
            </a:r>
            <a:r>
              <a:rPr/>
              <a:t> unifies electricity, magnetism, and </a:t>
            </a:r>
            <a:r>
              <a:rPr b="1"/>
              <a:t>light</a:t>
            </a:r>
            <a:r>
              <a:rPr/>
              <a:t> into four equations</a:t>
            </a:r>
          </a:p>
          <a:p>
            <a:pPr lvl="0"/>
            <a:r>
              <a:rPr/>
              <a:t>His shocker: light </a:t>
            </a:r>
            <a:r>
              <a:rPr i="1"/>
              <a:t>is</a:t>
            </a:r>
            <a:r>
              <a:rPr/>
              <a:t> an electromagnetic wave — radio, microwaves, X-rays, and visible light are the </a:t>
            </a:r>
            <a:r>
              <a:rPr b="1"/>
              <a:t>same phenomenon</a:t>
            </a:r>
            <a:r>
              <a:rPr/>
              <a:t> at different frequencies</a:t>
            </a:r>
          </a:p>
          <a:p>
            <a:pPr lvl="0"/>
            <a:r>
              <a:rPr/>
              <a:t>Why you care: this is the physics behind </a:t>
            </a:r>
            <a:r>
              <a:rPr b="1"/>
              <a:t>the grid</a:t>
            </a:r>
            <a:r>
              <a:rPr/>
              <a:t> (AC at 60 Hz), </a:t>
            </a:r>
            <a:r>
              <a:rPr b="1"/>
              <a:t>wireless charging</a:t>
            </a:r>
            <a:r>
              <a:rPr/>
              <a:t>, and every screen you own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Electricity &amp; magnetism —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Foundations: </a:t>
            </a:r>
            <a:r>
              <a:rPr>
                <a:hlinkClick r:id="rId2"/>
              </a:rPr>
              <a:t>Britannica — Electromagnetism</a:t>
            </a:r>
            <a:r>
              <a:rPr/>
              <a:t>; </a:t>
            </a:r>
            <a:r>
              <a:rPr>
                <a:hlinkClick r:id="rId3"/>
              </a:rPr>
              <a:t>HyperPhysics (Georgia State) — E&amp;M</a:t>
            </a:r>
          </a:p>
          <a:p>
            <a:pPr lvl="0"/>
            <a:r>
              <a:rPr/>
              <a:t>Ørsted/Ampère (1820): </a:t>
            </a:r>
            <a:r>
              <a:rPr>
                <a:hlinkClick r:id="rId4"/>
              </a:rPr>
              <a:t>Britannica — Hans Christian Ørsted</a:t>
            </a:r>
          </a:p>
          <a:p>
            <a:pPr lvl="0"/>
            <a:r>
              <a:rPr/>
              <a:t>Faraday (1831–32): </a:t>
            </a:r>
            <a:r>
              <a:rPr>
                <a:hlinkClick r:id="rId5"/>
              </a:rPr>
              <a:t>Royal Society commentary on Faraday’s </a:t>
            </a:r>
            <a:r>
              <a:rPr i="1">
                <a:hlinkClick r:id="rId6"/>
              </a:rPr>
              <a:t>Experimental Researches</a:t>
            </a:r>
            <a:r>
              <a:rPr/>
              <a:t>; </a:t>
            </a:r>
            <a:r>
              <a:rPr>
                <a:hlinkClick r:id="rId7"/>
              </a:rPr>
              <a:t>Britannica — Faraday’s law</a:t>
            </a:r>
          </a:p>
          <a:p>
            <a:pPr lvl="0"/>
            <a:r>
              <a:rPr/>
              <a:t>Maxwell (1865): </a:t>
            </a:r>
            <a:r>
              <a:rPr>
                <a:hlinkClick r:id="rId8"/>
              </a:rPr>
              <a:t>Britannica — Maxwell’s equations</a:t>
            </a:r>
          </a:p>
          <a:p>
            <a:pPr lvl="0"/>
            <a:r>
              <a:rPr/>
              <a:t>Generators: DOE energy.gov (corroborate w/ Britannica per source rule)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Nuclear: fission and fusion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E</m:t>
                    </m:r>
                    <m:r>
                      <m:rPr>
                        <m:sty m:val="p"/>
                      </m:rPr>
                      <m:t>=</m:t>
                    </m:r>
                    <m:r>
                      <m:t>m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: mass is frozen energy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Einstein (1905): </a:t>
                </a:r>
                <a:r>
                  <a:rPr b="1"/>
                  <a:t>mass and energy are the same thing.</a:t>
                </a:r>
                <a:r>
                  <a:rPr/>
                  <a:t> A tiny bit of mass holds a </a:t>
                </a:r>
                <a:r>
                  <a:rPr i="1"/>
                  <a:t>staggering</a:t>
                </a:r>
                <a:r>
                  <a:rPr/>
                  <a:t> amount of energy</a:t>
                </a:r>
              </a:p>
              <a:p>
                <a:pPr lvl="0"/>
                <a:r>
                  <a:rPr/>
                  <a:t>The multiplier is </a:t>
                </a:r>
                <a14:m>
                  <m:oMath xmlns:m="http://schemas.openxmlformats.org/officeDocument/2006/math">
                    <m:sSup>
                      <m:e>
                        <m:r>
                          <m:t>c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— the speed of light, squared — which is enormous</a:t>
                </a:r>
              </a:p>
              <a:p>
                <a:pPr lvl="0"/>
                <a:r>
                  <a:rPr b="1"/>
                  <a:t>Fully</a:t>
                </a:r>
                <a:r>
                  <a:rPr/>
                  <a:t> converting </a:t>
                </a:r>
                <a:r>
                  <a:rPr b="1"/>
                  <a:t>1 gram</a:t>
                </a:r>
                <a:r>
                  <a:rPr/>
                  <a:t> of </a:t>
                </a:r>
                <a:r>
                  <a:rPr i="1"/>
                  <a:t>anything</a:t>
                </a:r>
                <a:r>
                  <a:rPr/>
                  <a:t> would release </a:t>
                </a:r>
                <a:r>
                  <a:rPr b="1"/>
                  <a:t>≈ 25 GWh</a:t>
                </a:r>
                <a:r>
                  <a:rPr/>
                  <a:t> — roughly a </a:t>
                </a:r>
                <a:r>
                  <a:rPr b="1"/>
                  <a:t>small city’s electricity for a day</a:t>
                </a:r>
              </a:p>
              <a:p>
                <a:pPr lvl="0"/>
                <a:r>
                  <a:rPr/>
                  <a:t>Nature won’t let you convert it all — but nuclear reactions unlock </a:t>
                </a:r>
                <a:r>
                  <a:rPr b="1"/>
                  <a:t>far more</a:t>
                </a:r>
                <a:r>
                  <a:rPr/>
                  <a:t> of it than chemistry (burning) ever can</a:t>
                </a:r>
              </a:p>
            </p:txBody>
          </p:sp>
        </mc:Choice>
      </mc:AlternateContent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iron sits at the bottom of the valley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Every nucleus has a </a:t>
            </a:r>
            <a:r>
              <a:rPr b="1"/>
              <a:t>binding energy</a:t>
            </a:r>
            <a:r>
              <a:rPr/>
              <a:t> — how tightly its protons and neutrons are glued</a:t>
            </a:r>
          </a:p>
          <a:p>
            <a:pPr lvl="0"/>
            <a:r>
              <a:rPr/>
              <a:t>Plot it and you get a </a:t>
            </a:r>
            <a:r>
              <a:rPr b="1"/>
              <a:t>valley</a:t>
            </a:r>
            <a:r>
              <a:rPr/>
              <a:t> with </a:t>
            </a:r>
            <a:r>
              <a:rPr b="1"/>
              <a:t>iron-56</a:t>
            </a:r>
            <a:r>
              <a:rPr/>
              <a:t> at the bottom (most tightly bound, most stable)</a:t>
            </a:r>
          </a:p>
          <a:p>
            <a:pPr lvl="0"/>
            <a:r>
              <a:rPr b="1"/>
              <a:t>Two ways downhill = two ways to release energy:</a:t>
            </a:r>
          </a:p>
          <a:p>
            <a:pPr lvl="1"/>
            <a:r>
              <a:rPr b="1"/>
              <a:t>Fission:</a:t>
            </a:r>
            <a:r>
              <a:rPr/>
              <a:t> split a </a:t>
            </a:r>
            <a:r>
              <a:rPr i="1"/>
              <a:t>heavy</a:t>
            </a:r>
            <a:r>
              <a:rPr/>
              <a:t> nucleus (uranium) → move toward iron → energy out</a:t>
            </a:r>
          </a:p>
          <a:p>
            <a:pPr lvl="1"/>
            <a:r>
              <a:rPr b="1"/>
              <a:t>Fusion:</a:t>
            </a:r>
            <a:r>
              <a:rPr/>
              <a:t> join </a:t>
            </a:r>
            <a:r>
              <a:rPr i="1"/>
              <a:t>light</a:t>
            </a:r>
            <a:r>
              <a:rPr/>
              <a:t> nuclei (hydrogen) → move toward iron → energy out</a:t>
            </a:r>
          </a:p>
          <a:p>
            <a:pPr lvl="0"/>
            <a:r>
              <a:rPr/>
              <a:t>Everything from here is just: </a:t>
            </a:r>
            <a:r>
              <a:rPr i="1"/>
              <a:t>roll downhill toward iron</a:t>
            </a:r>
          </a:p>
        </p:txBody>
      </p:sp>
      <p:pic>
        <p:nvPicPr>
          <p:cNvPr descr="images/binding_energy_curve.sv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457200"/>
            <a:ext cx="5105400" cy="335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Nuclear binding energy per nucleon vs. mass number — iron-56 sits at the peak; fusion (light nuclei) and fission (heavy nuclei) both release energy by moving toward it. Fastfission, public domain.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Fission: splitting the heavy stuff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1938:</a:t>
            </a:r>
            <a:r>
              <a:rPr/>
              <a:t> Hahn, Strassmann, </a:t>
            </a:r>
            <a:r>
              <a:rPr b="1"/>
              <a:t>Lise Meitner</a:t>
            </a:r>
            <a:r>
              <a:rPr/>
              <a:t> and Frisch discover </a:t>
            </a:r>
            <a:r>
              <a:rPr b="1"/>
              <a:t>nuclear fission</a:t>
            </a:r>
            <a:r>
              <a:rPr/>
              <a:t> — a uranium nucleus split by a neutron</a:t>
            </a:r>
          </a:p>
          <a:p>
            <a:pPr lvl="0"/>
            <a:r>
              <a:rPr/>
              <a:t>Each split throws out </a:t>
            </a:r>
            <a:r>
              <a:rPr b="1"/>
              <a:t>more neutrons</a:t>
            </a:r>
            <a:r>
              <a:rPr/>
              <a:t> → they split more nuclei → a </a:t>
            </a:r>
            <a:r>
              <a:rPr b="1"/>
              <a:t>chain reaction</a:t>
            </a:r>
          </a:p>
          <a:p>
            <a:pPr lvl="0"/>
            <a:r>
              <a:rPr/>
              <a:t>Controlled slowly in a </a:t>
            </a:r>
            <a:r>
              <a:rPr b="1"/>
              <a:t>reactor</a:t>
            </a:r>
            <a:r>
              <a:rPr/>
              <a:t> (steam → turbine → the same machine as before). Uncontrolled, it’s a </a:t>
            </a:r>
            <a:r>
              <a:rPr b="1"/>
              <a:t>bomb</a:t>
            </a:r>
            <a:r>
              <a:rPr/>
              <a:t> — the dark side we cover in Weeks 5–6</a:t>
            </a:r>
          </a:p>
          <a:p>
            <a:pPr lvl="0"/>
            <a:r>
              <a:rPr/>
              <a:t>Meitner did the theory and was </a:t>
            </a:r>
            <a:r>
              <a:rPr b="1"/>
              <a:t>snubbed by the Nobel</a:t>
            </a:r>
            <a:r>
              <a:rPr/>
              <a:t> — a name worth knowing</a:t>
            </a:r>
          </a:p>
        </p:txBody>
      </p:sp>
      <p:pic>
        <p:nvPicPr>
          <p:cNvPr descr="images/fission_chain.sv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873500" y="203200"/>
            <a:ext cx="44831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 fission chain reaction: a neutron splits a nucleus into fragments plus more neutrons, which split more. Diagram by MikeRun, CC BY-SA 4.0.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6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457201" y="204787" /><a:ext cx="3008313" cy="871538" /></a:xfrm></p:spPr><p:txBody><a:bodyPr /><a:lstStyle /><a:p><a:pPr lvl="0" indent="0" marL="0"><a:buNone /></a:pPr><a:r><a:rPr /><a:t>A gram of uranium (the simple calculation)</a:t></a:r></a:p></p:txBody></p:sp><p:sp><p:nvSpPr><p:cNvPr id="4" name="Text Placeholder 3" /><p:cNvSpPr><a:spLocks noGrp="1" /></p:cNvSpPr><p:nvPr><p:ph idx="2" sz="half" type="body" /></p:nvPr></p:nvSpPr><p:spPr /><p:txBody><a:bodyPr /><a:lstStyle /><a:p><a:pPr lvl="0" /><a:r><a:rPr /><a:t>Fissioning </a:t></a:r><a:r><a:rPr b="1" /><a:t>1 gram of uranium-235</a:t></a:r><a:r><a:rPr /><a:t> releases </a:t></a:r><a:r><a:rPr b="1" /><a:t>≈ 23 MWh</a:t></a:r><a:r><a:rPr /><a:t> of energy</a:t></a:r></a:p><a:p><a:pPr lvl="0" /><a:r><a:rPr /><a:t>That single gram equals about </a:t></a:r><a:r><a:rPr b="1" /><a:t>3 tonnes of coal</a:t></a:r><a:r><a:rPr /><a:t> (a wheelbarrow of rock vs. a fingernail’s worth of metal)</a:t></a:r></a:p><a:p><a:pPr lvl="0" /><a:r><a:rPr /><a:t>Fission of </a:t></a:r><a:r><a:rPr b="1" /><a:t>1 kg</a:t></a:r><a:r><a:rPr /><a:t> ≈ </a:t></a:r><a:r><a:rPr b="1" /><a:t>22.8 GWh</a:t></a:r><a:r><a:rPr /><a:t> ≈ enough for </a:t></a:r><a:r><a:rPr b="1" /><a:t>~2,000 US homes for a year</a:t></a:r></a:p><a:p><a:pPr lvl="0" /><a:r><a:rPr /><a:t>The catch isn’t the physics — it’s the </a:t></a:r><a:r><a:rPr b="1" /><a:t>waste, the mining, and the weapons</a:t></a:r><a:r><a:rPr /><a:t> (Weeks 5–6)</a:t></a:r></a:p></p:txBody></p:sp><p:graphicFrame><p:nvGraphicFramePr><p:cNvPr id="6" name="Content Placeholder 5" /><p:cNvGraphicFramePr><a:graphicFrameLocks noGrp="1" /></p:cNvGraphicFramePr><p:nvPr><p:ph idx="1" /></p:nvPr></p:nvGraphicFramePr><p:xfrm><a:off x="3568700" y="203200" /><a:ext cx="5105400" cy="4381500" /></p:xfrm><a:graphic><a:graphicData uri="http://schemas.openxmlformats.org/drawingml/2006/table"><a:tbl><a:tblPr firstRow="1" bandRow="1"><a:tableStyleId>{5C22544A-7EE6-4342-B048-85BDC9FD1C3A}</a:tableStyleId></a:tblPr><a:tblGrid><a:gridCol w="1701800" /><a:gridCol w="1701800" /><a:gridCol w="1701800" /></a:tblGrid><a:tr h="0"><a:tc><a:txBody><a:bodyPr /><a:lstStyle /><a:p><a:pPr lvl="0" indent="0" marL="0"><a:buNone /></a:pPr><a:r><a:rPr /><a:t>Fuel</a:t></a:r></a:p></a:txBody><a:tcPr /></a:tc><a:tc><a:txBody><a:bodyPr /><a:lstStyle /><a:p><a:pPr lvl="0" indent="0" marL="0" algn="ctr"><a:buNone /></a:pPr><a:r><a:rPr /><a:t>Energy from 1 gram</a:t></a:r></a:p></a:txBody><a:tcPr /></a:tc><a:tc><a:txBody><a:bodyPr /><a:lstStyle /><a:p><a:pPr lvl="0" indent="0" marL="0" algn="ctr"><a:buNone /></a:pPr><a:r><a:rPr /><a:t>Equivalent</a:t></a:r></a:p></a:txBody><a:tcPr /></a:tc></a:tr><a:tr h="0"><a:tc><a:txBody><a:bodyPr /><a:lstStyle /><a:p><a:pPr lvl="0" indent="0" marL="0"><a:buNone /></a:pPr><a:r><a:rPr /><a:t>Coal</a:t></a:r></a:p></a:txBody></a:tc><a:tc><a:txBody><a:bodyPr /><a:lstStyle /><a:p><a:pPr lvl="0" indent="0" marL="0" algn="ctr"><a:buNone /></a:pPr><a:r><a:rPr /><a:t>~0.007 kWh</a:t></a:r></a:p></a:txBody></a:tc><a:tc><a:txBody><a:bodyPr /><a:lstStyle /><a:p><a:pPr lvl="0" indent="0" marL="0" algn="ctr"><a:buNone /></a:pPr><a:r><a:rPr /><a:t>—</a:t></a:r></a:p></a:txBody></a:tc></a:tr><a:tr h="0"><a:tc><a:txBody><a:bodyPr /><a:lstStyle /><a:p><a:pPr lvl="0" indent="0" marL="0"><a:buNone /></a:pPr><a:r><a:rPr /><a:t>Uranium-235 (fission)</a:t></a:r></a:p></a:txBody></a:tc><a:tc><a:txBody><a:bodyPr /><a:lstStyle /><a:p><a:pPr lvl="0" indent="0" marL="0" algn="ctr"><a:buNone /></a:pPr><a:r><a:rPr b="1" /><a:t>~23,000 kWh</a:t></a:r></a:p></a:txBody></a:tc><a:tc><a:txBody><a:bodyPr /><a:lstStyle /><a:p><a:pPr lvl="0" indent="0" marL="0" algn="ctr"><a:buNone /></a:pPr><a:r><a:rPr /><a:t>~3 tonnes of coal</a:t></a:r></a:p></a:txBody></a:tc></a:tr><a:tr h="0"><a:tc><a:txBody><a:bodyPr /><a:lstStyle /><a:p><a:pPr lvl="0" indent="0" marL="0"><a:buNone /></a:pPr><a:r><a:rPr /><a:t>Any mass (full </a:t></a:r><a14:m><m:oMath xmlns:m="http://schemas.openxmlformats.org/officeDocument/2006/math"><m:r><m:t>E</m:t></m:r><m:r><m:rPr><m:sty m:val="p" /></m:rPr><m:t>=</m:t></m:r><m:r><m:t>m</m:t></m:r><m:sSup><m:e><m:r><m:t>c</m:t></m:r></m:e><m:sup><m:r><m:t>2</m:t></m:r></m:sup></m:sSup></m:oMath></a14:m><a:r><a:rPr /><a:t>)</a:t></a:r></a:p></a:txBody></a:tc><a:tc><a:txBody><a:bodyPr /><a:lstStyle /><a:p><a:pPr lvl="0" indent="0" marL="0" algn="ctr"><a:buNone /></a:pPr><a:r><a:rPr /><a:t>~25,000,000 kWh</a:t></a:r></a:p></a:txBody></a:tc><a:tc><a:txBody><a:bodyPr /><a:lstStyle /><a:p><a:pPr lvl="0" indent="0" marL="0" algn="ctr"><a:buNone /></a:pPr><a:r><a:rPr /><a:t>the theoretical ceiling</a:t></a:r></a:p></a:txBody></a:tc></a:tr></a:tbl></a:graphicData></a:graphic></p:graphicFrame><p:sp><p:nvSpPr><p:cNvPr id="7" name="Slide Number Placeholder 6" /><p:cNvSpPr><a:spLocks noGrp="1" /></p:cNvSpPr><p:nvPr><p:ph idx="12" sz="quarter" type="sldNum" /></p:nvPr></p:nvSpPr><p:spPr /><p:txBody><a:bodyPr /><a:lstStyle /><a:p><a:fld id="{C5EF2332-01BF-834F-8236-50238282D533}" type="slidenum"><a:rPr lang="en-US" smtClean="0" /><a:t>‹#›</a:t></a:fld><a:endParaRPr lang="en-US" /></a:p></p:txBody></p:sp></p:spTree></p:cSld>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Fusion: the Sun’s furnace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Fusion</a:t>
            </a:r>
            <a:r>
              <a:rPr/>
              <a:t> joins light nuclei (hydrogen → helium) and powers </a:t>
            </a:r>
            <a:r>
              <a:rPr b="1"/>
              <a:t>every star</a:t>
            </a:r>
            <a:r>
              <a:rPr/>
              <a:t>, including the </a:t>
            </a:r>
            <a:r>
              <a:rPr b="1"/>
              <a:t>Sun</a:t>
            </a:r>
          </a:p>
          <a:p>
            <a:pPr lvl="0"/>
            <a:r>
              <a:rPr/>
              <a:t>It’s the cleanest energy imaginable: fuel from </a:t>
            </a:r>
            <a:r>
              <a:rPr b="1"/>
              <a:t>water</a:t>
            </a:r>
            <a:r>
              <a:rPr/>
              <a:t>, no long-lived waste, no meltdown, no CO₂</a:t>
            </a:r>
          </a:p>
          <a:p>
            <a:pPr lvl="0"/>
            <a:r>
              <a:rPr/>
              <a:t>The deuterium in </a:t>
            </a:r>
            <a:r>
              <a:rPr b="1"/>
              <a:t>1 liter of water</a:t>
            </a:r>
            <a:r>
              <a:rPr/>
              <a:t> holds fusion energy comparable to </a:t>
            </a:r>
            <a:r>
              <a:rPr b="1"/>
              <a:t>~300 liters of gasoline</a:t>
            </a:r>
          </a:p>
          <a:p>
            <a:pPr lvl="0"/>
            <a:r>
              <a:rPr/>
              <a:t>One catch: it needs </a:t>
            </a:r>
            <a:r>
              <a:rPr b="1"/>
              <a:t>~100 million °C</a:t>
            </a:r>
            <a:r>
              <a:rPr/>
              <a:t>. The Sun cheats with crushing gravity; we don’t have that</a:t>
            </a:r>
          </a:p>
        </p:txBody>
      </p:sp>
      <p:pic>
        <p:nvPicPr>
          <p:cNvPr descr="images/sun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431800"/>
            <a:ext cx="5105400" cy="340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The Sun in ultraviolet light — the churning surface of our nearest fusion reactor. NASA/SDO (AIA), public domain. </a:t>
            </a:r>
            <a:r>
              <a:rPr i="1"/>
              <a:t>(Federal image — corroborate with an independent solar-observatory source per the course source rule.)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2022–2039: fusion’s real, slow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Dec 2022, Livermore (NIF):</a:t>
            </a:r>
            <a:r>
              <a:rPr/>
              <a:t> for the first time, a fusion shot released </a:t>
            </a:r>
            <a:r>
              <a:rPr b="1"/>
              <a:t>more energy than the lasers delivered to the fuel</a:t>
            </a:r>
            <a:r>
              <a:rPr/>
              <a:t> — scientific “ignition,” peer-reviewed and independently repeated</a:t>
            </a:r>
          </a:p>
          <a:p>
            <a:pPr lvl="0"/>
            <a:r>
              <a:rPr b="1"/>
              <a:t>ITER</a:t>
            </a:r>
            <a:r>
              <a:rPr/>
              <a:t> (France, a 35-nation project) is the big test reactor — but it just </a:t>
            </a:r>
            <a:r>
              <a:rPr b="1"/>
              <a:t>slipped a decade</a:t>
            </a:r>
            <a:r>
              <a:rPr/>
              <a:t>: </a:t>
            </a:r>
            <a:r>
              <a:rPr b="1"/>
              <a:t>first plasma now ~2034</a:t>
            </a:r>
            <a:r>
              <a:rPr/>
              <a:t>, full deuterium–tritium burn </a:t>
            </a:r>
            <a:r>
              <a:rPr b="1"/>
              <a:t>~2039</a:t>
            </a:r>
            <a:r>
              <a:rPr/>
              <a:t>, at </a:t>
            </a:r>
            <a:r>
              <a:rPr b="1"/>
              <a:t>billions over budget</a:t>
            </a:r>
          </a:p>
          <a:p>
            <a:pPr lvl="0"/>
            <a:r>
              <a:rPr/>
              <a:t>Honest verdict: fusion is </a:t>
            </a:r>
            <a:r>
              <a:rPr b="1"/>
              <a:t>real physics and still decades from your wall socket.</a:t>
            </a:r>
            <a:r>
              <a:rPr/>
              <a:t> Don’t let anyone sell you “five years away”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Nuclear — sources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14:m>
                  <m:oMath xmlns:m="http://schemas.openxmlformats.org/officeDocument/2006/math">
                    <m:r>
                      <m:t>E</m:t>
                    </m:r>
                    <m:r>
                      <m:rPr>
                        <m:sty m:val="p"/>
                      </m:rPr>
                      <m:t>=</m:t>
                    </m:r>
                    <m:r>
                      <m:t>m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: </a:t>
                </a:r>
                <a:r>
                  <a:rPr>
                    <a:hlinkClick r:id="rId2"/>
                  </a:rPr>
                  <a:t>Einstein (1905), </a:t>
                </a:r>
                <a:r>
                  <a:rPr i="1">
                    <a:hlinkClick r:id="rId3"/>
                  </a:rPr>
                  <a:t>Annalen der Physik</a:t>
                </a:r>
                <a:r>
                  <a:rPr/>
                  <a:t> (English trans. widely available)</a:t>
                </a:r>
              </a:p>
              <a:p>
                <a:pPr lvl="0"/>
                <a:r>
                  <a:rPr/>
                  <a:t>Fission discovery: </a:t>
                </a:r>
                <a:r>
                  <a:rPr>
                    <a:hlinkClick r:id="rId4"/>
                  </a:rPr>
                  <a:t>Meitner &amp; Frisch (1939), </a:t>
                </a:r>
                <a:r>
                  <a:rPr i="1">
                    <a:hlinkClick r:id="rId5"/>
                  </a:rPr>
                  <a:t>Nature</a:t>
                </a:r>
                <a:r>
                  <a:rPr/>
                  <a:t>; </a:t>
                </a:r>
                <a:r>
                  <a:rPr>
                    <a:hlinkClick r:id="rId6"/>
                  </a:rPr>
                  <a:t>Britannica — nuclear fission</a:t>
                </a:r>
              </a:p>
              <a:p>
                <a:pPr lvl="0"/>
                <a:r>
                  <a:rPr/>
                  <a:t>Binding energy / data: </a:t>
                </a:r>
                <a:r>
                  <a:rPr>
                    <a:hlinkClick r:id="rId7"/>
                  </a:rPr>
                  <a:t>IAEA Nuclear Data Services</a:t>
                </a:r>
                <a:r>
                  <a:rPr/>
                  <a:t>; Krane, </a:t>
                </a:r>
                <a:r>
                  <a:rPr i="1"/>
                  <a:t>Introductory Nuclear Physics</a:t>
                </a:r>
              </a:p>
              <a:p>
                <a:pPr lvl="0"/>
                <a:r>
                  <a:rPr/>
                  <a:t>Fusion basics: </a:t>
                </a:r>
                <a:r>
                  <a:rPr>
                    <a:hlinkClick r:id="rId8"/>
                  </a:rPr>
                  <a:t>ITER Organization — What is fusion?</a:t>
                </a:r>
                <a:r>
                  <a:rPr/>
                  <a:t>; </a:t>
                </a:r>
                <a:r>
                  <a:rPr>
                    <a:hlinkClick r:id="rId9"/>
                  </a:rPr>
                  <a:t>Britannica — nuclear fusion</a:t>
                </a:r>
              </a:p>
              <a:p>
                <a:pPr lvl="0"/>
                <a:r>
                  <a:rPr/>
                  <a:t>NIF ignition: </a:t>
                </a:r>
                <a:r>
                  <a:rPr>
                    <a:hlinkClick r:id="rId10"/>
                  </a:rPr>
                  <a:t>Abu-Shawareb et al. (2024), </a:t>
                </a:r>
                <a:r>
                  <a:rPr i="1">
                    <a:hlinkClick r:id="rId11"/>
                  </a:rPr>
                  <a:t>Phys. Rev. Lett.</a:t>
                </a:r>
              </a:p>
              <a:p>
                <a:pPr lvl="0"/>
                <a:r>
                  <a:rPr/>
                  <a:t>ITER delay: </a:t>
                </a:r>
                <a:r>
                  <a:rPr>
                    <a:hlinkClick r:id="rId12"/>
                  </a:rPr>
                  <a:t>Physics World — ITER hit by decade-long delay</a:t>
                </a:r>
              </a:p>
            </p:txBody>
          </p:sp>
        </mc:Choice>
      </mc:AlternateContent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does it cost? Levelized Cost of Electricity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LCOE: the only fair way to compare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You can’t compare a solar farm and a gas plant by sticker price — they last different years and run different hours</a:t>
                </a:r>
              </a:p>
              <a:p>
                <a:pPr lvl="0"/>
                <a:r>
                  <a:rPr b="1"/>
                  <a:t>Levelized Cost of Electricity (LCOE)</a:t>
                </a:r>
                <a:r>
                  <a:rPr/>
                  <a:t> puts everything on </a:t>
                </a:r>
                <a:r>
                  <a:rPr b="1"/>
                  <a:t>one number: dollars per unit of energy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LCOE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nor/>
                              <m:sty m:val="p"/>
                            </m:rPr>
                            <m:t>lifetime costs (build + fuel + upkeep)</m:t>
                          </m:r>
                        </m:num>
                        <m:den>
                          <m:r>
                            <m:rPr>
                              <m:nor/>
                              <m:sty m:val="p"/>
                            </m:rPr>
                            <m:t>lifetime energy produced</m:t>
                          </m:r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Think </a:t>
                </a:r>
                <a:r>
                  <a:rPr b="1"/>
                  <a:t>$/MWh</a:t>
                </a:r>
                <a:r>
                  <a:rPr/>
                  <a:t> (or ¢/kWh). It’s the “</a:t>
                </a:r>
                <a:r>
                  <a:rPr b="1"/>
                  <a:t>price per mile</a:t>
                </a:r>
                <a:r>
                  <a:rPr/>
                  <a:t>” of a power plant — the honest apples-to-apples</a:t>
                </a:r>
              </a:p>
            </p:txBody>
          </p:sp>
        </mc:Choice>
      </mc:AlternateContent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Worked example: one megawatt of solar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Build a </a:t>
                </a:r>
                <a:r>
                  <a:rPr b="1"/>
                  <a:t>1 MW</a:t>
                </a:r>
                <a:r>
                  <a:rPr/>
                  <a:t> solar farm: </a:t>
                </a:r>
                <a:r>
                  <a:rPr b="1"/>
                  <a:t>$1,000,000</a:t>
                </a:r>
                <a:r>
                  <a:rPr/>
                  <a:t> up front, </a:t>
                </a:r>
                <a:r>
                  <a:rPr b="1"/>
                  <a:t>20-year</a:t>
                </a:r>
                <a:r>
                  <a:rPr/>
                  <a:t> life, ~</a:t>
                </a:r>
                <a:r>
                  <a:rPr b="1"/>
                  <a:t>$15k/yr</a:t>
                </a:r>
                <a:r>
                  <a:rPr/>
                  <a:t> upkeep</a:t>
                </a:r>
              </a:p>
              <a:p>
                <a:pPr lvl="0"/>
                <a:r>
                  <a:rPr/>
                  <a:t>Sun-and-weather mean it actually runs at ~</a:t>
                </a:r>
                <a:r>
                  <a:rPr b="1"/>
                  <a:t>22%</a:t>
                </a:r>
                <a:r>
                  <a:rPr/>
                  <a:t> of nameplate (its “</a:t>
                </a:r>
                <a:r>
                  <a:rPr b="1"/>
                  <a:t>capacity factor</a:t>
                </a:r>
                <a:r>
                  <a:rPr/>
                  <a:t>”)</a:t>
                </a:r>
              </a:p>
              <a:p>
                <a:pPr lvl="0"/>
                <a:r>
                  <a:rPr/>
                  <a:t>Energy over 20 yr: </a:t>
                </a:r>
                <a14:m>
                  <m:oMath xmlns:m="http://schemas.openxmlformats.org/officeDocument/2006/math">
                    <m:r>
                      <m:t>1</m:t>
                    </m:r>
                    <m:r>
                      <m:t> </m:t>
                    </m:r>
                    <m:r>
                      <m:rPr>
                        <m:nor/>
                        <m:sty m:val="p"/>
                      </m:rPr>
                      <m:t>MW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8760</m:t>
                    </m:r>
                    <m:r>
                      <m:t> </m:t>
                    </m:r>
                    <m:r>
                      <m:rPr>
                        <m:nor/>
                        <m:sty m:val="p"/>
                      </m:rPr>
                      <m:t>h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0.22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20</m:t>
                    </m:r>
                    <m:r>
                      <m:rPr>
                        <m:sty m:val="p"/>
                      </m:rPr>
                      <m:t>≈</m:t>
                    </m:r>
                    <m:r>
                      <m:t>38</m:t>
                    </m:r>
                    <m:r>
                      <m:rPr>
                        <m:sty m:val="p"/>
                      </m:rPr>
                      <m:t>,</m:t>
                    </m:r>
                    <m:r>
                      <m:t>500</m:t>
                    </m:r>
                    <m:r>
                      <m:t> </m:t>
                    </m:r>
                    <m:r>
                      <m:rPr>
                        <m:nor/>
                        <m:sty m:val="p"/>
                      </m:rPr>
                      <m:t>MWh</m:t>
                    </m:r>
                  </m:oMath>
                </a14:m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LCOE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m:t>$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000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000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rPr>
                              <m:sty m:val="p"/>
                            </m:rPr>
                            <m:t>$</m:t>
                          </m:r>
                          <m:r>
                            <m:t>300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000</m:t>
                          </m:r>
                        </m:num>
                        <m:den>
                          <m:r>
                            <m:t>38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500</m:t>
                          </m:r>
                          <m:r>
                            <m:t> </m:t>
                          </m:r>
                          <m:r>
                            <m:rPr>
                              <m:nor/>
                              <m:sty m:val="p"/>
                            </m:rPr>
                            <m:t>MWh</m:t>
                          </m:r>
                        </m:den>
                      </m:f>
                      <m:r>
                        <m:rPr>
                          <m:sty m:val="p"/>
                        </m:rPr>
                        <m:t>≈</m:t>
                      </m:r>
                      <m:r>
                        <m:rPr>
                          <m:sty m:val="p"/>
                        </m:rPr>
                        <m:t>$</m:t>
                      </m:r>
                      <m:r>
                        <m:t>34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nor/>
                          <m:sty m:val="p"/>
                        </m:rPr>
                        <m:t>MWh</m:t>
                      </m:r>
                    </m:oMath>
                  </m:oMathPara>
                </a14:m>
              </a:p>
              <a:p>
                <a:pPr lvl="0"/>
                <a:r>
                  <a:rPr b="1"/>
                  <a:t>This is a real, defensible calculation</a:t>
                </a:r>
                <a:r>
                  <a:rPr/>
                  <a:t> — and it’s right in the range the pros publish (next slide)</a:t>
                </a:r>
              </a:p>
            </p:txBody>
          </p:sp>
        </mc:Choice>
      </mc:AlternateContent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Lazard 2025: what’s actually cheapest (unsubsidized)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93700" y="2514600"/>
          <a:ext cx="10515600" cy="403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LCOE ($/MWh)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Onshore wind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37 – 86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cheapest new build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Utility solar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38 – 217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also cheapest at the low end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Combined-cycle gas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48 – 109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fossil workhorse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71 – 173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dirty </a:t>
                      </a:r>
                      <a:r>
                        <a:rPr i="1"/>
                        <a:t>and</a:t>
                      </a:r>
                      <a:r>
                        <a:rPr/>
                        <a:t> not cheap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Battery storage (2-hr)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81 – 174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intermittency patch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Nuclear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141 – 220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safe, low-carbon, </a:t>
                      </a:r>
                      <a:r>
                        <a:rPr b="1"/>
                        <a:t>expensive to build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Gas peaker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149 – 251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only for demand spikes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New wind and solar are the cheapest electricity humans have ever built</a:t>
            </a:r>
            <a:r>
              <a:rPr/>
              <a:t> — even before subsidies</a:t>
            </a:r>
          </a:p>
          <a:p>
            <a:pPr lvl="0" indent="0" marL="0">
              <a:buNone/>
            </a:pPr>
            <a:r>
              <a:rPr i="1"/>
              <a:t>Source: Lazard, LCOE+ (June 2025), unsubsidized ranges.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LCOE quietly leaves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Intermittency:</a:t>
            </a:r>
            <a:r>
              <a:rPr/>
              <a:t> the sun sets and the wind drops. A cheap solar MWh at noon isn’t a cheap MWh at 9 pm — you need </a:t>
            </a:r>
            <a:r>
              <a:rPr b="1"/>
              <a:t>storage or backup</a:t>
            </a:r>
            <a:r>
              <a:rPr/>
              <a:t> (that’s the battery row)</a:t>
            </a:r>
          </a:p>
          <a:p>
            <a:pPr lvl="0"/>
            <a:r>
              <a:rPr b="1"/>
              <a:t>Grid/firming costs:</a:t>
            </a:r>
            <a:r>
              <a:rPr/>
              <a:t> Lazard’s own numbers </a:t>
            </a:r>
            <a:r>
              <a:rPr b="1"/>
              <a:t>exclude</a:t>
            </a:r>
            <a:r>
              <a:rPr/>
              <a:t> the wires and balancing needed to make power </a:t>
            </a:r>
            <a:r>
              <a:rPr i="1"/>
              <a:t>dependable</a:t>
            </a:r>
          </a:p>
          <a:p>
            <a:pPr lvl="0"/>
            <a:r>
              <a:rPr b="1"/>
              <a:t>Externalities:</a:t>
            </a:r>
            <a:r>
              <a:rPr/>
              <a:t> LCOE ignores the </a:t>
            </a:r>
            <a:r>
              <a:rPr b="1"/>
              <a:t>death cost</a:t>
            </a:r>
            <a:r>
              <a:rPr/>
              <a:t> and </a:t>
            </a:r>
            <a:r>
              <a:rPr b="1"/>
              <a:t>carbon cost</a:t>
            </a:r>
            <a:r>
              <a:rPr/>
              <a:t> we met in Lecture 1 — coal’s cheap $/MWh doesn’t include the </a:t>
            </a:r>
            <a:r>
              <a:rPr b="1"/>
              <a:t>people it kills</a:t>
            </a:r>
          </a:p>
          <a:p>
            <a:pPr lvl="0"/>
            <a:r>
              <a:rPr b="1"/>
              <a:t>Takeaway:</a:t>
            </a:r>
            <a:r>
              <a:rPr/>
              <a:t> LCOE is the best </a:t>
            </a:r>
            <a:r>
              <a:rPr i="1"/>
              <a:t>starting</a:t>
            </a:r>
            <a:r>
              <a:rPr/>
              <a:t> number and a </a:t>
            </a:r>
            <a:r>
              <a:rPr b="1"/>
              <a:t>terrible ending</a:t>
            </a:r>
            <a:r>
              <a:rPr/>
              <a:t> one. Cheapest on the spreadsheet ≠ cheapest in full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LCOE —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Method: </a:t>
            </a:r>
            <a:r>
              <a:rPr>
                <a:hlinkClick r:id="rId2"/>
              </a:rPr>
              <a:t>NREL — Levelized Cost of Energy</a:t>
            </a:r>
            <a:r>
              <a:rPr/>
              <a:t>; </a:t>
            </a:r>
            <a:r>
              <a:rPr>
                <a:hlinkClick r:id="rId3"/>
              </a:rPr>
              <a:t>NREL Annual Technology Baseline</a:t>
            </a:r>
          </a:p>
          <a:p>
            <a:pPr lvl="0"/>
            <a:r>
              <a:rPr/>
              <a:t>2025 figures: </a:t>
            </a:r>
            <a:r>
              <a:rPr>
                <a:hlinkClick r:id="rId4"/>
              </a:rPr>
              <a:t>Lazard — LCOE+ (June 2025)</a:t>
            </a:r>
            <a:r>
              <a:rPr/>
              <a:t>; </a:t>
            </a:r>
            <a:r>
              <a:rPr>
                <a:hlinkClick r:id="rId5"/>
              </a:rPr>
              <a:t>Lazard 2025 press release</a:t>
            </a:r>
          </a:p>
          <a:p>
            <a:pPr lvl="0"/>
            <a:r>
              <a:rPr/>
              <a:t>Independent write-ups: </a:t>
            </a:r>
            <a:r>
              <a:rPr>
                <a:hlinkClick r:id="rId6"/>
              </a:rPr>
              <a:t>pv magazine — solar/wind still cheapest</a:t>
            </a:r>
            <a:r>
              <a:rPr/>
              <a:t>; </a:t>
            </a:r>
            <a:r>
              <a:rPr>
                <a:hlinkClick r:id="rId7"/>
              </a:rPr>
              <a:t>RTO Insider</a:t>
            </a:r>
          </a:p>
          <a:p>
            <a:pPr lvl="0"/>
            <a:r>
              <a:rPr/>
              <a:t>Externalities (callback): </a:t>
            </a:r>
            <a:r>
              <a:rPr>
                <a:hlinkClick r:id="rId8"/>
              </a:rPr>
              <a:t>Our World in Data — deaths per TWh</a:t>
            </a:r>
            <a:r>
              <a:rPr/>
              <a:t>; </a:t>
            </a:r>
            <a:r>
              <a:rPr>
                <a:hlinkClick r:id="rId9"/>
              </a:rPr>
              <a:t>IPCC AR6 Synthesis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grid: getting it to your wall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From the plant to your phone charger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Electricity is made in a few big places and used in </a:t>
            </a:r>
            <a:r>
              <a:rPr b="1"/>
              <a:t>millions</a:t>
            </a:r>
            <a:r>
              <a:rPr/>
              <a:t> of small ones. The </a:t>
            </a:r>
            <a:r>
              <a:rPr b="1"/>
              <a:t>grid</a:t>
            </a:r>
            <a:r>
              <a:rPr/>
              <a:t> is the machinery in between</a:t>
            </a:r>
          </a:p>
          <a:p>
            <a:pPr lvl="0"/>
            <a:r>
              <a:rPr/>
              <a:t>Three stages: </a:t>
            </a:r>
            <a:r>
              <a:rPr b="1"/>
              <a:t>generation</a:t>
            </a:r>
            <a:r>
              <a:rPr/>
              <a:t> (the plant) → </a:t>
            </a:r>
            <a:r>
              <a:rPr b="1"/>
              <a:t>transmission</a:t>
            </a:r>
            <a:r>
              <a:rPr/>
              <a:t> (the tall steel towers, very high voltage) → </a:t>
            </a:r>
            <a:r>
              <a:rPr b="1"/>
              <a:t>distribution</a:t>
            </a:r>
            <a:r>
              <a:rPr/>
              <a:t> (the wooden poles on your street, stepped back down)</a:t>
            </a:r>
          </a:p>
          <a:p>
            <a:pPr lvl="0"/>
            <a:r>
              <a:rPr/>
              <a:t>It is arguably the </a:t>
            </a:r>
            <a:r>
              <a:rPr b="1"/>
              <a:t>largest machine ever built</a:t>
            </a:r>
            <a:r>
              <a:rPr/>
              <a:t> — a continent wired into one synchronized system</a:t>
            </a:r>
          </a:p>
        </p:txBody>
      </p:sp>
      <p:pic>
        <p:nvPicPr>
          <p:cNvPr descr="images/transmission_towers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228600"/>
            <a:ext cx="51054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High-voltage transmission towers — the grid moves power at high voltage to cut resistive losses. Photo by Nixdorf, CC BY-SA 3.0.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the towers run at insane voltage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Push current through a wire and some power is </a:t>
                </a:r>
                <a:r>
                  <a:rPr b="1"/>
                  <a:t>lost as heat</a:t>
                </a:r>
                <a:r>
                  <a:rPr/>
                  <a:t> — losses scale with </a:t>
                </a:r>
                <a:r>
                  <a:rPr b="1"/>
                  <a:t>current squared</a:t>
                </a:r>
                <a:r>
                  <a:rPr/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m:t>P</m:t>
                        </m:r>
                      </m:e>
                      <m:sub>
                        <m:r>
                          <m:rPr>
                            <m:nor/>
                            <m:sty m:val="p"/>
                          </m:rPr>
                          <m:t>loss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t>R</m:t>
                    </m:r>
                  </m:oMath>
                </a14:m>
                <a:r>
                  <a:rPr/>
                  <a:t>)</a:t>
                </a:r>
              </a:p>
              <a:p>
                <a:pPr lvl="0"/>
                <a:r>
                  <a:rPr/>
                  <a:t>Trick: send the </a:t>
                </a:r>
                <a:r>
                  <a:rPr i="1"/>
                  <a:t>same power</a:t>
                </a:r>
                <a:r>
                  <a:rPr/>
                  <a:t> at </a:t>
                </a:r>
                <a:r>
                  <a:rPr b="1"/>
                  <a:t>high voltage and low current</a:t>
                </a:r>
                <a:r>
                  <a:rPr/>
                  <a:t> → far less loss. Then </a:t>
                </a:r>
                <a:r>
                  <a:rPr b="1"/>
                  <a:t>step it back down</a:t>
                </a:r>
                <a:r>
                  <a:rPr/>
                  <a:t> near you</a:t>
                </a:r>
              </a:p>
              <a:p>
                <a:pPr lvl="0"/>
                <a:r>
                  <a:rPr/>
                  <a:t>The device that does this — the </a:t>
                </a:r>
                <a:r>
                  <a:rPr b="1"/>
                  <a:t>transformer</a:t>
                </a:r>
                <a:r>
                  <a:rPr/>
                  <a:t> — </a:t>
                </a:r>
                <a:r>
                  <a:rPr b="1"/>
                  <a:t>only works with AC</a:t>
                </a:r>
              </a:p>
              <a:p>
                <a:pPr lvl="0"/>
                <a:r>
                  <a:rPr b="1"/>
                  <a:t>Callback:</a:t>
                </a:r>
                <a:r>
                  <a:rPr/>
                  <a:t> </a:t>
                </a:r>
                <a:r>
                  <a:rPr i="1"/>
                  <a:t>this</a:t>
                </a:r>
                <a:r>
                  <a:rPr/>
                  <a:t> is why </a:t>
                </a:r>
                <a:r>
                  <a:rPr b="1"/>
                  <a:t>AC beat DC</a:t>
                </a:r>
                <a:r>
                  <a:rPr/>
                  <a:t> in Lecture 1’s Current Wars. Edison’s DC couldn’t do this cheaply; Tesla/Westinghouse’s AC could</a:t>
                </a:r>
              </a:p>
            </p:txBody>
          </p:sp>
        </mc:Choice>
      </mc:AlternateContent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grid is a tightrope walk — every second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You </a:t>
            </a:r>
            <a:r>
              <a:rPr b="1"/>
              <a:t>can’t store much electricity in the grid</a:t>
            </a:r>
            <a:r>
              <a:rPr/>
              <a:t> — supply must match demand </a:t>
            </a:r>
            <a:r>
              <a:rPr b="1"/>
              <a:t>instant to instant</a:t>
            </a:r>
          </a:p>
          <a:p>
            <a:pPr lvl="0"/>
            <a:r>
              <a:rPr/>
              <a:t>The proof is the </a:t>
            </a:r>
            <a:r>
              <a:rPr b="1"/>
              <a:t>frequency</a:t>
            </a:r>
            <a:r>
              <a:rPr/>
              <a:t>: North America runs at </a:t>
            </a:r>
            <a:r>
              <a:rPr b="1"/>
              <a:t>60 Hz</a:t>
            </a:r>
            <a:r>
              <a:rPr/>
              <a:t>, and it must stay there. Too much demand → it sags; too much supply → it climbs</a:t>
            </a:r>
          </a:p>
          <a:p>
            <a:pPr lvl="0"/>
            <a:r>
              <a:rPr/>
              <a:t>Grid operators (here, the </a:t>
            </a:r>
            <a:r>
              <a:rPr b="1"/>
              <a:t>NYISO</a:t>
            </a:r>
            <a:r>
              <a:rPr/>
              <a:t>) rebalance </a:t>
            </a:r>
            <a:r>
              <a:rPr b="1"/>
              <a:t>second by second</a:t>
            </a:r>
            <a:r>
              <a:rPr/>
              <a:t>, all day, forever</a:t>
            </a:r>
          </a:p>
          <a:p>
            <a:pPr lvl="0"/>
            <a:r>
              <a:rPr/>
              <a:t>Lose the balance and the system </a:t>
            </a:r>
            <a:r>
              <a:rPr b="1"/>
              <a:t>protects itself by shutting down</a:t>
            </a:r>
            <a:r>
              <a:rPr/>
              <a:t> — which is how a small fault becomes a </a:t>
            </a:r>
            <a:r>
              <a:rPr b="1"/>
              <a:t>blackout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Aug 14, 2003: the day the Northeast went dark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It started small: an </a:t>
            </a:r>
            <a:r>
              <a:rPr b="1"/>
              <a:t>Ohio utility’s software failed</a:t>
            </a:r>
            <a:r>
              <a:rPr/>
              <a:t> and some </a:t>
            </a:r>
            <a:r>
              <a:rPr b="1"/>
              <a:t>overgrown trees</a:t>
            </a:r>
            <a:r>
              <a:rPr/>
              <a:t> touched power lines near Cleveland</a:t>
            </a:r>
          </a:p>
          <a:p>
            <a:pPr lvl="0"/>
            <a:r>
              <a:rPr/>
              <a:t>With operators flying blind, the imbalance </a:t>
            </a:r>
            <a:r>
              <a:rPr b="1"/>
              <a:t>cascaded across the grid in minutes</a:t>
            </a:r>
          </a:p>
          <a:p>
            <a:pPr lvl="0"/>
            <a:r>
              <a:rPr b="1"/>
              <a:t>~50 million people</a:t>
            </a:r>
            <a:r>
              <a:rPr/>
              <a:t> across </a:t>
            </a:r>
            <a:r>
              <a:rPr b="1"/>
              <a:t>eight US states and Ontario</a:t>
            </a:r>
            <a:r>
              <a:rPr/>
              <a:t> lost power — including </a:t>
            </a:r>
            <a:r>
              <a:rPr b="1"/>
              <a:t>right here in Buffalo and Western New York</a:t>
            </a:r>
          </a:p>
          <a:p>
            <a:pPr lvl="0"/>
            <a:r>
              <a:rPr/>
              <a:t>One overgrown tree + one software bug → a subcontinent dark. </a:t>
            </a:r>
            <a:r>
              <a:rPr b="1"/>
              <a:t>That’s how tightly coupled the grid is</a:t>
            </a:r>
          </a:p>
          <a:p>
            <a:pPr lvl="0" indent="0" marL="1270000">
              <a:buNone/>
            </a:pPr>
            <a:r>
              <a:rPr sz="2000"/>
              <a:t>SUGGESTED GRAPHIC (optional, manifest): the DMSP/NOAA before-and-after satellite night image of the Northeast blackout (federal/PD — corroborate). Alt: “Satellite night images of the northeastern United States before and during the August 2003 blackout, showing the region gone dark.” (If license is unclear, the script will flag it — fine to omit.)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Keeping the lights on (and the hard part ahead)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grid is always juggling: </a:t>
            </a:r>
            <a:r>
              <a:rPr b="1"/>
              <a:t>baseload</a:t>
            </a:r>
            <a:r>
              <a:rPr/>
              <a:t> (steady — nuclear, some gas), </a:t>
            </a:r>
            <a:r>
              <a:rPr b="1"/>
              <a:t>peakers</a:t>
            </a:r>
            <a:r>
              <a:rPr/>
              <a:t> (fast spikes), and increasingly </a:t>
            </a:r>
            <a:r>
              <a:rPr b="1"/>
              <a:t>wind, solar, and batteries</a:t>
            </a:r>
          </a:p>
          <a:p>
            <a:pPr lvl="0"/>
            <a:r>
              <a:rPr/>
              <a:t>Renewables are the </a:t>
            </a:r>
            <a:r>
              <a:rPr b="1"/>
              <a:t>cheapest</a:t>
            </a:r>
            <a:r>
              <a:rPr/>
              <a:t> energy (LCOE) but </a:t>
            </a:r>
            <a:r>
              <a:rPr b="1"/>
              <a:t>variable</a:t>
            </a:r>
            <a:r>
              <a:rPr/>
              <a:t> — so the 21st-century grid problem is </a:t>
            </a:r>
            <a:r>
              <a:rPr b="1"/>
              <a:t>timing and storage</a:t>
            </a:r>
            <a:r>
              <a:rPr/>
              <a:t>, not generation cost</a:t>
            </a:r>
          </a:p>
          <a:p>
            <a:pPr lvl="0"/>
            <a:r>
              <a:rPr b="1"/>
              <a:t>Batteries, long-distance transmission, and demand shifting</a:t>
            </a:r>
            <a:r>
              <a:rPr/>
              <a:t> are how we square cheap-but-intermittent with a grid that must balance every second</a:t>
            </a:r>
          </a:p>
          <a:p>
            <a:pPr lvl="0"/>
            <a:r>
              <a:rPr b="1"/>
              <a:t>Relevant later (Week 7):</a:t>
            </a:r>
            <a:r>
              <a:rPr/>
              <a:t> all those </a:t>
            </a:r>
            <a:r>
              <a:rPr b="1"/>
              <a:t>AI data centers</a:t>
            </a:r>
            <a:r>
              <a:rPr/>
              <a:t> are enormous new demand landing on this same tightrope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grid —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Grid basics: </a:t>
            </a:r>
            <a:r>
              <a:rPr>
                <a:hlinkClick r:id="rId2"/>
              </a:rPr>
              <a:t>Britannica — electric power system</a:t>
            </a:r>
            <a:r>
              <a:rPr/>
              <a:t>; </a:t>
            </a:r>
            <a:r>
              <a:rPr>
                <a:hlinkClick r:id="rId3"/>
              </a:rPr>
              <a:t>HyperPhysics — transformers &amp; transmission</a:t>
            </a:r>
          </a:p>
          <a:p>
            <a:pPr lvl="0"/>
            <a:r>
              <a:rPr/>
              <a:t>Operations / frequency: </a:t>
            </a:r>
            <a:r>
              <a:rPr>
                <a:hlinkClick r:id="rId4"/>
              </a:rPr>
              <a:t>NYISO — how the grid works</a:t>
            </a:r>
            <a:r>
              <a:rPr/>
              <a:t>; NERC frequency standards</a:t>
            </a:r>
          </a:p>
          <a:p>
            <a:pPr lvl="0"/>
            <a:r>
              <a:rPr/>
              <a:t>2003 blackout: </a:t>
            </a:r>
            <a:r>
              <a:rPr>
                <a:hlinkClick r:id="rId5"/>
              </a:rPr>
              <a:t>U.S.–Canada Power System Outage Task Force Final Report</a:t>
            </a:r>
            <a:r>
              <a:rPr/>
              <a:t> </a:t>
            </a:r>
            <a:r>
              <a:rPr i="1"/>
              <a:t>(federal — corroborate)</a:t>
            </a:r>
            <a:r>
              <a:rPr/>
              <a:t>; </a:t>
            </a:r>
            <a:r>
              <a:rPr>
                <a:hlinkClick r:id="rId6"/>
              </a:rPr>
              <a:t>Scientific American — five years later</a:t>
            </a:r>
          </a:p>
          <a:p>
            <a:pPr lvl="0"/>
            <a:r>
              <a:rPr/>
              <a:t>Storage/future grid: </a:t>
            </a:r>
            <a:r>
              <a:rPr>
                <a:hlinkClick r:id="rId7"/>
              </a:rPr>
              <a:t>IEA — Electricity Grids and Secure Energy Transitions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this deck was built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AI-use disclosure (per our own policy)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Model / company:</a:t>
            </a:r>
            <a:r>
              <a:rPr/>
              <a:t> Claude (Anthropic)</a:t>
            </a:r>
          </a:p>
          <a:p>
            <a:pPr lvl="0"/>
            <a:r>
              <a:rPr b="1"/>
              <a:t>What it drew from:</a:t>
            </a:r>
            <a:r>
              <a:rPr/>
              <a:t> the </a:t>
            </a:r>
            <a:r>
              <a:rPr b="1"/>
              <a:t>primary sources on every Sources slide</a:t>
            </a:r>
            <a:r>
              <a:rPr/>
              <a:t> — I verified each one and did the physics/finance myself</a:t>
            </a:r>
          </a:p>
          <a:p>
            <a:pPr lvl="0"/>
            <a:r>
              <a:rPr b="1"/>
              <a:t>Where:</a:t>
            </a:r>
            <a:r>
              <a:rPr/>
              <a:t> Anthropic compute runs on major U.S. cloud regions </a:t>
            </a:r>
            <a:r>
              <a:rPr i="1"/>
              <a:t>(exact region confirmed at build)</a:t>
            </a:r>
          </a:p>
          <a:p>
            <a:pPr lvl="0"/>
            <a:r>
              <a:rPr b="1"/>
              <a:t>Compute / tokens:</a:t>
            </a:r>
            <a:r>
              <a:rPr/>
              <a:t> </a:t>
            </a:r>
            <a:r>
              <a:rPr b="1"/>
              <a:t>≈ 0.9 million tokens</a:t>
            </a:r>
            <a:r>
              <a:rPr/>
              <a:t> (estimate) to research, calculate, and draft this quarry</a:t>
            </a:r>
          </a:p>
          <a:p>
            <a:pPr lvl="0"/>
            <a:r>
              <a:rPr b="1"/>
              <a:t>Energy / water (order-of-magnitude):</a:t>
            </a:r>
            <a:r>
              <a:rPr/>
              <a:t> </a:t>
            </a:r>
            <a:r>
              <a:rPr b="1"/>
              <a:t>≈ 0.15–0.4 kWh</a:t>
            </a:r>
            <a:r>
              <a:rPr/>
              <a:t> and </a:t>
            </a:r>
            <a:r>
              <a:rPr b="1"/>
              <a:t>≈ 0.05–0.8 L</a:t>
            </a:r>
            <a:r>
              <a:rPr/>
              <a:t> — a range on purpose; providers report differently</a:t>
            </a:r>
          </a:p>
          <a:p>
            <a:pPr lvl="0"/>
            <a:r>
              <a:rPr/>
              <a:t>The human (me) checked every number and source. </a:t>
            </a:r>
            <a:r>
              <a:rPr b="1"/>
              <a:t>That’s the standard I’ll hold you to in your final project.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Takeaway: one machine, one ledger, one tightrope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The physics:</a:t>
                </a:r>
                <a:r>
                  <a:rPr/>
                  <a:t> almost all electricity is one trick — </a:t>
                </a:r>
                <a:r>
                  <a:rPr i="1"/>
                  <a:t>change a magnetic field, make a current</a:t>
                </a:r>
                <a:r>
                  <a:rPr/>
                  <a:t> (Faraday). Nuclear just unlocks more of </a:t>
                </a:r>
                <a14:m>
                  <m:oMath xmlns:m="http://schemas.openxmlformats.org/officeDocument/2006/math">
                    <m:r>
                      <m:t>E</m:t>
                    </m:r>
                    <m:r>
                      <m:rPr>
                        <m:sty m:val="p"/>
                      </m:rPr>
                      <m:t>=</m:t>
                    </m:r>
                    <m:r>
                      <m:t>m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a:p>
              <a:p>
                <a:pPr lvl="0"/>
                <a:r>
                  <a:rPr b="1"/>
                  <a:t>The cost:</a:t>
                </a:r>
                <a:r>
                  <a:rPr/>
                  <a:t> LCOE makes wind and solar the cheapest ever — but the number hides intermittency and the human/climate bill</a:t>
                </a:r>
              </a:p>
              <a:p>
                <a:pPr lvl="0"/>
                <a:r>
                  <a:rPr b="1"/>
                  <a:t>The delivery:</a:t>
                </a:r>
                <a:r>
                  <a:rPr/>
                  <a:t> the grid must balance every second; cheap-but-variable power makes that the century’s real challenge</a:t>
                </a:r>
              </a:p>
              <a:p>
                <a:pPr lvl="0"/>
                <a:r>
                  <a:rPr b="1"/>
                  <a:t>Skill:</a:t>
                </a:r>
                <a:r>
                  <a:rPr/>
                  <a:t> take notes you can be </a:t>
                </a:r>
                <a:r>
                  <a:rPr b="1"/>
                  <a:t>quizzed from</a:t>
                </a:r>
                <a:r>
                  <a:rPr/>
                  <a:t> — then quiz yourself</a:t>
                </a:r>
              </a:p>
            </p:txBody>
          </p:sp>
        </mc:Choice>
      </mc:AlternateContent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Watch this week (optional)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Physics on your feed: fields &amp; Maxwell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>
                <a:hlinkClick r:id="rId3"/>
              </a:rPr>
              <a:t>3Blue1Brown</a:t>
            </a:r>
            <a:r>
              <a:rPr/>
              <a:t> — </a:t>
            </a:r>
            <a:r>
              <a:rPr i="1"/>
              <a:t>“Divergence and curl: the language of Maxwell’s equations.”</a:t>
            </a:r>
            <a:r>
              <a:rPr/>
              <a:t> The best visual intuition for the E&amp;M we did today (Grant Sanderson; </a:t>
            </a:r>
            <a:r>
              <a:rPr b="1"/>
              <a:t>vetted</a:t>
            </a:r>
            <a:r>
              <a:rPr/>
              <a:t>)</a:t>
            </a:r>
          </a:p>
          <a:p>
            <a:pPr lvl="0"/>
            <a:r>
              <a:rPr b="1">
                <a:hlinkClick r:id="rId4"/>
              </a:rPr>
              <a:t>Elle Cordova</a:t>
            </a:r>
            <a:r>
              <a:rPr/>
              <a:t> — her </a:t>
            </a:r>
            <a:r>
              <a:rPr i="1"/>
              <a:t>“Fundamental Forces of Physics”</a:t>
            </a:r>
            <a:r>
              <a:rPr/>
              <a:t> bits personify </a:t>
            </a:r>
            <a:r>
              <a:rPr b="1"/>
              <a:t>electromagnetism</a:t>
            </a:r>
            <a:r>
              <a:rPr/>
              <a:t> as a character. Funny, and it sticks (</a:t>
            </a:r>
            <a:r>
              <a:rPr b="1"/>
              <a:t>vetted</a:t>
            </a:r>
            <a:r>
              <a:rPr/>
              <a:t>)</a:t>
            </a:r>
          </a:p>
          <a:p>
            <a:pPr lvl="0"/>
            <a:r>
              <a:rPr b="1">
                <a:hlinkClick r:id="rId5"/>
              </a:rPr>
              <a:t>learnwithsherlock</a:t>
            </a:r>
            <a:r>
              <a:rPr/>
              <a:t> — short, clean physics explainers, incl. electromagnetism (</a:t>
            </a:r>
            <a:r>
              <a:rPr b="1"/>
              <a:t>vetted</a:t>
            </a:r>
            <a:r>
              <a:rPr/>
              <a:t>; IG/TikTok)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atom: fission, fusion, and CERN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>
                <a:hlinkClick r:id="rId3"/>
              </a:rPr>
              <a:t>Dr. Clara Nellist — @particleclara</a:t>
            </a:r>
            <a:r>
              <a:rPr/>
              <a:t> — real CERN particle physicist doing first-year-friendly explainers. </a:t>
            </a:r>
            <a:r>
              <a:rPr b="1"/>
              <a:t>She’s a friend of mine</a:t>
            </a:r>
            <a:r>
              <a:rPr/>
              <a:t> — lean in (</a:t>
            </a:r>
            <a:r>
              <a:rPr b="1"/>
              <a:t>vetted</a:t>
            </a:r>
            <a:r>
              <a:rPr/>
              <a:t>; IG/TikTok/</a:t>
            </a:r>
            <a:r>
              <a:rPr>
                <a:hlinkClick r:id="rId4"/>
              </a:rPr>
              <a:t>YouTube</a:t>
            </a:r>
            <a:r>
              <a:rPr/>
              <a:t>)</a:t>
            </a:r>
          </a:p>
          <a:p>
            <a:pPr lvl="0"/>
            <a:r>
              <a:rPr b="1">
                <a:hlinkClick r:id="rId5"/>
              </a:rPr>
              <a:t>CERN</a:t>
            </a:r>
            <a:r>
              <a:rPr/>
              <a:t> (official, </a:t>
            </a:r>
            <a:r>
              <a:rPr b="1"/>
              <a:t>vetted</a:t>
            </a:r>
            <a:r>
              <a:rPr/>
              <a:t>) — the source for “what a lab actually does.” </a:t>
            </a:r>
            <a:r>
              <a:rPr i="1"/>
              <a:t>Reminder: I work on </a:t>
            </a:r>
            <a:r>
              <a:rPr b="1" i="1"/>
              <a:t>CMS</a:t>
            </a:r>
            <a:r>
              <a:rPr i="1"/>
              <a:t>, one of the big LHC experiments — ask me anything</a:t>
            </a:r>
          </a:p>
          <a:p>
            <a:pPr lvl="0"/>
            <a:r>
              <a:rPr b="1"/>
              <a:t>Brian Cox</a:t>
            </a:r>
            <a:r>
              <a:rPr/>
              <a:t> — </a:t>
            </a:r>
            <a:r>
              <a:rPr i="1"/>
              <a:t>“Can We Make a Star on Earth?”</a:t>
            </a:r>
            <a:r>
              <a:rPr/>
              <a:t> (BBC) on </a:t>
            </a:r>
            <a:r>
              <a:rPr b="1"/>
              <a:t>fusion</a:t>
            </a:r>
            <a:r>
              <a:rPr/>
              <a:t> and how stars burn. A trusted traditional communicator (</a:t>
            </a:r>
            <a:r>
              <a:rPr b="1"/>
              <a:t>vetted</a:t>
            </a:r>
            <a:r>
              <a:rPr/>
              <a:t>) — </a:t>
            </a:r>
            <a:r>
              <a:rPr i="1"/>
              <a:t>I’ve worked with him</a:t>
            </a:r>
          </a:p>
          <a:p>
            <a:pPr lvl="0"/>
            <a:r>
              <a:rPr b="1">
                <a:hlinkClick r:id="rId6"/>
              </a:rPr>
              <a:t>Kurzgesagt — “Fusion Power Explained: Future or Failure”</a:t>
            </a:r>
            <a:r>
              <a:rPr/>
              <a:t> </a:t>
            </a:r>
            <a:r>
              <a:rPr i="1"/>
              <a:t>(secondary)</a:t>
            </a:r>
            <a:r>
              <a:rPr/>
              <a:t> — great animation; pairs with our “real, but decades away” verdict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grid: how electricity </a:t>
            </a:r>
            <a:r>
              <a:rPr i="1"/>
              <a:t>actually</a:t>
            </a:r>
            <a:r>
              <a:rPr/>
              <a:t> travels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>
                <a:hlinkClick r:id="rId3"/>
              </a:rPr>
              <a:t>Veritasium — “The Big Misconception About Electricity”</a:t>
            </a:r>
            <a:r>
              <a:rPr/>
              <a:t> </a:t>
            </a:r>
            <a:r>
              <a:rPr i="1"/>
              <a:t>(secondary)</a:t>
            </a:r>
            <a:r>
              <a:rPr/>
              <a:t> — energy rides in the </a:t>
            </a:r>
            <a:r>
              <a:rPr b="1"/>
              <a:t>fields around</a:t>
            </a:r>
            <a:r>
              <a:rPr/>
              <a:t> the wires, not “through” them. A mind-bending pairing with our transmission/grid slides</a:t>
            </a:r>
          </a:p>
          <a:p>
            <a:pPr lvl="0"/>
            <a:r>
              <a:rPr/>
              <a:t>Follow-up (</a:t>
            </a:r>
            <a:r>
              <a:rPr i="1"/>
              <a:t>same channel, secondary</a:t>
            </a:r>
            <a:r>
              <a:rPr/>
              <a:t>): </a:t>
            </a:r>
            <a:r>
              <a:rPr i="1"/>
              <a:t>“How Electricity Actually Works”</a:t>
            </a:r>
            <a:r>
              <a:rPr/>
              <a:t> answers the pushback on the first video</a:t>
            </a:r>
          </a:p>
          <a:p>
            <a:pPr lvl="0"/>
            <a:r>
              <a:rPr b="1"/>
              <a:t>Honest gap:</a:t>
            </a:r>
            <a:r>
              <a:rPr/>
              <a:t> our </a:t>
            </a:r>
            <a:r>
              <a:rPr b="1"/>
              <a:t>vetted</a:t>
            </a:r>
            <a:r>
              <a:rPr/>
              <a:t> list is a physics/AI/math roster — it doesn’t yet cover </a:t>
            </a:r>
            <a:r>
              <a:rPr b="1"/>
              <a:t>LCOE / energy economics</a:t>
            </a:r>
            <a:r>
              <a:rPr/>
              <a:t> or </a:t>
            </a:r>
            <a:r>
              <a:rPr b="1"/>
              <a:t>note-taking</a:t>
            </a:r>
            <a:r>
              <a:rPr/>
              <a:t>. If you find a good creator for those, add them to the trusted list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Cast a wider net: creators to vet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Energy economics &amp; LCOE (filling the gap)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>
                <a:hlinkClick r:id="rId3"/>
              </a:rPr>
              <a:t>Engineering with Rosie</a:t>
            </a:r>
            <a:r>
              <a:rPr/>
              <a:t> — engineer Rosemary Barnes; her video </a:t>
            </a:r>
            <a:r>
              <a:rPr i="1"/>
              <a:t>“Does LCOE give us the right numbers?”</a:t>
            </a:r>
            <a:r>
              <a:rPr/>
              <a:t> is a near-perfect match for today’s cost section</a:t>
            </a:r>
          </a:p>
          <a:p>
            <a:pPr lvl="0"/>
            <a:r>
              <a:rPr b="1">
                <a:hlinkClick r:id="rId4"/>
              </a:rPr>
              <a:t>Our World in Data</a:t>
            </a:r>
            <a:r>
              <a:rPr/>
              <a:t> — the data source behind our LCOE/deaths-per-TWh figures; charts you can actually cite</a:t>
            </a:r>
          </a:p>
          <a:p>
            <a:pPr lvl="0"/>
            <a:r>
              <a:rPr b="1">
                <a:hlinkClick r:id="rId5"/>
              </a:rPr>
              <a:t>Volts — David Roberts</a:t>
            </a:r>
            <a:r>
              <a:rPr/>
              <a:t> — deep energy-economics &amp; policy (podcast/newsletter; more advanced)</a:t>
            </a:r>
          </a:p>
          <a:p>
            <a:pPr lvl="0"/>
            <a:r>
              <a:rPr b="1">
                <a:hlinkClick r:id="rId6"/>
              </a:rPr>
              <a:t>Just Have a Think</a:t>
            </a:r>
            <a:r>
              <a:rPr/>
              <a:t> &amp; </a:t>
            </a:r>
            <a:r>
              <a:rPr b="1">
                <a:hlinkClick r:id="rId7"/>
              </a:rPr>
              <a:t>Undecided w/ Matt Ferrell</a:t>
            </a:r>
            <a:r>
              <a:rPr/>
              <a:t> — energy-transition explainers with sources</a:t>
            </a:r>
          </a:p>
          <a:p>
            <a:pPr lvl="0"/>
            <a:r>
              <a:rPr b="1">
                <a:hlinkClick r:id="rId8"/>
              </a:rPr>
              <a:t>Ziroth</a:t>
            </a:r>
            <a:r>
              <a:rPr/>
              <a:t> — clean energy-data visualizations</a:t>
            </a:r>
          </a:p>
          <a:p>
            <a:pPr lvl="0" indent="0" marL="0">
              <a:buNone/>
            </a:pPr>
            <a:r>
              <a:rPr i="1"/>
              <a:t>None vetted yet — candidates for the trusted list. They point where the cost and climate data point; vet each for rigor and primary sourcing, and watch for hype (over-optimistic timelines), not for “balance.”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Grids, reactors &amp; how things really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>
                <a:hlinkClick r:id="rId3"/>
              </a:rPr>
              <a:t>Practical Engineering — Grady Hillhouse</a:t>
            </a:r>
            <a:r>
              <a:rPr/>
              <a:t> — the gold standard on </a:t>
            </a:r>
            <a:r>
              <a:rPr b="1"/>
              <a:t>the grid</a:t>
            </a:r>
            <a:r>
              <a:rPr/>
              <a:t>: transmission, transformers, balancing, blackouts</a:t>
            </a:r>
          </a:p>
          <a:p>
            <a:pPr lvl="0"/>
            <a:r>
              <a:rPr b="1">
                <a:hlinkClick r:id="rId4"/>
              </a:rPr>
              <a:t>Illinois EnergyProf — Prof. David Ruzic</a:t>
            </a:r>
            <a:r>
              <a:rPr/>
              <a:t> — an actual nuclear/plasma professor on </a:t>
            </a:r>
            <a:r>
              <a:rPr b="1"/>
              <a:t>fission &amp; fusion</a:t>
            </a:r>
            <a:r>
              <a:rPr/>
              <a:t>; energetic and rigorous</a:t>
            </a:r>
          </a:p>
          <a:p>
            <a:pPr lvl="0"/>
            <a:r>
              <a:rPr b="1">
                <a:hlinkClick r:id="rId5"/>
              </a:rPr>
              <a:t>Real Engineering</a:t>
            </a:r>
            <a:r>
              <a:rPr/>
              <a:t> — well-produced deep dives (e.g., </a:t>
            </a:r>
            <a:r>
              <a:rPr i="1"/>
              <a:t>“The Problem with Nuclear Fusion”</a:t>
            </a:r>
            <a:r>
              <a:rPr/>
              <a:t>)</a:t>
            </a:r>
          </a:p>
          <a:p>
            <a:pPr lvl="0"/>
            <a:r>
              <a:rPr b="1">
                <a:hlinkClick r:id="rId6"/>
              </a:rPr>
              <a:t>Steve Mould</a:t>
            </a:r>
            <a:r>
              <a:rPr/>
              <a:t> — hands-on </a:t>
            </a:r>
            <a:r>
              <a:rPr b="1"/>
              <a:t>electromagnetism/induction</a:t>
            </a:r>
            <a:r>
              <a:rPr/>
              <a:t> demos you can almost feel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Study skills: note-taking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>
                <a:hlinkClick r:id="rId3"/>
              </a:rPr>
              <a:t>Justin Sung</a:t>
            </a:r>
            <a:r>
              <a:rPr/>
              <a:t> — former doctor turned learning-science coach; evidence-based note-taking (mapping over transcribing) that lines up with today’s skill</a:t>
            </a:r>
          </a:p>
          <a:p>
            <a:pPr lvl="0"/>
            <a:r>
              <a:rPr b="1">
                <a:hlinkClick r:id="rId4"/>
              </a:rPr>
              <a:t>Benjamin Keep</a:t>
            </a:r>
            <a:r>
              <a:rPr/>
              <a:t> — learning-science explainers on retrieval, spacing, and note strategies</a:t>
            </a:r>
          </a:p>
          <a:p>
            <a:pPr lvl="0"/>
            <a:r>
              <a:rPr/>
              <a:t>Ties directly to our Cornell-method / “process, don’t transcribe” slides — good optional follow-up for the Week-3 note-taking quiz</a:t>
            </a:r>
          </a:p>
          <a:p>
            <a:pPr lvl="0" indent="0" marL="0">
              <a:buNone/>
            </a:pPr>
            <a:r>
              <a:rPr i="1"/>
              <a:t>Non-vetted — review before recommending; both cite the cognitive-science literature.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UB Unit Presentation Template">
  <a:themeElements>
    <a:clrScheme name="UB Brand Colors">
      <a:dk1>
        <a:srgbClr val="FFFFFF"/>
      </a:dk1>
      <a:lt1>
        <a:srgbClr val="4D4D4D"/>
      </a:lt1>
      <a:dk2>
        <a:srgbClr val="FFFFFF"/>
      </a:dk2>
      <a:lt2>
        <a:srgbClr val="005BBB"/>
      </a:lt2>
      <a:accent1>
        <a:srgbClr val="005BBB"/>
      </a:accent1>
      <a:accent2>
        <a:srgbClr val="2F9FD0"/>
      </a:accent2>
      <a:accent3>
        <a:srgbClr val="E56954"/>
      </a:accent3>
      <a:accent4>
        <a:srgbClr val="002F56"/>
      </a:accent4>
      <a:accent5>
        <a:srgbClr val="E3E3E3"/>
      </a:accent5>
      <a:accent6>
        <a:srgbClr val="006570"/>
      </a:accent6>
      <a:hlink>
        <a:srgbClr val="005BBB"/>
      </a:hlink>
      <a:folHlink>
        <a:srgbClr val="2F9FD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761</TotalTime>
  <Words>1069</Words>
  <Application>Microsoft Macintosh PowerPoint</Application>
  <PresentationFormat>Widescreen</PresentationFormat>
  <Paragraphs>127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Georgia</vt:lpstr>
      <vt:lpstr>System Font Regular</vt:lpstr>
      <vt:lpstr>UB Unit Presentation Template</vt:lpstr>
      <vt:lpstr>Presentation Title</vt:lpstr>
      <vt:lpstr>Divider Slide Title</vt:lpstr>
      <vt:lpstr>Title and 1-Column Content</vt:lpstr>
      <vt:lpstr>Title and 2-Column Content</vt:lpstr>
      <vt:lpstr>Title and 1-Column Bulleted List</vt:lpstr>
      <vt:lpstr>Title and 1-Column Bulleted List (no crest)</vt:lpstr>
      <vt:lpstr>Title and 2-Column Bulleted List</vt:lpstr>
      <vt:lpstr>Title, Sub-title and 1-Column Bulleted List</vt:lpstr>
      <vt:lpstr>Title, Sub-title and 2-Column Bulleted List</vt:lpstr>
      <vt:lpstr>Title, Content and Graph</vt:lpstr>
      <vt:lpstr>Title, Content and Photo</vt:lpstr>
      <vt:lpstr>Title, Content and Photos</vt:lpstr>
      <vt:lpstr>Full-width Photo</vt:lpstr>
      <vt:lpstr>Graphic Elements</vt:lpstr>
      <vt:lpstr>Accessibility Tips</vt:lpstr>
      <vt:lpstr>Accessibility Tips (continued)</vt:lpstr>
      <vt:lpstr>Accessibility Tips (continued again)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 — Energy generation</dc:title>
  <dc:creator>Dr. Salvatore Rappoccio</dc:creator>
  <cp:keywords/>
  <dcterms:created xsi:type="dcterms:W3CDTF">2026-08-28T18:45:34Z</dcterms:created>
  <dcterms:modified xsi:type="dcterms:W3CDTF">2026-08-28T18:45:34Z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signment">
    <vt:lpwstr>Academic Integrity at UB course on UBLearns, with quiz. Share badge on UBLearns.</vt:lpwstr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uthor">
    <vt:lpwstr/>
  </property>
  <property fmtid="{D5CDD505-2E9C-101B-9397-08002B2CF9AE}" pid="6" name="date">
    <vt:lpwstr>2026-08-31</vt:lpwstr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material">
    <vt:lpwstr>Lecture notes on electricity and magnetism, nuclear fission and fusion, Levelized Cost, the grid. Skill taught: note-taking.</vt:lpwstr>
  </property>
  <property fmtid="{D5CDD505-2E9C-101B-9397-08002B2CF9AE}" pid="12" name="subtitle">
    <vt:lpwstr>PHY199-RAP · Energy in the 21st Century</vt:lpwstr>
  </property>
  <property fmtid="{D5CDD505-2E9C-101B-9397-08002B2CF9AE}" pid="13" name="toc-title">
    <vt:lpwstr>Table of contents</vt:lpwstr>
  </property>
</Properties>
</file>