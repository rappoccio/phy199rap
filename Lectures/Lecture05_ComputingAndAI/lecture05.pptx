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4"/>
  </p:notesMasterIdLst>
  <p:sldIdLst>
    <p:sldId id="344" r:id="rId2"/>
    <p:sldId id="345" r:id="rId3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</p:sldIdLst>
  <p:sldSz cx="130048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3C0FC">
              <a:alpha val="2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136794"/>
              <a:satOff val="-2150"/>
              <a:lumOff val="15693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alpha val="35000"/>
            </a:scheme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2D713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BF630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1F2428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530"/>
  </p:normalViewPr>
  <p:slideViewPr>
    <p:cSldViewPr snapToGrid="0">
      <p:cViewPr varScale="1">
        <p:scale>
          <a:sx n="107" d="100"/>
          <a:sy n="107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" name="Shape 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Vaswani et al., “Attention Is All You Need,” arXiv:1706.03762 (2017), NeurIPS 2017.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Anthropic, “Introducing the Model Context Protocol,” anthropic.com/news/model-context-protocol, Nov 25, 2024.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Anthropic, “Building Effective Agents,” anthropic.com/news/building-effective-agents, Dec 2024.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Linardon et al., “Influence of Topic Familiarity and Prompt Specificity on Citation Fabrication...,” JMIR Mental Health 2025;12:e80371.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3" y="2404565"/>
            <a:ext cx="9753600" cy="3421585"/>
          </a:xfrm>
        </p:spPr>
        <p:txBody>
          <a:bodyPr anchor="b"/>
          <a:lstStyle>
            <a:lvl1pPr algn="l">
              <a:lnSpc>
                <a:spcPts val="6400"/>
              </a:lnSpc>
              <a:defRPr sz="64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996536"/>
            <a:ext cx="9753600" cy="211911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87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0202" y="8437782"/>
            <a:ext cx="5859012" cy="9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7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03B264A-5859-DC5E-8BB3-FDCEFB5151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996536"/>
            <a:ext cx="9753600" cy="26087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87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3" y="2404565"/>
            <a:ext cx="9753600" cy="3421585"/>
          </a:xfrm>
        </p:spPr>
        <p:txBody>
          <a:bodyPr anchor="b"/>
          <a:lstStyle>
            <a:lvl1pPr algn="l">
              <a:lnSpc>
                <a:spcPts val="6400"/>
              </a:lnSpc>
              <a:defRPr sz="64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22532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7"/>
            <a:ext cx="11216640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4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994E2-EA49-29ED-92E0-39334375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1013" y="1950720"/>
            <a:ext cx="5743787" cy="780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4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7"/>
            <a:ext cx="11216640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2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6688526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9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4528800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5236413" y="3428726"/>
            <a:ext cx="4528800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8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8"/>
            <a:ext cx="5364480" cy="57611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70172" y="3487107"/>
            <a:ext cx="5366957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4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6" y="3493025"/>
            <a:ext cx="11216640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489" y="4402312"/>
            <a:ext cx="11216640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635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7" y="3493025"/>
            <a:ext cx="5269111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489" y="4402312"/>
            <a:ext cx="5269111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27"/>
              </a:spcBef>
              <a:defRPr/>
            </a:lvl2pPr>
            <a:lvl3pPr>
              <a:spcBef>
                <a:spcPts val="427"/>
              </a:spcBef>
              <a:defRPr/>
            </a:lvl3pPr>
            <a:lvl4pPr>
              <a:spcBef>
                <a:spcPts val="427"/>
              </a:spcBef>
              <a:defRPr/>
            </a:lvl4pPr>
            <a:lvl5pPr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76094" y="3493025"/>
            <a:ext cx="5269111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376096" y="4402312"/>
            <a:ext cx="5269111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876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223726" y="2038765"/>
            <a:ext cx="6360586" cy="61446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8086" y="8826366"/>
            <a:ext cx="739046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6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93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8086" y="8826366"/>
            <a:ext cx="739046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18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9426" y="1672046"/>
            <a:ext cx="6583680" cy="8081554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35938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4182" y="1672046"/>
            <a:ext cx="6586693" cy="404077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414181" y="5712822"/>
            <a:ext cx="3296717" cy="4044493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04158" y="5712824"/>
            <a:ext cx="3296717" cy="404077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04674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139913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3004800" cy="97536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548469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89" y="2139913"/>
            <a:ext cx="11216640" cy="123545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489" y="3588256"/>
            <a:ext cx="11216640" cy="575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8086" y="8826366"/>
            <a:ext cx="73904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4579" y="329238"/>
            <a:ext cx="5859012" cy="9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63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384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43848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31543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System Font Regular"/>
        <a:buChar char="−"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9238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6933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94629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706.03762" TargetMode="External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anthropic.com/news/model-context-protocol" TargetMode="Externa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anthropic.com/news/building-effective-agents" TargetMode="External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ental.jmir.org/2025/1/e80371" TargetMode="External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annahritchie.substack.com/p/ai-electricity-2025" TargetMode="External"/><Relationship Id="rId3" Type="http://schemas.openxmlformats.org/officeDocument/2006/relationships/hyperlink" Target="https://www.npr.org/2025/05/07/1249592906/energy-water-ai-climate-tech" TargetMode="External"/><Relationship Id="rId4" Type="http://schemas.openxmlformats.org/officeDocument/2006/relationships/hyperlink" Target="https://en.wikipedia.org/wiki/Environmental_impact_of_artificial_intelligenc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annahritchie.substack.com/p/ai-electricity-2025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n.wikipedia.org/wiki/AI_bubbl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2" y="296883"/>
            <a:ext cx="11977211" cy="6123203"/>
          </a:xfrm>
        </p:spPr>
        <p:txBody>
          <a:bodyPr/>
          <a:lstStyle/>
          <a:p>
            <a:r>
              <a:t>Lecture 05 — Computing and AI</a:t>
            </a:r>
          </a:p>
          <a:p>
            <a:r>
              <a:rPr sz="2400" i="1"/>
              <a:t>Working With Agentic AI (Without Losing Your Sources)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2" y="6809132"/>
            <a:ext cx="9753600" cy="1589339"/>
          </a:xfrm>
          <a:prstGeom prst="rect">
            <a:avLst/>
          </a:prstGeom>
        </p:spPr>
        <p:txBody>
          <a:bodyPr/>
          <a:lstStyle/>
          <a:p>
            <a:r>
              <a:t>PHY199-RAP · Energy in the 21st Century</a:t>
            </a:r>
          </a:p>
          <a:p>
            <a:r>
              <a:t>Dr. Salvatore Rappoccio</a:t>
            </a:r>
          </a:p>
        </p:txBody>
      </p:sp>
      <p:sp>
        <p:nvSpPr>
          <p:cNvPr id="4" name=" 3"/>
          <p:cNvSpPr/>
          <p:nvPr/>
        </p:nvSpPr>
        <p:spPr/>
        <p:txBody>
          <a:bodyPr/>
          <a:lstStyle/>
          <a:p>
            <a:endParaRPr lang="en-US" sz="19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5 · How to work with agentic AI without getting eaten by the zombie dragon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Computing and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2017: Attention Is All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Before 2017, language models read text one word at a time, in order — slow, and bad at long-range context.</a:t>
            </a:r>
          </a:p>
          <a:p>
            <a:pPr/>
            <a:r>
              <a:t>A Google Brain team dropped recurrence entirely and replaced it with </a:t>
            </a:r>
            <a:r>
              <a:rPr b="1">
                <a:hlinkClick r:id="rId2"/>
              </a:rPr>
              <a:t>self-attention</a:t>
            </a:r>
            <a:r>
              <a:t>: every word looks at every other word at once.</a:t>
            </a:r>
          </a:p>
          <a:p>
            <a:pPr/>
            <a:r>
              <a:t>That one architecture — the Transformer — is the engine under GPT, Claude, Gemini, and basically everything you've used this semester.</a:t>
            </a:r>
          </a:p>
          <a:p>
            <a:pPr lvl="1"/>
            <a:r>
              <a:rPr i="1"/>
              <a:t>→ Keep this in your pocket — the “which model, which company” line in your final-project AI disclosure starts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2024: Everything Gets a Toolbelt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chatbot that can only talk is a parlor trick. An </a:t>
            </a:r>
            <a:r>
              <a:rPr b="1"/>
              <a:t>agentic</a:t>
            </a:r>
            <a:r>
              <a:t> AI can act: read a file, run code, search the web, edit a slide deck.</a:t>
            </a:r>
          </a:p>
          <a:p>
            <a:pPr/>
            <a:r>
              <a:t>In Nov. 2024, Anthropic open-sourced the </a:t>
            </a:r>
            <a:r>
              <a:rPr b="1">
                <a:hlinkClick r:id="rId2"/>
              </a:rPr>
              <a:t>Model Context</a:t>
            </a:r>
            <a:r>
              <a:t> Protocol (MCP) — a shared plug standard so an AI can connect to your files, Slack, GitHub, a database, instead of a one-off hack per tool.</a:t>
            </a:r>
          </a:p>
          <a:p>
            <a:pPr/>
            <a:r>
              <a:t>This whole lecture — folders cleaned up, files copied, this deck built — was done through exactly that kind of toolbelt. You're looking at a live demo, not a hypothetical.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Actually Makes It “Agentic”?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Anthropic's own engineers draw the line like this:</a:t>
            </a:r>
          </a:p>
          <a:p>
            <a:pPr/>
            <a:r>
              <a:t>a </a:t>
            </a:r>
            <a:r>
              <a:rPr b="1"/>
              <a:t>workflow</a:t>
            </a:r>
            <a:r>
              <a:t> runs an LLM through a path you wrote in advance;</a:t>
            </a:r>
          </a:p>
          <a:p>
            <a:pPr/>
            <a:r>
              <a:t>an agent “</a:t>
            </a:r>
            <a:r>
              <a:rPr b="1">
                <a:hlinkClick r:id="rId2"/>
              </a:rPr>
              <a:t>dynamically directs</a:t>
            </a:r>
            <a:r>
              <a:t>” its own next step — plan, act, look at the result, decide what's next, repeat.</a:t>
            </a:r>
          </a:p>
          <a:p>
            <a:pPr/>
            <a:r>
              <a:t>That loop is why an agentic AI can clean up eight lecture folders and still ask you a clarifying question halfway through — it's reacting to what it just found, not following a script.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1: It's a Goldfish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 agentic AI has no memory of you between sessions — none. Close the window and it's a stranger again.</a:t>
            </a:r>
          </a:p>
          <a:p>
            <a:pPr/>
            <a:r>
              <a:t>That's why this course keeps a written </a:t>
            </a:r>
            <a:r>
              <a:rPr b="1"/>
              <a:t>course reference</a:t>
            </a:r>
            <a:r>
              <a:t> doc that gets reread at the start of every task: the memory lives in the file, not in the model.</a:t>
            </a:r>
          </a:p>
          <a:p>
            <a:pPr/>
            <a:r>
              <a:t>Practical move: if you want continuity, you write it down. The AI is not going to remember your argument from last Tuesday.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2: Verify, Don't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Nov. 2025 study had an LLM generate citations for mental-health literature reviews, then checked every one by hand.</a:t>
            </a:r>
          </a:p>
          <a:p>
            <a:pPr/>
            <a:r>
              <a:t>Result: nearly </a:t>
            </a:r>
            <a:r>
              <a:rPr b="1">
                <a:hlinkClick r:id="rId2"/>
              </a:rPr>
              <a:t>20% fabricated</a:t>
            </a:r>
            <a:r>
              <a:t> outright — real-looking authors, titles, and journals that simply do not exist — and another 45% of the real citations had errors.</a:t>
            </a:r>
          </a:p>
          <a:p>
            <a:pPr/>
            <a:r>
              <a:t>Fabrication rate tracked how unfamiliar the topic was: well-studied topics → 6% fabricated; obscure ones → 29%.</a:t>
            </a:r>
          </a:p>
          <a:p>
            <a:pPr lvl="1"/>
            <a:r>
              <a:rPr i="1"/>
              <a:t>→ This is exactly why the syllabus requires you to cite PRIMARY sources, not whatever the AI hands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3: Disclose the Real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big text query costs roughly </a:t>
            </a:r>
            <a:r>
              <a:rPr b="1">
                <a:hlinkClick r:id="rId2"/>
              </a:rPr>
              <a:t>0.3 watt-hours</a:t>
            </a:r>
            <a:r>
              <a:t> of electricity — company-reported, independently cross-checked.</a:t>
            </a:r>
          </a:p>
          <a:p>
            <a:pPr/>
            <a:r>
              <a:t>Training and running these models also has a </a:t>
            </a:r>
            <a:r>
              <a:rPr b="1">
                <a:hlinkClick r:id="rId3"/>
              </a:rPr>
              <a:t>water cost</a:t>
            </a:r>
            <a:r>
              <a:t> (cooling the data centers) and a </a:t>
            </a:r>
            <a:r>
              <a:rPr b="1">
                <a:hlinkClick r:id="rId4"/>
              </a:rPr>
              <a:t>chip production</a:t>
            </a:r>
            <a:r>
              <a:t> cost (the mining and fabrication behind every GPU).</a:t>
            </a:r>
          </a:p>
          <a:p>
            <a:pPr/>
            <a:r>
              <a:t>This is not optional color — the syllabus requires you to name the model, the company, the data-center location, and a compute estimate for any AI you use on your final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Calc: Building 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Drafting this deck took roughly 20 agentic tool-calls (web lookups, file edits, writes).</a:t>
            </a:r>
          </a:p>
          <a:p>
            <a:pPr/>
            <a:r>
              <a:t>20 calls × 0.3 Wh ≈ 6 Wh — about what a phone charger draws in 5 minutes.</a:t>
            </a:r>
          </a:p>
          <a:p>
            <a:pPr/>
            <a:r>
              <a:t>Zoom out, though: AI-focused data centers burned </a:t>
            </a:r>
            <a:r>
              <a:rPr b="1">
                <a:hlinkClick r:id="rId2"/>
              </a:rPr>
              <a:t>155 TWh</a:t>
            </a:r>
            <a:r>
              <a:t> in 2025, and per-query estimates like the one above only account for ~2% of that — companies don't disclose where the other 98% goes.</a:t>
            </a:r>
          </a:p>
          <a:p>
            <a:pPr/>
            <a:r>
              <a:t>That gap is the actual research-skills lesson: a tidy number is not the same as a disclosed one. Ask what isn't being shown.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Bubble, Briefly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By late 2025, five companies were ~30% of the S&amp;P 500 — the most concentrated the index has been in 50 years, much of it AI infrastructure bets.</a:t>
            </a:r>
          </a:p>
          <a:p>
            <a:pPr/>
            <a:r>
              <a:t>Nvidia alone went from a $1T to a $5T valuation in two years, partly on circular deals (Nvidia invests in a customer, who buys Nvidia chips with it).</a:t>
            </a:r>
          </a:p>
          <a:p>
            <a:pPr/>
            <a:r>
              <a:t>Whether that's a bubble is contested — read </a:t>
            </a:r>
            <a:r>
              <a:rPr b="1">
                <a:hlinkClick r:id="rId2"/>
              </a:rPr>
              <a:t>the AI bubble</a:t>
            </a:r>
            <a:r>
              <a:t> article and decide for yourself — but “the tool is useful” and “the market around it is rational” are two separate claims. Don't conflate them in your final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— How Do You Actually Use This Thing?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Feed it primary sources, not vibes — paste the actual rubric, the actual paper, the actual syllabus line.</a:t>
            </a:r>
          </a:p>
          <a:p>
            <a:pPr/>
            <a:r>
              <a:t>Make it show its work — ask for every source, then open each one yourself. See Rule 2.</a:t>
            </a:r>
          </a:p>
          <a:p>
            <a:pPr/>
            <a:r>
              <a:t>Treat its first draft as a quarry, not a final answer — that's literally the model this course uses: Claude drafts, Sal cuts.</a:t>
            </a:r>
          </a:p>
          <a:p>
            <a:pPr/>
            <a:r>
              <a:t>Do the AI-cost math yourself — don't just take the model's word for its own footprint.</a:t>
            </a:r>
          </a:p>
          <a:p>
            <a:pPr/>
            <a:r>
              <a:t>Probing-Q&amp;A test: if you can't defend a slide without the AI in the room, cut the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This Slide Deck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rPr b="1"/>
              <a:t>Model: </a:t>
            </a:r>
            <a:r>
              <a:t>Claude (Anthropic), Sonnet-class, Oct 2026.</a:t>
            </a:r>
          </a:p>
          <a:p>
            <a:r>
              <a:rPr b="1"/>
              <a:t>Task: </a:t>
            </a:r>
            <a:r>
              <a:t>clear 8 stale lecture folders, copy in the new template, draft this skeleton.</a:t>
            </a:r>
          </a:p>
          <a:p>
            <a:r>
              <a:rPr b="1"/>
              <a:t>What it did: </a:t>
            </a:r>
            <a:r>
              <a:t>ran 6 web searches, read the primary sources above, wrote the python-pptx code that built these slides, and flagged every factual claim with a hyperlink back to its source.</a:t>
            </a:r>
          </a:p>
          <a:p>
            <a:r>
              <a:rPr b="1"/>
              <a:t>What it didn't do: </a:t>
            </a:r>
            <a:r>
              <a:t>decide which jokes survive, cut it to 10 minutes, or make it sound like Sal. That part's still yours.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Usage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Model / company: </a:t>
            </a:r>
            <a:r>
              <a:t>Claude (Anthropic), Sonnet-class — Oct 2026 session.</a:t>
            </a:r>
          </a:p>
          <a:p>
            <a:pPr/>
            <a:r>
              <a:rPr b="1"/>
              <a:t>Source material: </a:t>
            </a:r>
            <a:r>
              <a:t>Vaswani et al. 2017 (arXiv); Anthropic's MCP and “Building Effective Agents” posts; Hannah Ritchie's AI-electricity analysis; Linardon et al., JMIR Mental Health 2025; Wikipedia (AI bubble; environmental impact of AI); NPR on AI's water cost.</a:t>
            </a:r>
          </a:p>
          <a:p>
            <a:pPr/>
            <a:r>
              <a:rPr b="1"/>
              <a:t>Data-center location: </a:t>
            </a:r>
            <a:r>
              <a:t>not publicly disclosed by Anthropic for this session — itself an example of the transparency gap flagged two slides ago.</a:t>
            </a:r>
          </a:p>
          <a:p>
            <a:pPr/>
            <a:r>
              <a:rPr b="1"/>
              <a:t>Compute estimate: </a:t>
            </a:r>
            <a:r>
              <a:t>~20 agentic tool-calls to research and draft this skeleton ≈ 6 Wh, same order of magnitude as the worked calc above.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Agentic AI is a fast, tireless research assistant with amnesia and no shame about making things up.</a:t>
            </a:r>
          </a:p>
          <a:p>
            <a:r>
              <a:t>Your job is the memory, the verification, and the judgment — the three things it doesn't have.</a:t>
            </a:r>
          </a:p>
        </p:txBody>
      </p:sp>
    </p:spTree>
  </p:cSld>
  <p:clrMapOvr>
    <a:masterClrMapping/>
  </p:clrMapOvr>
</p:sld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/Relationships>
</file>

<file path=ppt/theme/theme1.xml><?xml version="1.0" encoding="utf-8"?>
<a:theme xmlns:a="http://schemas.openxmlformats.org/drawingml/2006/main" name="UBOfficial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BOfficial" id="{18509813-927B-5742-8F3A-1F3B30009E7C}" vid="{38A77CD0-F947-CE49-A1D8-95B7FAC0523E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UBOfficial</Template>
  <TotalTime>21923</TotalTime>
  <Words>22</Words>
  <Application>Microsoft Macintosh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Georgia</vt:lpstr>
      <vt:lpstr>Helvetica Neue</vt:lpstr>
      <vt:lpstr>System Font Regular</vt:lpstr>
      <vt:lpstr>UBOfficial</vt:lpstr>
      <vt:lpstr>Lecture XX —   Topic</vt:lpstr>
      <vt:lpstr>AI Usage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Salvatore Rappoccio</cp:lastModifiedBy>
  <cp:revision>114</cp:revision>
  <dcterms:modified xsi:type="dcterms:W3CDTF">2026-10-01T14:36:36Z</dcterms:modified>
</cp:coreProperties>
</file>