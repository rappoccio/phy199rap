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org&amp;utm_campaign=parser&amp;utm_content=thumbnail" ContentType="image/jpeg"/>
  <Override PartName="/ppt/media/image18.tif" ContentType="image/tif"/>
  <Override PartName="/ppt/media/image19.tif" ContentType="image/tif"/>
  <Override PartName="/ppt/media/image20.tif" ContentType="image/tif"/>
  <Override PartName="/ppt/media/image21.tif" ContentType="image/tif"/>
  <Override PartName="/ppt/media/image22.tif" ContentType="image/tif"/>
  <Override PartName="/ppt/media/image35.tif" ContentType="image/tif"/>
  <Override PartName="/ppt/media/image36.org&amp;utm_campaign=parser&amp;utm_content=thumbnail" ContentType="image/jpeg"/>
  <Override PartName="/ppt/media/image41.tif" ContentType="image/tif"/>
  <Override PartName="/ppt/media/image42.tif" ContentType="image/ti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notesMasterIdLst>
    <p:notesMasterId r:id="rId38"/>
  </p:notesMasterIdLst>
  <p:sldIdLst>
    <p:sldId id="344" r:id="rId2"/>
    <p:sldId id="348" r:id="rId3"/>
    <p:sldId id="393" r:id="rId4"/>
    <p:sldId id="394" r:id="rId5"/>
    <p:sldId id="395" r:id="rId6"/>
    <p:sldId id="398" r:id="rId7"/>
    <p:sldId id="405" r:id="rId8"/>
    <p:sldId id="396" r:id="rId9"/>
    <p:sldId id="397" r:id="rId10"/>
    <p:sldId id="408" r:id="rId11"/>
    <p:sldId id="259" r:id="rId12"/>
    <p:sldId id="260" r:id="rId13"/>
    <p:sldId id="261"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406" r:id="rId31"/>
    <p:sldId id="407" r:id="rId32"/>
    <p:sldId id="297" r:id="rId33"/>
    <p:sldId id="399" r:id="rId34"/>
    <p:sldId id="287" r:id="rId35"/>
    <p:sldId id="404" r:id="rId36"/>
    <p:sldId id="409" r:id="rId37"/>
  </p:sldIdLst>
  <p:sldSz cx="13004800" cy="9753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3C0FC">
              <a:alpha val="26000"/>
            </a:srgbClr>
          </a:solidFill>
        </a:fill>
      </a:tcStyle>
    </a:band2H>
    <a:firstCol>
      <a:tcTxStyle b="off" i="off">
        <a:fontRef idx="minor">
          <a:srgbClr val="FFFFFF"/>
        </a:fontRef>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hueOff val="-136794"/>
              <a:satOff val="-2150"/>
              <a:lumOff val="15693"/>
            </a:schemeClr>
          </a:solidFill>
        </a:fill>
      </a:tcStyle>
    </a:firstCol>
    <a:lastRow>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lastRow>
    <a:firstRow>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Row>
  </a:tblStyle>
  <a:tblStyle styleId="{C7B018BB-80A7-4F77-B60F-C8B233D01FF8}" styleName="">
    <a:tblBg/>
    <a:wholeTbl>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wholeTbl>
    <a:band2H>
      <a:tcTxStyle/>
      <a:tcStyle>
        <a:tcBdr/>
        <a:fill>
          <a:solidFill>
            <a:srgbClr val="8EA5CB">
              <a:alpha val="25000"/>
            </a:srgbClr>
          </a:solidFill>
        </a:fill>
      </a:tcStyle>
    </a:band2H>
    <a:firstCol>
      <a:tcTxStyle b="off" i="off">
        <a:fontRef idx="minor">
          <a:srgbClr val="FFFFFF"/>
        </a:fontRef>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solidFill>
            <a:srgbClr val="53585F"/>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929292"/>
              </a:solidFill>
              <a:prstDash val="solid"/>
              <a:miter lim="400000"/>
            </a:ln>
          </a:insideH>
          <a:insideV>
            <a:ln w="12700" cap="flat">
              <a:noFill/>
              <a:miter lim="400000"/>
            </a:ln>
          </a:insideV>
        </a:tcBdr>
        <a:fill>
          <a:solidFill>
            <a:srgbClr val="004CB9"/>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929292"/>
              </a:solidFill>
              <a:prstDash val="solid"/>
              <a:miter lim="400000"/>
            </a:ln>
          </a:insideH>
          <a:insideV>
            <a:ln w="12700" cap="flat">
              <a:noFill/>
              <a:miter lim="400000"/>
            </a:ln>
          </a:insideV>
        </a:tcBdr>
        <a:fill>
          <a:solidFill>
            <a:srgbClr val="004CB9"/>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AAAAAA"/>
              </a:solidFill>
              <a:prstDash val="solid"/>
              <a:miter lim="400000"/>
            </a:ln>
          </a:left>
          <a:right>
            <a:ln w="12700" cap="flat">
              <a:solidFill>
                <a:srgbClr val="AAAAAA"/>
              </a:solidFill>
              <a:prstDash val="solid"/>
              <a:miter lim="400000"/>
            </a:ln>
          </a:right>
          <a:top>
            <a:ln w="12700" cap="flat">
              <a:solidFill>
                <a:srgbClr val="AAAAAA"/>
              </a:solidFill>
              <a:prstDash val="solid"/>
              <a:miter lim="400000"/>
            </a:ln>
          </a:top>
          <a:bottom>
            <a:ln w="12700" cap="flat">
              <a:solidFill>
                <a:srgbClr val="AAAAAA"/>
              </a:solidFill>
              <a:prstDash val="solid"/>
              <a:miter lim="400000"/>
            </a:ln>
          </a:bottom>
          <a:insideH>
            <a:ln w="12700" cap="flat">
              <a:solidFill>
                <a:srgbClr val="AAAAAA"/>
              </a:solidFill>
              <a:prstDash val="solid"/>
              <a:miter lim="400000"/>
            </a:ln>
          </a:insideH>
          <a:insideV>
            <a:ln w="12700" cap="flat">
              <a:solidFill>
                <a:srgbClr val="AAAAAA"/>
              </a:solidFill>
              <a:prstDash val="solid"/>
              <a:miter lim="400000"/>
            </a:ln>
          </a:insideV>
        </a:tcBdr>
        <a:fill>
          <a:noFill/>
        </a:fill>
      </a:tcStyle>
    </a:wholeTbl>
    <a:band2H>
      <a:tcTxStyle/>
      <a:tcStyle>
        <a:tcBdr/>
        <a:fill>
          <a:solidFill>
            <a:schemeClr val="accent3">
              <a:alpha val="35000"/>
            </a:scheme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CBCBCB"/>
              </a:solidFill>
              <a:prstDash val="solid"/>
              <a:miter lim="400000"/>
            </a:ln>
          </a:insideV>
        </a:tcBdr>
        <a:fill>
          <a:solidFill>
            <a:srgbClr val="2D7132"/>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CBCBCB"/>
              </a:solidFill>
              <a:prstDash val="solid"/>
              <a:miter lim="400000"/>
            </a:ln>
          </a:insideH>
          <a:insideV>
            <a:ln w="12700" cap="flat">
              <a:noFill/>
              <a:miter lim="400000"/>
            </a:ln>
          </a:insideV>
        </a:tcBdr>
        <a:fill>
          <a:solidFill>
            <a:schemeClr val="accent3"/>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0" cap="flat">
              <a:noFill/>
              <a:miter lim="400000"/>
            </a:ln>
          </a:bottom>
          <a:insideH>
            <a:ln w="25400" cap="flat">
              <a:solidFill>
                <a:srgbClr val="CBCBCB"/>
              </a:solidFill>
              <a:prstDash val="solid"/>
              <a:miter lim="400000"/>
            </a:ln>
          </a:insideH>
          <a:insideV>
            <a:ln w="12700" cap="flat">
              <a:noFill/>
              <a:miter lim="400000"/>
            </a:ln>
          </a:insideV>
        </a:tcBdr>
        <a:fill>
          <a:solidFill>
            <a:schemeClr val="accent3"/>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D6D7D6"/>
              </a:solidFill>
              <a:prstDash val="solid"/>
              <a:miter lim="400000"/>
            </a:ln>
          </a:insideV>
        </a:tcBdr>
        <a:fill>
          <a:solidFill>
            <a:srgbClr val="BF630E"/>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9B4407"/>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9B4407"/>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909090"/>
              </a:solidFill>
              <a:prstDash val="solid"/>
              <a:miter lim="400000"/>
            </a:ln>
          </a:left>
          <a:right>
            <a:ln w="12700" cap="flat">
              <a:solidFill>
                <a:srgbClr val="909090"/>
              </a:solidFill>
              <a:prstDash val="solid"/>
              <a:miter lim="400000"/>
            </a:ln>
          </a:right>
          <a:top>
            <a:ln w="12700" cap="flat">
              <a:solidFill>
                <a:srgbClr val="909090"/>
              </a:solidFill>
              <a:prstDash val="solid"/>
              <a:miter lim="400000"/>
            </a:ln>
          </a:top>
          <a:bottom>
            <a:ln w="12700" cap="flat">
              <a:solidFill>
                <a:srgbClr val="909090"/>
              </a:solidFill>
              <a:prstDash val="solid"/>
              <a:miter lim="400000"/>
            </a:ln>
          </a:bottom>
          <a:insideH>
            <a:ln w="12700" cap="flat">
              <a:solidFill>
                <a:srgbClr val="909090"/>
              </a:solidFill>
              <a:prstDash val="solid"/>
              <a:miter lim="400000"/>
            </a:ln>
          </a:insideH>
          <a:insideV>
            <a:ln w="12700" cap="flat">
              <a:solidFill>
                <a:srgbClr val="909090"/>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D6D7D6"/>
              </a:solidFill>
              <a:prstDash val="solid"/>
              <a:miter lim="400000"/>
            </a:ln>
          </a:insideV>
        </a:tcBdr>
        <a:fill>
          <a:solidFill>
            <a:srgbClr val="1F2428"/>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484B4C"/>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484B4C"/>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929292"/>
              </a:solidFill>
              <a:custDash>
                <a:ds d="200000" sp="200000"/>
              </a:custDash>
              <a:miter lim="400000"/>
            </a:ln>
          </a:left>
          <a:right>
            <a:ln w="12700" cap="flat">
              <a:solidFill>
                <a:srgbClr val="929292"/>
              </a:solidFill>
              <a:custDash>
                <a:ds d="200000" sp="200000"/>
              </a:custDash>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solidFill>
                <a:srgbClr val="929292"/>
              </a:solidFill>
              <a:custDash>
                <a:ds d="200000" sp="200000"/>
              </a:custDash>
              <a:miter lim="400000"/>
            </a:ln>
          </a:insideV>
        </a:tcBdr>
        <a:fill>
          <a:noFill/>
        </a:fill>
      </a:tcStyle>
    </a:wholeTbl>
    <a:band2H>
      <a:tcTxStyle/>
      <a:tcStyle>
        <a:tcBdr/>
        <a:fill>
          <a:solidFill>
            <a:srgbClr val="797A7C">
              <a:alpha val="30000"/>
            </a:srgbClr>
          </a:solidFill>
        </a:fill>
      </a:tcStyle>
    </a:band2H>
    <a:firstCol>
      <a:tcTxStyle b="on" i="off">
        <a:font>
          <a:latin typeface="Helvetica"/>
          <a:ea typeface="Helvetica"/>
          <a:cs typeface="Helvetica"/>
        </a:font>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Col>
    <a:lastRow>
      <a:tcTxStyle b="on" i="off">
        <a:font>
          <a:latin typeface="Helvetica"/>
          <a:ea typeface="Helvetica"/>
          <a:cs typeface="Helvetica"/>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25400" cap="flat">
              <a:solidFill>
                <a:srgbClr val="929292"/>
              </a:solidFill>
              <a:prstDash val="solid"/>
              <a:miter lim="400000"/>
            </a:ln>
          </a:top>
          <a:bottom>
            <a:ln w="12700" cap="flat">
              <a:noFill/>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lastRow>
    <a:firstRow>
      <a:tcTxStyle b="on" i="off">
        <a:font>
          <a:latin typeface="Helvetica"/>
          <a:ea typeface="Helvetica"/>
          <a:cs typeface="Helvetica"/>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12700" cap="flat">
              <a:noFill/>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1"/>
    <p:restoredTop sz="94539"/>
  </p:normalViewPr>
  <p:slideViewPr>
    <p:cSldViewPr snapToGrid="0">
      <p:cViewPr varScale="1">
        <p:scale>
          <a:sx n="123" d="100"/>
          <a:sy n="123" d="100"/>
        </p:scale>
        <p:origin x="22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 name="Shape 19"/>
          <p:cNvSpPr>
            <a:spLocks noGrp="1" noRot="1" noChangeAspect="1"/>
          </p:cNvSpPr>
          <p:nvPr>
            <p:ph type="sldImg"/>
          </p:nvPr>
        </p:nvSpPr>
        <p:spPr>
          <a:xfrm>
            <a:off x="1143000" y="685800"/>
            <a:ext cx="4572000" cy="3429000"/>
          </a:xfrm>
          <a:prstGeom prst="rect">
            <a:avLst/>
          </a:prstGeom>
        </p:spPr>
        <p:txBody>
          <a:bodyPr/>
          <a:lstStyle/>
          <a:p>
            <a:endParaRPr/>
          </a:p>
        </p:txBody>
      </p:sp>
      <p:sp>
        <p:nvSpPr>
          <p:cNvPr id="20" name="Shape 2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4833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20059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Sources: Our World in Data — death rates per TWh; originals: Markandya &amp; Wilkinson (2007, </a:t>
            </a:r>
            <a:r>
              <a:rPr i="1"/>
              <a:t>The Lancet</a:t>
            </a:r>
            <a:r>
              <a:t>); Sovacool et al. (2016). The peer-reviewed studies are the anchor.</a:t>
            </a:r>
          </a:p>
        </p:txBody>
      </p:sp>
      <p:sp>
        <p:nvSpPr>
          <p:cNvPr id="4" name="Slide Number Placeholder 3"/>
          <p:cNvSpPr>
            <a:spLocks noGrp="1"/>
          </p:cNvSpPr>
          <p:nvPr>
            <p:ph type="sldNum" sz="quarter" idx="10"/>
          </p:nvPr>
        </p:nvSpPr>
        <p:spPr/>
        <p:txBody>
          <a:bodyPr/>
          <a:lstStyle/>
          <a:p>
            <a:fld id="{8665E1F8-3717-4041-B345-9C118A1FFFB2}" type="slidenum">
              <a:rPr lang="en-US"/>
              <a:t>32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36463" y="2404565"/>
            <a:ext cx="9753600" cy="3421585"/>
          </a:xfrm>
        </p:spPr>
        <p:txBody>
          <a:bodyPr anchor="b"/>
          <a:lstStyle>
            <a:lvl1pPr algn="l">
              <a:lnSpc>
                <a:spcPts val="6400"/>
              </a:lnSpc>
              <a:defRPr sz="6400" b="1" i="0" cap="all" baseline="0">
                <a:solidFill>
                  <a:schemeClr val="bg1"/>
                </a:solidFill>
                <a:latin typeface="Arial" panose="020B0604020202020204" pitchFamily="34" charset="0"/>
                <a:cs typeface="Arial" panose="020B0604020202020204" pitchFamily="34" charset="0"/>
              </a:defRPr>
            </a:lvl1pPr>
          </a:lstStyle>
          <a:p>
            <a:r>
              <a:rPr lang="en-US" dirty="0"/>
              <a:t>Presentation </a:t>
            </a:r>
            <a:br>
              <a:rPr lang="en-US" dirty="0"/>
            </a:br>
            <a:r>
              <a:rPr lang="en-US" dirty="0"/>
              <a:t>Title</a:t>
            </a:r>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36463" y="5996536"/>
            <a:ext cx="9753600" cy="2119118"/>
          </a:xfrm>
          <a:prstGeom prst="rect">
            <a:avLst/>
          </a:prstGeom>
        </p:spPr>
        <p:txBody>
          <a:bodyPr/>
          <a:lstStyle>
            <a:lvl1pPr marL="0" indent="0" algn="l">
              <a:buNone/>
              <a:defRPr sz="2987">
                <a:solidFill>
                  <a:schemeClr val="bg1"/>
                </a:solidFill>
                <a:latin typeface="Georgia" panose="02040502050405020303" pitchFamily="18" charset="0"/>
              </a:defRPr>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dirty="0"/>
              <a:t>Sub-topic text goes here</a:t>
            </a:r>
          </a:p>
        </p:txBody>
      </p:sp>
      <p:pic>
        <p:nvPicPr>
          <p:cNvPr id="6" name="Picture 5">
            <a:extLst>
              <a:ext uri="{FF2B5EF4-FFF2-40B4-BE49-F238E27FC236}">
                <a16:creationId xmlns:a16="http://schemas.microsoft.com/office/drawing/2014/main" id="{6F392352-7DF4-5EB6-32FA-9FB7E764DB7C}"/>
              </a:ext>
              <a:ext uri="{C183D7F6-B498-43B3-948B-1728B52AA6E4}">
                <adec:decorative xmlns:adec="http://schemas.microsoft.com/office/drawing/2017/decorative" val="1"/>
              </a:ext>
            </a:extLst>
          </p:cNvPr>
          <p:cNvPicPr/>
          <p:nvPr/>
        </p:nvPicPr>
        <p:blipFill>
          <a:blip r:embed="rId3"/>
          <a:stretch>
            <a:fillRect/>
          </a:stretch>
        </p:blipFill>
        <p:spPr>
          <a:xfrm>
            <a:off x="370202" y="8437782"/>
            <a:ext cx="5859012" cy="906193"/>
          </a:xfrm>
          <a:prstGeom prst="rect">
            <a:avLst/>
          </a:prstGeom>
        </p:spPr>
      </p:pic>
    </p:spTree>
    <p:extLst>
      <p:ext uri="{BB962C8B-B14F-4D97-AF65-F5344CB8AC3E}">
        <p14:creationId xmlns:p14="http://schemas.microsoft.com/office/powerpoint/2010/main" val="2211370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E03B264A-5859-DC5E-8BB3-FDCEFB5151C4}"/>
              </a:ext>
              <a:ext uri="{C183D7F6-B498-43B3-948B-1728B52AA6E4}">
                <adec:decorative xmlns:adec="http://schemas.microsoft.com/office/drawing/2017/decorative" val="0"/>
              </a:ext>
            </a:extLst>
          </p:cNvPr>
          <p:cNvSpPr>
            <a:spLocks noGrp="1"/>
          </p:cNvSpPr>
          <p:nvPr>
            <p:ph type="subTitle" idx="1" hasCustomPrompt="1"/>
          </p:nvPr>
        </p:nvSpPr>
        <p:spPr>
          <a:xfrm>
            <a:off x="436463" y="5996536"/>
            <a:ext cx="9753600" cy="2608722"/>
          </a:xfrm>
          <a:prstGeom prst="rect">
            <a:avLst/>
          </a:prstGeom>
        </p:spPr>
        <p:txBody>
          <a:bodyPr/>
          <a:lstStyle>
            <a:lvl1pPr marL="0" indent="0" algn="l">
              <a:buNone/>
              <a:defRPr sz="2987">
                <a:solidFill>
                  <a:schemeClr val="bg1"/>
                </a:solidFill>
                <a:latin typeface="Georgia" panose="02040502050405020303" pitchFamily="18" charset="0"/>
              </a:defRPr>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dirty="0"/>
              <a:t>Sub-topic text goes here</a:t>
            </a:r>
          </a:p>
        </p:txBody>
      </p:sp>
      <p:sp>
        <p:nvSpPr>
          <p:cNvPr id="6" name="Title 1">
            <a:extLst>
              <a:ext uri="{FF2B5EF4-FFF2-40B4-BE49-F238E27FC236}">
                <a16:creationId xmlns:a16="http://schemas.microsoft.com/office/drawing/2014/main" id="{86121344-8E5D-8C90-90D5-425531E533DA}"/>
              </a:ext>
              <a:ext uri="{C183D7F6-B498-43B3-948B-1728B52AA6E4}">
                <adec:decorative xmlns:adec="http://schemas.microsoft.com/office/drawing/2017/decorative" val="0"/>
              </a:ext>
            </a:extLst>
          </p:cNvPr>
          <p:cNvSpPr>
            <a:spLocks noGrp="1"/>
          </p:cNvSpPr>
          <p:nvPr>
            <p:ph type="ctrTitle" hasCustomPrompt="1"/>
          </p:nvPr>
        </p:nvSpPr>
        <p:spPr>
          <a:xfrm>
            <a:off x="436463" y="2404565"/>
            <a:ext cx="9753600" cy="3421585"/>
          </a:xfrm>
        </p:spPr>
        <p:txBody>
          <a:bodyPr anchor="b"/>
          <a:lstStyle>
            <a:lvl1pPr algn="l">
              <a:lnSpc>
                <a:spcPts val="6400"/>
              </a:lnSpc>
              <a:defRPr sz="6400" b="1" i="0" cap="all" baseline="0">
                <a:solidFill>
                  <a:schemeClr val="bg1"/>
                </a:solidFill>
                <a:latin typeface="Arial" panose="020B0604020202020204" pitchFamily="34" charset="0"/>
                <a:cs typeface="Arial" panose="020B0604020202020204" pitchFamily="34" charset="0"/>
              </a:defRPr>
            </a:lvl1pPr>
          </a:lstStyle>
          <a:p>
            <a:r>
              <a:rPr lang="en-US" dirty="0"/>
              <a:t>Divider Slide </a:t>
            </a:r>
            <a:br>
              <a:rPr lang="en-US" dirty="0"/>
            </a:br>
            <a:r>
              <a:rPr lang="en-US" dirty="0"/>
              <a:t>Title</a:t>
            </a:r>
          </a:p>
        </p:txBody>
      </p:sp>
    </p:spTree>
    <p:extLst>
      <p:ext uri="{BB962C8B-B14F-4D97-AF65-F5344CB8AC3E}">
        <p14:creationId xmlns:p14="http://schemas.microsoft.com/office/powerpoint/2010/main" val="2225321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Column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5" name="Content Placeholder 2">
            <a:extLst>
              <a:ext uri="{FF2B5EF4-FFF2-40B4-BE49-F238E27FC236}">
                <a16:creationId xmlns:a16="http://schemas.microsoft.com/office/drawing/2014/main" id="{F693510E-E52A-43D2-D96B-9045F9A06C1D}"/>
              </a:ext>
              <a:ext uri="{C183D7F6-B498-43B3-948B-1728B52AA6E4}">
                <adec:decorative xmlns:adec="http://schemas.microsoft.com/office/drawing/2017/decorative" val="0"/>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97194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Column Bulleted List (No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8994E2-EA49-29ED-92E0-393343750616}"/>
              </a:ext>
              <a:ext uri="{C183D7F6-B498-43B3-948B-1728B52AA6E4}">
                <adec:decorative xmlns:adec="http://schemas.microsoft.com/office/drawing/2017/decorative" val="1"/>
              </a:ext>
            </a:extLst>
          </p:cNvPr>
          <p:cNvSpPr/>
          <p:nvPr/>
        </p:nvSpPr>
        <p:spPr>
          <a:xfrm>
            <a:off x="7261013" y="1950720"/>
            <a:ext cx="5743787" cy="780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840"/>
          </a:p>
        </p:txBody>
      </p:sp>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7" name="Content Placeholder 2">
            <a:extLst>
              <a:ext uri="{FF2B5EF4-FFF2-40B4-BE49-F238E27FC236}">
                <a16:creationId xmlns:a16="http://schemas.microsoft.com/office/drawing/2014/main" id="{E00E64E3-43AA-E108-65B7-E60FA7F2EC87}"/>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50721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6688526"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 pretium.</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19169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4528800"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2" name="Text Placeholder 3">
            <a:extLst>
              <a:ext uri="{FF2B5EF4-FFF2-40B4-BE49-F238E27FC236}">
                <a16:creationId xmlns:a16="http://schemas.microsoft.com/office/drawing/2014/main" id="{F29B7451-E98E-FC17-C95F-97570ABD4F77}"/>
              </a:ext>
            </a:extLst>
          </p:cNvPr>
          <p:cNvSpPr>
            <a:spLocks noGrp="1"/>
          </p:cNvSpPr>
          <p:nvPr>
            <p:ph type="body" sz="half" idx="13" hasCustomPrompt="1"/>
          </p:nvPr>
        </p:nvSpPr>
        <p:spPr>
          <a:xfrm>
            <a:off x="5236413" y="3428726"/>
            <a:ext cx="4528800"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46478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Column Bulleted Lis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13FBDA0-6DAD-2BD7-8995-0DD004DCD42A}"/>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8" name="Content Placeholder 2">
            <a:extLst>
              <a:ext uri="{FF2B5EF4-FFF2-40B4-BE49-F238E27FC236}">
                <a16:creationId xmlns:a16="http://schemas.microsoft.com/office/drawing/2014/main" id="{C7D848CF-329C-12E6-A53F-3C3893FC5442}"/>
              </a:ext>
              <a:ext uri="{C183D7F6-B498-43B3-948B-1728B52AA6E4}">
                <adec:decorative xmlns:adec="http://schemas.microsoft.com/office/drawing/2017/decorative" val="0"/>
              </a:ext>
            </a:extLst>
          </p:cNvPr>
          <p:cNvSpPr>
            <a:spLocks noGrp="1"/>
          </p:cNvSpPr>
          <p:nvPr>
            <p:ph idx="1" hasCustomPrompt="1"/>
          </p:nvPr>
        </p:nvSpPr>
        <p:spPr>
          <a:xfrm>
            <a:off x="420489" y="3487108"/>
            <a:ext cx="5364480" cy="5761125"/>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0E746082-11FB-1BAB-9564-CFA32F2BC5F7}"/>
              </a:ext>
              <a:ext uri="{C183D7F6-B498-43B3-948B-1728B52AA6E4}">
                <adec:decorative xmlns:adec="http://schemas.microsoft.com/office/drawing/2017/decorative" val="0"/>
              </a:ext>
            </a:extLst>
          </p:cNvPr>
          <p:cNvSpPr>
            <a:spLocks noGrp="1"/>
          </p:cNvSpPr>
          <p:nvPr>
            <p:ph idx="13" hasCustomPrompt="1"/>
          </p:nvPr>
        </p:nvSpPr>
        <p:spPr>
          <a:xfrm>
            <a:off x="6270172" y="3487107"/>
            <a:ext cx="5366957"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6716837F-65A2-482E-691B-FA0A12696BC6}"/>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664344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86CB4B4D-7CA3-9044-876B-883B54F8677D}" type="slidenum">
              <a:rPr lang="en-US" smtClean="0"/>
              <a:t>‹#›</a:t>
            </a:fld>
            <a:endParaRPr lang="en-US"/>
          </a:p>
        </p:txBody>
      </p:sp>
      <p:sp>
        <p:nvSpPr>
          <p:cNvPr id="4" name="Content Placeholder 2">
            <a:extLst>
              <a:ext uri="{FF2B5EF4-FFF2-40B4-BE49-F238E27FC236}">
                <a16:creationId xmlns:a16="http://schemas.microsoft.com/office/drawing/2014/main" id="{1FE57A07-9930-44A5-B8A4-E2B0497B9772}"/>
              </a:ext>
              <a:ext uri="{C183D7F6-B498-43B3-948B-1728B52AA6E4}">
                <adec:decorative xmlns:adec="http://schemas.microsoft.com/office/drawing/2017/decorative" val="0"/>
              </a:ext>
            </a:extLst>
          </p:cNvPr>
          <p:cNvSpPr>
            <a:spLocks noGrp="1"/>
          </p:cNvSpPr>
          <p:nvPr>
            <p:ph idx="1" hasCustomPrompt="1"/>
          </p:nvPr>
        </p:nvSpPr>
        <p:spPr>
          <a:xfrm>
            <a:off x="420486" y="3493025"/>
            <a:ext cx="11216640"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5" name="Content Placeholder 2">
            <a:extLst>
              <a:ext uri="{FF2B5EF4-FFF2-40B4-BE49-F238E27FC236}">
                <a16:creationId xmlns:a16="http://schemas.microsoft.com/office/drawing/2014/main" id="{A2FF8DBE-F14C-4661-C6FB-66F0BEF55947}"/>
              </a:ext>
              <a:ext uri="{C183D7F6-B498-43B3-948B-1728B52AA6E4}">
                <adec:decorative xmlns:adec="http://schemas.microsoft.com/office/drawing/2017/decorative" val="0"/>
              </a:ext>
            </a:extLst>
          </p:cNvPr>
          <p:cNvSpPr>
            <a:spLocks noGrp="1"/>
          </p:cNvSpPr>
          <p:nvPr>
            <p:ph idx="14" hasCustomPrompt="1"/>
          </p:nvPr>
        </p:nvSpPr>
        <p:spPr>
          <a:xfrm>
            <a:off x="420489" y="4402312"/>
            <a:ext cx="11216640" cy="4528758"/>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635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86CB4B4D-7CA3-9044-876B-883B54F8677D}" type="slidenum">
              <a:rPr lang="en-US" smtClean="0"/>
              <a:t>‹#›</a:t>
            </a:fld>
            <a:endParaRPr lang="en-US"/>
          </a:p>
        </p:txBody>
      </p:sp>
      <p:sp>
        <p:nvSpPr>
          <p:cNvPr id="12" name="Content Placeholder 2">
            <a:extLst>
              <a:ext uri="{FF2B5EF4-FFF2-40B4-BE49-F238E27FC236}">
                <a16:creationId xmlns:a16="http://schemas.microsoft.com/office/drawing/2014/main" id="{430A87E8-FC38-EF63-519A-A20B6C53B421}"/>
              </a:ext>
              <a:ext uri="{C183D7F6-B498-43B3-948B-1728B52AA6E4}">
                <adec:decorative xmlns:adec="http://schemas.microsoft.com/office/drawing/2017/decorative" val="0"/>
              </a:ext>
            </a:extLst>
          </p:cNvPr>
          <p:cNvSpPr>
            <a:spLocks noGrp="1"/>
          </p:cNvSpPr>
          <p:nvPr>
            <p:ph idx="1" hasCustomPrompt="1"/>
          </p:nvPr>
        </p:nvSpPr>
        <p:spPr>
          <a:xfrm>
            <a:off x="420487" y="3493025"/>
            <a:ext cx="5269111"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13" name="Content Placeholder 2">
            <a:extLst>
              <a:ext uri="{FF2B5EF4-FFF2-40B4-BE49-F238E27FC236}">
                <a16:creationId xmlns:a16="http://schemas.microsoft.com/office/drawing/2014/main" id="{03372A22-8E95-EEF5-A75E-63F3C0F2C29E}"/>
              </a:ext>
              <a:ext uri="{C183D7F6-B498-43B3-948B-1728B52AA6E4}">
                <adec:decorative xmlns:adec="http://schemas.microsoft.com/office/drawing/2017/decorative" val="0"/>
              </a:ext>
            </a:extLst>
          </p:cNvPr>
          <p:cNvSpPr>
            <a:spLocks noGrp="1"/>
          </p:cNvSpPr>
          <p:nvPr>
            <p:ph idx="14" hasCustomPrompt="1"/>
          </p:nvPr>
        </p:nvSpPr>
        <p:spPr>
          <a:xfrm>
            <a:off x="420489" y="4402312"/>
            <a:ext cx="5269111" cy="4528758"/>
          </a:xfrm>
          <a:prstGeom prst="rect">
            <a:avLst/>
          </a:prstGeom>
        </p:spPr>
        <p:txBody>
          <a:bodyPr/>
          <a:lstStyle>
            <a:lvl1pPr>
              <a:lnSpc>
                <a:spcPct val="120000"/>
              </a:lnSpc>
              <a:defRPr/>
            </a:lvl1pPr>
            <a:lvl2pPr>
              <a:spcBef>
                <a:spcPts val="427"/>
              </a:spcBef>
              <a:defRPr/>
            </a:lvl2pPr>
            <a:lvl3pPr>
              <a:spcBef>
                <a:spcPts val="427"/>
              </a:spcBef>
              <a:defRPr/>
            </a:lvl3pPr>
            <a:lvl4pPr>
              <a:spcBef>
                <a:spcPts val="427"/>
              </a:spcBef>
              <a:defRPr/>
            </a:lvl4pPr>
            <a:lvl5pPr>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7856CF4B-B17A-2337-0D52-61EC19AA7002}"/>
              </a:ext>
              <a:ext uri="{C183D7F6-B498-43B3-948B-1728B52AA6E4}">
                <adec:decorative xmlns:adec="http://schemas.microsoft.com/office/drawing/2017/decorative" val="0"/>
              </a:ext>
            </a:extLst>
          </p:cNvPr>
          <p:cNvSpPr>
            <a:spLocks noGrp="1"/>
          </p:cNvSpPr>
          <p:nvPr>
            <p:ph idx="15" hasCustomPrompt="1"/>
          </p:nvPr>
        </p:nvSpPr>
        <p:spPr>
          <a:xfrm>
            <a:off x="6376094" y="3493025"/>
            <a:ext cx="5269111"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15" name="Content Placeholder 2">
            <a:extLst>
              <a:ext uri="{FF2B5EF4-FFF2-40B4-BE49-F238E27FC236}">
                <a16:creationId xmlns:a16="http://schemas.microsoft.com/office/drawing/2014/main" id="{23825F99-D766-A623-5D1B-AE0CC6933E0B}"/>
              </a:ext>
              <a:ext uri="{C183D7F6-B498-43B3-948B-1728B52AA6E4}">
                <adec:decorative xmlns:adec="http://schemas.microsoft.com/office/drawing/2017/decorative" val="0"/>
              </a:ext>
            </a:extLst>
          </p:cNvPr>
          <p:cNvSpPr>
            <a:spLocks noGrp="1"/>
          </p:cNvSpPr>
          <p:nvPr>
            <p:ph idx="16" hasCustomPrompt="1"/>
          </p:nvPr>
        </p:nvSpPr>
        <p:spPr>
          <a:xfrm>
            <a:off x="6376096" y="4402312"/>
            <a:ext cx="5269111" cy="4528758"/>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0876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Column Text + 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 uri="{C183D7F6-B498-43B3-948B-1728B52AA6E4}">
                <adec:decorative xmlns:adec="http://schemas.microsoft.com/office/drawing/2017/decorative" val="0"/>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4" name="Chart Placeholder 3">
            <a:extLst>
              <a:ext uri="{FF2B5EF4-FFF2-40B4-BE49-F238E27FC236}">
                <a16:creationId xmlns:a16="http://schemas.microsoft.com/office/drawing/2014/main" id="{09B8DD2A-7177-2E52-DD5A-3EAE044C5349}"/>
              </a:ext>
              <a:ext uri="{C183D7F6-B498-43B3-948B-1728B52AA6E4}">
                <adec:decorative xmlns:adec="http://schemas.microsoft.com/office/drawing/2017/decorative" val="0"/>
              </a:ext>
            </a:extLst>
          </p:cNvPr>
          <p:cNvSpPr>
            <a:spLocks noGrp="1"/>
          </p:cNvSpPr>
          <p:nvPr>
            <p:ph type="chart" sz="quarter" idx="10"/>
          </p:nvPr>
        </p:nvSpPr>
        <p:spPr>
          <a:xfrm>
            <a:off x="6223726" y="2038765"/>
            <a:ext cx="6360586" cy="6144627"/>
          </a:xfrm>
          <a:prstGeom prst="rect">
            <a:avLst/>
          </a:prstGeom>
        </p:spPr>
        <p:txBody>
          <a:bodyPr/>
          <a:lstStyle/>
          <a:p>
            <a:r>
              <a:rPr lang="en-US"/>
              <a:t>Click icon to add chart</a:t>
            </a:r>
          </a:p>
        </p:txBody>
      </p:sp>
      <p:sp>
        <p:nvSpPr>
          <p:cNvPr id="2" name="Slide Number Placeholder 6">
            <a:extLst>
              <a:ext uri="{FF2B5EF4-FFF2-40B4-BE49-F238E27FC236}">
                <a16:creationId xmlns:a16="http://schemas.microsoft.com/office/drawing/2014/main" id="{24D129EA-B4FE-13E2-9E6F-CFD7407BEA74}"/>
              </a:ext>
              <a:ext uri="{C183D7F6-B498-43B3-948B-1728B52AA6E4}">
                <adec:decorative xmlns:adec="http://schemas.microsoft.com/office/drawing/2017/decorative" val="0"/>
              </a:ext>
            </a:extLst>
          </p:cNvPr>
          <p:cNvSpPr>
            <a:spLocks noGrp="1"/>
          </p:cNvSpPr>
          <p:nvPr>
            <p:ph type="sldNum" sz="quarter" idx="12"/>
          </p:nvPr>
        </p:nvSpPr>
        <p:spPr>
          <a:xfrm>
            <a:off x="11848086" y="8826366"/>
            <a:ext cx="739046"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99526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392793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No Backgroun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871AB5E-101C-7C13-4D65-215EA69060E6}"/>
              </a:ext>
              <a:ext uri="{C183D7F6-B498-43B3-948B-1728B52AA6E4}">
                <adec:decorative xmlns:adec="http://schemas.microsoft.com/office/drawing/2017/decorative" val="0"/>
              </a:ext>
            </a:extLst>
          </p:cNvPr>
          <p:cNvSpPr>
            <a:spLocks noGrp="1"/>
          </p:cNvSpPr>
          <p:nvPr>
            <p:ph type="sldNum" sz="quarter" idx="12"/>
          </p:nvPr>
        </p:nvSpPr>
        <p:spPr>
          <a:xfrm>
            <a:off x="11848086" y="8826366"/>
            <a:ext cx="739046"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55818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Column Text + Phot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 uri="{C183D7F6-B498-43B3-948B-1728B52AA6E4}">
                <adec:decorative xmlns:adec="http://schemas.microsoft.com/office/drawing/2017/decorative" val="0"/>
              </a:ext>
            </a:extLst>
          </p:cNvPr>
          <p:cNvSpPr>
            <a:spLocks noGrp="1"/>
          </p:cNvSpPr>
          <p:nvPr>
            <p:ph type="pic" idx="1" hasCustomPrompt="1"/>
          </p:nvPr>
        </p:nvSpPr>
        <p:spPr>
          <a:xfrm>
            <a:off x="6419426" y="1672046"/>
            <a:ext cx="6583680" cy="8081554"/>
          </a:xfrm>
          <a:prstGeom prst="rect">
            <a:avLst/>
          </a:prstGeom>
          <a:solidFill>
            <a:schemeClr val="accent5"/>
          </a:solidFill>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235938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Column Text + 3 Photo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6414182" y="1672046"/>
            <a:ext cx="6586693" cy="4040777"/>
          </a:xfrm>
          <a:prstGeom prst="rect">
            <a:avLst/>
          </a:prstGeom>
          <a:solidFill>
            <a:schemeClr val="accent5"/>
          </a:solidFill>
          <a:ln>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
        <p:nvSpPr>
          <p:cNvPr id="4" name="Picture Placeholder 2">
            <a:extLst>
              <a:ext uri="{FF2B5EF4-FFF2-40B4-BE49-F238E27FC236}">
                <a16:creationId xmlns:a16="http://schemas.microsoft.com/office/drawing/2014/main" id="{1855A2D2-CB1F-E260-6EEA-7E2D6D512F1B}"/>
              </a:ext>
            </a:extLst>
          </p:cNvPr>
          <p:cNvSpPr>
            <a:spLocks noGrp="1"/>
          </p:cNvSpPr>
          <p:nvPr>
            <p:ph type="pic" idx="11" hasCustomPrompt="1"/>
          </p:nvPr>
        </p:nvSpPr>
        <p:spPr>
          <a:xfrm>
            <a:off x="6414181" y="5712822"/>
            <a:ext cx="3296717" cy="4044493"/>
          </a:xfrm>
          <a:prstGeom prst="rect">
            <a:avLst/>
          </a:prstGeom>
          <a:solidFill>
            <a:schemeClr val="accent5"/>
          </a:solidFill>
          <a:ln w="9525">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
        <p:nvSpPr>
          <p:cNvPr id="2" name="Picture Placeholder 2">
            <a:extLst>
              <a:ext uri="{FF2B5EF4-FFF2-40B4-BE49-F238E27FC236}">
                <a16:creationId xmlns:a16="http://schemas.microsoft.com/office/drawing/2014/main" id="{E9823783-F8CE-C00A-E2E8-141FB0CBA29A}"/>
              </a:ext>
            </a:extLst>
          </p:cNvPr>
          <p:cNvSpPr>
            <a:spLocks noGrp="1"/>
          </p:cNvSpPr>
          <p:nvPr>
            <p:ph type="pic" idx="10" hasCustomPrompt="1"/>
          </p:nvPr>
        </p:nvSpPr>
        <p:spPr>
          <a:xfrm>
            <a:off x="9704158" y="5712824"/>
            <a:ext cx="3296717" cy="4040777"/>
          </a:xfrm>
          <a:prstGeom prst="rect">
            <a:avLst/>
          </a:prstGeom>
          <a:solidFill>
            <a:schemeClr val="accent5"/>
          </a:solidFill>
          <a:ln>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704674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Full-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0CA1-FF95-DB59-A307-6E7802C571C9}"/>
              </a:ext>
            </a:extLst>
          </p:cNvPr>
          <p:cNvSpPr>
            <a:spLocks noGrp="1"/>
          </p:cNvSpPr>
          <p:nvPr>
            <p:ph type="title" hasCustomPrompt="1"/>
          </p:nvPr>
        </p:nvSpPr>
        <p:spPr>
          <a:xfrm>
            <a:off x="420489" y="2139913"/>
            <a:ext cx="5536174" cy="1235456"/>
          </a:xfrm>
        </p:spPr>
        <p:txBody>
          <a:bodyPr/>
          <a:lstStyle/>
          <a:p>
            <a:r>
              <a:rPr lang="en-US" dirty="0"/>
              <a:t>Click to edit title</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0" y="1"/>
            <a:ext cx="13004800" cy="9753600"/>
          </a:xfrm>
          <a:prstGeom prst="rect">
            <a:avLst/>
          </a:prstGeom>
          <a:solidFill>
            <a:schemeClr val="accent5"/>
          </a:solidFill>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954846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1 Column Text">
    <p:spTree>
      <p:nvGrpSpPr>
        <p:cNvPr id="1" name=""/>
        <p:cNvGrpSpPr/>
        <p:nvPr/>
      </p:nvGrpSpPr>
      <p:grpSpPr>
        <a:xfrm>
          <a:off x="0" y="0"/>
          <a:ext cx="0" cy="0"/>
          <a:chOff x="0" y="0"/>
          <a:chExt cx="0" cy="0"/>
        </a:xfrm>
      </p:grpSpPr>
      <p:sp>
        <p:nvSpPr>
          <p:cNvPr id="6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68" name="Body Level One…"/>
          <p:cNvSpPr txBox="1">
            <a:spLocks noGrp="1"/>
          </p:cNvSpPr>
          <p:nvPr>
            <p:ph type="body" sz="half" idx="1"/>
          </p:nvPr>
        </p:nvSpPr>
        <p:spPr>
          <a:xfrm>
            <a:off x="607433" y="3113620"/>
            <a:ext cx="6829687" cy="5390911"/>
          </a:xfrm>
          <a:prstGeom prst="rect">
            <a:avLst/>
          </a:prstGeom>
        </p:spPr>
        <p:txBody>
          <a:bodyPr/>
          <a:lstStyle>
            <a:lvl1pPr marL="0" indent="0">
              <a:lnSpc>
                <a:spcPts val="2702"/>
              </a:lnSpc>
              <a:buClrTx/>
              <a:buSzTx/>
              <a:buFontTx/>
              <a:buNone/>
              <a:defRPr sz="1849" spc="-54"/>
            </a:lvl1pPr>
            <a:lvl2pPr marL="0" indent="487661">
              <a:lnSpc>
                <a:spcPts val="2702"/>
              </a:lnSpc>
              <a:buClrTx/>
              <a:buSzTx/>
              <a:buFontTx/>
              <a:buNone/>
              <a:defRPr sz="1849" spc="-54"/>
            </a:lvl2pPr>
            <a:lvl3pPr marL="0" indent="975319">
              <a:lnSpc>
                <a:spcPts val="2702"/>
              </a:lnSpc>
              <a:buClrTx/>
              <a:buSzTx/>
              <a:buFontTx/>
              <a:buNone/>
              <a:defRPr sz="1849" spc="-54"/>
            </a:lvl3pPr>
            <a:lvl4pPr marL="0" indent="1462982">
              <a:lnSpc>
                <a:spcPts val="2702"/>
              </a:lnSpc>
              <a:buClrTx/>
              <a:buSzTx/>
              <a:buFontTx/>
              <a:buNone/>
              <a:defRPr sz="1849" spc="-54"/>
            </a:lvl4pPr>
            <a:lvl5pPr marL="0" indent="1950640">
              <a:lnSpc>
                <a:spcPts val="2702"/>
              </a:lnSpc>
              <a:buClrTx/>
              <a:buSzTx/>
              <a:buFontTx/>
              <a:buNone/>
              <a:defRPr sz="1849" spc="-54"/>
            </a:lvl5pPr>
          </a:lstStyle>
          <a:p>
            <a:r>
              <a:t>Body Level One</a:t>
            </a:r>
          </a:p>
          <a:p>
            <a:pPr lvl="1"/>
            <a:r>
              <a:t>Body Level Two</a:t>
            </a:r>
          </a:p>
          <a:p>
            <a:pPr lvl="2"/>
            <a:r>
              <a:t>Body Level Three</a:t>
            </a:r>
          </a:p>
          <a:p>
            <a:pPr lvl="3"/>
            <a:r>
              <a:t>Body Level Four</a:t>
            </a:r>
          </a:p>
          <a:p>
            <a:pPr lvl="4"/>
            <a:r>
              <a:t>Body Level Five</a:t>
            </a:r>
          </a:p>
        </p:txBody>
      </p:sp>
      <p:sp>
        <p:nvSpPr>
          <p:cNvPr id="69" name="Title Text"/>
          <p:cNvSpPr txBox="1">
            <a:spLocks noGrp="1"/>
          </p:cNvSpPr>
          <p:nvPr>
            <p:ph type="title"/>
          </p:nvPr>
        </p:nvSpPr>
        <p:spPr>
          <a:xfrm>
            <a:off x="604723" y="1872692"/>
            <a:ext cx="11216641" cy="1235102"/>
          </a:xfrm>
          <a:prstGeom prst="rect">
            <a:avLst/>
          </a:prstGeom>
        </p:spPr>
        <p:txBody>
          <a:bodyPr/>
          <a:lstStyle/>
          <a:p>
            <a:r>
              <a:t>Title Text</a:t>
            </a:r>
          </a:p>
        </p:txBody>
      </p:sp>
    </p:spTree>
    <p:extLst>
      <p:ext uri="{BB962C8B-B14F-4D97-AF65-F5344CB8AC3E}">
        <p14:creationId xmlns:p14="http://schemas.microsoft.com/office/powerpoint/2010/main" val="233920824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5" name="Content Placeholder 2">
            <a:extLst>
              <a:ext uri="{FF2B5EF4-FFF2-40B4-BE49-F238E27FC236}">
                <a16:creationId xmlns:a16="http://schemas.microsoft.com/office/drawing/2014/main" id="{F693510E-E52A-43D2-D96B-9045F9A06C1D}"/>
              </a:ext>
              <a:ext uri="{C183D7F6-B498-43B3-948B-1728B52AA6E4}">
                <adec:decorative xmlns:adec="http://schemas.microsoft.com/office/drawing/2017/decorative" val="0"/>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358860481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jpg"/><Relationship Id="rId2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A19231-8A35-C0C4-A52C-FD510095F937}"/>
              </a:ext>
            </a:extLst>
          </p:cNvPr>
          <p:cNvSpPr>
            <a:spLocks noGrp="1"/>
          </p:cNvSpPr>
          <p:nvPr>
            <p:ph type="title"/>
          </p:nvPr>
        </p:nvSpPr>
        <p:spPr>
          <a:xfrm>
            <a:off x="420489" y="2139913"/>
            <a:ext cx="11216640" cy="1235456"/>
          </a:xfrm>
          <a:prstGeom prst="rect">
            <a:avLst/>
          </a:prstGeom>
        </p:spPr>
        <p:txBody>
          <a:bodyPr vert="horz" lIns="91440" tIns="45720" rIns="91440" bIns="45720" rtlCol="0" anchor="ctr" anchorCtr="0">
            <a:noAutofit/>
          </a:bodyPr>
          <a:lstStyle/>
          <a:p>
            <a:r>
              <a:rPr lang="en-US" dirty="0"/>
              <a:t>Click to edit title</a:t>
            </a:r>
          </a:p>
        </p:txBody>
      </p:sp>
      <p:sp>
        <p:nvSpPr>
          <p:cNvPr id="3" name="Text Placeholder 2">
            <a:extLst>
              <a:ext uri="{FF2B5EF4-FFF2-40B4-BE49-F238E27FC236}">
                <a16:creationId xmlns:a16="http://schemas.microsoft.com/office/drawing/2014/main" id="{AE6E5F18-0F44-D0C4-865B-4F1686C20A3A}"/>
              </a:ext>
            </a:extLst>
          </p:cNvPr>
          <p:cNvSpPr>
            <a:spLocks noGrp="1"/>
          </p:cNvSpPr>
          <p:nvPr>
            <p:ph type="body" idx="1"/>
          </p:nvPr>
        </p:nvSpPr>
        <p:spPr>
          <a:xfrm>
            <a:off x="420489" y="3588256"/>
            <a:ext cx="11216640" cy="5757399"/>
          </a:xfrm>
          <a:prstGeom prst="rect">
            <a:avLst/>
          </a:prstGeom>
        </p:spPr>
        <p:txBody>
          <a:bodyPr vert="horz" lIns="91440" tIns="45720" rIns="91440" bIns="45720" rtlCol="0">
            <a:noAutofit/>
          </a:bodyPr>
          <a:lstStyle/>
          <a:p>
            <a:pPr lvl="0"/>
            <a:r>
              <a:rPr lang="en-US" dirty="0"/>
              <a:t>Click here to edit text</a:t>
            </a:r>
          </a:p>
          <a:p>
            <a:pPr lvl="0"/>
            <a:r>
              <a:rPr lang="en-US" dirty="0"/>
              <a:t>Click here to edit text</a:t>
            </a:r>
          </a:p>
          <a:p>
            <a:pPr lvl="1"/>
            <a:r>
              <a:rPr lang="en-US" dirty="0"/>
              <a:t>Second text level</a:t>
            </a:r>
          </a:p>
          <a:p>
            <a:pPr lvl="1"/>
            <a:r>
              <a:rPr lang="en-US" dirty="0"/>
              <a:t>Second text level</a:t>
            </a:r>
          </a:p>
          <a:p>
            <a:pPr lvl="2"/>
            <a:r>
              <a:rPr lang="en-US" dirty="0"/>
              <a:t>Third text level</a:t>
            </a:r>
          </a:p>
          <a:p>
            <a:pPr lvl="2"/>
            <a:r>
              <a:rPr lang="en-US" dirty="0"/>
              <a:t>Third text level</a:t>
            </a:r>
          </a:p>
          <a:p>
            <a:pPr lvl="3"/>
            <a:r>
              <a:rPr lang="en-US" dirty="0"/>
              <a:t>Fourth text level</a:t>
            </a:r>
          </a:p>
          <a:p>
            <a:pPr lvl="4"/>
            <a:r>
              <a:rPr lang="en-US" dirty="0"/>
              <a:t>Fifth text level</a:t>
            </a:r>
          </a:p>
        </p:txBody>
      </p:sp>
      <p:sp>
        <p:nvSpPr>
          <p:cNvPr id="6" name="Slide Number Placeholder 5">
            <a:extLst>
              <a:ext uri="{FF2B5EF4-FFF2-40B4-BE49-F238E27FC236}">
                <a16:creationId xmlns:a16="http://schemas.microsoft.com/office/drawing/2014/main" id="{37C7C836-75E5-4C64-D3C5-1D1833BAD801}"/>
              </a:ext>
              <a:ext uri="{C183D7F6-B498-43B3-948B-1728B52AA6E4}">
                <adec:decorative xmlns:adec="http://schemas.microsoft.com/office/drawing/2017/decorative" val="0"/>
              </a:ext>
            </a:extLst>
          </p:cNvPr>
          <p:cNvSpPr>
            <a:spLocks noGrp="1"/>
          </p:cNvSpPr>
          <p:nvPr>
            <p:ph type="sldNum" sz="quarter" idx="4"/>
          </p:nvPr>
        </p:nvSpPr>
        <p:spPr>
          <a:xfrm>
            <a:off x="11848086" y="8826366"/>
            <a:ext cx="739046" cy="519289"/>
          </a:xfrm>
          <a:prstGeom prst="rect">
            <a:avLst/>
          </a:prstGeom>
        </p:spPr>
        <p:txBody>
          <a:bodyPr vert="horz" lIns="91440" tIns="45720" rIns="91440" bIns="45720" rtlCol="0" anchor="ctr"/>
          <a:lstStyle>
            <a:lvl1pPr algn="r">
              <a:defRPr sz="1280" b="1">
                <a:solidFill>
                  <a:schemeClr val="tx1"/>
                </a:solidFill>
                <a:latin typeface="Arial" panose="020B0604020202020204" pitchFamily="34" charset="0"/>
                <a:cs typeface="Arial" panose="020B0604020202020204" pitchFamily="34" charset="0"/>
              </a:defRPr>
            </a:lvl1pPr>
          </a:lstStyle>
          <a:p>
            <a:fld id="{86CB4B4D-7CA3-9044-876B-883B54F8677D}" type="slidenum">
              <a:rPr lang="en-US" smtClean="0"/>
              <a:t>‹#›</a:t>
            </a:fld>
            <a:endParaRPr lang="en-US"/>
          </a:p>
        </p:txBody>
      </p:sp>
      <p:pic>
        <p:nvPicPr>
          <p:cNvPr id="4" name="Picture 3">
            <a:extLst>
              <a:ext uri="{FF2B5EF4-FFF2-40B4-BE49-F238E27FC236}">
                <a16:creationId xmlns:a16="http://schemas.microsoft.com/office/drawing/2014/main" id="{253DEE38-7B4E-C8A4-CC0C-614E4A2B60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0"/>
          <a:stretch>
            <a:fillRect/>
          </a:stretch>
        </p:blipFill>
        <p:spPr>
          <a:xfrm>
            <a:off x="234579" y="329238"/>
            <a:ext cx="5859012" cy="906193"/>
          </a:xfrm>
          <a:prstGeom prst="rect">
            <a:avLst/>
          </a:prstGeom>
        </p:spPr>
      </p:pic>
    </p:spTree>
    <p:extLst>
      <p:ext uri="{BB962C8B-B14F-4D97-AF65-F5344CB8AC3E}">
        <p14:creationId xmlns:p14="http://schemas.microsoft.com/office/powerpoint/2010/main" val="1445263217"/>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txStyles>
    <p:titleStyle>
      <a:lvl1pPr algn="l" defTabSz="975390" rtl="0" eaLnBrk="1" latinLnBrk="0" hangingPunct="1">
        <a:lnSpc>
          <a:spcPct val="90000"/>
        </a:lnSpc>
        <a:spcBef>
          <a:spcPct val="0"/>
        </a:spcBef>
        <a:buNone/>
        <a:defRPr sz="3840" b="0" i="0" kern="1200">
          <a:solidFill>
            <a:schemeClr val="tx2"/>
          </a:solidFill>
          <a:latin typeface="Georgia" panose="02040502050405020303" pitchFamily="18" charset="0"/>
          <a:ea typeface="+mj-ea"/>
          <a:cs typeface="Arial" panose="020B0604020202020204" pitchFamily="34" charset="0"/>
        </a:defRPr>
      </a:lvl1pPr>
    </p:titleStyle>
    <p:bodyStyle>
      <a:lvl1pPr marL="243848" indent="-243848" algn="l" defTabSz="975390" rtl="0" eaLnBrk="1" latinLnBrk="0" hangingPunct="1">
        <a:lnSpc>
          <a:spcPct val="120000"/>
        </a:lnSpc>
        <a:spcBef>
          <a:spcPts val="1067"/>
        </a:spcBef>
        <a:buClr>
          <a:schemeClr val="tx2"/>
        </a:buClr>
        <a:buFont typeface="Arial" panose="020B0604020202020204" pitchFamily="34" charset="0"/>
        <a:buChar char="•"/>
        <a:defRPr sz="2133" kern="1200">
          <a:solidFill>
            <a:schemeClr val="tx1"/>
          </a:solidFill>
          <a:latin typeface="Arial" panose="020B0604020202020204" pitchFamily="34" charset="0"/>
          <a:ea typeface="+mn-ea"/>
          <a:cs typeface="Arial" panose="020B0604020202020204" pitchFamily="34" charset="0"/>
        </a:defRPr>
      </a:lvl1pPr>
      <a:lvl2pPr marL="731543" indent="-243848" algn="l" defTabSz="975390" rtl="0" eaLnBrk="1" latinLnBrk="0" hangingPunct="1">
        <a:lnSpc>
          <a:spcPct val="120000"/>
        </a:lnSpc>
        <a:spcBef>
          <a:spcPts val="1067"/>
        </a:spcBef>
        <a:buClr>
          <a:schemeClr val="tx2"/>
        </a:buClr>
        <a:buFont typeface="System Font Regular"/>
        <a:buChar char="−"/>
        <a:defRPr sz="2133" kern="1200">
          <a:solidFill>
            <a:schemeClr val="tx1"/>
          </a:solidFill>
          <a:latin typeface="Arial" panose="020B0604020202020204" pitchFamily="34" charset="0"/>
          <a:ea typeface="+mn-ea"/>
          <a:cs typeface="Arial" panose="020B0604020202020204" pitchFamily="34" charset="0"/>
        </a:defRPr>
      </a:lvl2pPr>
      <a:lvl3pPr marL="1219238"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3pPr>
      <a:lvl4pPr marL="1706933"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4pPr>
      <a:lvl5pPr marL="2194629"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p:bodyStyle>
    <p:otherStyle>
      <a:defPPr>
        <a:defRPr lang="en-US"/>
      </a:defPPr>
      <a:lvl1pPr marL="0" algn="l" defTabSz="975390" rtl="0" eaLnBrk="1" latinLnBrk="0" hangingPunct="1">
        <a:defRPr sz="1920" kern="1200">
          <a:solidFill>
            <a:schemeClr val="tx1"/>
          </a:solidFill>
          <a:latin typeface="+mn-lt"/>
          <a:ea typeface="+mn-ea"/>
          <a:cs typeface="+mn-cs"/>
        </a:defRPr>
      </a:lvl1pPr>
      <a:lvl2pPr marL="487695" algn="l" defTabSz="975390" rtl="0" eaLnBrk="1" latinLnBrk="0" hangingPunct="1">
        <a:defRPr sz="1920" kern="1200">
          <a:solidFill>
            <a:schemeClr val="tx1"/>
          </a:solidFill>
          <a:latin typeface="+mn-lt"/>
          <a:ea typeface="+mn-ea"/>
          <a:cs typeface="+mn-cs"/>
        </a:defRPr>
      </a:lvl2pPr>
      <a:lvl3pPr marL="975390" algn="l" defTabSz="975390" rtl="0" eaLnBrk="1" latinLnBrk="0" hangingPunct="1">
        <a:defRPr sz="1920" kern="1200">
          <a:solidFill>
            <a:schemeClr val="tx1"/>
          </a:solidFill>
          <a:latin typeface="+mn-lt"/>
          <a:ea typeface="+mn-ea"/>
          <a:cs typeface="+mn-cs"/>
        </a:defRPr>
      </a:lvl3pPr>
      <a:lvl4pPr marL="1463086" algn="l" defTabSz="975390" rtl="0" eaLnBrk="1" latinLnBrk="0" hangingPunct="1">
        <a:defRPr sz="1920" kern="1200">
          <a:solidFill>
            <a:schemeClr val="tx1"/>
          </a:solidFill>
          <a:latin typeface="+mn-lt"/>
          <a:ea typeface="+mn-ea"/>
          <a:cs typeface="+mn-cs"/>
        </a:defRPr>
      </a:lvl4pPr>
      <a:lvl5pPr marL="1950781" algn="l" defTabSz="975390" rtl="0" eaLnBrk="1" latinLnBrk="0" hangingPunct="1">
        <a:defRPr sz="1920" kern="1200">
          <a:solidFill>
            <a:schemeClr val="tx1"/>
          </a:solidFill>
          <a:latin typeface="+mn-lt"/>
          <a:ea typeface="+mn-ea"/>
          <a:cs typeface="+mn-cs"/>
        </a:defRPr>
      </a:lvl5pPr>
      <a:lvl6pPr marL="2438476" algn="l" defTabSz="975390" rtl="0" eaLnBrk="1" latinLnBrk="0" hangingPunct="1">
        <a:defRPr sz="1920" kern="1200">
          <a:solidFill>
            <a:schemeClr val="tx1"/>
          </a:solidFill>
          <a:latin typeface="+mn-lt"/>
          <a:ea typeface="+mn-ea"/>
          <a:cs typeface="+mn-cs"/>
        </a:defRPr>
      </a:lvl6pPr>
      <a:lvl7pPr marL="2926171" algn="l" defTabSz="975390" rtl="0" eaLnBrk="1" latinLnBrk="0" hangingPunct="1">
        <a:defRPr sz="1920" kern="1200">
          <a:solidFill>
            <a:schemeClr val="tx1"/>
          </a:solidFill>
          <a:latin typeface="+mn-lt"/>
          <a:ea typeface="+mn-ea"/>
          <a:cs typeface="+mn-cs"/>
        </a:defRPr>
      </a:lvl7pPr>
      <a:lvl8pPr marL="3413867" algn="l" defTabSz="975390" rtl="0" eaLnBrk="1" latinLnBrk="0" hangingPunct="1">
        <a:defRPr sz="1920" kern="1200">
          <a:solidFill>
            <a:schemeClr val="tx1"/>
          </a:solidFill>
          <a:latin typeface="+mn-lt"/>
          <a:ea typeface="+mn-ea"/>
          <a:cs typeface="+mn-cs"/>
        </a:defRPr>
      </a:lvl8pPr>
      <a:lvl9pPr marL="3901562" algn="l" defTabSz="975390"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jpe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en.wikipedia.org/wiki/Nuclear_program_of_Iran" TargetMode="External"/><Relationship Id="rId4" Type="http://schemas.openxmlformats.org/officeDocument/2006/relationships/image" Target="../media/image14.org&amp;utm_campaign=parser&amp;utm_content=thumbnail"/><Relationship Id="rId5"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nrc.gov/reading-rm/basic-ref/students/for-educators/09.pdf" TargetMode="Externa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8.tif"/><Relationship Id="rId3" Type="http://schemas.openxmlformats.org/officeDocument/2006/relationships/image" Target="../media/image19.t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0.t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1.t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tif"/><Relationship Id="rId3"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5.t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en.wikipedia.org/wiki/Radioactive_waste" TargetMode="External"/><Relationship Id="rId3" Type="http://schemas.openxmlformats.org/officeDocument/2006/relationships/image" Target="../media/image36.org&amp;utm_campaign=parser&amp;utm_content=thumbnai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en.wikipedia.org/wiki/Church_Rock_uranium_mill_spill" TargetMode="External"/><Relationship Id="rId3" Type="http://schemas.openxmlformats.org/officeDocument/2006/relationships/image" Target="../media/image37.tiff"/><Relationship Id="rId4" Type="http://schemas.openxmlformats.org/officeDocument/2006/relationships/image" Target="../media/image38.jpeg"/><Relationship Id="rId5" Type="http://schemas.openxmlformats.org/officeDocument/2006/relationships/hyperlink" Target="https://en.wikipedia.org/wiki/Three_Mile_Island_accident" TargetMode="External"/><Relationship Id="rId6" Type="http://schemas.openxmlformats.org/officeDocument/2006/relationships/hyperlink" Target="https://en.wikipedia.org/wiki/Chernobyl_disaster" TargetMode="External"/><Relationship Id="rId7" Type="http://schemas.openxmlformats.org/officeDocument/2006/relationships/hyperlink" Target="https://en.wikipedia.org/wiki/Fukushima_nuclear_acciden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hyperlink" Target="https://ourworldindata.org/grapher/death-rates-from-energy-production-per-twh" TargetMode="Externa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41.tif"/><Relationship Id="rId3" Type="http://schemas.openxmlformats.org/officeDocument/2006/relationships/image" Target="../media/image42.t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en.wikipedia.org/wiki/Nuclear_fusion"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36462" y="296883"/>
            <a:ext cx="11977211" cy="6123203"/>
          </a:xfrm>
        </p:spPr>
        <p:txBody>
          <a:bodyPr/>
          <a:lstStyle/>
          <a:p>
            <a:pPr algn="ctr"/>
            <a:r>
              <a:rPr dirty="0"/>
              <a:t>Lecture </a:t>
            </a:r>
            <a:r>
              <a:rPr lang="en-US" dirty="0"/>
              <a:t>4</a:t>
            </a:r>
            <a:r>
              <a:rPr dirty="0"/>
              <a:t> — </a:t>
            </a:r>
            <a:br>
              <a:rPr lang="en-US" dirty="0"/>
            </a:br>
            <a:br>
              <a:rPr lang="en-US" dirty="0"/>
            </a:br>
            <a:r>
              <a:rPr lang="en-US" dirty="0"/>
              <a:t>energy generation</a:t>
            </a:r>
            <a:endParaRPr dirty="0"/>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36462" y="6809132"/>
            <a:ext cx="9753600" cy="1589339"/>
          </a:xfrm>
          <a:prstGeom prst="rect">
            <a:avLst/>
          </a:prstGeom>
        </p:spPr>
        <p:txBody>
          <a:bodyPr/>
          <a:lstStyle/>
          <a:p>
            <a:r>
              <a:rPr dirty="0"/>
              <a:t>PHY199-RAP · Energy in the 21st Century</a:t>
            </a:r>
            <a:br>
              <a:rPr dirty="0"/>
            </a:br>
            <a:br>
              <a:rPr dirty="0"/>
            </a:br>
            <a:r>
              <a:rPr dirty="0"/>
              <a:t>Dr. Salvatore Rappoccio</a:t>
            </a:r>
          </a:p>
        </p:txBody>
      </p:sp>
      <p:sp>
        <p:nvSpPr>
          <p:cNvPr id="4" name=" 3"/>
          <p:cNvSpPr/>
          <p:nvPr/>
        </p:nvSpPr>
        <p:spPr/>
        <p:txBody>
          <a:bodyPr/>
          <a:lstStyle/>
          <a:p>
            <a:endParaRPr lang="en-US" sz="192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F810B-14EC-D018-DFAC-F9F4ABA44D2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BAFCC5-BC4A-3A4F-4B78-3869A8EFB947}"/>
              </a:ext>
            </a:extLst>
          </p:cNvPr>
          <p:cNvSpPr>
            <a:spLocks noGrp="1"/>
          </p:cNvSpPr>
          <p:nvPr>
            <p:ph type="ctrTitle"/>
          </p:nvPr>
        </p:nvSpPr>
        <p:spPr/>
        <p:txBody>
          <a:bodyPr/>
          <a:lstStyle/>
          <a:p>
            <a:r>
              <a:rPr lang="en-US" dirty="0"/>
              <a:t>Nuclear power</a:t>
            </a:r>
          </a:p>
        </p:txBody>
      </p:sp>
    </p:spTree>
    <p:extLst>
      <p:ext uri="{BB962C8B-B14F-4D97-AF65-F5344CB8AC3E}">
        <p14:creationId xmlns:p14="http://schemas.microsoft.com/office/powerpoint/2010/main" val="884072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02470-9A50-92FB-E69A-652EC09F7E42}"/>
              </a:ext>
            </a:extLst>
          </p:cNvPr>
          <p:cNvSpPr>
            <a:spLocks noGrp="1"/>
          </p:cNvSpPr>
          <p:nvPr>
            <p:ph type="title"/>
          </p:nvPr>
        </p:nvSpPr>
        <p:spPr/>
        <p:txBody>
          <a:bodyPr/>
          <a:lstStyle/>
          <a:p>
            <a:r>
              <a:rPr lang="en-US" dirty="0"/>
              <a:t>Nuclear Fission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371BAC-F1E7-D9B0-BFD1-65E497457303}"/>
                  </a:ext>
                </a:extLst>
              </p:cNvPr>
              <p:cNvSpPr>
                <a:spLocks noGrp="1"/>
              </p:cNvSpPr>
              <p:nvPr>
                <p:ph idx="1"/>
              </p:nvPr>
            </p:nvSpPr>
            <p:spPr>
              <a:xfrm>
                <a:off x="420489" y="3274220"/>
                <a:ext cx="6650000" cy="5450000"/>
              </a:xfrm>
            </p:spPr>
            <p:txBody>
              <a:bodyPr/>
              <a:lstStyle/>
              <a:p>
                <a:r>
                  <a:rPr lang="en-US" sz="2400" dirty="0"/>
                  <a:t>Remember </a:t>
                </a:r>
                <a14:m>
                  <m:oMath xmlns:m="http://schemas.openxmlformats.org/officeDocument/2006/math">
                    <m:r>
                      <a:rPr lang="en-US" sz="2400" b="0" i="1" smtClean="0">
                        <a:latin typeface="Cambria Math" panose="02040503050406030204" pitchFamily="18" charset="0"/>
                      </a:rPr>
                      <m:t>𝐸</m:t>
                    </m:r>
                    <m:r>
                      <a:rPr lang="en-US" sz="2400" b="0" i="1" smtClean="0">
                        <a:latin typeface="Cambria Math" panose="02040503050406030204" pitchFamily="18" charset="0"/>
                      </a:rPr>
                      <m:t>=</m:t>
                    </m:r>
                    <m:r>
                      <a:rPr lang="en-US" sz="2400" b="0" i="1" smtClean="0">
                        <a:latin typeface="Cambria Math" panose="02040503050406030204" pitchFamily="18" charset="0"/>
                      </a:rPr>
                      <m:t>𝑚</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oMath>
                </a14:m>
                <a:r>
                  <a:rPr lang="en-US" sz="2400" b="0" dirty="0"/>
                  <a:t>? </a:t>
                </a:r>
                <a:endParaRPr lang="en-US" sz="3600" b="0" dirty="0"/>
              </a:p>
              <a:p>
                <a:pPr marL="228600" indent="-228600">
                  <a:lnSpc>
                    <a:spcPct val="105000"/>
                  </a:lnSpc>
                  <a:spcBef>
                    <a:spcPts val="400"/>
                  </a:spcBef>
                  <a:buFont typeface="Arial"/>
                  <a:buChar char="•"/>
                </a:pPr>
                <a:r>
                  <a:rPr lang="en-US" sz="2400" dirty="0"/>
                  <a:t>Splitting one U-235 nucleus releases ~200 MeV (207 MeV total, ~200 MeV recoverable as heat)</a:t>
                </a:r>
              </a:p>
              <a:p>
                <a:pPr marL="228600" indent="-228600">
                  <a:lnSpc>
                    <a:spcPct val="105000"/>
                  </a:lnSpc>
                  <a:spcBef>
                    <a:spcPts val="400"/>
                  </a:spcBef>
                  <a:buFont typeface="Arial"/>
                  <a:buChar char="•"/>
                </a:pPr>
                <a:r>
                  <a:rPr lang="en-US" sz="2400" dirty="0"/>
                  <a:t>Fully fissioning 1 kg of U-235 releases ~83 terajoules (8.3×10¹³ J)</a:t>
                </a:r>
              </a:p>
              <a:p>
                <a:pPr marL="571500" lvl="1" indent="-228600">
                  <a:lnSpc>
                    <a:spcPct val="105000"/>
                  </a:lnSpc>
                  <a:spcBef>
                    <a:spcPts val="300"/>
                  </a:spcBef>
                  <a:buFont typeface="Arial"/>
                  <a:buChar char="–"/>
                </a:pPr>
                <a:r>
                  <a:rPr lang="en-US" sz="2000" dirty="0"/>
                  <a:t>≈ 2.4–3.5 million× more energy per kg than burning coal (24–35 MJ/kg)</a:t>
                </a:r>
              </a:p>
              <a:p>
                <a:pPr marL="571500" lvl="1" indent="-228600">
                  <a:lnSpc>
                    <a:spcPct val="105000"/>
                  </a:lnSpc>
                  <a:spcBef>
                    <a:spcPts val="300"/>
                  </a:spcBef>
                  <a:buFont typeface="Arial"/>
                  <a:buChar char="–"/>
                </a:pPr>
                <a:r>
                  <a:rPr lang="en-US" sz="2000" dirty="0"/>
                  <a:t>≈ the energy in 2,400–3,500 tonnes of coal, or 1.8 million× the energy in 1 kg of gasoline</a:t>
                </a:r>
              </a:p>
              <a:p>
                <a:pPr marL="228600" indent="-228600">
                  <a:lnSpc>
                    <a:spcPct val="105000"/>
                  </a:lnSpc>
                  <a:spcBef>
                    <a:spcPts val="400"/>
                  </a:spcBef>
                  <a:buFont typeface="Arial"/>
                  <a:buChar char="•"/>
                </a:pPr>
                <a:r>
                  <a:rPr lang="en-US" sz="2400" dirty="0"/>
                  <a:t>That's why a nuclear plant needs only truckloads of fuel per year, where a coal plant needs trainloads per day</a:t>
                </a:r>
              </a:p>
            </p:txBody>
          </p:sp>
        </mc:Choice>
        <mc:Fallback xmlns="">
          <p:sp>
            <p:nvSpPr>
              <p:cNvPr id="3" name="Content Placeholder 2">
                <a:extLst>
                  <a:ext uri="{FF2B5EF4-FFF2-40B4-BE49-F238E27FC236}">
                    <a16:creationId xmlns:a16="http://schemas.microsoft.com/office/drawing/2014/main" id="{07371BAC-F1E7-D9B0-BFD1-65E497457303}"/>
                  </a:ext>
                </a:extLst>
              </p:cNvPr>
              <p:cNvSpPr>
                <a:spLocks noGrp="1" noRot="1" noChangeAspect="1" noMove="1" noResize="1" noEditPoints="1" noAdjustHandles="1" noChangeArrowheads="1" noChangeShapeType="1" noTextEdit="1"/>
              </p:cNvSpPr>
              <p:nvPr>
                <p:ph idx="1"/>
              </p:nvPr>
            </p:nvSpPr>
            <p:spPr>
              <a:xfrm>
                <a:off x="420489" y="3274220"/>
                <a:ext cx="6650000" cy="5450000"/>
              </a:xfrm>
              <a:blipFill>
                <a:blip r:embed="rId2"/>
                <a:stretch>
                  <a:fillRect l="-1336" t="-233" r="-1336"/>
                </a:stretch>
              </a:blipFill>
            </p:spPr>
            <p:txBody>
              <a:bodyPr/>
              <a:lstStyle/>
              <a:p>
                <a:r>
                  <a:rPr lang="en-US">
                    <a:noFill/>
                  </a:rPr>
                  <a:t> </a:t>
                </a:r>
              </a:p>
            </p:txBody>
          </p:sp>
        </mc:Fallback>
      </mc:AlternateContent>
      <p:pic>
        <p:nvPicPr>
          <p:cNvPr id="4" name="Picture 3" descr="Induced fission reaction. A neutron is absorbed by a uranium-235 nucleus, turning it briefly into an excited uranium-236 nucleus, with the excitation energy provided by the kinetic energy of the neutron plus the forces that bind the neutron. The uranium-236, in turn, splits into fast-moving lighter elements (fission products) which have a very large amount of kinetic energy, and also releases several free neutrons, and one or more &quot;prompt gamma rays&quot; (not shown). From https://en.wikipedia.org/wiki/Nuclear_fission&#10;">
            <a:extLst>
              <a:ext uri="{FF2B5EF4-FFF2-40B4-BE49-F238E27FC236}">
                <a16:creationId xmlns:a16="http://schemas.microsoft.com/office/drawing/2014/main" id="{F31D4131-C2F8-6FCF-3DDC-611B6968BA39}"/>
              </a:ext>
            </a:extLst>
          </p:cNvPr>
          <p:cNvPicPr>
            <a:picLocks noChangeAspect="1"/>
          </p:cNvPicPr>
          <p:nvPr/>
        </p:nvPicPr>
        <p:blipFill>
          <a:blip r:embed="rId3"/>
          <a:stretch>
            <a:fillRect/>
          </a:stretch>
        </p:blipFill>
        <p:spPr>
          <a:xfrm>
            <a:off x="6248183" y="4190464"/>
            <a:ext cx="3481303" cy="5439536"/>
          </a:xfrm>
          <a:prstGeom prst="rect">
            <a:avLst/>
          </a:prstGeom>
        </p:spPr>
      </p:pic>
      <p:pic>
        <p:nvPicPr>
          <p:cNvPr id="5" name="Picture 4" descr="25mm Bar of Uranium-238 from https://en.wikipedia.org/wiki/Uranium-238">
            <a:extLst>
              <a:ext uri="{FF2B5EF4-FFF2-40B4-BE49-F238E27FC236}">
                <a16:creationId xmlns:a16="http://schemas.microsoft.com/office/drawing/2014/main" id="{D4A9F4BA-511E-4F26-B45A-41984F8CEF51}"/>
              </a:ext>
            </a:extLst>
          </p:cNvPr>
          <p:cNvPicPr>
            <a:picLocks noChangeAspect="1"/>
          </p:cNvPicPr>
          <p:nvPr/>
        </p:nvPicPr>
        <p:blipFill>
          <a:blip r:embed="rId4"/>
          <a:stretch>
            <a:fillRect/>
          </a:stretch>
        </p:blipFill>
        <p:spPr>
          <a:xfrm>
            <a:off x="7256163" y="1300523"/>
            <a:ext cx="3345249" cy="1973697"/>
          </a:xfrm>
          <a:prstGeom prst="rect">
            <a:avLst/>
          </a:prstGeom>
        </p:spPr>
      </p:pic>
      <p:sp>
        <p:nvSpPr>
          <p:cNvPr id="7" name="TextBox 6">
            <a:extLst>
              <a:ext uri="{FF2B5EF4-FFF2-40B4-BE49-F238E27FC236}">
                <a16:creationId xmlns:a16="http://schemas.microsoft.com/office/drawing/2014/main" id="{F1DE07BF-8211-2F20-8353-82CE0FC6B114}"/>
              </a:ext>
            </a:extLst>
          </p:cNvPr>
          <p:cNvSpPr txBox="1"/>
          <p:nvPr/>
        </p:nvSpPr>
        <p:spPr>
          <a:xfrm>
            <a:off x="7256163" y="3274220"/>
            <a:ext cx="6499654" cy="369332"/>
          </a:xfrm>
          <a:prstGeom prst="rect">
            <a:avLst/>
          </a:prstGeom>
          <a:noFill/>
        </p:spPr>
        <p:txBody>
          <a:bodyPr wrap="square">
            <a:spAutoFit/>
          </a:bodyPr>
          <a:lstStyle/>
          <a:p>
            <a:r>
              <a:rPr lang="en-US" dirty="0"/>
              <a:t>https://</a:t>
            </a:r>
            <a:r>
              <a:rPr lang="en-US" dirty="0" err="1"/>
              <a:t>en.wikipedia.org</a:t>
            </a:r>
            <a:r>
              <a:rPr lang="en-US" dirty="0"/>
              <a:t>/wiki/Uranium-238</a:t>
            </a:r>
          </a:p>
        </p:txBody>
      </p:sp>
      <p:sp>
        <p:nvSpPr>
          <p:cNvPr id="8" name="TextBox 7"/>
          <p:cNvSpPr txBox="1"/>
          <p:nvPr/>
        </p:nvSpPr>
        <p:spPr>
          <a:xfrm>
            <a:off x="420489" y="8830000"/>
            <a:ext cx="6650000" cy="800000"/>
          </a:xfrm>
          <a:prstGeom prst="rect">
            <a:avLst/>
          </a:prstGeom>
          <a:noFill/>
        </p:spPr>
        <p:txBody>
          <a:bodyPr wrap="square">
            <a:spAutoFit/>
          </a:bodyPr>
          <a:lstStyle/>
          <a:p>
            <a:r>
              <a:rPr sz="1100" i="1"/>
              <a:t>Sources: en.wikipedia.org/wiki/Nuclear_fission · en.wikipedia.org/wiki/Uranium-235 · en.wikipedia.org/wiki/Energy_density</a:t>
            </a:r>
          </a:p>
        </p:txBody>
      </p:sp>
      <p:pic>
        <p:nvPicPr>
          <p:cNvPr id="6" name="Picture 5" descr="How will we keep the spacecraft supplied with heat and electricity?&#10;&#10;We could us a power orb. They give off thousands of Watts 24/7. &#10;&#10;Huh? How do you recharge it? &#10;&#10;You don’t. It’s just made of a metal that emits energy. &#10;&#10;OK, come on. Can we please be serious here? &#10;&#10;“For something that’s real, plutonium is so unrealistic.”">
            <a:extLst>
              <a:ext uri="{FF2B5EF4-FFF2-40B4-BE49-F238E27FC236}">
                <a16:creationId xmlns:a16="http://schemas.microsoft.com/office/drawing/2014/main" id="{3C56F912-5746-16FD-D0E8-5B8133F855F0}"/>
              </a:ext>
            </a:extLst>
          </p:cNvPr>
          <p:cNvPicPr>
            <a:picLocks noChangeAspect="1"/>
          </p:cNvPicPr>
          <p:nvPr/>
        </p:nvPicPr>
        <p:blipFill>
          <a:blip r:embed="rId5"/>
          <a:stretch>
            <a:fillRect/>
          </a:stretch>
        </p:blipFill>
        <p:spPr>
          <a:xfrm>
            <a:off x="9729486" y="3688385"/>
            <a:ext cx="3151151" cy="4764692"/>
          </a:xfrm>
          <a:prstGeom prst="rect">
            <a:avLst/>
          </a:prstGeom>
        </p:spPr>
      </p:pic>
      <p:sp>
        <p:nvSpPr>
          <p:cNvPr id="10" name="TextBox 9">
            <a:extLst>
              <a:ext uri="{FF2B5EF4-FFF2-40B4-BE49-F238E27FC236}">
                <a16:creationId xmlns:a16="http://schemas.microsoft.com/office/drawing/2014/main" id="{7A19B3CC-EFD5-489C-682F-93AE9ABECEB1}"/>
              </a:ext>
            </a:extLst>
          </p:cNvPr>
          <p:cNvSpPr txBox="1"/>
          <p:nvPr/>
        </p:nvSpPr>
        <p:spPr>
          <a:xfrm>
            <a:off x="9729486" y="8487540"/>
            <a:ext cx="6874042" cy="369332"/>
          </a:xfrm>
          <a:prstGeom prst="rect">
            <a:avLst/>
          </a:prstGeom>
          <a:noFill/>
        </p:spPr>
        <p:txBody>
          <a:bodyPr wrap="square">
            <a:spAutoFit/>
          </a:bodyPr>
          <a:lstStyle/>
          <a:p>
            <a:r>
              <a:rPr lang="en-US" dirty="0"/>
              <a:t>https://</a:t>
            </a:r>
            <a:r>
              <a:rPr lang="en-US" dirty="0" err="1"/>
              <a:t>xkcd.com</a:t>
            </a:r>
            <a:r>
              <a:rPr lang="en-US" dirty="0"/>
              <a:t>/2115/</a:t>
            </a:r>
          </a:p>
        </p:txBody>
      </p:sp>
    </p:spTree>
    <p:extLst>
      <p:ext uri="{BB962C8B-B14F-4D97-AF65-F5344CB8AC3E}">
        <p14:creationId xmlns:p14="http://schemas.microsoft.com/office/powerpoint/2010/main" val="3776315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B7728-591C-27F5-C262-9E645FAA5D86}"/>
              </a:ext>
            </a:extLst>
          </p:cNvPr>
          <p:cNvSpPr>
            <a:spLocks noGrp="1"/>
          </p:cNvSpPr>
          <p:nvPr>
            <p:ph type="title"/>
          </p:nvPr>
        </p:nvSpPr>
        <p:spPr>
          <a:xfrm>
            <a:off x="420489" y="1368146"/>
            <a:ext cx="11216640" cy="1235456"/>
          </a:xfrm>
        </p:spPr>
        <p:txBody>
          <a:bodyPr/>
          <a:lstStyle/>
          <a:p>
            <a:r>
              <a:rPr lang="en-US" dirty="0"/>
              <a:t>U-235 Reaction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C467C6-AFC8-7D9E-02A8-B99E774E91B6}"/>
                  </a:ext>
                </a:extLst>
              </p:cNvPr>
              <p:cNvSpPr>
                <a:spLocks noGrp="1"/>
              </p:cNvSpPr>
              <p:nvPr>
                <p:ph idx="1"/>
              </p:nvPr>
            </p:nvSpPr>
            <p:spPr>
              <a:xfrm>
                <a:off x="201750" y="2325051"/>
                <a:ext cx="8450796" cy="6366692"/>
              </a:xfrm>
            </p:spPr>
            <p:txBody>
              <a:bodyPr/>
              <a:lstStyle/>
              <a:p>
                <a:pPr marL="228600" indent="-228600">
                  <a:lnSpc>
                    <a:spcPct val="105000"/>
                  </a:lnSpc>
                  <a:spcBef>
                    <a:spcPts val="400"/>
                  </a:spcBef>
                  <a:buFont typeface="Arial"/>
                  <a:buChar char="•"/>
                </a:pPr>
                <a:r>
                  <a:rPr lang="en-US" sz="2400" dirty="0"/>
                  <a:t>A slow (“thermal”) neutron is captured by a U-235 nucleus, forming an excited compound nucleus, U-236*</a:t>
                </a:r>
              </a:p>
              <a:p>
                <a:pPr marL="228600" indent="-228600">
                  <a:lnSpc>
                    <a:spcPct val="105000"/>
                  </a:lnSpc>
                  <a:spcBef>
                    <a:spcPts val="400"/>
                  </a:spcBef>
                  <a:buFont typeface="Arial"/>
                  <a:buChar char="•"/>
                </a:pPr>
                <a:r>
                  <a:rPr lang="en-US" sz="2400" dirty="0"/>
                  <a:t>The excited nucleus splits into two lighter fragments plus 2–3 fast neutrons and gamma rays</a:t>
                </a:r>
              </a:p>
              <a:p>
                <a:pPr marL="571500" lvl="1" indent="-228600">
                  <a:lnSpc>
                    <a:spcPct val="105000"/>
                  </a:lnSpc>
                  <a:spcBef>
                    <a:spcPts val="300"/>
                  </a:spcBef>
                  <a:buFont typeface="Arial"/>
                  <a:buChar char="–"/>
                </a:pPr>
                <a:r>
                  <a:rPr lang="en-US" sz="2000" dirty="0"/>
                  <a:t>Representative channel: n + U-235 → U-236* → Ba-141 + Kr-92 + 3n (one of hundreds of possible fragment pairs)</a:t>
                </a:r>
              </a:p>
              <a:p>
                <a:pPr marL="571500" lvl="1" indent="-228600">
                  <a:lnSpc>
                    <a:spcPct val="105000"/>
                  </a:lnSpc>
                  <a:spcBef>
                    <a:spcPts val="300"/>
                  </a:spcBef>
                  <a:buFont typeface="Arial"/>
                  <a:buChar char="–"/>
                </a:pPr>
                <a14:m>
                  <m:oMath xmlns:m="http://schemas.openxmlformats.org/officeDocument/2006/math">
                    <m:r>
                      <m:rPr>
                        <m:sty m:val="p"/>
                      </m:rPr>
                      <a:rPr lang="en-US" sz="2000" i="1" smtClean="0">
                        <a:latin typeface="Cambria Math" panose="02040503050406030204" pitchFamily="18" charset="0"/>
                      </a:rPr>
                      <m:t>Δ</m:t>
                    </m:r>
                    <m:r>
                      <a:rPr lang="en-US" sz="2000" i="1" smtClean="0">
                        <a:latin typeface="Cambria Math" panose="02040503050406030204" pitchFamily="18" charset="0"/>
                      </a:rPr>
                      <m:t>𝑚</m:t>
                    </m:r>
                    <m:r>
                      <a:rPr lang="en-US" sz="200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m:rPr>
                            <m:nor/>
                          </m:rPr>
                          <a:rPr lang="en-US" sz="2000" i="0">
                            <a:latin typeface="Cambria Math" panose="02040503050406030204" pitchFamily="18" charset="0"/>
                          </a:rPr>
                          <m:t>reactants</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m:rPr>
                            <m:nor/>
                          </m:rPr>
                          <a:rPr lang="en-US" sz="2000" i="0">
                            <a:latin typeface="Cambria Math" panose="02040503050406030204" pitchFamily="18" charset="0"/>
                          </a:rPr>
                          <m:t>products</m:t>
                        </m:r>
                      </m:sub>
                    </m:sSub>
                    <m:r>
                      <a:rPr lang="en-US" sz="2000" i="1">
                        <a:latin typeface="Cambria Math" panose="02040503050406030204" pitchFamily="18" charset="0"/>
                      </a:rPr>
                      <m:t>=236.052595−235.866561=0.186034</m:t>
                    </m:r>
                    <m:r>
                      <m:rPr>
                        <m:nor/>
                      </m:rPr>
                      <a:rPr lang="en-US" sz="2000" i="0">
                        <a:latin typeface="Cambria Math" panose="02040503050406030204" pitchFamily="18" charset="0"/>
                      </a:rPr>
                      <m:t> u</m:t>
                    </m:r>
                  </m:oMath>
                </a14:m>
                <a:endParaRPr lang="en-US" sz="2000" dirty="0"/>
              </a:p>
              <a:p>
                <a:pPr marL="571500" lvl="1" indent="-228600">
                  <a:lnSpc>
                    <a:spcPct val="105000"/>
                  </a:lnSpc>
                  <a:spcBef>
                    <a:spcPts val="300"/>
                  </a:spcBef>
                  <a:buFont typeface="Arial"/>
                  <a:buChar char="–"/>
                </a:pPr>
                <a14:m>
                  <m:oMath xmlns:m="http://schemas.openxmlformats.org/officeDocument/2006/math">
                    <m:r>
                      <m:rPr>
                        <m:sty m:val="p"/>
                      </m:rPr>
                      <a:rPr lang="en-US" sz="2000" i="1" smtClean="0">
                        <a:latin typeface="Cambria Math" panose="02040503050406030204" pitchFamily="18" charset="0"/>
                      </a:rPr>
                      <m:t>Δ</m:t>
                    </m:r>
                    <m:r>
                      <a:rPr lang="en-US" sz="2000" i="1" smtClean="0">
                        <a:latin typeface="Cambria Math" panose="02040503050406030204" pitchFamily="18" charset="0"/>
                      </a:rPr>
                      <m:t>𝐸</m:t>
                    </m:r>
                    <m:r>
                      <a:rPr lang="en-US" sz="2000" i="1" smtClean="0">
                        <a:latin typeface="Cambria Math" panose="02040503050406030204" pitchFamily="18" charset="0"/>
                      </a:rPr>
                      <m:t>=</m:t>
                    </m:r>
                    <m:r>
                      <m:rPr>
                        <m:sty m:val="p"/>
                      </m:rPr>
                      <a:rPr lang="en-US" sz="2000" i="1" smtClean="0">
                        <a:latin typeface="Cambria Math" panose="02040503050406030204" pitchFamily="18" charset="0"/>
                      </a:rPr>
                      <m:t>Δ</m:t>
                    </m:r>
                    <m:r>
                      <a:rPr lang="en-US" sz="2000" i="1" smtClean="0">
                        <a:latin typeface="Cambria Math" panose="02040503050406030204" pitchFamily="18" charset="0"/>
                      </a:rPr>
                      <m:t>𝑚</m:t>
                    </m:r>
                    <m:r>
                      <a:rPr lang="en-US" sz="2000" i="1" smtClean="0">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𝑐</m:t>
                        </m:r>
                      </m:e>
                      <m:sup>
                        <m:r>
                          <a:rPr lang="en-US" sz="2000" i="1">
                            <a:latin typeface="Cambria Math" panose="02040503050406030204" pitchFamily="18" charset="0"/>
                          </a:rPr>
                          <m:t>2</m:t>
                        </m:r>
                      </m:sup>
                    </m:sSup>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0.186034</m:t>
                        </m:r>
                        <m:r>
                          <m:rPr>
                            <m:nor/>
                          </m:rPr>
                          <a:rPr lang="en-US" sz="2000" i="0">
                            <a:latin typeface="Cambria Math" panose="02040503050406030204" pitchFamily="18" charset="0"/>
                          </a:rPr>
                          <m:t> u</m:t>
                        </m:r>
                      </m:e>
                    </m:d>
                    <m:d>
                      <m:dPr>
                        <m:ctrlPr>
                          <a:rPr lang="en-US" sz="2000" i="1">
                            <a:latin typeface="Cambria Math" panose="02040503050406030204" pitchFamily="18" charset="0"/>
                          </a:rPr>
                        </m:ctrlPr>
                      </m:dPr>
                      <m:e>
                        <m:r>
                          <a:rPr lang="en-US" sz="2000" i="1">
                            <a:latin typeface="Cambria Math" panose="02040503050406030204" pitchFamily="18" charset="0"/>
                          </a:rPr>
                          <m:t>931.494</m:t>
                        </m:r>
                        <m:r>
                          <m:rPr>
                            <m:nor/>
                          </m:rPr>
                          <a:rPr lang="en-US" sz="2000" i="0">
                            <a:latin typeface="Cambria Math" panose="02040503050406030204" pitchFamily="18" charset="0"/>
                          </a:rPr>
                          <m:t> MeV/u</m:t>
                        </m:r>
                      </m:e>
                    </m:d>
                    <m:r>
                      <a:rPr lang="en-US" sz="2000" i="1">
                        <a:latin typeface="Cambria Math" panose="02040503050406030204" pitchFamily="18" charset="0"/>
                      </a:rPr>
                      <m:t>≈</m:t>
                    </m:r>
                    <m:r>
                      <a:rPr lang="en-US" sz="2000" b="1" i="1">
                        <a:latin typeface="Cambria Math" panose="02040503050406030204" pitchFamily="18" charset="0"/>
                      </a:rPr>
                      <m:t>𝟏𝟕𝟑</m:t>
                    </m:r>
                    <m:r>
                      <a:rPr lang="en-US" sz="2000" b="1" i="1">
                        <a:latin typeface="Cambria Math" panose="02040503050406030204" pitchFamily="18" charset="0"/>
                      </a:rPr>
                      <m:t>.</m:t>
                    </m:r>
                    <m:r>
                      <a:rPr lang="en-US" sz="2000" b="1" i="1">
                        <a:latin typeface="Cambria Math" panose="02040503050406030204" pitchFamily="18" charset="0"/>
                      </a:rPr>
                      <m:t>𝟑</m:t>
                    </m:r>
                    <m:r>
                      <m:rPr>
                        <m:nor/>
                      </m:rPr>
                      <a:rPr lang="en-US" sz="2000" b="1" i="0">
                        <a:latin typeface="Cambria Math" panose="02040503050406030204" pitchFamily="18" charset="0"/>
                      </a:rPr>
                      <m:t> MeV</m:t>
                    </m:r>
                  </m:oMath>
                </a14:m>
                <a:endParaRPr lang="en-US" sz="2000" b="1" dirty="0"/>
              </a:p>
              <a:p>
                <a:pPr marL="228600" indent="-228600">
                  <a:lnSpc>
                    <a:spcPct val="105000"/>
                  </a:lnSpc>
                  <a:spcBef>
                    <a:spcPts val="400"/>
                  </a:spcBef>
                  <a:buFont typeface="Arial"/>
                  <a:buChar char="•"/>
                </a:pPr>
                <a:r>
                  <a:rPr lang="en-US" sz="2400" dirty="0"/>
                  <a:t>The </a:t>
                </a:r>
                <a:r>
                  <a:rPr lang="en-US" sz="2400" b="1" dirty="0"/>
                  <a:t>small mass difference </a:t>
                </a:r>
                <a:r>
                  <a:rPr lang="en-US" sz="2400" dirty="0"/>
                  <a:t>between U-235 + n and Ba-141+Kr-92 releases </a:t>
                </a:r>
                <a:r>
                  <a:rPr lang="en-US" sz="2400" b="1" dirty="0"/>
                  <a:t>HUGE amounts of energy</a:t>
                </a:r>
              </a:p>
              <a:p>
                <a:pPr marL="228600" indent="-228600">
                  <a:lnSpc>
                    <a:spcPct val="105000"/>
                  </a:lnSpc>
                  <a:spcBef>
                    <a:spcPts val="400"/>
                  </a:spcBef>
                  <a:buFont typeface="Arial"/>
                  <a:buChar char="•"/>
                </a:pPr>
                <a:r>
                  <a:rPr lang="en-US" sz="2400" dirty="0"/>
                  <a:t>Each fission emits 2–3 neutrons, which can strike other U-235 nuclei — sustaining a chain reaction whenever ≥1 neutron per fission causes another fission</a:t>
                </a:r>
              </a:p>
            </p:txBody>
          </p:sp>
        </mc:Choice>
        <mc:Fallback xmlns="">
          <p:sp>
            <p:nvSpPr>
              <p:cNvPr id="3" name="Content Placeholder 2">
                <a:extLst>
                  <a:ext uri="{FF2B5EF4-FFF2-40B4-BE49-F238E27FC236}">
                    <a16:creationId xmlns:a16="http://schemas.microsoft.com/office/drawing/2014/main" id="{D6C467C6-AFC8-7D9E-02A8-B99E774E91B6}"/>
                  </a:ext>
                </a:extLst>
              </p:cNvPr>
              <p:cNvSpPr>
                <a:spLocks noGrp="1" noRot="1" noChangeAspect="1" noMove="1" noResize="1" noEditPoints="1" noAdjustHandles="1" noChangeArrowheads="1" noChangeShapeType="1" noTextEdit="1"/>
              </p:cNvSpPr>
              <p:nvPr>
                <p:ph idx="1"/>
              </p:nvPr>
            </p:nvSpPr>
            <p:spPr>
              <a:xfrm>
                <a:off x="201750" y="2325051"/>
                <a:ext cx="8450796" cy="6366692"/>
              </a:xfrm>
              <a:blipFill>
                <a:blip r:embed="rId3"/>
                <a:stretch>
                  <a:fillRect l="-900" t="-596" r="-300"/>
                </a:stretch>
              </a:blipFill>
            </p:spPr>
            <p:txBody>
              <a:bodyPr/>
              <a:lstStyle/>
              <a:p>
                <a:r>
                  <a:rPr lang="en-US">
                    <a:noFill/>
                  </a:rPr>
                  <a:t> </a:t>
                </a:r>
              </a:p>
            </p:txBody>
          </p:sp>
        </mc:Fallback>
      </mc:AlternateContent>
      <p:sp>
        <p:nvSpPr>
          <p:cNvPr id="4" name="TextBox 3" descr="https://en.wikipedia.org/wiki/Nuclear_fission&#10;&#10;A schematic nuclear fission chain reaction. 1. A uranium-235 atom absorbs a neutron and fissions into two new atoms (fission fragments), releasing three new neutrons and some binding energy. 2. One of those neutrons is absorbed by an atom of uranium-238 and does not continue the reaction. Another neutron is simply lost and does not collide with anything, also not continuing the reaction. However, the one neutron does collide with an atom of uranium-235, which then fissions and releases two neutrons and some binding energy. 3. Both of those neutrons collide with uranium-235 atoms, each of which fissions and releases between one and three neutrons, which can then continue the reaction."/>
          <p:cNvSpPr txBox="1"/>
          <p:nvPr/>
        </p:nvSpPr>
        <p:spPr>
          <a:xfrm>
            <a:off x="420489" y="8830000"/>
            <a:ext cx="11216640" cy="800000"/>
          </a:xfrm>
          <a:prstGeom prst="rect">
            <a:avLst/>
          </a:prstGeom>
          <a:noFill/>
        </p:spPr>
        <p:txBody>
          <a:bodyPr wrap="square">
            <a:spAutoFit/>
          </a:bodyPr>
          <a:lstStyle/>
          <a:p>
            <a:r>
              <a:rPr sz="1200" i="1" dirty="0"/>
              <a:t>Sources: </a:t>
            </a:r>
            <a:r>
              <a:rPr sz="1200" i="1" dirty="0" err="1"/>
              <a:t>en.wikipedia.org</a:t>
            </a:r>
            <a:r>
              <a:rPr sz="1200" i="1" dirty="0"/>
              <a:t>/wiki/</a:t>
            </a:r>
            <a:r>
              <a:rPr sz="1200" i="1" dirty="0" err="1"/>
              <a:t>Nuclear_fission</a:t>
            </a:r>
            <a:r>
              <a:rPr sz="1200" i="1" dirty="0"/>
              <a:t> · </a:t>
            </a:r>
            <a:r>
              <a:rPr sz="1200" i="1" dirty="0" err="1"/>
              <a:t>en.wikipedia.org</a:t>
            </a:r>
            <a:r>
              <a:rPr sz="1200" i="1" dirty="0"/>
              <a:t>/wiki/Uranium-235</a:t>
            </a:r>
          </a:p>
          <a:p>
            <a:r>
              <a:rPr sz="1200" i="1" dirty="0"/>
              <a:t>Image: “Fission chain </a:t>
            </a:r>
            <a:r>
              <a:rPr sz="1200" i="1" dirty="0" err="1"/>
              <a:t>reaction.svg</a:t>
            </a:r>
            <a:r>
              <a:rPr sz="1200" i="1" dirty="0"/>
              <a:t>”, </a:t>
            </a:r>
            <a:r>
              <a:rPr sz="1200" i="1" dirty="0" err="1"/>
              <a:t>User:Fastfission</a:t>
            </a:r>
            <a:r>
              <a:rPr sz="1200" i="1" dirty="0"/>
              <a:t> — public domain — </a:t>
            </a:r>
            <a:r>
              <a:rPr sz="1200" i="1" dirty="0" err="1"/>
              <a:t>commons.wikimedia.org</a:t>
            </a:r>
            <a:r>
              <a:rPr sz="1200" i="1" dirty="0"/>
              <a:t>/wiki/</a:t>
            </a:r>
            <a:r>
              <a:rPr sz="1200" i="1" dirty="0" err="1"/>
              <a:t>File:Fission_chain_reaction.svg</a:t>
            </a:r>
            <a:endParaRPr sz="1200" i="1" dirty="0"/>
          </a:p>
        </p:txBody>
      </p:sp>
      <p:pic>
        <p:nvPicPr>
          <p:cNvPr id="5" name="Picture 4"/>
          <p:cNvPicPr>
            <a:picLocks noChangeAspect="1"/>
          </p:cNvPicPr>
          <p:nvPr/>
        </p:nvPicPr>
        <p:blipFill>
          <a:blip r:embed="rId4"/>
          <a:stretch>
            <a:fillRect/>
          </a:stretch>
        </p:blipFill>
        <p:spPr>
          <a:xfrm>
            <a:off x="8433806" y="1368146"/>
            <a:ext cx="4570994" cy="7045045"/>
          </a:xfrm>
          <a:prstGeom prst="rect">
            <a:avLst/>
          </a:prstGeom>
        </p:spPr>
      </p:pic>
    </p:spTree>
    <p:extLst>
      <p:ext uri="{BB962C8B-B14F-4D97-AF65-F5344CB8AC3E}">
        <p14:creationId xmlns:p14="http://schemas.microsoft.com/office/powerpoint/2010/main" val="4048603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C66BD-1E00-2FF9-F1F7-EB67AE666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79AEF-270E-C94F-2A86-406A66FA1225}"/>
              </a:ext>
            </a:extLst>
          </p:cNvPr>
          <p:cNvSpPr>
            <a:spLocks noGrp="1"/>
          </p:cNvSpPr>
          <p:nvPr>
            <p:ph type="title"/>
          </p:nvPr>
        </p:nvSpPr>
        <p:spPr/>
        <p:txBody>
          <a:bodyPr/>
          <a:lstStyle/>
          <a:p>
            <a:r>
              <a:rPr lang="en-US" dirty="0"/>
              <a:t>U-238 to Pu-239 Reaction</a:t>
            </a:r>
          </a:p>
        </p:txBody>
      </p:sp>
      <p:sp>
        <p:nvSpPr>
          <p:cNvPr id="3" name="Content Placeholder 2">
            <a:extLst>
              <a:ext uri="{FF2B5EF4-FFF2-40B4-BE49-F238E27FC236}">
                <a16:creationId xmlns:a16="http://schemas.microsoft.com/office/drawing/2014/main" id="{592A5EBA-C0F1-3148-CE56-BF849A1C94B0}"/>
              </a:ext>
            </a:extLst>
          </p:cNvPr>
          <p:cNvSpPr>
            <a:spLocks noGrp="1"/>
          </p:cNvSpPr>
          <p:nvPr>
            <p:ph idx="1"/>
          </p:nvPr>
        </p:nvSpPr>
        <p:spPr>
          <a:xfrm>
            <a:off x="420489" y="3081715"/>
            <a:ext cx="6894711" cy="5450000"/>
          </a:xfrm>
        </p:spPr>
        <p:txBody>
          <a:bodyPr/>
          <a:lstStyle/>
          <a:p>
            <a:pPr marL="228600" indent="-228600">
              <a:lnSpc>
                <a:spcPct val="105000"/>
              </a:lnSpc>
              <a:spcBef>
                <a:spcPts val="400"/>
              </a:spcBef>
              <a:buFont typeface="Arial"/>
              <a:buChar char="•"/>
            </a:pPr>
            <a:r>
              <a:rPr lang="en-US" sz="2400" dirty="0"/>
              <a:t>U-238 is 99.27% of natural uranium. It is “fertile,” not fissile — it won't sustain a chain reaction, but it can absorb a neutron</a:t>
            </a:r>
          </a:p>
          <a:p>
            <a:pPr marL="228600" indent="-228600">
              <a:lnSpc>
                <a:spcPct val="105000"/>
              </a:lnSpc>
              <a:spcBef>
                <a:spcPts val="400"/>
              </a:spcBef>
              <a:buFont typeface="Arial"/>
              <a:buChar char="•"/>
            </a:pPr>
            <a:r>
              <a:rPr lang="en-US" sz="2400" dirty="0"/>
              <a:t>Step 1 — neutron capture: n + U-238 → U-239</a:t>
            </a:r>
          </a:p>
          <a:p>
            <a:pPr marL="228600" indent="-228600">
              <a:lnSpc>
                <a:spcPct val="105000"/>
              </a:lnSpc>
              <a:spcBef>
                <a:spcPts val="400"/>
              </a:spcBef>
              <a:buFont typeface="Arial"/>
              <a:buChar char="•"/>
            </a:pPr>
            <a:r>
              <a:rPr lang="en-US" sz="2400" dirty="0"/>
              <a:t>Step 2 — beta decay: U-239 → Np-239 + e⁻ + antineutrino  (half-life 23.45 min)</a:t>
            </a:r>
          </a:p>
          <a:p>
            <a:pPr marL="228600" indent="-228600">
              <a:lnSpc>
                <a:spcPct val="105000"/>
              </a:lnSpc>
              <a:spcBef>
                <a:spcPts val="400"/>
              </a:spcBef>
              <a:buFont typeface="Arial"/>
              <a:buChar char="•"/>
            </a:pPr>
            <a:r>
              <a:rPr lang="en-US" sz="2400" dirty="0"/>
              <a:t>Step 3 — beta decay: Np-239 → Pu-239 + e⁻ + antineutrino  (half-life 2.356 days)</a:t>
            </a:r>
          </a:p>
          <a:p>
            <a:pPr marL="228600" indent="-228600">
              <a:lnSpc>
                <a:spcPct val="105000"/>
              </a:lnSpc>
              <a:spcBef>
                <a:spcPts val="400"/>
              </a:spcBef>
              <a:buFont typeface="Arial"/>
              <a:buChar char="•"/>
            </a:pPr>
            <a:r>
              <a:rPr lang="en-US" sz="2400" dirty="0"/>
              <a:t>The result, Pu-239, is fissile (half-life ~24,100 yr) and can itself fuel a reactor or a weapon</a:t>
            </a:r>
          </a:p>
          <a:p>
            <a:pPr marL="228600" indent="-228600">
              <a:lnSpc>
                <a:spcPct val="105000"/>
              </a:lnSpc>
              <a:spcBef>
                <a:spcPts val="400"/>
              </a:spcBef>
              <a:buFont typeface="Arial"/>
              <a:buChar char="•"/>
            </a:pPr>
            <a:r>
              <a:rPr lang="en-US" sz="2400" dirty="0"/>
              <a:t>This exact sequence is how “breeder” reactors convert abundant, non-fissile U-238 into usable fuel (see Slide 7)</a:t>
            </a:r>
          </a:p>
        </p:txBody>
      </p:sp>
      <p:sp>
        <p:nvSpPr>
          <p:cNvPr id="4" name="TextBox 3"/>
          <p:cNvSpPr txBox="1"/>
          <p:nvPr/>
        </p:nvSpPr>
        <p:spPr>
          <a:xfrm>
            <a:off x="420489" y="8830000"/>
            <a:ext cx="11216640" cy="800000"/>
          </a:xfrm>
          <a:prstGeom prst="rect">
            <a:avLst/>
          </a:prstGeom>
          <a:noFill/>
        </p:spPr>
        <p:txBody>
          <a:bodyPr wrap="square">
            <a:spAutoFit/>
          </a:bodyPr>
          <a:lstStyle/>
          <a:p>
            <a:r>
              <a:rPr sz="1200" i="1"/>
              <a:t>Sources: en.wikipedia.org/wiki/Plutonium-239 · en.wikipedia.org/wiki/Uranium-238 · en.wikipedia.org/wiki/Isotopes_of_uranium · en.wikipedia.org/wiki/Isotopes_of_neptunium</a:t>
            </a:r>
          </a:p>
          <a:p>
            <a:r>
              <a:rPr sz="1200" i="1"/>
              <a:t>Image not added: “Plutonium ring.jpg” was flagged NON-FREE/CHECK by the fetch script (license shows only “Attribution”, no confirmed license URL) — verify rights on Commons before using it: commons.wikimedia.org/wiki/File:Plutonium_ring.jpg</a:t>
            </a:r>
          </a:p>
        </p:txBody>
      </p:sp>
      <p:pic>
        <p:nvPicPr>
          <p:cNvPr id="5" name="Picture 4" descr="Plutonium-239 generation&#10;The capture of a neutron by a nucleus of uranium-238 leads to the formation within a few days of a nucleus of fissile plutonium-239. The nucleus of uranium-239 resulting from the capture of the neutron is radioactive beta-minus. By emitting an electron and an antineutrino, it becomes neptunium-239, which being itself unstable transforms through a second beta-decay into plutonium-239.&#10;© IN2P3">
            <a:extLst>
              <a:ext uri="{FF2B5EF4-FFF2-40B4-BE49-F238E27FC236}">
                <a16:creationId xmlns:a16="http://schemas.microsoft.com/office/drawing/2014/main" id="{A6E0FDB0-4E4B-0FAD-4506-E37D8CC4361E}"/>
              </a:ext>
            </a:extLst>
          </p:cNvPr>
          <p:cNvPicPr>
            <a:picLocks noChangeAspect="1"/>
          </p:cNvPicPr>
          <p:nvPr/>
        </p:nvPicPr>
        <p:blipFill>
          <a:blip r:embed="rId2"/>
          <a:stretch>
            <a:fillRect/>
          </a:stretch>
        </p:blipFill>
        <p:spPr>
          <a:xfrm>
            <a:off x="7315200" y="2783430"/>
            <a:ext cx="5520127" cy="2815265"/>
          </a:xfrm>
          <a:prstGeom prst="rect">
            <a:avLst/>
          </a:prstGeom>
        </p:spPr>
      </p:pic>
      <p:sp>
        <p:nvSpPr>
          <p:cNvPr id="7" name="TextBox 6">
            <a:extLst>
              <a:ext uri="{FF2B5EF4-FFF2-40B4-BE49-F238E27FC236}">
                <a16:creationId xmlns:a16="http://schemas.microsoft.com/office/drawing/2014/main" id="{F455A928-699E-B748-37FF-7855B5C3186A}"/>
              </a:ext>
            </a:extLst>
          </p:cNvPr>
          <p:cNvSpPr txBox="1"/>
          <p:nvPr/>
        </p:nvSpPr>
        <p:spPr>
          <a:xfrm>
            <a:off x="7315199" y="5598695"/>
            <a:ext cx="5520128" cy="276999"/>
          </a:xfrm>
          <a:prstGeom prst="rect">
            <a:avLst/>
          </a:prstGeom>
          <a:noFill/>
        </p:spPr>
        <p:txBody>
          <a:bodyPr wrap="square">
            <a:spAutoFit/>
          </a:bodyPr>
          <a:lstStyle/>
          <a:p>
            <a:r>
              <a:rPr lang="en-US" sz="1200" dirty="0"/>
              <a:t>https://</a:t>
            </a:r>
            <a:r>
              <a:rPr lang="en-US" sz="1200" dirty="0" err="1"/>
              <a:t>radioactivity.eu.com</a:t>
            </a:r>
            <a:r>
              <a:rPr lang="en-US" sz="1200" dirty="0"/>
              <a:t>/articles/</a:t>
            </a:r>
            <a:r>
              <a:rPr lang="en-US" sz="1200" dirty="0" err="1"/>
              <a:t>nuclearenergy</a:t>
            </a:r>
            <a:r>
              <a:rPr lang="en-US" sz="1200" dirty="0"/>
              <a:t>/plutonium_239_formation</a:t>
            </a:r>
          </a:p>
        </p:txBody>
      </p:sp>
      <p:sp>
        <p:nvSpPr>
          <p:cNvPr id="6" name="TextBox 5">
            <a:extLst>
              <a:ext uri="{FF2B5EF4-FFF2-40B4-BE49-F238E27FC236}">
                <a16:creationId xmlns:a16="http://schemas.microsoft.com/office/drawing/2014/main" id="{E397D1F3-E290-ACC9-BFDD-CF430983B410}"/>
              </a:ext>
            </a:extLst>
          </p:cNvPr>
          <p:cNvSpPr txBox="1"/>
          <p:nvPr/>
        </p:nvSpPr>
        <p:spPr>
          <a:xfrm>
            <a:off x="9763760" y="8553001"/>
            <a:ext cx="3332480" cy="369332"/>
          </a:xfrm>
          <a:prstGeom prst="rect">
            <a:avLst/>
          </a:prstGeom>
          <a:noFill/>
        </p:spPr>
        <p:txBody>
          <a:bodyPr wrap="square" rtlCol="0">
            <a:spAutoFit/>
          </a:bodyPr>
          <a:lstStyle/>
          <a:p>
            <a:r>
              <a:rPr lang="en-US" dirty="0"/>
              <a:t>Claude organized this slide</a:t>
            </a:r>
          </a:p>
        </p:txBody>
      </p:sp>
    </p:spTree>
    <p:extLst>
      <p:ext uri="{BB962C8B-B14F-4D97-AF65-F5344CB8AC3E}">
        <p14:creationId xmlns:p14="http://schemas.microsoft.com/office/powerpoint/2010/main" val="4040413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AE222-9E04-D881-09F2-65225449917C}"/>
              </a:ext>
            </a:extLst>
          </p:cNvPr>
          <p:cNvSpPr>
            <a:spLocks noGrp="1"/>
          </p:cNvSpPr>
          <p:nvPr>
            <p:ph type="title"/>
          </p:nvPr>
        </p:nvSpPr>
        <p:spPr>
          <a:xfrm>
            <a:off x="420489" y="1448438"/>
            <a:ext cx="11216640" cy="1235456"/>
          </a:xfrm>
        </p:spPr>
        <p:txBody>
          <a:bodyPr/>
          <a:lstStyle/>
          <a:p>
            <a:r>
              <a:rPr lang="en-US" dirty="0"/>
              <a:t>Enriching Uranium</a:t>
            </a:r>
          </a:p>
        </p:txBody>
      </p:sp>
      <p:sp>
        <p:nvSpPr>
          <p:cNvPr id="3" name="Content Placeholder 2">
            <a:extLst>
              <a:ext uri="{FF2B5EF4-FFF2-40B4-BE49-F238E27FC236}">
                <a16:creationId xmlns:a16="http://schemas.microsoft.com/office/drawing/2014/main" id="{6596650B-1DD8-059D-6DAB-196D660F7024}"/>
              </a:ext>
            </a:extLst>
          </p:cNvPr>
          <p:cNvSpPr>
            <a:spLocks noGrp="1"/>
          </p:cNvSpPr>
          <p:nvPr>
            <p:ph idx="1"/>
          </p:nvPr>
        </p:nvSpPr>
        <p:spPr>
          <a:xfrm>
            <a:off x="420488" y="2504199"/>
            <a:ext cx="8125287" cy="5450000"/>
          </a:xfrm>
        </p:spPr>
        <p:txBody>
          <a:bodyPr/>
          <a:lstStyle/>
          <a:p>
            <a:pPr marL="228600" indent="-228600">
              <a:lnSpc>
                <a:spcPct val="105000"/>
              </a:lnSpc>
              <a:spcBef>
                <a:spcPts val="400"/>
              </a:spcBef>
              <a:buFont typeface="Arial"/>
              <a:buChar char="•"/>
            </a:pPr>
            <a:r>
              <a:rPr lang="en-US" sz="2000" dirty="0"/>
              <a:t>Natural uranium is ~0.72% U-235 (fissile) and ~99.27% U-238 (fertile) — too dilute in U-235 for most reactors</a:t>
            </a:r>
          </a:p>
          <a:p>
            <a:pPr marL="228600" indent="-228600">
              <a:lnSpc>
                <a:spcPct val="105000"/>
              </a:lnSpc>
              <a:spcBef>
                <a:spcPts val="400"/>
              </a:spcBef>
              <a:buFont typeface="Arial"/>
              <a:buChar char="•"/>
            </a:pPr>
            <a:r>
              <a:rPr lang="en-US" sz="2000" dirty="0"/>
              <a:t>Uranium is converted to uranium hexafluoride gas (UF₆), then spun at high speed in gas centrifuges: heavier U-238 drifts outward, lighter U-235 concentrates near the axis</a:t>
            </a:r>
          </a:p>
          <a:p>
            <a:pPr marL="571500" lvl="1" indent="-228600">
              <a:lnSpc>
                <a:spcPct val="105000"/>
              </a:lnSpc>
              <a:spcBef>
                <a:spcPts val="300"/>
              </a:spcBef>
              <a:buFont typeface="Arial"/>
              <a:buChar char="–"/>
            </a:pPr>
            <a:r>
              <a:rPr lang="en-US" sz="1800" dirty="0"/>
              <a:t>Each stage shifts the ratio only slightly (separation factor ≈ 1.3), so thousands of centrifuges are linked in cascades</a:t>
            </a:r>
          </a:p>
          <a:p>
            <a:pPr marL="571500" lvl="1" indent="-228600">
              <a:lnSpc>
                <a:spcPct val="105000"/>
              </a:lnSpc>
              <a:spcBef>
                <a:spcPts val="300"/>
              </a:spcBef>
              <a:buFont typeface="Arial"/>
              <a:buChar char="–"/>
            </a:pPr>
            <a:r>
              <a:rPr lang="en-US" sz="1800" dirty="0"/>
              <a:t>Modern centrifuges use ~40–50 kWh per separative work unit (SWU) — far less than old gaseous diffusion (~2,400–2,500 kWh/SWU)</a:t>
            </a:r>
          </a:p>
          <a:p>
            <a:pPr marL="228600" indent="-228600">
              <a:lnSpc>
                <a:spcPct val="105000"/>
              </a:lnSpc>
              <a:spcBef>
                <a:spcPts val="400"/>
              </a:spcBef>
              <a:buFont typeface="Arial"/>
              <a:buChar char="•"/>
            </a:pPr>
            <a:r>
              <a:rPr lang="en-US" sz="2000" dirty="0"/>
              <a:t>Enrichment levels of U-235 : </a:t>
            </a:r>
          </a:p>
          <a:p>
            <a:pPr marL="716295" lvl="1" indent="-228600">
              <a:lnSpc>
                <a:spcPct val="105000"/>
              </a:lnSpc>
              <a:spcBef>
                <a:spcPts val="400"/>
              </a:spcBef>
              <a:buFont typeface="Arial"/>
              <a:buChar char="•"/>
            </a:pPr>
            <a:r>
              <a:rPr lang="en-US" sz="2000" dirty="0"/>
              <a:t>reactor fuel (low) ~3–5% </a:t>
            </a:r>
          </a:p>
          <a:p>
            <a:pPr marL="716295" lvl="1" indent="-228600">
              <a:lnSpc>
                <a:spcPct val="105000"/>
              </a:lnSpc>
              <a:spcBef>
                <a:spcPts val="400"/>
              </a:spcBef>
              <a:buFont typeface="Arial"/>
              <a:buChar char="•"/>
            </a:pPr>
            <a:r>
              <a:rPr lang="en-US" sz="2000" dirty="0"/>
              <a:t>advanced/small reactors 5–20% </a:t>
            </a:r>
          </a:p>
          <a:p>
            <a:pPr marL="716295" lvl="1" indent="-228600">
              <a:lnSpc>
                <a:spcPct val="105000"/>
              </a:lnSpc>
              <a:spcBef>
                <a:spcPts val="400"/>
              </a:spcBef>
              <a:buFont typeface="Arial"/>
              <a:buChar char="•"/>
            </a:pPr>
            <a:r>
              <a:rPr lang="en-US" sz="2000" dirty="0"/>
              <a:t>highly enriched ≥20%</a:t>
            </a:r>
          </a:p>
          <a:p>
            <a:pPr marL="716295" lvl="1" indent="-228600">
              <a:lnSpc>
                <a:spcPct val="105000"/>
              </a:lnSpc>
              <a:spcBef>
                <a:spcPts val="400"/>
              </a:spcBef>
              <a:buFont typeface="Arial"/>
              <a:buChar char="•"/>
            </a:pPr>
            <a:r>
              <a:rPr lang="en-US" sz="2000" dirty="0"/>
              <a:t>weapons-grade typically ≥85–90%</a:t>
            </a:r>
          </a:p>
          <a:p>
            <a:pPr marL="228600" indent="-228600">
              <a:lnSpc>
                <a:spcPct val="105000"/>
              </a:lnSpc>
              <a:spcBef>
                <a:spcPts val="400"/>
              </a:spcBef>
              <a:buFont typeface="Arial"/>
              <a:buChar char="•"/>
            </a:pPr>
            <a:r>
              <a:rPr lang="en-US" sz="2000" dirty="0"/>
              <a:t>Leftover “depleted” uranium (mostly U-238) is used for radiation shielding, armor-piercing rounds, and breeder-reactor “blanket” fuel</a:t>
            </a:r>
          </a:p>
        </p:txBody>
      </p:sp>
      <p:sp>
        <p:nvSpPr>
          <p:cNvPr id="4" name="TextBox 3"/>
          <p:cNvSpPr txBox="1"/>
          <p:nvPr/>
        </p:nvSpPr>
        <p:spPr>
          <a:xfrm>
            <a:off x="420489" y="8552568"/>
            <a:ext cx="7937448" cy="830997"/>
          </a:xfrm>
          <a:prstGeom prst="rect">
            <a:avLst/>
          </a:prstGeom>
          <a:noFill/>
        </p:spPr>
        <p:txBody>
          <a:bodyPr wrap="square">
            <a:spAutoFit/>
          </a:bodyPr>
          <a:lstStyle/>
          <a:p>
            <a:r>
              <a:rPr sz="1200" i="1" dirty="0"/>
              <a:t>Sources: </a:t>
            </a:r>
            <a:r>
              <a:rPr sz="1200" i="1" dirty="0" err="1"/>
              <a:t>en.wikipedia.org</a:t>
            </a:r>
            <a:r>
              <a:rPr sz="1200" i="1" dirty="0"/>
              <a:t>/wiki/</a:t>
            </a:r>
            <a:r>
              <a:rPr sz="1200" i="1" dirty="0" err="1"/>
              <a:t>Enriched_uranium</a:t>
            </a:r>
            <a:r>
              <a:rPr sz="1200" i="1" dirty="0"/>
              <a:t> · </a:t>
            </a:r>
            <a:r>
              <a:rPr sz="1200" i="1" dirty="0" err="1"/>
              <a:t>en.wikipedia.org</a:t>
            </a:r>
            <a:r>
              <a:rPr sz="1200" i="1" dirty="0"/>
              <a:t>/wiki/Uranium-235 · </a:t>
            </a:r>
            <a:r>
              <a:rPr sz="1200" i="1" dirty="0" err="1"/>
              <a:t>en.wikipedia.org</a:t>
            </a:r>
            <a:r>
              <a:rPr sz="1200" i="1" dirty="0"/>
              <a:t>/wiki/</a:t>
            </a:r>
            <a:r>
              <a:rPr sz="1200" i="1" dirty="0" err="1"/>
              <a:t>Gas_centrifuge</a:t>
            </a:r>
            <a:endParaRPr sz="1200" i="1" dirty="0"/>
          </a:p>
          <a:p>
            <a:r>
              <a:rPr sz="1200" i="1" dirty="0"/>
              <a:t>Image: “Zippe-type gas </a:t>
            </a:r>
            <a:r>
              <a:rPr sz="1200" i="1" dirty="0" err="1"/>
              <a:t>centrifuge.svg</a:t>
            </a:r>
            <a:r>
              <a:rPr sz="1200" i="1" dirty="0"/>
              <a:t>” — public domain — </a:t>
            </a:r>
            <a:r>
              <a:rPr sz="1200" i="1" dirty="0" err="1"/>
              <a:t>commons.wikimedia.org</a:t>
            </a:r>
            <a:r>
              <a:rPr sz="1200" i="1" dirty="0"/>
              <a:t>/wiki/</a:t>
            </a:r>
            <a:r>
              <a:rPr sz="1200" i="1" dirty="0" err="1"/>
              <a:t>File:Zippe-type_gas_centrifuge.svg</a:t>
            </a:r>
            <a:endParaRPr sz="1200" i="1" dirty="0"/>
          </a:p>
        </p:txBody>
      </p:sp>
      <p:pic>
        <p:nvPicPr>
          <p:cNvPr id="5" name="Picture 4" descr="Diagram of the principles of a Zippe-type gas centrifuge with U-238 represented in dark blue and U-235 represented in light blue. https://en.wikipedia.org/wiki/Zippe-type_centrifuge"/>
          <p:cNvPicPr>
            <a:picLocks noChangeAspect="1"/>
          </p:cNvPicPr>
          <p:nvPr/>
        </p:nvPicPr>
        <p:blipFill>
          <a:blip r:embed="rId2"/>
          <a:stretch>
            <a:fillRect/>
          </a:stretch>
        </p:blipFill>
        <p:spPr>
          <a:xfrm>
            <a:off x="8471487" y="306025"/>
            <a:ext cx="4112824" cy="7045783"/>
          </a:xfrm>
          <a:prstGeom prst="rect">
            <a:avLst/>
          </a:prstGeom>
        </p:spPr>
      </p:pic>
      <p:sp>
        <p:nvSpPr>
          <p:cNvPr id="7" name="TextBox 6">
            <a:extLst>
              <a:ext uri="{FF2B5EF4-FFF2-40B4-BE49-F238E27FC236}">
                <a16:creationId xmlns:a16="http://schemas.microsoft.com/office/drawing/2014/main" id="{AACA68D2-EDFF-DC39-6E6A-82249328CFEE}"/>
              </a:ext>
            </a:extLst>
          </p:cNvPr>
          <p:cNvSpPr txBox="1"/>
          <p:nvPr/>
        </p:nvSpPr>
        <p:spPr>
          <a:xfrm>
            <a:off x="8955505" y="8953001"/>
            <a:ext cx="6505072" cy="276999"/>
          </a:xfrm>
          <a:prstGeom prst="rect">
            <a:avLst/>
          </a:prstGeom>
          <a:noFill/>
        </p:spPr>
        <p:txBody>
          <a:bodyPr wrap="square">
            <a:spAutoFit/>
          </a:bodyPr>
          <a:lstStyle/>
          <a:p>
            <a:r>
              <a:rPr lang="en-US" sz="1200" dirty="0"/>
              <a:t>https://</a:t>
            </a:r>
            <a:r>
              <a:rPr lang="en-US" sz="1200" dirty="0" err="1"/>
              <a:t>en.wikipedia.org</a:t>
            </a:r>
            <a:r>
              <a:rPr lang="en-US" sz="1200" dirty="0"/>
              <a:t>/wiki/Zippe-</a:t>
            </a:r>
            <a:r>
              <a:rPr lang="en-US" sz="1200" dirty="0" err="1"/>
              <a:t>type_centrifuge</a:t>
            </a:r>
            <a:endParaRPr lang="en-US" sz="1200" dirty="0"/>
          </a:p>
        </p:txBody>
      </p:sp>
      <p:sp>
        <p:nvSpPr>
          <p:cNvPr id="11" name="TextBox 10">
            <a:extLst>
              <a:ext uri="{FF2B5EF4-FFF2-40B4-BE49-F238E27FC236}">
                <a16:creationId xmlns:a16="http://schemas.microsoft.com/office/drawing/2014/main" id="{F938F989-A998-9D77-7033-05E033A09F60}"/>
              </a:ext>
            </a:extLst>
          </p:cNvPr>
          <p:cNvSpPr txBox="1"/>
          <p:nvPr/>
        </p:nvSpPr>
        <p:spPr>
          <a:xfrm>
            <a:off x="9492958" y="7213741"/>
            <a:ext cx="2895169" cy="1754326"/>
          </a:xfrm>
          <a:prstGeom prst="rect">
            <a:avLst/>
          </a:prstGeom>
          <a:noFill/>
        </p:spPr>
        <p:txBody>
          <a:bodyPr wrap="square">
            <a:spAutoFit/>
          </a:bodyPr>
          <a:lstStyle/>
          <a:p>
            <a:r>
              <a:rPr lang="en-US" dirty="0"/>
              <a:t>Diagram of the principles of a Zippe-type gas centrifuge with U-238 represented in dark blue and U-235 represented in light blue. </a:t>
            </a:r>
          </a:p>
        </p:txBody>
      </p:sp>
      <p:sp>
        <p:nvSpPr>
          <p:cNvPr id="6" name="TextBox 5">
            <a:extLst>
              <a:ext uri="{FF2B5EF4-FFF2-40B4-BE49-F238E27FC236}">
                <a16:creationId xmlns:a16="http://schemas.microsoft.com/office/drawing/2014/main" id="{4A55FEAE-341B-B66B-DB74-CA1749E14165}"/>
              </a:ext>
            </a:extLst>
          </p:cNvPr>
          <p:cNvSpPr txBox="1"/>
          <p:nvPr/>
        </p:nvSpPr>
        <p:spPr>
          <a:xfrm>
            <a:off x="8036560" y="9316433"/>
            <a:ext cx="3332480" cy="369332"/>
          </a:xfrm>
          <a:prstGeom prst="rect">
            <a:avLst/>
          </a:prstGeom>
          <a:noFill/>
        </p:spPr>
        <p:txBody>
          <a:bodyPr wrap="square" rtlCol="0">
            <a:spAutoFit/>
          </a:bodyPr>
          <a:lstStyle/>
          <a:p>
            <a:r>
              <a:rPr lang="en-US" dirty="0"/>
              <a:t>Claude organized this slide</a:t>
            </a:r>
          </a:p>
        </p:txBody>
      </p:sp>
    </p:spTree>
    <p:extLst>
      <p:ext uri="{BB962C8B-B14F-4D97-AF65-F5344CB8AC3E}">
        <p14:creationId xmlns:p14="http://schemas.microsoft.com/office/powerpoint/2010/main" val="849991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2B20-71EB-8F89-248D-8BB6CD22532A}"/>
              </a:ext>
            </a:extLst>
          </p:cNvPr>
          <p:cNvSpPr>
            <a:spLocks noGrp="1"/>
          </p:cNvSpPr>
          <p:nvPr>
            <p:ph type="title"/>
          </p:nvPr>
        </p:nvSpPr>
        <p:spPr>
          <a:xfrm>
            <a:off x="491609" y="1368204"/>
            <a:ext cx="11216640" cy="1235456"/>
          </a:xfrm>
        </p:spPr>
        <p:txBody>
          <a:bodyPr/>
          <a:lstStyle/>
          <a:p>
            <a:r>
              <a:rPr lang="en-US" dirty="0"/>
              <a:t>In the news : Iran nuclear program</a:t>
            </a:r>
          </a:p>
        </p:txBody>
      </p:sp>
      <p:sp>
        <p:nvSpPr>
          <p:cNvPr id="3" name="Content Placeholder 2">
            <a:extLst>
              <a:ext uri="{FF2B5EF4-FFF2-40B4-BE49-F238E27FC236}">
                <a16:creationId xmlns:a16="http://schemas.microsoft.com/office/drawing/2014/main" id="{8F82FA39-A208-42F6-9322-8B1B4E99D637}"/>
              </a:ext>
            </a:extLst>
          </p:cNvPr>
          <p:cNvSpPr>
            <a:spLocks noGrp="1"/>
          </p:cNvSpPr>
          <p:nvPr>
            <p:ph idx="1"/>
          </p:nvPr>
        </p:nvSpPr>
        <p:spPr>
          <a:xfrm>
            <a:off x="339209" y="2430467"/>
            <a:ext cx="7778631" cy="6835453"/>
          </a:xfrm>
        </p:spPr>
        <p:txBody>
          <a:bodyPr>
            <a:normAutofit/>
          </a:bodyPr>
          <a:lstStyle/>
          <a:p>
            <a:r>
              <a:rPr sz="1400" i="1" dirty="0">
                <a:hlinkClick r:id="rId3"/>
              </a:rPr>
              <a:t>Source: Wikipedia - Nuclear program of Iran</a:t>
            </a:r>
          </a:p>
          <a:p>
            <a:pPr lvl="1"/>
            <a:r>
              <a:rPr sz="1400" dirty="0"/>
              <a:t>1957 - US-Iran "Atoms for Peace" civil nuclear deal</a:t>
            </a:r>
          </a:p>
          <a:p>
            <a:pPr lvl="1"/>
            <a:r>
              <a:rPr sz="1400" dirty="0"/>
              <a:t>1970 - Iran signs Non-Proliferation Treaty</a:t>
            </a:r>
          </a:p>
          <a:p>
            <a:pPr lvl="1"/>
            <a:r>
              <a:rPr sz="1400" dirty="0"/>
              <a:t>1979 - Revolution stalls program; Iran-Iraq War damages Bushehr</a:t>
            </a:r>
          </a:p>
          <a:p>
            <a:pPr lvl="1"/>
            <a:r>
              <a:rPr sz="1400" dirty="0"/>
              <a:t>2002 - Natanz enrichment site, Arak reactor exposed</a:t>
            </a:r>
          </a:p>
          <a:p>
            <a:pPr lvl="1"/>
            <a:r>
              <a:rPr sz="1400" dirty="0"/>
              <a:t>2003-2005 - IAEA finds non-compliance; EU talks stall</a:t>
            </a:r>
          </a:p>
          <a:p>
            <a:pPr lvl="1"/>
            <a:r>
              <a:rPr sz="1400" dirty="0"/>
              <a:t>2005-2010 - UN sanctions; Stuxnet cyberattack hits centrifuges</a:t>
            </a:r>
          </a:p>
          <a:p>
            <a:pPr lvl="1"/>
            <a:r>
              <a:rPr sz="1400" dirty="0"/>
              <a:t>2009 - Secret Fordow enrichment site revealed</a:t>
            </a:r>
          </a:p>
          <a:p>
            <a:pPr lvl="1"/>
            <a:r>
              <a:rPr sz="1400" dirty="0"/>
              <a:t>2010-2012 - Four Iranian nuclear scientists assassinated</a:t>
            </a:r>
          </a:p>
          <a:p>
            <a:pPr lvl="1"/>
            <a:r>
              <a:rPr sz="1400" b="1" dirty="0"/>
              <a:t>2015 - JCPOA signed; enrichment capped at 3.67%</a:t>
            </a:r>
          </a:p>
          <a:p>
            <a:pPr lvl="1"/>
            <a:r>
              <a:rPr sz="1400" b="1" dirty="0"/>
              <a:t>2018 - US (Trump) withdraws from JCPOA; sanctions reinstated</a:t>
            </a:r>
          </a:p>
          <a:p>
            <a:pPr lvl="1"/>
            <a:r>
              <a:rPr sz="1400" dirty="0"/>
              <a:t>2019-2021 - Breaches: enrichment climbs </a:t>
            </a:r>
            <a:r>
              <a:rPr sz="1400" b="1" dirty="0"/>
              <a:t>5% -&gt; 20% -&gt; 60%</a:t>
            </a:r>
          </a:p>
          <a:p>
            <a:pPr lvl="1"/>
            <a:r>
              <a:rPr sz="1400" dirty="0"/>
              <a:t>2020 - Top scientist Mohsen Fakhrizadeh assassinated</a:t>
            </a:r>
          </a:p>
          <a:p>
            <a:pPr lvl="1"/>
            <a:r>
              <a:rPr sz="1400" dirty="0"/>
              <a:t>2023 - IAEA detects uranium enriched to 84%</a:t>
            </a:r>
          </a:p>
          <a:p>
            <a:pPr lvl="1"/>
            <a:r>
              <a:rPr sz="1400" dirty="0"/>
              <a:t>2024 - Israeli strikes hit Parchin weapons-research site</a:t>
            </a:r>
          </a:p>
          <a:p>
            <a:pPr lvl="1"/>
            <a:r>
              <a:rPr sz="1400" dirty="0"/>
              <a:t>2025 (Apr-May) - US-Iran talks in Oman, Italy</a:t>
            </a:r>
          </a:p>
          <a:p>
            <a:pPr lvl="1"/>
            <a:r>
              <a:rPr sz="1400" dirty="0"/>
              <a:t>2025 (Jun) - Israel/US strike Natanz, Fordow, Isfahan ("Twelve-Day War")</a:t>
            </a:r>
          </a:p>
          <a:p>
            <a:pPr lvl="1"/>
            <a:r>
              <a:rPr sz="1400" dirty="0"/>
              <a:t>2025 (Jul) - IAEA inspectors leave Iran</a:t>
            </a:r>
          </a:p>
          <a:p>
            <a:pPr lvl="1"/>
            <a:r>
              <a:rPr sz="1400" dirty="0"/>
              <a:t>2025 (Sep) - UN "snapback" sanctions reimposed</a:t>
            </a:r>
          </a:p>
          <a:p>
            <a:pPr lvl="1"/>
            <a:r>
              <a:rPr sz="1400" b="1" dirty="0"/>
              <a:t>2026 - Sites still inaccessible; stockpile unverified; ceasefire talks (Pakistan-mediated) stalled</a:t>
            </a:r>
          </a:p>
        </p:txBody>
      </p:sp>
      <p:sp>
        <p:nvSpPr>
          <p:cNvPr id="4" name="TextBox 3">
            <a:extLst>
              <a:ext uri="{FF2B5EF4-FFF2-40B4-BE49-F238E27FC236}">
                <a16:creationId xmlns:a16="http://schemas.microsoft.com/office/drawing/2014/main" id="{7448B031-A0CA-32F2-9448-880B321EAA4F}"/>
              </a:ext>
            </a:extLst>
          </p:cNvPr>
          <p:cNvSpPr txBox="1"/>
          <p:nvPr/>
        </p:nvSpPr>
        <p:spPr>
          <a:xfrm>
            <a:off x="9564716" y="9384268"/>
            <a:ext cx="3332480" cy="369332"/>
          </a:xfrm>
          <a:prstGeom prst="rect">
            <a:avLst/>
          </a:prstGeom>
          <a:noFill/>
        </p:spPr>
        <p:txBody>
          <a:bodyPr wrap="square" rtlCol="0">
            <a:spAutoFit/>
          </a:bodyPr>
          <a:lstStyle/>
          <a:p>
            <a:r>
              <a:rPr lang="en-US" dirty="0"/>
              <a:t>Claude organized this slide</a:t>
            </a:r>
          </a:p>
        </p:txBody>
      </p:sp>
      <p:pic>
        <p:nvPicPr>
          <p:cNvPr id="5" name="Picture 4" descr="Negotiations about Iranian Nuclear Program, the Ministers of Foreign Affairs and Other Officials of the P5+1 and Ministers of Foreign Affairs of Iran and EU in Lausanne, April 2015">
            <a:extLst>
              <a:ext uri="{FF2B5EF4-FFF2-40B4-BE49-F238E27FC236}">
                <a16:creationId xmlns:a16="http://schemas.microsoft.com/office/drawing/2014/main" id="{EACD513B-E33A-8312-D77C-89618828D9E7}"/>
              </a:ext>
            </a:extLst>
          </p:cNvPr>
          <p:cNvPicPr>
            <a:picLocks noChangeAspect="1"/>
          </p:cNvPicPr>
          <p:nvPr/>
        </p:nvPicPr>
        <p:blipFill>
          <a:blip r:embed="rId4"/>
          <a:stretch>
            <a:fillRect/>
          </a:stretch>
        </p:blipFill>
        <p:spPr>
          <a:xfrm>
            <a:off x="8427720" y="2233930"/>
            <a:ext cx="4318000" cy="2875788"/>
          </a:xfrm>
          <a:prstGeom prst="rect">
            <a:avLst/>
          </a:prstGeom>
        </p:spPr>
      </p:pic>
      <p:cxnSp>
        <p:nvCxnSpPr>
          <p:cNvPr id="7" name="Straight Arrow Connector 6">
            <a:extLst>
              <a:ext uri="{FF2B5EF4-FFF2-40B4-BE49-F238E27FC236}">
                <a16:creationId xmlns:a16="http://schemas.microsoft.com/office/drawing/2014/main" id="{C8AB17BA-2125-FDC4-2844-54B856730960}"/>
              </a:ext>
            </a:extLst>
          </p:cNvPr>
          <p:cNvCxnSpPr/>
          <p:nvPr/>
        </p:nvCxnSpPr>
        <p:spPr>
          <a:xfrm flipV="1">
            <a:off x="5527040" y="4094480"/>
            <a:ext cx="2794000" cy="12293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7956621-1AA3-FB33-950F-DEF2B6841732}"/>
              </a:ext>
            </a:extLst>
          </p:cNvPr>
          <p:cNvSpPr txBox="1"/>
          <p:nvPr/>
        </p:nvSpPr>
        <p:spPr>
          <a:xfrm>
            <a:off x="8427720" y="5109718"/>
            <a:ext cx="4318000" cy="646331"/>
          </a:xfrm>
          <a:prstGeom prst="rect">
            <a:avLst/>
          </a:prstGeom>
          <a:noFill/>
        </p:spPr>
        <p:txBody>
          <a:bodyPr wrap="square">
            <a:spAutoFit/>
          </a:bodyPr>
          <a:lstStyle/>
          <a:p>
            <a:r>
              <a:rPr lang="en-US" sz="1200" b="0" i="0" u="none" strike="noStrike" dirty="0">
                <a:solidFill>
                  <a:schemeClr val="tx1"/>
                </a:solidFill>
                <a:effectLst/>
                <a:latin typeface="+mn-lt"/>
              </a:rPr>
              <a:t>Negotiations about Iranian Nuclear Program, the Ministers of Foreign Affairs and Other Officials of the P5+1 and Ministers of Foreign Affairs of Iran and EU in Lausanne, April 2015</a:t>
            </a:r>
            <a:endParaRPr lang="en-US" sz="1200" dirty="0"/>
          </a:p>
        </p:txBody>
      </p:sp>
      <p:pic>
        <p:nvPicPr>
          <p:cNvPr id="12" name="Picture 11" descr="IAEA Director General Rafael Gross">
            <a:extLst>
              <a:ext uri="{FF2B5EF4-FFF2-40B4-BE49-F238E27FC236}">
                <a16:creationId xmlns:a16="http://schemas.microsoft.com/office/drawing/2014/main" id="{DFF76DCA-5B36-EEB4-3446-8C799E333847}"/>
              </a:ext>
            </a:extLst>
          </p:cNvPr>
          <p:cNvPicPr>
            <a:picLocks noChangeAspect="1"/>
          </p:cNvPicPr>
          <p:nvPr/>
        </p:nvPicPr>
        <p:blipFill>
          <a:blip r:embed="rId5"/>
          <a:stretch>
            <a:fillRect/>
          </a:stretch>
        </p:blipFill>
        <p:spPr>
          <a:xfrm>
            <a:off x="7949045" y="5913074"/>
            <a:ext cx="3008169" cy="2003271"/>
          </a:xfrm>
          <a:prstGeom prst="rect">
            <a:avLst/>
          </a:prstGeom>
        </p:spPr>
      </p:pic>
      <p:sp>
        <p:nvSpPr>
          <p:cNvPr id="14" name="TextBox 13">
            <a:extLst>
              <a:ext uri="{FF2B5EF4-FFF2-40B4-BE49-F238E27FC236}">
                <a16:creationId xmlns:a16="http://schemas.microsoft.com/office/drawing/2014/main" id="{95F9D3DF-3F8D-82C5-10B9-C4EB0B333F8B}"/>
              </a:ext>
            </a:extLst>
          </p:cNvPr>
          <p:cNvSpPr txBox="1"/>
          <p:nvPr/>
        </p:nvSpPr>
        <p:spPr>
          <a:xfrm>
            <a:off x="7893166" y="7949772"/>
            <a:ext cx="3064048" cy="1446550"/>
          </a:xfrm>
          <a:prstGeom prst="rect">
            <a:avLst/>
          </a:prstGeom>
          <a:noFill/>
        </p:spPr>
        <p:txBody>
          <a:bodyPr wrap="square">
            <a:spAutoFit/>
          </a:bodyPr>
          <a:lstStyle/>
          <a:p>
            <a:r>
              <a:rPr lang="en-US" sz="1100" b="0" i="0" u="none" strike="noStrike" dirty="0">
                <a:solidFill>
                  <a:schemeClr val="tx1"/>
                </a:solidFill>
                <a:effectLst/>
                <a:latin typeface="+mn-lt"/>
              </a:rPr>
              <a:t>International Atomic Energy Agency (IAEA) Director General Rafael Grossi waits for an emergency meeting of the agency’s Board of Governors to discuss the situation in Iran following the U.S. attacks on the country’s nuclear facilities, at the IAEA headquarters in Vienna, Austria, June 23, 2025. REUTERS/Elisabeth Mandl/File Photo</a:t>
            </a:r>
            <a:endParaRPr lang="en-US" sz="1100" dirty="0"/>
          </a:p>
        </p:txBody>
      </p:sp>
      <p:cxnSp>
        <p:nvCxnSpPr>
          <p:cNvPr id="15" name="Straight Arrow Connector 14">
            <a:extLst>
              <a:ext uri="{FF2B5EF4-FFF2-40B4-BE49-F238E27FC236}">
                <a16:creationId xmlns:a16="http://schemas.microsoft.com/office/drawing/2014/main" id="{3737F0E5-5E65-0FAE-77E6-BD63A59C5E45}"/>
              </a:ext>
            </a:extLst>
          </p:cNvPr>
          <p:cNvCxnSpPr>
            <a:cxnSpLocks/>
          </p:cNvCxnSpPr>
          <p:nvPr/>
        </p:nvCxnSpPr>
        <p:spPr>
          <a:xfrm flipV="1">
            <a:off x="4328622" y="7149941"/>
            <a:ext cx="3620423" cy="759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AD367373-2F5E-4F03-9790-4D003EA30DA1}"/>
              </a:ext>
            </a:extLst>
          </p:cNvPr>
          <p:cNvSpPr txBox="1"/>
          <p:nvPr/>
        </p:nvSpPr>
        <p:spPr>
          <a:xfrm>
            <a:off x="1820140" y="8934657"/>
            <a:ext cx="5237251" cy="46166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sz="2400" dirty="0"/>
              <a:t>And that’s why diesel is &gt;$6/gallon</a:t>
            </a:r>
          </a:p>
        </p:txBody>
      </p:sp>
    </p:spTree>
    <p:extLst>
      <p:ext uri="{BB962C8B-B14F-4D97-AF65-F5344CB8AC3E}">
        <p14:creationId xmlns:p14="http://schemas.microsoft.com/office/powerpoint/2010/main" val="1604802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5C883-9BB4-DEA3-C257-18E4EB5BEC27}"/>
              </a:ext>
            </a:extLst>
          </p:cNvPr>
          <p:cNvSpPr>
            <a:spLocks noGrp="1"/>
          </p:cNvSpPr>
          <p:nvPr>
            <p:ph type="title"/>
          </p:nvPr>
        </p:nvSpPr>
        <p:spPr>
          <a:xfrm>
            <a:off x="420489" y="1259981"/>
            <a:ext cx="11216640" cy="1235456"/>
          </a:xfrm>
        </p:spPr>
        <p:txBody>
          <a:bodyPr/>
          <a:lstStyle/>
          <a:p>
            <a:r>
              <a:rPr lang="en-US" dirty="0"/>
              <a:t>Types of fission reactors</a:t>
            </a:r>
          </a:p>
        </p:txBody>
      </p:sp>
      <p:sp>
        <p:nvSpPr>
          <p:cNvPr id="3" name="Content Placeholder 2">
            <a:extLst>
              <a:ext uri="{FF2B5EF4-FFF2-40B4-BE49-F238E27FC236}">
                <a16:creationId xmlns:a16="http://schemas.microsoft.com/office/drawing/2014/main" id="{BE3C91EB-8047-7A54-54CC-E382B518AD9D}"/>
              </a:ext>
            </a:extLst>
          </p:cNvPr>
          <p:cNvSpPr>
            <a:spLocks noGrp="1"/>
          </p:cNvSpPr>
          <p:nvPr>
            <p:ph idx="1"/>
          </p:nvPr>
        </p:nvSpPr>
        <p:spPr>
          <a:xfrm>
            <a:off x="420489" y="2752931"/>
            <a:ext cx="7300000" cy="5450000"/>
          </a:xfrm>
        </p:spPr>
        <p:txBody>
          <a:bodyPr/>
          <a:lstStyle/>
          <a:p>
            <a:pPr marL="228600" indent="-228600">
              <a:lnSpc>
                <a:spcPct val="105000"/>
              </a:lnSpc>
              <a:spcBef>
                <a:spcPts val="400"/>
              </a:spcBef>
              <a:buFont typeface="Arial"/>
              <a:buChar char="•"/>
            </a:pPr>
            <a:r>
              <a:rPr lang="en-US" sz="1800" dirty="0"/>
              <a:t>Pressurized-water reactor (PWR) — pressurized water can't boil; heats a separate steam loop via a steam generator. ~74% of world reactors</a:t>
            </a:r>
          </a:p>
          <a:p>
            <a:pPr marL="228600" indent="-228600">
              <a:lnSpc>
                <a:spcPct val="105000"/>
              </a:lnSpc>
              <a:spcBef>
                <a:spcPts val="400"/>
              </a:spcBef>
              <a:buFont typeface="Arial"/>
              <a:buChar char="•"/>
            </a:pPr>
            <a:r>
              <a:rPr lang="en-US" sz="1800" dirty="0"/>
              <a:t>Boiling-water reactor (BWR) — water boils directly in the vessel, driving the turbine with no separate loop. ~18%</a:t>
            </a:r>
          </a:p>
          <a:p>
            <a:pPr marL="228600" indent="-228600">
              <a:lnSpc>
                <a:spcPct val="105000"/>
              </a:lnSpc>
              <a:spcBef>
                <a:spcPts val="400"/>
              </a:spcBef>
              <a:buFont typeface="Arial"/>
              <a:buChar char="•"/>
            </a:pPr>
            <a:r>
              <a:rPr lang="en-US" sz="1800" dirty="0"/>
              <a:t>Pressurized heavy-water reactor (PHWR/CANDU) — heavy water (D₂O) moderator absorbs so few neutrons it runs on unenriched natural uranium. ~11%</a:t>
            </a:r>
          </a:p>
          <a:p>
            <a:pPr marL="228600" indent="-228600">
              <a:lnSpc>
                <a:spcPct val="105000"/>
              </a:lnSpc>
              <a:spcBef>
                <a:spcPts val="400"/>
              </a:spcBef>
              <a:buFont typeface="Arial"/>
              <a:buChar char="•"/>
            </a:pPr>
            <a:r>
              <a:rPr lang="en-US" sz="1800" dirty="0"/>
              <a:t>Gas-cooled reactor (GCR/AGR) — CO₂-cooled, graphite-moderated, higher thermal efficiency. ~3%</a:t>
            </a:r>
          </a:p>
          <a:p>
            <a:pPr marL="228600" indent="-228600">
              <a:lnSpc>
                <a:spcPct val="105000"/>
              </a:lnSpc>
              <a:spcBef>
                <a:spcPts val="400"/>
              </a:spcBef>
              <a:buFont typeface="Arial"/>
              <a:buChar char="•"/>
            </a:pPr>
            <a:r>
              <a:rPr lang="en-US" sz="1800" dirty="0"/>
              <a:t>RBMK — Soviet graphite-moderated, water-cooled design (the Chernobyl type); only a handful remain. ~3%</a:t>
            </a:r>
          </a:p>
          <a:p>
            <a:pPr marL="228600" indent="-228600">
              <a:lnSpc>
                <a:spcPct val="105000"/>
              </a:lnSpc>
              <a:spcBef>
                <a:spcPts val="400"/>
              </a:spcBef>
              <a:buFont typeface="Arial"/>
              <a:buChar char="•"/>
            </a:pPr>
            <a:r>
              <a:rPr lang="en-US" sz="1800" dirty="0"/>
              <a:t>Fast breeder reactor (FBR) — unmoderated; fast neutrons + liquid-metal (sodium) coolant convert U-238 → Pu-239 faster than fuel is consumed (breeding ratio &gt; 1). &lt;1% today — e.g. Russia's BN-600/BN-800, India's PFBR (first criticality 2026)</a:t>
            </a:r>
          </a:p>
          <a:p>
            <a:pPr marL="228600" indent="-228600">
              <a:lnSpc>
                <a:spcPct val="105000"/>
              </a:lnSpc>
              <a:spcBef>
                <a:spcPts val="400"/>
              </a:spcBef>
              <a:buFont typeface="Arial"/>
              <a:buChar char="•"/>
            </a:pPr>
            <a:r>
              <a:rPr lang="en-US" sz="1800" dirty="0"/>
              <a:t>Small modular reactors (SMRs) — compact, factory-built designs of varying types; mostly still emerging</a:t>
            </a:r>
          </a:p>
        </p:txBody>
      </p:sp>
      <p:sp>
        <p:nvSpPr>
          <p:cNvPr id="4" name="TextBox 3"/>
          <p:cNvSpPr txBox="1"/>
          <p:nvPr/>
        </p:nvSpPr>
        <p:spPr>
          <a:xfrm>
            <a:off x="420489" y="8830000"/>
            <a:ext cx="11216640" cy="800000"/>
          </a:xfrm>
          <a:prstGeom prst="rect">
            <a:avLst/>
          </a:prstGeom>
          <a:noFill/>
        </p:spPr>
        <p:txBody>
          <a:bodyPr wrap="square">
            <a:spAutoFit/>
          </a:bodyPr>
          <a:lstStyle/>
          <a:p>
            <a:r>
              <a:rPr sz="1200" i="1" dirty="0"/>
              <a:t>Sources: </a:t>
            </a:r>
            <a:r>
              <a:rPr sz="1200" i="1" dirty="0" err="1"/>
              <a:t>en.wikipedia.org</a:t>
            </a:r>
            <a:r>
              <a:rPr sz="1200" i="1" dirty="0"/>
              <a:t>/wiki/</a:t>
            </a:r>
            <a:r>
              <a:rPr sz="1200" i="1" dirty="0" err="1"/>
              <a:t>Nuclear_reactor</a:t>
            </a:r>
            <a:r>
              <a:rPr sz="1200" i="1" dirty="0"/>
              <a:t> · </a:t>
            </a:r>
            <a:r>
              <a:rPr sz="1200" i="1" dirty="0" err="1"/>
              <a:t>en.wikipedia.org</a:t>
            </a:r>
            <a:r>
              <a:rPr sz="1200" i="1" dirty="0"/>
              <a:t>/wiki/</a:t>
            </a:r>
            <a:r>
              <a:rPr sz="1200" i="1" dirty="0" err="1"/>
              <a:t>Breeder_reactor</a:t>
            </a:r>
            <a:endParaRPr sz="1200" i="1" dirty="0"/>
          </a:p>
          <a:p>
            <a:r>
              <a:rPr sz="1200" i="1" dirty="0"/>
              <a:t>Images: “Pressurized Water Reactor 01.svg” (Σ64, CC BY 4.0) · “Fast Breeder Reactor </a:t>
            </a:r>
            <a:r>
              <a:rPr sz="1200" i="1" dirty="0" err="1"/>
              <a:t>diagram.jpg</a:t>
            </a:r>
            <a:r>
              <a:rPr sz="1200" i="1" dirty="0"/>
              <a:t>” (</a:t>
            </a:r>
            <a:r>
              <a:rPr sz="1200" i="1" dirty="0" err="1"/>
              <a:t>thomick</a:t>
            </a:r>
            <a:r>
              <a:rPr sz="1200" i="1" dirty="0"/>
              <a:t>, CC BY-SA 3.0) — </a:t>
            </a:r>
            <a:r>
              <a:rPr sz="1200" i="1" dirty="0" err="1"/>
              <a:t>commons.wikimedia.org</a:t>
            </a:r>
            <a:endParaRPr sz="1200" i="1" dirty="0"/>
          </a:p>
        </p:txBody>
      </p:sp>
      <p:pic>
        <p:nvPicPr>
          <p:cNvPr id="5" name="Picture 4" descr="pwr_diagram.png"/>
          <p:cNvPicPr>
            <a:picLocks noChangeAspect="1"/>
          </p:cNvPicPr>
          <p:nvPr/>
        </p:nvPicPr>
        <p:blipFill>
          <a:blip r:embed="rId2"/>
          <a:stretch>
            <a:fillRect/>
          </a:stretch>
        </p:blipFill>
        <p:spPr>
          <a:xfrm>
            <a:off x="8020578" y="1618383"/>
            <a:ext cx="5102598" cy="3402796"/>
          </a:xfrm>
          <a:prstGeom prst="rect">
            <a:avLst/>
          </a:prstGeom>
        </p:spPr>
      </p:pic>
    </p:spTree>
    <p:extLst>
      <p:ext uri="{BB962C8B-B14F-4D97-AF65-F5344CB8AC3E}">
        <p14:creationId xmlns:p14="http://schemas.microsoft.com/office/powerpoint/2010/main" val="1438664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00AA8-8097-9C9E-8499-36355B1C1B62}"/>
              </a:ext>
            </a:extLst>
          </p:cNvPr>
          <p:cNvSpPr>
            <a:spLocks noGrp="1"/>
          </p:cNvSpPr>
          <p:nvPr>
            <p:ph type="title"/>
          </p:nvPr>
        </p:nvSpPr>
        <p:spPr/>
        <p:txBody>
          <a:bodyPr/>
          <a:lstStyle/>
          <a:p>
            <a:r>
              <a:rPr lang="en-US" dirty="0"/>
              <a:t>Health and Environmental Risks of Nuclear Power</a:t>
            </a:r>
          </a:p>
        </p:txBody>
      </p:sp>
      <p:sp>
        <p:nvSpPr>
          <p:cNvPr id="3" name="Content Placeholder 2">
            <a:extLst>
              <a:ext uri="{FF2B5EF4-FFF2-40B4-BE49-F238E27FC236}">
                <a16:creationId xmlns:a16="http://schemas.microsoft.com/office/drawing/2014/main" id="{5F4C9501-DDA0-A0A2-CFED-ABC21D3D2BAF}"/>
              </a:ext>
            </a:extLst>
          </p:cNvPr>
          <p:cNvSpPr>
            <a:spLocks noGrp="1"/>
          </p:cNvSpPr>
          <p:nvPr>
            <p:ph idx="1"/>
          </p:nvPr>
        </p:nvSpPr>
        <p:spPr/>
        <p:txBody>
          <a:bodyPr/>
          <a:lstStyle/>
          <a:p>
            <a:r>
              <a:rPr lang="en-US" dirty="0"/>
              <a:t>If you’re next to an active nuclear fuel rod, you’re going to have a very bad day because of radiation poisoning </a:t>
            </a:r>
          </a:p>
          <a:p>
            <a:r>
              <a:rPr lang="en-US" dirty="0"/>
              <a:t>Similarly if you’re in the middle of the Large Hadron Collider (where I work), you’ll ALSO have a very bad day</a:t>
            </a:r>
          </a:p>
          <a:p>
            <a:r>
              <a:rPr lang="en-US" dirty="0"/>
              <a:t>We have expansive set of rules and guidelines for this, focused on three factors: </a:t>
            </a:r>
          </a:p>
          <a:p>
            <a:pPr lvl="1"/>
            <a:r>
              <a:rPr lang="en-US" dirty="0"/>
              <a:t>Time (of exposure)</a:t>
            </a:r>
          </a:p>
          <a:p>
            <a:pPr lvl="1"/>
            <a:r>
              <a:rPr lang="en-US" dirty="0"/>
              <a:t>Distance (to source of radiation)</a:t>
            </a:r>
          </a:p>
          <a:p>
            <a:pPr lvl="1"/>
            <a:r>
              <a:rPr lang="en-US" dirty="0"/>
              <a:t>Shielding (what is between you and the source)</a:t>
            </a:r>
          </a:p>
          <a:p>
            <a:pPr lvl="1"/>
            <a:endParaRPr lang="en-US" dirty="0"/>
          </a:p>
          <a:p>
            <a:r>
              <a:rPr lang="en-US" dirty="0"/>
              <a:t>To understand the risks, you need to understand what radiation is</a:t>
            </a:r>
          </a:p>
        </p:txBody>
      </p:sp>
    </p:spTree>
    <p:extLst>
      <p:ext uri="{BB962C8B-B14F-4D97-AF65-F5344CB8AC3E}">
        <p14:creationId xmlns:p14="http://schemas.microsoft.com/office/powerpoint/2010/main" val="1944053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791EF-A1F6-6EE1-D043-137808F460CF}"/>
              </a:ext>
            </a:extLst>
          </p:cNvPr>
          <p:cNvSpPr>
            <a:spLocks noGrp="1"/>
          </p:cNvSpPr>
          <p:nvPr>
            <p:ph type="title"/>
          </p:nvPr>
        </p:nvSpPr>
        <p:spPr/>
        <p:txBody>
          <a:bodyPr/>
          <a:lstStyle/>
          <a:p>
            <a:r>
              <a:rPr lang="en-US" dirty="0"/>
              <a:t>Health and Environmental Risks of Nuclear Power</a:t>
            </a:r>
          </a:p>
        </p:txBody>
      </p:sp>
      <p:sp>
        <p:nvSpPr>
          <p:cNvPr id="3" name="Content Placeholder 2">
            <a:extLst>
              <a:ext uri="{FF2B5EF4-FFF2-40B4-BE49-F238E27FC236}">
                <a16:creationId xmlns:a16="http://schemas.microsoft.com/office/drawing/2014/main" id="{91F416A9-1493-5AE5-AA94-AE5AE479E07F}"/>
              </a:ext>
            </a:extLst>
          </p:cNvPr>
          <p:cNvSpPr>
            <a:spLocks noGrp="1"/>
          </p:cNvSpPr>
          <p:nvPr>
            <p:ph idx="1"/>
          </p:nvPr>
        </p:nvSpPr>
        <p:spPr>
          <a:xfrm>
            <a:off x="335294" y="2967561"/>
            <a:ext cx="8548933" cy="5757399"/>
          </a:xfrm>
        </p:spPr>
        <p:txBody>
          <a:bodyPr>
            <a:normAutofit fontScale="92500" lnSpcReduction="10000"/>
          </a:bodyPr>
          <a:lstStyle/>
          <a:p>
            <a:r>
              <a:rPr i="1" dirty="0">
                <a:hlinkClick r:id="rId2"/>
              </a:rPr>
              <a:t>Source: NRC - Biological Effects of Radiation</a:t>
            </a:r>
          </a:p>
          <a:p>
            <a:pPr lvl="1"/>
            <a:r>
              <a:rPr dirty="0"/>
              <a:t>Ionizing radiation damages DNA directly, or indirectly via free radicals</a:t>
            </a:r>
          </a:p>
          <a:p>
            <a:pPr lvl="1"/>
            <a:r>
              <a:rPr dirty="0"/>
              <a:t>Actively dividing cells most sensitive (marrow, lymphocytes); nerve/muscle least</a:t>
            </a:r>
          </a:p>
          <a:p>
            <a:pPr lvl="1"/>
            <a:r>
              <a:rPr dirty="0"/>
              <a:t>Cell outcomes: repair, death, or mutation</a:t>
            </a:r>
          </a:p>
          <a:p>
            <a:pPr lvl="1"/>
            <a:r>
              <a:rPr dirty="0"/>
              <a:t>Acute/high-dose: Acute Radiation Syndrome; LD50 ~320-360 rad; &gt;1,100 rad = severe multi-organ failure</a:t>
            </a:r>
          </a:p>
          <a:p>
            <a:pPr lvl="1"/>
            <a:r>
              <a:rPr dirty="0"/>
              <a:t>Chronic/low-dose effects: genetic (offspring), somatic (cancer), in-utero (malformation)</a:t>
            </a:r>
          </a:p>
          <a:p>
            <a:pPr lvl="1"/>
            <a:r>
              <a:rPr dirty="0"/>
              <a:t>Linear No-Threshold model: no "safe" dose, risk scales with exposure</a:t>
            </a:r>
          </a:p>
          <a:p>
            <a:pPr lvl="1"/>
            <a:r>
              <a:rPr b="1" dirty="0"/>
              <a:t>ALARA principle: keep exposure As Low As Reasonably Achievable</a:t>
            </a:r>
          </a:p>
          <a:p>
            <a:pPr lvl="1"/>
            <a:r>
              <a:rPr dirty="0"/>
              <a:t>Extra limit for declared pregnant workers: 0.5 rem</a:t>
            </a:r>
          </a:p>
        </p:txBody>
      </p:sp>
      <p:pic>
        <p:nvPicPr>
          <p:cNvPr id="5" name="Picture 4" descr="Direct effect of ionization on DNA. A DNA double helix is broken by ionizing radiation, causing mutations. ">
            <a:extLst>
              <a:ext uri="{FF2B5EF4-FFF2-40B4-BE49-F238E27FC236}">
                <a16:creationId xmlns:a16="http://schemas.microsoft.com/office/drawing/2014/main" id="{07317783-FB82-11DC-C915-AF57D833F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7292" y="3102643"/>
            <a:ext cx="3247019" cy="3635853"/>
          </a:xfrm>
          <a:prstGeom prst="rect">
            <a:avLst/>
          </a:prstGeom>
        </p:spPr>
      </p:pic>
    </p:spTree>
    <p:extLst>
      <p:ext uri="{BB962C8B-B14F-4D97-AF65-F5344CB8AC3E}">
        <p14:creationId xmlns:p14="http://schemas.microsoft.com/office/powerpoint/2010/main" val="501375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lide Number"/>
          <p:cNvSpPr txBox="1">
            <a:spLocks noGrp="1"/>
          </p:cNvSpPr>
          <p:nvPr>
            <p:ph type="sldNum" sz="quarter" idx="2"/>
          </p:nvPr>
        </p:nvSpPr>
        <p:spPr>
          <a:xfrm>
            <a:off x="11238162" y="9068258"/>
            <a:ext cx="268655" cy="37583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11</a:t>
            </a:fld>
            <a:endParaRPr/>
          </a:p>
        </p:txBody>
      </p:sp>
      <p:sp>
        <p:nvSpPr>
          <p:cNvPr id="170" name="Particles moving through space…"/>
          <p:cNvSpPr txBox="1">
            <a:spLocks noGrp="1"/>
          </p:cNvSpPr>
          <p:nvPr>
            <p:ph type="body" sz="half" idx="1"/>
          </p:nvPr>
        </p:nvSpPr>
        <p:spPr>
          <a:xfrm>
            <a:off x="620230" y="2368413"/>
            <a:ext cx="9391073" cy="5308339"/>
          </a:xfrm>
          <a:prstGeom prst="rect">
            <a:avLst/>
          </a:prstGeom>
        </p:spPr>
        <p:txBody>
          <a:bodyPr/>
          <a:lstStyle>
            <a:lvl1pPr>
              <a:lnSpc>
                <a:spcPts val="3000"/>
              </a:lnSpc>
              <a:defRPr sz="2500" spc="-63"/>
            </a:lvl1pPr>
            <a:lvl2pPr marL="647692" indent="-304800">
              <a:lnSpc>
                <a:spcPts val="3000"/>
              </a:lnSpc>
              <a:buSzPct val="109000"/>
              <a:buChar char="•"/>
              <a:defRPr sz="2500" spc="-63"/>
            </a:lvl2pPr>
          </a:lstStyle>
          <a:p>
            <a:pPr lvl="1"/>
            <a:r>
              <a:rPr lang="en-US" dirty="0"/>
              <a:t>Photons (gamma, x rays)</a:t>
            </a:r>
          </a:p>
          <a:p>
            <a:pPr lvl="1"/>
            <a:r>
              <a:rPr dirty="0"/>
              <a:t>Positrons (beta particles, like electrons), </a:t>
            </a:r>
            <a:endParaRPr lang="en-US" dirty="0"/>
          </a:p>
          <a:p>
            <a:pPr lvl="1"/>
            <a:r>
              <a:rPr dirty="0"/>
              <a:t>neutrons </a:t>
            </a:r>
            <a:endParaRPr lang="en-US" dirty="0"/>
          </a:p>
          <a:p>
            <a:pPr lvl="1"/>
            <a:r>
              <a:rPr dirty="0"/>
              <a:t>helium nuclei (alpha particles)</a:t>
            </a:r>
          </a:p>
        </p:txBody>
      </p:sp>
      <p:sp>
        <p:nvSpPr>
          <p:cNvPr id="171" name="What is radiation?"/>
          <p:cNvSpPr txBox="1">
            <a:spLocks noGrp="1"/>
          </p:cNvSpPr>
          <p:nvPr>
            <p:ph type="title"/>
          </p:nvPr>
        </p:nvSpPr>
        <p:spPr>
          <a:xfrm>
            <a:off x="496170" y="1162437"/>
            <a:ext cx="11216641" cy="1235102"/>
          </a:xfrm>
          <a:prstGeom prst="rect">
            <a:avLst/>
          </a:prstGeom>
        </p:spPr>
        <p:txBody>
          <a:bodyPr/>
          <a:lstStyle>
            <a:lvl1pPr defTabSz="665226">
              <a:defRPr sz="5432"/>
            </a:lvl1pPr>
          </a:lstStyle>
          <a:p>
            <a:r>
              <a:t>What is radiation?</a:t>
            </a:r>
          </a:p>
        </p:txBody>
      </p:sp>
      <p:sp>
        <p:nvSpPr>
          <p:cNvPr id="172" name="https://imnh.iri.isu.edu/digitalatlas/clima/atmosph/rad.htm"/>
          <p:cNvSpPr txBox="1"/>
          <p:nvPr/>
        </p:nvSpPr>
        <p:spPr>
          <a:xfrm>
            <a:off x="-37592" y="9256173"/>
            <a:ext cx="8391591" cy="4862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r>
              <a:rPr sz="2560"/>
              <a:t>https://imnh.iri.isu.edu/digitalatlas/clima/atmosph/rad.htm</a:t>
            </a:r>
          </a:p>
        </p:txBody>
      </p:sp>
      <p:pic>
        <p:nvPicPr>
          <p:cNvPr id="173" name="Image" descr="Image"/>
          <p:cNvPicPr>
            <a:picLocks noChangeAspect="1"/>
          </p:cNvPicPr>
          <p:nvPr/>
        </p:nvPicPr>
        <p:blipFill>
          <a:blip r:embed="rId2"/>
          <a:stretch>
            <a:fillRect/>
          </a:stretch>
        </p:blipFill>
        <p:spPr>
          <a:xfrm>
            <a:off x="805042" y="4546793"/>
            <a:ext cx="6793091" cy="3733567"/>
          </a:xfrm>
          <a:prstGeom prst="rect">
            <a:avLst/>
          </a:prstGeom>
          <a:ln w="12700">
            <a:miter lim="400000"/>
          </a:ln>
        </p:spPr>
      </p:pic>
      <p:pic>
        <p:nvPicPr>
          <p:cNvPr id="174" name="Image" descr="Image"/>
          <p:cNvPicPr>
            <a:picLocks noChangeAspect="1"/>
          </p:cNvPicPr>
          <p:nvPr/>
        </p:nvPicPr>
        <p:blipFill>
          <a:blip r:embed="rId3"/>
          <a:srcRect l="48048" t="20804" r="9549" b="35946"/>
          <a:stretch>
            <a:fillRect/>
          </a:stretch>
        </p:blipFill>
        <p:spPr>
          <a:xfrm rot="2522988">
            <a:off x="3886837" y="7159749"/>
            <a:ext cx="2494033" cy="1614726"/>
          </a:xfrm>
          <a:prstGeom prst="rect">
            <a:avLst/>
          </a:prstGeom>
          <a:ln w="12700">
            <a:miter lim="400000"/>
          </a:ln>
        </p:spPr>
      </p:pic>
      <p:sp>
        <p:nvSpPr>
          <p:cNvPr id="175" name="Nuclei emit particles via radioactive decay (from the weak interaction!)"/>
          <p:cNvSpPr txBox="1"/>
          <p:nvPr/>
        </p:nvSpPr>
        <p:spPr>
          <a:xfrm>
            <a:off x="6879849" y="5762106"/>
            <a:ext cx="4111573" cy="1274195"/>
          </a:xfrm>
          <a:prstGeom prst="rect">
            <a:avLst/>
          </a:prstGeom>
          <a:gradFill>
            <a:gsLst>
              <a:gs pos="0">
                <a:srgbClr val="47858F"/>
              </a:gs>
              <a:gs pos="50000">
                <a:schemeClr val="accent5"/>
              </a:gs>
              <a:gs pos="100000">
                <a:srgbClr val="006872"/>
              </a:gs>
            </a:gsLst>
            <a:lin ang="5400000"/>
          </a:gradFill>
          <a:ln w="6350">
            <a:solidFill>
              <a:schemeClr val="accent5"/>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a:solidFill>
                  <a:srgbClr val="FFFFFF"/>
                </a:solidFill>
              </a:defRPr>
            </a:pPr>
            <a:r>
              <a:rPr sz="2560"/>
              <a:t>Nuclei emit particles via</a:t>
            </a:r>
            <a:br>
              <a:rPr sz="2560"/>
            </a:br>
            <a:r>
              <a:rPr sz="2560"/>
              <a:t>radioactive decay</a:t>
            </a:r>
            <a:br>
              <a:rPr sz="2560"/>
            </a:br>
            <a:r>
              <a:rPr sz="2560"/>
              <a:t>(from the weak interaction!)</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11238162" y="9068258"/>
            <a:ext cx="268655" cy="37583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
        <p:nvSpPr>
          <p:cNvPr id="178" name="Particles moving through space…"/>
          <p:cNvSpPr txBox="1">
            <a:spLocks noGrp="1"/>
          </p:cNvSpPr>
          <p:nvPr>
            <p:ph type="body" sz="half" idx="1"/>
          </p:nvPr>
        </p:nvSpPr>
        <p:spPr>
          <a:xfrm>
            <a:off x="620230" y="2368413"/>
            <a:ext cx="9391073" cy="5308339"/>
          </a:xfrm>
          <a:prstGeom prst="rect">
            <a:avLst/>
          </a:prstGeom>
        </p:spPr>
        <p:txBody>
          <a:bodyPr/>
          <a:lstStyle/>
          <a:p>
            <a:pPr>
              <a:lnSpc>
                <a:spcPts val="4267"/>
              </a:lnSpc>
              <a:defRPr sz="2500" spc="-63"/>
            </a:pPr>
            <a:r>
              <a:t>Particles moving through space</a:t>
            </a:r>
          </a:p>
          <a:p>
            <a:pPr marL="921148" lvl="1" indent="-433487">
              <a:lnSpc>
                <a:spcPts val="4267"/>
              </a:lnSpc>
              <a:buSzPct val="109000"/>
              <a:buChar char="•"/>
              <a:defRPr sz="2500" spc="-63"/>
            </a:pPr>
            <a:r>
              <a:t>Exotic types:</a:t>
            </a:r>
          </a:p>
          <a:p>
            <a:pPr marL="1408806" lvl="2" indent="-433485">
              <a:lnSpc>
                <a:spcPts val="4267"/>
              </a:lnSpc>
              <a:buSzPct val="109000"/>
              <a:buChar char="•"/>
              <a:defRPr sz="2500" spc="-63"/>
            </a:pPr>
            <a:r>
              <a:t>Muons (heavy electrons)</a:t>
            </a:r>
          </a:p>
          <a:p>
            <a:pPr marL="1408806" lvl="2" indent="-433485">
              <a:lnSpc>
                <a:spcPts val="4267"/>
              </a:lnSpc>
              <a:buSzPct val="109000"/>
              <a:buChar char="•"/>
              <a:defRPr sz="2500" spc="-63"/>
            </a:pPr>
            <a:r>
              <a:t>Pions (like a proton/neutron)</a:t>
            </a:r>
          </a:p>
          <a:p>
            <a:pPr marL="1408806" lvl="2" indent="-433485">
              <a:lnSpc>
                <a:spcPts val="4267"/>
              </a:lnSpc>
              <a:buSzPct val="109000"/>
              <a:buChar char="•"/>
              <a:defRPr sz="2500" spc="-63"/>
            </a:pPr>
            <a:r>
              <a:t>Neutrinos</a:t>
            </a:r>
          </a:p>
          <a:p>
            <a:pPr marL="1408806" lvl="2" indent="-433485">
              <a:lnSpc>
                <a:spcPts val="4267"/>
              </a:lnSpc>
              <a:buSzPct val="109000"/>
              <a:buChar char="•"/>
              <a:defRPr sz="2500" spc="-63"/>
            </a:pPr>
            <a:r>
              <a:t>Dark matter (yep, 4x more</a:t>
            </a:r>
            <a:br/>
            <a:r>
              <a:t>abundant than normal matter)</a:t>
            </a:r>
          </a:p>
        </p:txBody>
      </p:sp>
      <p:sp>
        <p:nvSpPr>
          <p:cNvPr id="179" name="What is radiation?"/>
          <p:cNvSpPr txBox="1">
            <a:spLocks noGrp="1"/>
          </p:cNvSpPr>
          <p:nvPr>
            <p:ph type="title"/>
          </p:nvPr>
        </p:nvSpPr>
        <p:spPr>
          <a:xfrm>
            <a:off x="33627" y="1146486"/>
            <a:ext cx="8315799" cy="1208311"/>
          </a:xfrm>
          <a:prstGeom prst="rect">
            <a:avLst/>
          </a:prstGeom>
        </p:spPr>
        <p:txBody>
          <a:bodyPr/>
          <a:lstStyle>
            <a:lvl1pPr defTabSz="658368">
              <a:defRPr sz="5376"/>
            </a:lvl1pPr>
          </a:lstStyle>
          <a:p>
            <a:r>
              <a:t>What is radiation?</a:t>
            </a:r>
          </a:p>
        </p:txBody>
      </p:sp>
      <p:sp>
        <p:nvSpPr>
          <p:cNvPr id="180" name="https://imnh.iri.isu.edu/digitalatlas/clima/atmosph/rad.htm"/>
          <p:cNvSpPr txBox="1"/>
          <p:nvPr/>
        </p:nvSpPr>
        <p:spPr>
          <a:xfrm>
            <a:off x="-37592" y="9256173"/>
            <a:ext cx="8391591" cy="4862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r>
              <a:rPr sz="2560"/>
              <a:t>https://imnh.iri.isu.edu/digitalatlas/clima/atmosph/rad.htm</a:t>
            </a:r>
          </a:p>
        </p:txBody>
      </p:sp>
      <p:pic>
        <p:nvPicPr>
          <p:cNvPr id="181" name="Image" descr="Image"/>
          <p:cNvPicPr>
            <a:picLocks noChangeAspect="1"/>
          </p:cNvPicPr>
          <p:nvPr/>
        </p:nvPicPr>
        <p:blipFill>
          <a:blip r:embed="rId2"/>
          <a:stretch>
            <a:fillRect/>
          </a:stretch>
        </p:blipFill>
        <p:spPr>
          <a:xfrm>
            <a:off x="8534551" y="1403275"/>
            <a:ext cx="4406647" cy="6381163"/>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Slide Number"/>
          <p:cNvSpPr txBox="1">
            <a:spLocks noGrp="1"/>
          </p:cNvSpPr>
          <p:nvPr>
            <p:ph type="sldNum" sz="quarter" idx="2"/>
          </p:nvPr>
        </p:nvSpPr>
        <p:spPr>
          <a:xfrm>
            <a:off x="11238162" y="9068258"/>
            <a:ext cx="268655" cy="37583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sp>
        <p:nvSpPr>
          <p:cNvPr id="184" name="Protection: distance and shielding"/>
          <p:cNvSpPr txBox="1">
            <a:spLocks noGrp="1"/>
          </p:cNvSpPr>
          <p:nvPr>
            <p:ph type="title"/>
          </p:nvPr>
        </p:nvSpPr>
        <p:spPr>
          <a:xfrm>
            <a:off x="496170" y="1162437"/>
            <a:ext cx="11216641" cy="1235102"/>
          </a:xfrm>
          <a:prstGeom prst="rect">
            <a:avLst/>
          </a:prstGeom>
        </p:spPr>
        <p:txBody>
          <a:bodyPr/>
          <a:lstStyle>
            <a:lvl1pPr defTabSz="500634">
              <a:defRPr sz="4088"/>
            </a:lvl1pPr>
          </a:lstStyle>
          <a:p>
            <a:r>
              <a:t>Protection: distance and shielding</a:t>
            </a:r>
          </a:p>
        </p:txBody>
      </p:sp>
      <p:pic>
        <p:nvPicPr>
          <p:cNvPr id="185" name="Image" descr="Image"/>
          <p:cNvPicPr>
            <a:picLocks noChangeAspect="1"/>
          </p:cNvPicPr>
          <p:nvPr/>
        </p:nvPicPr>
        <p:blipFill>
          <a:blip r:embed="rId2"/>
          <a:stretch>
            <a:fillRect/>
          </a:stretch>
        </p:blipFill>
        <p:spPr>
          <a:xfrm>
            <a:off x="209530" y="2436761"/>
            <a:ext cx="8568073" cy="6341178"/>
          </a:xfrm>
          <a:prstGeom prst="rect">
            <a:avLst/>
          </a:prstGeom>
          <a:ln w="12700">
            <a:miter lim="400000"/>
          </a:ln>
        </p:spPr>
      </p:pic>
      <p:sp>
        <p:nvSpPr>
          <p:cNvPr id="186" name="https://www.mirion.com/introduction-to-radiation-safety/types-of-ionizing-radiation/"/>
          <p:cNvSpPr txBox="1"/>
          <p:nvPr/>
        </p:nvSpPr>
        <p:spPr>
          <a:xfrm>
            <a:off x="22384" y="8817161"/>
            <a:ext cx="10442092" cy="880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3" rIns="65023">
            <a:spAutoFit/>
          </a:bodyPr>
          <a:lstStyle/>
          <a:p>
            <a:r>
              <a:rPr sz="2560"/>
              <a:t>https://www.mirion.com/introduction-to-radiation-safety/types-of-ionizing-radiation/</a:t>
            </a:r>
          </a:p>
        </p:txBody>
      </p:sp>
      <p:sp>
        <p:nvSpPr>
          <p:cNvPr id="187" name="Protection against all radiation:   Hide behind ~1m of concrete or dirt"/>
          <p:cNvSpPr txBox="1"/>
          <p:nvPr/>
        </p:nvSpPr>
        <p:spPr>
          <a:xfrm>
            <a:off x="8092030" y="4451994"/>
            <a:ext cx="4719110" cy="1668149"/>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a:solidFill>
                  <a:srgbClr val="FFFFFF"/>
                </a:solidFill>
              </a:defRPr>
            </a:pPr>
            <a:r>
              <a:rPr sz="2560"/>
              <a:t>Protection against all radiation: </a:t>
            </a:r>
            <a:br>
              <a:rPr sz="2560"/>
            </a:br>
            <a:br>
              <a:rPr sz="2560"/>
            </a:br>
            <a:r>
              <a:rPr sz="2560"/>
              <a:t>Hide behind ~1m of concrete</a:t>
            </a:r>
            <a:br>
              <a:rPr sz="2560"/>
            </a:br>
            <a:r>
              <a:rPr sz="2560"/>
              <a:t>or dirt</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14</a:t>
            </a:fld>
            <a:endParaRPr/>
          </a:p>
        </p:txBody>
      </p:sp>
      <p:pic>
        <p:nvPicPr>
          <p:cNvPr id="213" name="Image" descr="Image"/>
          <p:cNvPicPr>
            <a:picLocks noChangeAspect="1"/>
          </p:cNvPicPr>
          <p:nvPr/>
        </p:nvPicPr>
        <p:blipFill>
          <a:blip r:embed="rId2"/>
          <a:stretch>
            <a:fillRect/>
          </a:stretch>
        </p:blipFill>
        <p:spPr>
          <a:xfrm>
            <a:off x="3961919" y="1250417"/>
            <a:ext cx="7218402" cy="8485121"/>
          </a:xfrm>
          <a:prstGeom prst="rect">
            <a:avLst/>
          </a:prstGeom>
          <a:ln w="12700">
            <a:miter lim="400000"/>
          </a:ln>
        </p:spPr>
      </p:pic>
      <p:sp>
        <p:nvSpPr>
          <p:cNvPr id="214" name="https://xkcd.com/radiation/"/>
          <p:cNvSpPr txBox="1"/>
          <p:nvPr/>
        </p:nvSpPr>
        <p:spPr>
          <a:xfrm>
            <a:off x="-47791" y="9161059"/>
            <a:ext cx="3946463" cy="486287"/>
          </a:xfrm>
          <a:prstGeom prst="rect">
            <a:avLst/>
          </a:prstGeom>
          <a:solidFill>
            <a:schemeClr val="accent2"/>
          </a:solidFill>
          <a:ln w="12700">
            <a:solidFill>
              <a:srgbClr val="2F85A8"/>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lvl1pPr>
              <a:defRPr>
                <a:solidFill>
                  <a:srgbClr val="FFFFFF"/>
                </a:solidFill>
              </a:defRPr>
            </a:lvl1pPr>
          </a:lstStyle>
          <a:p>
            <a:r>
              <a:rPr sz="2560"/>
              <a:t>https://xkcd.com/radiation/</a:t>
            </a:r>
          </a:p>
        </p:txBody>
      </p:sp>
      <p:pic>
        <p:nvPicPr>
          <p:cNvPr id="215" name="Rounded Rectangle Rounded rectangle" descr="Rounded Rectangle Rounded rectangle"/>
          <p:cNvPicPr>
            <a:picLocks/>
          </p:cNvPicPr>
          <p:nvPr/>
        </p:nvPicPr>
        <p:blipFill>
          <a:blip r:embed="rId3"/>
          <a:stretch>
            <a:fillRect/>
          </a:stretch>
        </p:blipFill>
        <p:spPr>
          <a:xfrm>
            <a:off x="3823749" y="1732917"/>
            <a:ext cx="1914597" cy="1813313"/>
          </a:xfrm>
          <a:prstGeom prst="rect">
            <a:avLst/>
          </a:prstGeom>
        </p:spPr>
      </p:pic>
      <p:sp>
        <p:nvSpPr>
          <p:cNvPr id="217" name="Zoom in"/>
          <p:cNvSpPr txBox="1"/>
          <p:nvPr/>
        </p:nvSpPr>
        <p:spPr>
          <a:xfrm>
            <a:off x="2294903" y="2115195"/>
            <a:ext cx="1319142" cy="4862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r>
              <a:rPr sz="2560"/>
              <a:t>Zoom 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15</a:t>
            </a:fld>
            <a:endParaRPr/>
          </a:p>
        </p:txBody>
      </p:sp>
      <p:pic>
        <p:nvPicPr>
          <p:cNvPr id="220" name="Image" descr="Image"/>
          <p:cNvPicPr>
            <a:picLocks noChangeAspect="1"/>
          </p:cNvPicPr>
          <p:nvPr/>
        </p:nvPicPr>
        <p:blipFill>
          <a:blip r:embed="rId2"/>
          <a:srcRect r="68416" b="74397"/>
          <a:stretch>
            <a:fillRect/>
          </a:stretch>
        </p:blipFill>
        <p:spPr>
          <a:xfrm>
            <a:off x="4088355" y="1063413"/>
            <a:ext cx="9127562" cy="8697431"/>
          </a:xfrm>
          <a:prstGeom prst="rect">
            <a:avLst/>
          </a:prstGeom>
          <a:ln w="12700">
            <a:miter lim="400000"/>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16</a:t>
            </a:fld>
            <a:endParaRPr/>
          </a:p>
        </p:txBody>
      </p:sp>
      <p:pic>
        <p:nvPicPr>
          <p:cNvPr id="223" name="Image" descr="Image"/>
          <p:cNvPicPr>
            <a:picLocks noChangeAspect="1"/>
          </p:cNvPicPr>
          <p:nvPr/>
        </p:nvPicPr>
        <p:blipFill>
          <a:blip r:embed="rId2"/>
          <a:srcRect r="68416" b="74397"/>
          <a:stretch>
            <a:fillRect/>
          </a:stretch>
        </p:blipFill>
        <p:spPr>
          <a:xfrm>
            <a:off x="4088355" y="1063413"/>
            <a:ext cx="9127562" cy="8697431"/>
          </a:xfrm>
          <a:prstGeom prst="rect">
            <a:avLst/>
          </a:prstGeom>
          <a:ln w="12700">
            <a:miter lim="400000"/>
          </a:ln>
        </p:spPr>
      </p:pic>
      <p:pic>
        <p:nvPicPr>
          <p:cNvPr id="224" name="Rectangle Rectangle" descr="Rectangle Rectangle"/>
          <p:cNvPicPr>
            <a:picLocks/>
          </p:cNvPicPr>
          <p:nvPr/>
        </p:nvPicPr>
        <p:blipFill>
          <a:blip r:embed="rId3"/>
          <a:stretch>
            <a:fillRect/>
          </a:stretch>
        </p:blipFill>
        <p:spPr>
          <a:xfrm>
            <a:off x="4678115" y="5235504"/>
            <a:ext cx="5108580" cy="941776"/>
          </a:xfrm>
          <a:prstGeom prst="rect">
            <a:avLst/>
          </a:prstGeom>
        </p:spPr>
      </p:pic>
      <p:sp>
        <p:nvSpPr>
          <p:cNvPr id="226" name="Yeah, you’re getting irradiated right now."/>
          <p:cNvSpPr txBox="1"/>
          <p:nvPr/>
        </p:nvSpPr>
        <p:spPr>
          <a:xfrm>
            <a:off x="-10943" y="3390179"/>
            <a:ext cx="4233914" cy="11867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2500"/>
            </a:pPr>
            <a:r>
              <a:rPr sz="3556"/>
              <a:t>Yeah, you’re getting</a:t>
            </a:r>
            <a:br>
              <a:rPr sz="3556"/>
            </a:br>
            <a:r>
              <a:rPr sz="3556"/>
              <a:t>irradiated right now. </a:t>
            </a:r>
          </a:p>
        </p:txBody>
      </p:sp>
      <p:sp>
        <p:nvSpPr>
          <p:cNvPr id="227" name="Let’s use  “one banana” as a radiation unit."/>
          <p:cNvSpPr txBox="1"/>
          <p:nvPr/>
        </p:nvSpPr>
        <p:spPr>
          <a:xfrm>
            <a:off x="702630" y="5596310"/>
            <a:ext cx="2797110" cy="12741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r>
              <a:rPr sz="2560"/>
              <a:t>Let’s use </a:t>
            </a:r>
            <a:br>
              <a:rPr sz="2560"/>
            </a:br>
            <a:r>
              <a:rPr sz="2560"/>
              <a:t>“one banana” as a</a:t>
            </a:r>
            <a:br>
              <a:rPr sz="2560"/>
            </a:br>
            <a:r>
              <a:rPr sz="2560"/>
              <a:t>radiation unit. </a:t>
            </a:r>
          </a:p>
        </p:txBody>
      </p:sp>
      <p:sp>
        <p:nvSpPr>
          <p:cNvPr id="228" name="https://en.wikipedia.org/wiki/Banana_equivalent_dose"/>
          <p:cNvSpPr txBox="1"/>
          <p:nvPr/>
        </p:nvSpPr>
        <p:spPr>
          <a:xfrm>
            <a:off x="878857" y="8056634"/>
            <a:ext cx="7933132" cy="486287"/>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lvl1pPr>
              <a:defRPr>
                <a:solidFill>
                  <a:srgbClr val="FFFFFF"/>
                </a:solidFill>
              </a:defRPr>
            </a:lvl1pPr>
          </a:lstStyle>
          <a:p>
            <a:r>
              <a:rPr sz="2560"/>
              <a:t>https://en.wikipedia.org/wiki/Banana_equivalent_dose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17</a:t>
            </a:fld>
            <a:endParaRPr/>
          </a:p>
        </p:txBody>
      </p:sp>
      <p:pic>
        <p:nvPicPr>
          <p:cNvPr id="231"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232" name="Rounded Rectangle Rounded rectangle" descr="Rounded Rectangle Rounded rectangle"/>
          <p:cNvPicPr>
            <a:picLocks/>
          </p:cNvPicPr>
          <p:nvPr/>
        </p:nvPicPr>
        <p:blipFill>
          <a:blip r:embed="rId3"/>
          <a:stretch>
            <a:fillRect/>
          </a:stretch>
        </p:blipFill>
        <p:spPr>
          <a:xfrm>
            <a:off x="5305911" y="4410490"/>
            <a:ext cx="2437067" cy="1446054"/>
          </a:xfrm>
          <a:prstGeom prst="rect">
            <a:avLst/>
          </a:prstGeom>
        </p:spPr>
      </p:pic>
      <p:sp>
        <p:nvSpPr>
          <p:cNvPr id="234" name="Transatlantic flight: 400 bananas"/>
          <p:cNvSpPr txBox="1"/>
          <p:nvPr/>
        </p:nvSpPr>
        <p:spPr>
          <a:xfrm>
            <a:off x="3670368" y="2315476"/>
            <a:ext cx="8272840" cy="770852"/>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lvl1pPr>
              <a:defRPr sz="3100">
                <a:solidFill>
                  <a:srgbClr val="FFFFFF"/>
                </a:solidFill>
              </a:defRPr>
            </a:lvl1pPr>
          </a:lstStyle>
          <a:p>
            <a:r>
              <a:rPr sz="4409"/>
              <a:t>Transatlantic flight: 400 bananas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18</a:t>
            </a:fld>
            <a:endParaRPr/>
          </a:p>
        </p:txBody>
      </p:sp>
      <p:pic>
        <p:nvPicPr>
          <p:cNvPr id="237"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238" name="Rounded Rectangle Rounded rectangle" descr="Rounded Rectangle Rounded rectangle"/>
          <p:cNvPicPr>
            <a:picLocks/>
          </p:cNvPicPr>
          <p:nvPr/>
        </p:nvPicPr>
        <p:blipFill>
          <a:blip r:embed="rId3"/>
          <a:stretch>
            <a:fillRect/>
          </a:stretch>
        </p:blipFill>
        <p:spPr>
          <a:xfrm>
            <a:off x="7743378" y="2145021"/>
            <a:ext cx="2437067" cy="503714"/>
          </a:xfrm>
          <a:prstGeom prst="rect">
            <a:avLst/>
          </a:prstGeom>
        </p:spPr>
      </p:pic>
      <p:sp>
        <p:nvSpPr>
          <p:cNvPr id="240" name="Extra dose in Tokyo due to Fukushima incident: 400 bananas (i.e. ~1 transatlantic flight)"/>
          <p:cNvSpPr txBox="1"/>
          <p:nvPr/>
        </p:nvSpPr>
        <p:spPr>
          <a:xfrm>
            <a:off x="2532448" y="6090481"/>
            <a:ext cx="9205916" cy="2127890"/>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3100">
                <a:solidFill>
                  <a:srgbClr val="FFFFFF"/>
                </a:solidFill>
              </a:defRPr>
            </a:pPr>
            <a:r>
              <a:rPr sz="4409"/>
              <a:t>Extra dose in Tokyo due</a:t>
            </a:r>
            <a:br>
              <a:rPr sz="4409"/>
            </a:br>
            <a:r>
              <a:rPr sz="4409"/>
              <a:t>to Fukushima incident: 400 bananas</a:t>
            </a:r>
            <a:br>
              <a:rPr sz="4409"/>
            </a:br>
            <a:r>
              <a:rPr sz="4409"/>
              <a:t>(i.e. ~1 transatlantic flight)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19</a:t>
            </a:fld>
            <a:endParaRPr/>
          </a:p>
        </p:txBody>
      </p:sp>
      <p:pic>
        <p:nvPicPr>
          <p:cNvPr id="243"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244" name="Rounded Rectangle Rounded rectangle" descr="Rounded Rectangle Rounded rectangle"/>
          <p:cNvPicPr>
            <a:picLocks/>
          </p:cNvPicPr>
          <p:nvPr/>
        </p:nvPicPr>
        <p:blipFill>
          <a:blip r:embed="rId3"/>
          <a:stretch>
            <a:fillRect/>
          </a:stretch>
        </p:blipFill>
        <p:spPr>
          <a:xfrm>
            <a:off x="7732087" y="3719764"/>
            <a:ext cx="1489013" cy="503714"/>
          </a:xfrm>
          <a:prstGeom prst="rect">
            <a:avLst/>
          </a:prstGeom>
        </p:spPr>
      </p:pic>
      <p:sp>
        <p:nvSpPr>
          <p:cNvPr id="246" name="Radiation from potassium in your body:…"/>
          <p:cNvSpPr txBox="1"/>
          <p:nvPr/>
        </p:nvSpPr>
        <p:spPr>
          <a:xfrm>
            <a:off x="2532448" y="6090481"/>
            <a:ext cx="10366490" cy="1449371"/>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3100">
                <a:solidFill>
                  <a:srgbClr val="FFFFFF"/>
                </a:solidFill>
              </a:defRPr>
            </a:pPr>
            <a:r>
              <a:rPr sz="4409"/>
              <a:t>Radiation from potassium in your body:</a:t>
            </a:r>
          </a:p>
          <a:p>
            <a:pPr>
              <a:defRPr sz="3100">
                <a:solidFill>
                  <a:srgbClr val="FFFFFF"/>
                </a:solidFill>
              </a:defRPr>
            </a:pPr>
            <a:r>
              <a:rPr sz="4409"/>
              <a:t>~4000 bananas (~10 transatlantic flights)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20</a:t>
            </a:fld>
            <a:endParaRPr/>
          </a:p>
        </p:txBody>
      </p:sp>
      <p:pic>
        <p:nvPicPr>
          <p:cNvPr id="249"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250" name="Rounded Rectangle Rounded rectangle" descr="Rounded Rectangle Rounded rectangle"/>
          <p:cNvPicPr>
            <a:picLocks/>
          </p:cNvPicPr>
          <p:nvPr/>
        </p:nvPicPr>
        <p:blipFill>
          <a:blip r:embed="rId3"/>
          <a:stretch>
            <a:fillRect/>
          </a:stretch>
        </p:blipFill>
        <p:spPr>
          <a:xfrm>
            <a:off x="7814778" y="4749310"/>
            <a:ext cx="1405616" cy="753269"/>
          </a:xfrm>
          <a:prstGeom prst="rect">
            <a:avLst/>
          </a:prstGeom>
        </p:spPr>
      </p:pic>
      <p:sp>
        <p:nvSpPr>
          <p:cNvPr id="252" name="2-week dose in Fukushima exclusion zone:…"/>
          <p:cNvSpPr txBox="1"/>
          <p:nvPr/>
        </p:nvSpPr>
        <p:spPr>
          <a:xfrm>
            <a:off x="1177780" y="7086254"/>
            <a:ext cx="10898687" cy="1449371"/>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3100">
                <a:solidFill>
                  <a:srgbClr val="FFFFFF"/>
                </a:solidFill>
              </a:defRPr>
            </a:pPr>
            <a:r>
              <a:rPr sz="4409"/>
              <a:t>2-week dose in Fukushima exclusion zone:</a:t>
            </a:r>
          </a:p>
          <a:p>
            <a:pPr>
              <a:defRPr sz="3100">
                <a:solidFill>
                  <a:srgbClr val="FFFFFF"/>
                </a:solidFill>
              </a:defRPr>
            </a:pPr>
            <a:r>
              <a:rPr sz="4409"/>
              <a:t>10000 bananas (~25 transatlantic flights)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21</a:t>
            </a:fld>
            <a:endParaRPr/>
          </a:p>
        </p:txBody>
      </p:sp>
      <p:pic>
        <p:nvPicPr>
          <p:cNvPr id="255"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256" name="Rounded Rectangle Rounded rectangle" descr="Rounded Rectangle Rounded rectangle"/>
          <p:cNvPicPr>
            <a:picLocks/>
          </p:cNvPicPr>
          <p:nvPr/>
        </p:nvPicPr>
        <p:blipFill>
          <a:blip r:embed="rId3"/>
          <a:stretch>
            <a:fillRect/>
          </a:stretch>
        </p:blipFill>
        <p:spPr>
          <a:xfrm>
            <a:off x="7760592" y="5255053"/>
            <a:ext cx="2402637" cy="904117"/>
          </a:xfrm>
          <a:prstGeom prst="rect">
            <a:avLst/>
          </a:prstGeom>
        </p:spPr>
      </p:pic>
      <p:sp>
        <p:nvSpPr>
          <p:cNvPr id="258" name="Your typical yearly dose:…"/>
          <p:cNvSpPr txBox="1"/>
          <p:nvPr/>
        </p:nvSpPr>
        <p:spPr>
          <a:xfrm>
            <a:off x="1177781" y="7086254"/>
            <a:ext cx="10664649" cy="1449371"/>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3100">
                <a:solidFill>
                  <a:srgbClr val="FFFFFF"/>
                </a:solidFill>
              </a:defRPr>
            </a:pPr>
            <a:r>
              <a:rPr sz="4409"/>
              <a:t>Your typical yearly dose:</a:t>
            </a:r>
          </a:p>
          <a:p>
            <a:pPr>
              <a:defRPr sz="3100">
                <a:solidFill>
                  <a:srgbClr val="FFFFFF"/>
                </a:solidFill>
              </a:defRPr>
            </a:pPr>
            <a:r>
              <a:rPr sz="4409"/>
              <a:t>40000 bananas (~100 transatlantic flights)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22</a:t>
            </a:fld>
            <a:endParaRPr/>
          </a:p>
        </p:txBody>
      </p:sp>
      <p:pic>
        <p:nvPicPr>
          <p:cNvPr id="261"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262" name="Rounded Rectangle Rounded rectangle" descr="Rounded Rectangle Rounded rectangle"/>
          <p:cNvPicPr>
            <a:picLocks/>
          </p:cNvPicPr>
          <p:nvPr/>
        </p:nvPicPr>
        <p:blipFill>
          <a:blip r:embed="rId3"/>
          <a:stretch>
            <a:fillRect/>
          </a:stretch>
        </p:blipFill>
        <p:spPr>
          <a:xfrm>
            <a:off x="9693251" y="2039978"/>
            <a:ext cx="2787172" cy="904117"/>
          </a:xfrm>
          <a:prstGeom prst="rect">
            <a:avLst/>
          </a:prstGeom>
        </p:spPr>
      </p:pic>
      <p:sp>
        <p:nvSpPr>
          <p:cNvPr id="264" name="1 hour in Chernobyl grounds:…"/>
          <p:cNvSpPr txBox="1"/>
          <p:nvPr/>
        </p:nvSpPr>
        <p:spPr>
          <a:xfrm>
            <a:off x="1177781" y="7086254"/>
            <a:ext cx="10664649" cy="1449371"/>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3100">
                <a:solidFill>
                  <a:srgbClr val="FFFFFF"/>
                </a:solidFill>
              </a:defRPr>
            </a:pPr>
            <a:r>
              <a:rPr sz="4409"/>
              <a:t>1 hour in Chernobyl grounds:</a:t>
            </a:r>
          </a:p>
          <a:p>
            <a:pPr>
              <a:defRPr sz="3100">
                <a:solidFill>
                  <a:srgbClr val="FFFFFF"/>
                </a:solidFill>
              </a:defRPr>
            </a:pPr>
            <a:r>
              <a:rPr sz="4409"/>
              <a:t>60000 bananas (~150 transatlantic flights)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23</a:t>
            </a:fld>
            <a:endParaRPr/>
          </a:p>
        </p:txBody>
      </p:sp>
      <p:pic>
        <p:nvPicPr>
          <p:cNvPr id="267"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268" name="Rounded Rectangle Rounded rectangle" descr="Rounded Rectangle Rounded rectangle"/>
          <p:cNvPicPr>
            <a:picLocks/>
          </p:cNvPicPr>
          <p:nvPr/>
        </p:nvPicPr>
        <p:blipFill>
          <a:blip r:embed="rId3"/>
          <a:stretch>
            <a:fillRect/>
          </a:stretch>
        </p:blipFill>
        <p:spPr>
          <a:xfrm>
            <a:off x="9693251" y="2654093"/>
            <a:ext cx="2787172" cy="904117"/>
          </a:xfrm>
          <a:prstGeom prst="rect">
            <a:avLst/>
          </a:prstGeom>
        </p:spPr>
      </p:pic>
      <p:sp>
        <p:nvSpPr>
          <p:cNvPr id="270" name="Chest CT scan:…"/>
          <p:cNvSpPr txBox="1"/>
          <p:nvPr/>
        </p:nvSpPr>
        <p:spPr>
          <a:xfrm>
            <a:off x="1177781" y="7086254"/>
            <a:ext cx="10334430" cy="1449371"/>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3100">
                <a:solidFill>
                  <a:srgbClr val="FFFFFF"/>
                </a:solidFill>
              </a:defRPr>
            </a:pPr>
            <a:r>
              <a:rPr sz="4409"/>
              <a:t>Chest CT scan:</a:t>
            </a:r>
          </a:p>
          <a:p>
            <a:pPr>
              <a:defRPr sz="3100">
                <a:solidFill>
                  <a:srgbClr val="FFFFFF"/>
                </a:solidFill>
              </a:defRPr>
            </a:pPr>
            <a:r>
              <a:rPr sz="4409"/>
              <a:t>70000 bananas (175 transatlantic flights)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24</a:t>
            </a:fld>
            <a:endParaRPr/>
          </a:p>
        </p:txBody>
      </p:sp>
      <p:pic>
        <p:nvPicPr>
          <p:cNvPr id="273"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274" name="Rounded Rectangle Rounded rectangle" descr="Rounded Rectangle Rounded rectangle"/>
          <p:cNvPicPr>
            <a:picLocks/>
          </p:cNvPicPr>
          <p:nvPr/>
        </p:nvPicPr>
        <p:blipFill>
          <a:blip r:embed="rId3"/>
          <a:stretch>
            <a:fillRect/>
          </a:stretch>
        </p:blipFill>
        <p:spPr>
          <a:xfrm>
            <a:off x="9729375" y="3268209"/>
            <a:ext cx="2787172" cy="2955730"/>
          </a:xfrm>
          <a:prstGeom prst="rect">
            <a:avLst/>
          </a:prstGeom>
        </p:spPr>
      </p:pic>
      <p:sp>
        <p:nvSpPr>
          <p:cNvPr id="276" name="Safe dose for “radiation workers”(like me):…"/>
          <p:cNvSpPr txBox="1"/>
          <p:nvPr/>
        </p:nvSpPr>
        <p:spPr>
          <a:xfrm>
            <a:off x="1177782" y="7086254"/>
            <a:ext cx="11119902" cy="1449371"/>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3100">
                <a:solidFill>
                  <a:srgbClr val="FFFFFF"/>
                </a:solidFill>
              </a:defRPr>
            </a:pPr>
            <a:r>
              <a:rPr sz="4409"/>
              <a:t>Safe dose for “radiation workers”(like me):</a:t>
            </a:r>
          </a:p>
          <a:p>
            <a:pPr>
              <a:defRPr sz="3100">
                <a:solidFill>
                  <a:srgbClr val="FFFFFF"/>
                </a:solidFill>
              </a:defRPr>
            </a:pPr>
            <a:r>
              <a:rPr sz="4409"/>
              <a:t>500,000 bananas (1250 transatlantic flights)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25</a:t>
            </a:fld>
            <a:endParaRPr/>
          </a:p>
        </p:txBody>
      </p:sp>
      <p:pic>
        <p:nvPicPr>
          <p:cNvPr id="279"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280" name="Rounded Rectangle Rounded rectangle" descr="Rounded Rectangle Rounded rectangle"/>
          <p:cNvPicPr>
            <a:picLocks/>
          </p:cNvPicPr>
          <p:nvPr/>
        </p:nvPicPr>
        <p:blipFill>
          <a:blip r:embed="rId3"/>
          <a:stretch>
            <a:fillRect/>
          </a:stretch>
        </p:blipFill>
        <p:spPr>
          <a:xfrm>
            <a:off x="11016689" y="6559696"/>
            <a:ext cx="1689116" cy="675728"/>
          </a:xfrm>
          <a:prstGeom prst="rect">
            <a:avLst/>
          </a:prstGeom>
        </p:spPr>
      </p:pic>
      <p:sp>
        <p:nvSpPr>
          <p:cNvPr id="282" name="Lowest yearly dose linked to increased cancer risk:…"/>
          <p:cNvSpPr txBox="1"/>
          <p:nvPr/>
        </p:nvSpPr>
        <p:spPr>
          <a:xfrm>
            <a:off x="1177781" y="7086254"/>
            <a:ext cx="11591184" cy="2127890"/>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3100">
                <a:solidFill>
                  <a:srgbClr val="FFFFFF"/>
                </a:solidFill>
              </a:defRPr>
            </a:pPr>
            <a:r>
              <a:rPr sz="4409"/>
              <a:t>Lowest yearly dose linked to</a:t>
            </a:r>
            <a:br>
              <a:rPr sz="4409"/>
            </a:br>
            <a:r>
              <a:rPr sz="4409"/>
              <a:t>increased cancer risk:</a:t>
            </a:r>
          </a:p>
          <a:p>
            <a:pPr>
              <a:defRPr sz="3100">
                <a:solidFill>
                  <a:srgbClr val="FFFFFF"/>
                </a:solidFill>
              </a:defRPr>
            </a:pPr>
            <a:r>
              <a:rPr sz="4409"/>
              <a:t>1,000,000 bananas (2500 transatlantic flights)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26</a:t>
            </a:fld>
            <a:endParaRPr/>
          </a:p>
        </p:txBody>
      </p:sp>
      <p:sp>
        <p:nvSpPr>
          <p:cNvPr id="285" name="Yeah, you’re getting irradiated right now."/>
          <p:cNvSpPr txBox="1"/>
          <p:nvPr/>
        </p:nvSpPr>
        <p:spPr>
          <a:xfrm>
            <a:off x="-10943" y="3390179"/>
            <a:ext cx="4233914" cy="11867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2500"/>
            </a:pPr>
            <a:r>
              <a:rPr sz="3556"/>
              <a:t>Yeah, you’re getting</a:t>
            </a:r>
            <a:br>
              <a:rPr sz="3556"/>
            </a:br>
            <a:r>
              <a:rPr sz="3556"/>
              <a:t>irradiated right now. </a:t>
            </a:r>
          </a:p>
        </p:txBody>
      </p:sp>
      <p:pic>
        <p:nvPicPr>
          <p:cNvPr id="286"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287" name="Rounded Rectangle Rounded rectangle" descr="Rounded Rectangle Rounded rectangle"/>
          <p:cNvPicPr>
            <a:picLocks/>
          </p:cNvPicPr>
          <p:nvPr/>
        </p:nvPicPr>
        <p:blipFill>
          <a:blip r:embed="rId3"/>
          <a:stretch>
            <a:fillRect/>
          </a:stretch>
        </p:blipFill>
        <p:spPr>
          <a:xfrm>
            <a:off x="9192404" y="6911204"/>
            <a:ext cx="1698923" cy="559029"/>
          </a:xfrm>
          <a:prstGeom prst="rect">
            <a:avLst/>
          </a:prstGeom>
        </p:spPr>
      </p:pic>
      <p:sp>
        <p:nvSpPr>
          <p:cNvPr id="289" name="2 Fukushima plant workers were exposed to…"/>
          <p:cNvSpPr txBox="1"/>
          <p:nvPr/>
        </p:nvSpPr>
        <p:spPr>
          <a:xfrm>
            <a:off x="61299" y="2920519"/>
            <a:ext cx="12181090" cy="2806409"/>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3100">
                <a:solidFill>
                  <a:srgbClr val="FFFFFF"/>
                </a:solidFill>
              </a:defRPr>
            </a:pPr>
            <a:r>
              <a:rPr sz="4409"/>
              <a:t>2 Fukushima plant workers</a:t>
            </a:r>
            <a:br>
              <a:rPr sz="4409"/>
            </a:br>
            <a:r>
              <a:rPr sz="4409"/>
              <a:t>were exposed to </a:t>
            </a:r>
          </a:p>
          <a:p>
            <a:pPr>
              <a:defRPr sz="3100">
                <a:solidFill>
                  <a:srgbClr val="FFFFFF"/>
                </a:solidFill>
              </a:defRPr>
            </a:pPr>
            <a:r>
              <a:rPr sz="4409"/>
              <a:t>1,800,000 bananas (4500 transatlantic flights)</a:t>
            </a:r>
          </a:p>
          <a:p>
            <a:pPr>
              <a:defRPr sz="3100">
                <a:solidFill>
                  <a:srgbClr val="FFFFFF"/>
                </a:solidFill>
              </a:defRPr>
            </a:pPr>
            <a:r>
              <a:rPr sz="4409"/>
              <a:t>1.8 lowest level for slightly increased cancer risk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27</a:t>
            </a:fld>
            <a:endParaRPr/>
          </a:p>
        </p:txBody>
      </p:sp>
      <p:sp>
        <p:nvSpPr>
          <p:cNvPr id="292" name="Let’s use  “one banana” as a radiation unit."/>
          <p:cNvSpPr txBox="1"/>
          <p:nvPr/>
        </p:nvSpPr>
        <p:spPr>
          <a:xfrm>
            <a:off x="702630" y="5596310"/>
            <a:ext cx="2797110" cy="12741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r>
              <a:rPr sz="2560"/>
              <a:t>Let’s use </a:t>
            </a:r>
            <a:br>
              <a:rPr sz="2560"/>
            </a:br>
            <a:r>
              <a:rPr sz="2560"/>
              <a:t>“one banana” as a</a:t>
            </a:r>
            <a:br>
              <a:rPr sz="2560"/>
            </a:br>
            <a:r>
              <a:rPr sz="2560"/>
              <a:t>radiation unit. </a:t>
            </a:r>
          </a:p>
        </p:txBody>
      </p:sp>
      <p:pic>
        <p:nvPicPr>
          <p:cNvPr id="293"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294" name="Rounded Rectangle Rounded rectangle" descr="Rounded Rectangle Rounded rectangle"/>
          <p:cNvPicPr>
            <a:picLocks/>
          </p:cNvPicPr>
          <p:nvPr/>
        </p:nvPicPr>
        <p:blipFill>
          <a:blip r:embed="rId3"/>
          <a:stretch>
            <a:fillRect/>
          </a:stretch>
        </p:blipFill>
        <p:spPr>
          <a:xfrm>
            <a:off x="8921471" y="7724004"/>
            <a:ext cx="1698923" cy="559029"/>
          </a:xfrm>
          <a:prstGeom prst="rect">
            <a:avLst/>
          </a:prstGeom>
        </p:spPr>
      </p:pic>
      <p:sp>
        <p:nvSpPr>
          <p:cNvPr id="296" name="Dose limit for emergency workers:…"/>
          <p:cNvSpPr txBox="1"/>
          <p:nvPr/>
        </p:nvSpPr>
        <p:spPr>
          <a:xfrm>
            <a:off x="564545" y="4068898"/>
            <a:ext cx="12181090" cy="3484928"/>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3100">
                <a:solidFill>
                  <a:srgbClr val="FFFFFF"/>
                </a:solidFill>
              </a:defRPr>
            </a:pPr>
            <a:r>
              <a:rPr sz="4409"/>
              <a:t>Dose limit for emergency workers:</a:t>
            </a:r>
          </a:p>
          <a:p>
            <a:pPr>
              <a:defRPr sz="3100">
                <a:solidFill>
                  <a:srgbClr val="FFFFFF"/>
                </a:solidFill>
              </a:defRPr>
            </a:pPr>
            <a:r>
              <a:rPr sz="4409"/>
              <a:t>2,500,000 bananas </a:t>
            </a:r>
          </a:p>
          <a:p>
            <a:pPr>
              <a:defRPr sz="3100">
                <a:solidFill>
                  <a:srgbClr val="FFFFFF"/>
                </a:solidFill>
              </a:defRPr>
            </a:pPr>
            <a:r>
              <a:rPr sz="4409"/>
              <a:t>6250 transatlantic flights</a:t>
            </a:r>
          </a:p>
          <a:p>
            <a:pPr>
              <a:defRPr sz="3100">
                <a:solidFill>
                  <a:srgbClr val="FFFFFF"/>
                </a:solidFill>
              </a:defRPr>
            </a:pPr>
            <a:r>
              <a:rPr sz="4409"/>
              <a:t>1.4 Fukushimas</a:t>
            </a:r>
          </a:p>
          <a:p>
            <a:pPr>
              <a:defRPr sz="3100">
                <a:solidFill>
                  <a:srgbClr val="FFFFFF"/>
                </a:solidFill>
              </a:defRPr>
            </a:pPr>
            <a:r>
              <a:rPr sz="4409"/>
              <a:t>2.5 lowest level for slightly increased cancer risk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Slide Number"/>
          <p:cNvSpPr txBox="1">
            <a:spLocks noGrp="1"/>
          </p:cNvSpPr>
          <p:nvPr>
            <p:ph type="sldNum" sz="quarter" idx="2"/>
          </p:nvPr>
        </p:nvSpPr>
        <p:spPr>
          <a:xfrm>
            <a:off x="7817075" y="6376119"/>
            <a:ext cx="273656" cy="264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6858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chemeClr val="accent4"/>
                </a:solidFill>
                <a:effectLst/>
                <a:uFillTx/>
                <a:latin typeface="+mj-lt"/>
                <a:ea typeface="+mj-ea"/>
                <a:cs typeface="+mj-cs"/>
                <a:sym typeface="Arial"/>
              </a:defRPr>
            </a:lvl1pPr>
            <a:lvl2pPr marL="0" marR="0" indent="45718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2pPr>
            <a:lvl3pPr marL="0" marR="0" indent="914377"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3pPr>
            <a:lvl4pPr marL="0" marR="0" indent="1371565"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4pPr>
            <a:lvl5pPr marL="0" marR="0" indent="1828754"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5pPr>
            <a:lvl6pPr marL="0" marR="0" indent="2285943"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6pPr>
            <a:lvl7pPr marL="0" marR="0" indent="2743131"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7pPr>
            <a:lvl8pPr marL="0" marR="0" indent="3200319"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8pPr>
            <a:lvl9pPr marL="0" marR="0" indent="3657508" algn="l" defTabSz="914377"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4"/>
                </a:solidFill>
                <a:effectLst/>
                <a:uFillTx/>
                <a:latin typeface="+mj-lt"/>
                <a:ea typeface="+mj-ea"/>
                <a:cs typeface="+mj-cs"/>
                <a:sym typeface="Arial"/>
              </a:defRPr>
            </a:lvl9pPr>
          </a:lstStyle>
          <a:p>
            <a:fld id="{86CB4B4D-7CA3-9044-876B-883B54F8677D}" type="slidenum">
              <a:rPr lang="en-US" smtClean="0"/>
              <a:pPr/>
              <a:t>28</a:t>
            </a:fld>
            <a:endParaRPr/>
          </a:p>
        </p:txBody>
      </p:sp>
      <p:pic>
        <p:nvPicPr>
          <p:cNvPr id="299" name="Image" descr="Image"/>
          <p:cNvPicPr>
            <a:picLocks noChangeAspect="1"/>
          </p:cNvPicPr>
          <p:nvPr/>
        </p:nvPicPr>
        <p:blipFill>
          <a:blip r:embed="rId2"/>
          <a:stretch>
            <a:fillRect/>
          </a:stretch>
        </p:blipFill>
        <p:spPr>
          <a:xfrm>
            <a:off x="5352710" y="1196231"/>
            <a:ext cx="7218402" cy="8485121"/>
          </a:xfrm>
          <a:prstGeom prst="rect">
            <a:avLst/>
          </a:prstGeom>
          <a:ln w="12700">
            <a:miter lim="400000"/>
          </a:ln>
        </p:spPr>
      </p:pic>
      <p:pic>
        <p:nvPicPr>
          <p:cNvPr id="300" name="Rounded Rectangle Rounded rectangle" descr="Rounded Rectangle Rounded rectangle"/>
          <p:cNvPicPr>
            <a:picLocks/>
          </p:cNvPicPr>
          <p:nvPr/>
        </p:nvPicPr>
        <p:blipFill>
          <a:blip r:embed="rId3"/>
          <a:stretch>
            <a:fillRect/>
          </a:stretch>
        </p:blipFill>
        <p:spPr>
          <a:xfrm>
            <a:off x="8921471" y="8067186"/>
            <a:ext cx="2164096" cy="1466398"/>
          </a:xfrm>
          <a:prstGeom prst="rect">
            <a:avLst/>
          </a:prstGeom>
        </p:spPr>
      </p:pic>
      <p:sp>
        <p:nvSpPr>
          <p:cNvPr id="302" name="You’re gonna die if you get dosage of:…"/>
          <p:cNvSpPr txBox="1"/>
          <p:nvPr/>
        </p:nvSpPr>
        <p:spPr>
          <a:xfrm>
            <a:off x="2351826" y="2025805"/>
            <a:ext cx="10209396" cy="3484928"/>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sz="3100">
                <a:solidFill>
                  <a:srgbClr val="FFFFFF"/>
                </a:solidFill>
              </a:defRPr>
            </a:pPr>
            <a:r>
              <a:rPr sz="4409"/>
              <a:t>You’re gonna die if you get dosage of:</a:t>
            </a:r>
          </a:p>
          <a:p>
            <a:pPr>
              <a:defRPr sz="3100">
                <a:solidFill>
                  <a:srgbClr val="FFFFFF"/>
                </a:solidFill>
              </a:defRPr>
            </a:pPr>
            <a:r>
              <a:rPr sz="4409"/>
              <a:t>  80,000,000 bananas,</a:t>
            </a:r>
          </a:p>
          <a:p>
            <a:pPr>
              <a:defRPr sz="3100">
                <a:solidFill>
                  <a:srgbClr val="FFFFFF"/>
                </a:solidFill>
              </a:defRPr>
            </a:pPr>
            <a:r>
              <a:rPr sz="4409"/>
              <a:t>  32 Fukushimas,  </a:t>
            </a:r>
          </a:p>
          <a:p>
            <a:pPr>
              <a:defRPr sz="3100">
                <a:solidFill>
                  <a:srgbClr val="FFFFFF"/>
                </a:solidFill>
              </a:defRPr>
            </a:pPr>
            <a:r>
              <a:rPr sz="4409"/>
              <a:t>  200,000 transatlantic flights,</a:t>
            </a:r>
          </a:p>
          <a:p>
            <a:pPr>
              <a:defRPr sz="3100">
                <a:solidFill>
                  <a:srgbClr val="FFFFFF"/>
                </a:solidFill>
              </a:defRPr>
            </a:pPr>
            <a:r>
              <a:rPr sz="4409"/>
              <a:t>  133 times normal background radiation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29</a:t>
            </a:fld>
            <a:endParaRPr/>
          </a:p>
        </p:txBody>
      </p:sp>
      <p:sp>
        <p:nvSpPr>
          <p:cNvPr id="305" name="Nasty stuff, but frankly easy to contain:…"/>
          <p:cNvSpPr txBox="1">
            <a:spLocks noGrp="1"/>
          </p:cNvSpPr>
          <p:nvPr>
            <p:ph type="body" sz="half" idx="1"/>
          </p:nvPr>
        </p:nvSpPr>
        <p:spPr>
          <a:xfrm>
            <a:off x="53244" y="2464866"/>
            <a:ext cx="6068581" cy="6559954"/>
          </a:xfrm>
          <a:prstGeom prst="rect">
            <a:avLst/>
          </a:prstGeom>
        </p:spPr>
        <p:txBody>
          <a:bodyPr/>
          <a:lstStyle/>
          <a:p>
            <a:pPr marL="307234" indent="-273095" defTabSz="614467">
              <a:spcBef>
                <a:spcPts val="569"/>
              </a:spcBef>
              <a:defRPr sz="1575" spc="-39"/>
            </a:pPr>
            <a:r>
              <a:t>Nasty stuff, but frankly easy to contain:</a:t>
            </a:r>
          </a:p>
          <a:p>
            <a:pPr marL="580322" lvl="1" indent="-273095" defTabSz="614467">
              <a:spcBef>
                <a:spcPts val="569"/>
              </a:spcBef>
              <a:buSzPct val="109000"/>
              <a:buChar char="•"/>
              <a:defRPr sz="1575" spc="-39"/>
            </a:pPr>
            <a:r>
              <a:t>Encase it in glass, and bury it. </a:t>
            </a:r>
          </a:p>
          <a:p>
            <a:pPr marL="580322" lvl="1" indent="-273095" defTabSz="614467">
              <a:spcBef>
                <a:spcPts val="569"/>
              </a:spcBef>
              <a:buSzPct val="109000"/>
              <a:buChar char="•"/>
              <a:defRPr sz="1575" spc="-39"/>
            </a:pPr>
            <a:r>
              <a:t>We HAVE a perfect place to store it (Yucca Mountain) but we stopped in 2011 for political reasons and store it on sites now</a:t>
            </a:r>
          </a:p>
          <a:p>
            <a:pPr marL="307234" indent="-273095" defTabSz="614467">
              <a:spcBef>
                <a:spcPts val="569"/>
              </a:spcBef>
              <a:defRPr sz="1575" spc="-39"/>
            </a:pPr>
            <a:endParaRPr/>
          </a:p>
          <a:p>
            <a:pPr marL="307234" indent="-273095" defTabSz="614467">
              <a:spcBef>
                <a:spcPts val="569"/>
              </a:spcBef>
              <a:defRPr sz="1575" spc="-39"/>
            </a:pPr>
            <a:endParaRPr/>
          </a:p>
          <a:p>
            <a:pPr marL="307234" indent="-273095" defTabSz="614467">
              <a:spcBef>
                <a:spcPts val="569"/>
              </a:spcBef>
              <a:defRPr sz="1575" spc="-39"/>
            </a:pPr>
            <a:r>
              <a:t>Build Gen 4 nuclear plants to CONSUME existing nuclear waste</a:t>
            </a:r>
          </a:p>
          <a:p>
            <a:pPr marL="580322" lvl="1" indent="-273095" defTabSz="614467">
              <a:spcBef>
                <a:spcPts val="569"/>
              </a:spcBef>
              <a:buSzPct val="109000"/>
              <a:buChar char="•"/>
              <a:defRPr sz="1575" spc="-39"/>
            </a:pPr>
            <a:r>
              <a:t>Higher efficiency</a:t>
            </a:r>
          </a:p>
          <a:p>
            <a:pPr marL="580322" lvl="1" indent="-273095" defTabSz="614467">
              <a:spcBef>
                <a:spcPts val="569"/>
              </a:spcBef>
              <a:buSzPct val="109000"/>
              <a:buChar char="•"/>
              <a:defRPr sz="1575" spc="-39"/>
            </a:pPr>
            <a:r>
              <a:t>Fast burners: uses existing byproducts as fuel</a:t>
            </a:r>
          </a:p>
          <a:p>
            <a:pPr marL="580322" lvl="1" indent="-273095" defTabSz="614467">
              <a:spcBef>
                <a:spcPts val="569"/>
              </a:spcBef>
              <a:buSzPct val="109000"/>
              <a:buChar char="•"/>
              <a:defRPr sz="1575" spc="-39"/>
            </a:pPr>
            <a:r>
              <a:t>Thorium reactors: closed cycle, uses isotopes not usable for nuclear weapons</a:t>
            </a:r>
          </a:p>
          <a:p>
            <a:pPr marL="887548" lvl="2" indent="-273095" defTabSz="614467">
              <a:spcBef>
                <a:spcPts val="569"/>
              </a:spcBef>
              <a:buSzPct val="109000"/>
              <a:buChar char="•"/>
              <a:defRPr sz="1575" spc="-39"/>
            </a:pPr>
            <a:r>
              <a:t>No trans-transuranic elements!</a:t>
            </a:r>
          </a:p>
          <a:p>
            <a:pPr marL="580322" lvl="1" indent="-273095" defTabSz="614467">
              <a:spcBef>
                <a:spcPts val="569"/>
              </a:spcBef>
              <a:buSzPct val="109000"/>
              <a:buChar char="•"/>
              <a:defRPr sz="1575" spc="-39"/>
            </a:pPr>
            <a:r>
              <a:t>Meltdown is impossible</a:t>
            </a:r>
          </a:p>
        </p:txBody>
      </p:sp>
      <p:sp>
        <p:nvSpPr>
          <p:cNvPr id="306" name="What about waste or meltdown?"/>
          <p:cNvSpPr txBox="1">
            <a:spLocks noGrp="1"/>
          </p:cNvSpPr>
          <p:nvPr>
            <p:ph type="title"/>
          </p:nvPr>
        </p:nvSpPr>
        <p:spPr>
          <a:xfrm>
            <a:off x="153167" y="1186327"/>
            <a:ext cx="8094474" cy="1073603"/>
          </a:xfrm>
          <a:prstGeom prst="rect">
            <a:avLst/>
          </a:prstGeom>
        </p:spPr>
        <p:txBody>
          <a:bodyPr/>
          <a:lstStyle>
            <a:lvl1pPr defTabSz="438911">
              <a:defRPr sz="3072"/>
            </a:lvl1pPr>
          </a:lstStyle>
          <a:p>
            <a:r>
              <a:t>What about waste or meltdown? </a:t>
            </a:r>
          </a:p>
        </p:txBody>
      </p:sp>
      <p:sp>
        <p:nvSpPr>
          <p:cNvPr id="307" name="https://en.wikipedia.org/wiki/Generation_IV_reactor"/>
          <p:cNvSpPr txBox="1"/>
          <p:nvPr/>
        </p:nvSpPr>
        <p:spPr>
          <a:xfrm>
            <a:off x="879262" y="9229758"/>
            <a:ext cx="7546808" cy="4862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r>
              <a:rPr sz="2560"/>
              <a:t>https://en.wikipedia.org/wiki/Generation_IV_reactor</a:t>
            </a:r>
          </a:p>
        </p:txBody>
      </p:sp>
      <p:sp>
        <p:nvSpPr>
          <p:cNvPr id="308" name="OR (better) :"/>
          <p:cNvSpPr txBox="1"/>
          <p:nvPr/>
        </p:nvSpPr>
        <p:spPr>
          <a:xfrm>
            <a:off x="1202991" y="4080096"/>
            <a:ext cx="3781354" cy="880241"/>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lvl1pPr>
              <a:defRPr sz="3600">
                <a:solidFill>
                  <a:srgbClr val="FFFFFF"/>
                </a:solidFill>
              </a:defRPr>
            </a:lvl1pPr>
          </a:lstStyle>
          <a:p>
            <a:r>
              <a:rPr sz="5120" dirty="0"/>
              <a:t>OR (better) :</a:t>
            </a:r>
          </a:p>
        </p:txBody>
      </p:sp>
      <p:pic>
        <p:nvPicPr>
          <p:cNvPr id="309" name="Image" descr="Image"/>
          <p:cNvPicPr>
            <a:picLocks noChangeAspect="1"/>
          </p:cNvPicPr>
          <p:nvPr/>
        </p:nvPicPr>
        <p:blipFill>
          <a:blip r:embed="rId2"/>
          <a:stretch>
            <a:fillRect/>
          </a:stretch>
        </p:blipFill>
        <p:spPr>
          <a:xfrm>
            <a:off x="6218160" y="3244400"/>
            <a:ext cx="6819389" cy="5000886"/>
          </a:xfrm>
          <a:prstGeom prst="rect">
            <a:avLst/>
          </a:prstGeom>
          <a:ln w="12700">
            <a:miter lim="400000"/>
          </a:ln>
        </p:spPr>
      </p:pic>
      <p:sp>
        <p:nvSpPr>
          <p:cNvPr id="310" name="Arrow"/>
          <p:cNvSpPr/>
          <p:nvPr/>
        </p:nvSpPr>
        <p:spPr>
          <a:xfrm rot="7087251">
            <a:off x="7850943" y="2087087"/>
            <a:ext cx="1806224" cy="1806224"/>
          </a:xfrm>
          <a:prstGeom prst="rightArrow">
            <a:avLst>
              <a:gd name="adj1" fmla="val 32000"/>
              <a:gd name="adj2" fmla="val 64000"/>
            </a:avLst>
          </a:prstGeom>
          <a:solidFill>
            <a:schemeClr val="accent2"/>
          </a:solidFill>
          <a:ln w="12700">
            <a:miter lim="400000"/>
          </a:ln>
        </p:spPr>
        <p:txBody>
          <a:bodyPr lIns="65023" rIns="65023" anchor="ctr"/>
          <a:lstStyle/>
          <a:p>
            <a:pPr>
              <a:defRPr>
                <a:solidFill>
                  <a:srgbClr val="FFFFFF"/>
                </a:solidFill>
              </a:defRPr>
            </a:pPr>
            <a:endParaRPr sz="2560"/>
          </a:p>
        </p:txBody>
      </p:sp>
      <p:sp>
        <p:nvSpPr>
          <p:cNvPr id="311" name="If something bad happens, reaction stops"/>
          <p:cNvSpPr txBox="1"/>
          <p:nvPr/>
        </p:nvSpPr>
        <p:spPr>
          <a:xfrm>
            <a:off x="8382334" y="1570271"/>
            <a:ext cx="4004171" cy="880241"/>
          </a:xfrm>
          <a:prstGeom prst="rect">
            <a:avLst/>
          </a:prstGeom>
          <a:solidFill>
            <a:schemeClr val="accent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lgn="ctr">
              <a:defRPr>
                <a:solidFill>
                  <a:srgbClr val="FFFFFF"/>
                </a:solidFill>
              </a:defRPr>
            </a:pPr>
            <a:r>
              <a:rPr sz="2560"/>
              <a:t>If something bad happens,</a:t>
            </a:r>
            <a:br>
              <a:rPr sz="2560"/>
            </a:br>
            <a:r>
              <a:rPr sz="2560"/>
              <a:t>reaction stops</a:t>
            </a:r>
          </a:p>
        </p:txBody>
      </p:sp>
      <p:sp>
        <p:nvSpPr>
          <p:cNvPr id="312" name="Can use thorium (closed cycle, consume previous waste)"/>
          <p:cNvSpPr txBox="1"/>
          <p:nvPr/>
        </p:nvSpPr>
        <p:spPr>
          <a:xfrm>
            <a:off x="8715748" y="8098110"/>
            <a:ext cx="3542506" cy="1274195"/>
          </a:xfrm>
          <a:prstGeom prst="rect">
            <a:avLst/>
          </a:prstGeom>
          <a:solidFill>
            <a:schemeClr val="accent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lgn="ctr">
              <a:defRPr>
                <a:solidFill>
                  <a:srgbClr val="FFFFFF"/>
                </a:solidFill>
              </a:defRPr>
            </a:pPr>
            <a:r>
              <a:rPr sz="2560"/>
              <a:t>Can use thorium</a:t>
            </a:r>
            <a:br>
              <a:rPr sz="2560"/>
            </a:br>
            <a:r>
              <a:rPr sz="2560"/>
              <a:t>(closed cycle, consume</a:t>
            </a:r>
            <a:br>
              <a:rPr sz="2560"/>
            </a:br>
            <a:r>
              <a:rPr sz="2560"/>
              <a:t>previous waste)</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D011C-DB7A-AD01-0E4C-F7EED1E35322}"/>
              </a:ext>
            </a:extLst>
          </p:cNvPr>
          <p:cNvSpPr>
            <a:spLocks noGrp="1"/>
          </p:cNvSpPr>
          <p:nvPr>
            <p:ph type="title"/>
          </p:nvPr>
        </p:nvSpPr>
        <p:spPr>
          <a:xfrm>
            <a:off x="420490" y="1519219"/>
            <a:ext cx="11216640" cy="1235456"/>
          </a:xfrm>
        </p:spPr>
        <p:txBody>
          <a:bodyPr/>
          <a:lstStyle/>
          <a:p>
            <a:r>
              <a:rPr lang="en-US" dirty="0"/>
              <a:t>Nuclear Waste</a:t>
            </a:r>
          </a:p>
        </p:txBody>
      </p:sp>
      <p:sp>
        <p:nvSpPr>
          <p:cNvPr id="3" name="Content Placeholder 2">
            <a:extLst>
              <a:ext uri="{FF2B5EF4-FFF2-40B4-BE49-F238E27FC236}">
                <a16:creationId xmlns:a16="http://schemas.microsoft.com/office/drawing/2014/main" id="{4C12152C-1370-4909-64B8-F2A114FF3560}"/>
              </a:ext>
            </a:extLst>
          </p:cNvPr>
          <p:cNvSpPr>
            <a:spLocks noGrp="1"/>
          </p:cNvSpPr>
          <p:nvPr>
            <p:ph idx="1"/>
          </p:nvPr>
        </p:nvSpPr>
        <p:spPr>
          <a:xfrm>
            <a:off x="420490" y="2514600"/>
            <a:ext cx="6957055" cy="6774872"/>
          </a:xfrm>
        </p:spPr>
        <p:txBody>
          <a:bodyPr>
            <a:normAutofit lnSpcReduction="10000"/>
          </a:bodyPr>
          <a:lstStyle/>
          <a:p>
            <a:r>
              <a:rPr sz="1200" i="1" dirty="0">
                <a:hlinkClick r:id="rId2"/>
              </a:rPr>
              <a:t>Source: Wikipedia - Radioactive waste</a:t>
            </a:r>
          </a:p>
          <a:p>
            <a:r>
              <a:rPr sz="1200" b="1" dirty="0"/>
              <a:t>Spent fuel</a:t>
            </a:r>
          </a:p>
          <a:p>
            <a:pPr lvl="1"/>
            <a:r>
              <a:rPr sz="1200" dirty="0"/>
              <a:t>~27 </a:t>
            </a:r>
            <a:r>
              <a:rPr sz="1200" dirty="0" err="1"/>
              <a:t>tonnes</a:t>
            </a:r>
            <a:r>
              <a:rPr sz="1200" dirty="0"/>
              <a:t>/yr per 1,000 MW reactor; &gt;250,000 </a:t>
            </a:r>
            <a:r>
              <a:rPr sz="1200" dirty="0" err="1"/>
              <a:t>tonnes</a:t>
            </a:r>
            <a:r>
              <a:rPr sz="1200" dirty="0"/>
              <a:t> stored worldwide</a:t>
            </a:r>
            <a:endParaRPr lang="en-US" sz="1200" dirty="0"/>
          </a:p>
          <a:p>
            <a:pPr lvl="1"/>
            <a:r>
              <a:rPr sz="1200" dirty="0"/>
              <a:t>Hot, highly radioactive - needs cooling and shielding</a:t>
            </a:r>
            <a:endParaRPr lang="en-US" sz="1200" dirty="0"/>
          </a:p>
          <a:p>
            <a:pPr lvl="1"/>
            <a:r>
              <a:rPr lang="en-US" sz="1200" b="1" dirty="0"/>
              <a:t>Often encased in glass through vitrification</a:t>
            </a:r>
            <a:endParaRPr sz="1200" dirty="0"/>
          </a:p>
          <a:p>
            <a:pPr lvl="1"/>
            <a:r>
              <a:rPr sz="1200" dirty="0"/>
              <a:t>Cs-137/Sr-90 (30-yr half-life) + Pu-239 (24,000-yr half-life)</a:t>
            </a:r>
          </a:p>
          <a:p>
            <a:pPr lvl="1"/>
            <a:r>
              <a:rPr sz="1200" dirty="0"/>
              <a:t>&gt;95% of total radioactivity from nuclear power waste</a:t>
            </a:r>
          </a:p>
          <a:p>
            <a:pPr lvl="1"/>
            <a:r>
              <a:rPr sz="1200" dirty="0"/>
              <a:t>Deep geologic repository favored (e.g. Finland's </a:t>
            </a:r>
            <a:r>
              <a:rPr sz="1200" dirty="0" err="1"/>
              <a:t>Onkalo</a:t>
            </a:r>
            <a:r>
              <a:rPr sz="1200" dirty="0"/>
              <a:t>, ~2025); dry casks/pools meanwhile</a:t>
            </a:r>
          </a:p>
          <a:p>
            <a:r>
              <a:rPr sz="1200" b="1" dirty="0"/>
              <a:t>Manufacturing/industrial byproducts</a:t>
            </a:r>
          </a:p>
          <a:p>
            <a:pPr lvl="1"/>
            <a:r>
              <a:rPr sz="1200" dirty="0"/>
              <a:t>Radiography sources, oil-well logging isotopes</a:t>
            </a:r>
          </a:p>
          <a:p>
            <a:pPr lvl="1"/>
            <a:r>
              <a:rPr sz="1200" dirty="0"/>
              <a:t>Alpha/beta/neutron/gamma emitters - varies by isotope</a:t>
            </a:r>
          </a:p>
          <a:p>
            <a:r>
              <a:rPr sz="1200" b="1" dirty="0"/>
              <a:t>Nuclear medicine</a:t>
            </a:r>
          </a:p>
          <a:p>
            <a:pPr lvl="1"/>
            <a:r>
              <a:rPr sz="1200" dirty="0"/>
              <a:t>Mostly short-lived isotopes (e.g. Tc-99m) - decay fast</a:t>
            </a:r>
          </a:p>
          <a:p>
            <a:pPr lvl="1"/>
            <a:r>
              <a:rPr sz="1200" dirty="0"/>
              <a:t>Some longer-lived: Cs-137 (30 yr), Co-60 (5.3 yr)</a:t>
            </a:r>
          </a:p>
          <a:p>
            <a:pPr lvl="1"/>
            <a:r>
              <a:rPr sz="1200" dirty="0"/>
              <a:t>Often just held to decay, then disposed as normal waste</a:t>
            </a:r>
          </a:p>
          <a:p>
            <a:r>
              <a:rPr sz="1200" b="1" dirty="0"/>
              <a:t>Rare earth mining (NORM)</a:t>
            </a:r>
          </a:p>
          <a:p>
            <a:pPr lvl="1"/>
            <a:r>
              <a:rPr sz="1200" dirty="0"/>
              <a:t>Thorium, radium in tailings/waste rock</a:t>
            </a:r>
          </a:p>
          <a:p>
            <a:pPr lvl="1"/>
            <a:r>
              <a:rPr sz="1200" dirty="0"/>
              <a:t>Slightly radioactive - alpha emitters from U/Th decay chains</a:t>
            </a:r>
          </a:p>
          <a:p>
            <a:pPr lvl="1"/>
            <a:r>
              <a:rPr sz="1200" b="1" dirty="0"/>
              <a:t>Regulated less strictly than reactor waste despite similar risk</a:t>
            </a:r>
          </a:p>
          <a:p>
            <a:r>
              <a:rPr sz="1200" b="1" dirty="0"/>
              <a:t>Nuclear weapons waste</a:t>
            </a:r>
          </a:p>
          <a:p>
            <a:pPr lvl="1"/>
            <a:r>
              <a:rPr sz="1200" dirty="0"/>
              <a:t>Alpha-emitting actinides: Pu-239, Am-241 (432-yr half-life)</a:t>
            </a:r>
          </a:p>
          <a:p>
            <a:pPr lvl="1"/>
            <a:r>
              <a:rPr sz="1200" dirty="0"/>
              <a:t>Long half-lives, high biological persistence</a:t>
            </a:r>
          </a:p>
          <a:p>
            <a:pPr lvl="1"/>
            <a:r>
              <a:rPr sz="1200" dirty="0"/>
              <a:t>US: stored at WIPP (Waste Isolation Pilot Plant, NM) in deep salt beds</a:t>
            </a:r>
          </a:p>
        </p:txBody>
      </p:sp>
      <p:sp>
        <p:nvSpPr>
          <p:cNvPr id="4" name="TextBox 3">
            <a:extLst>
              <a:ext uri="{FF2B5EF4-FFF2-40B4-BE49-F238E27FC236}">
                <a16:creationId xmlns:a16="http://schemas.microsoft.com/office/drawing/2014/main" id="{5222E87A-6114-C4B0-8529-423B6C2B8B7B}"/>
              </a:ext>
            </a:extLst>
          </p:cNvPr>
          <p:cNvSpPr txBox="1"/>
          <p:nvPr/>
        </p:nvSpPr>
        <p:spPr>
          <a:xfrm>
            <a:off x="9564716" y="9384268"/>
            <a:ext cx="3332480" cy="369332"/>
          </a:xfrm>
          <a:prstGeom prst="rect">
            <a:avLst/>
          </a:prstGeom>
          <a:noFill/>
        </p:spPr>
        <p:txBody>
          <a:bodyPr wrap="square" rtlCol="0">
            <a:spAutoFit/>
          </a:bodyPr>
          <a:lstStyle/>
          <a:p>
            <a:r>
              <a:rPr lang="en-US" dirty="0"/>
              <a:t>Claude organized this slide</a:t>
            </a:r>
          </a:p>
        </p:txBody>
      </p:sp>
      <p:pic>
        <p:nvPicPr>
          <p:cNvPr id="5" name="Picture 4" descr="Image of molten nuclear waste being encapsulated into glass via vitrification. ">
            <a:extLst>
              <a:ext uri="{FF2B5EF4-FFF2-40B4-BE49-F238E27FC236}">
                <a16:creationId xmlns:a16="http://schemas.microsoft.com/office/drawing/2014/main" id="{2EF90D94-AA0C-7C19-C841-D7C68C0A4889}"/>
              </a:ext>
            </a:extLst>
          </p:cNvPr>
          <p:cNvPicPr>
            <a:picLocks noChangeAspect="1"/>
          </p:cNvPicPr>
          <p:nvPr/>
        </p:nvPicPr>
        <p:blipFill>
          <a:blip r:embed="rId3"/>
          <a:stretch>
            <a:fillRect/>
          </a:stretch>
        </p:blipFill>
        <p:spPr>
          <a:xfrm>
            <a:off x="7847446" y="766617"/>
            <a:ext cx="4631348" cy="4872178"/>
          </a:xfrm>
          <a:prstGeom prst="rect">
            <a:avLst/>
          </a:prstGeom>
        </p:spPr>
      </p:pic>
      <p:sp>
        <p:nvSpPr>
          <p:cNvPr id="7" name="TextBox 6">
            <a:extLst>
              <a:ext uri="{FF2B5EF4-FFF2-40B4-BE49-F238E27FC236}">
                <a16:creationId xmlns:a16="http://schemas.microsoft.com/office/drawing/2014/main" id="{44B2C9BE-71CC-922A-9E51-00C0B5C4A670}"/>
              </a:ext>
            </a:extLst>
          </p:cNvPr>
          <p:cNvSpPr txBox="1"/>
          <p:nvPr/>
        </p:nvSpPr>
        <p:spPr>
          <a:xfrm>
            <a:off x="7847446" y="5560408"/>
            <a:ext cx="6504708" cy="461665"/>
          </a:xfrm>
          <a:prstGeom prst="rect">
            <a:avLst/>
          </a:prstGeom>
          <a:noFill/>
        </p:spPr>
        <p:txBody>
          <a:bodyPr wrap="square">
            <a:spAutoFit/>
          </a:bodyPr>
          <a:lstStyle/>
          <a:p>
            <a:br>
              <a:rPr lang="en-US" sz="1200" dirty="0"/>
            </a:br>
            <a:r>
              <a:rPr lang="en-US" sz="1200" b="0" i="0" u="none" strike="noStrike" dirty="0">
                <a:solidFill>
                  <a:schemeClr val="tx1"/>
                </a:solidFill>
                <a:effectLst/>
                <a:latin typeface="+mn-lt"/>
              </a:rPr>
              <a:t>Vitrification of waste into glass for long term storage.</a:t>
            </a:r>
            <a:endParaRPr lang="en-US" sz="1200" dirty="0"/>
          </a:p>
        </p:txBody>
      </p:sp>
    </p:spTree>
    <p:extLst>
      <p:ext uri="{BB962C8B-B14F-4D97-AF65-F5344CB8AC3E}">
        <p14:creationId xmlns:p14="http://schemas.microsoft.com/office/powerpoint/2010/main" val="3709260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72BE-B34B-2AF5-253C-B39A1261E2B1}"/>
              </a:ext>
            </a:extLst>
          </p:cNvPr>
          <p:cNvSpPr>
            <a:spLocks noGrp="1"/>
          </p:cNvSpPr>
          <p:nvPr>
            <p:ph type="title"/>
          </p:nvPr>
        </p:nvSpPr>
        <p:spPr/>
        <p:txBody>
          <a:bodyPr/>
          <a:lstStyle/>
          <a:p>
            <a:r>
              <a:rPr lang="en-US" dirty="0"/>
              <a:t>Catastrophes</a:t>
            </a:r>
          </a:p>
        </p:txBody>
      </p:sp>
      <p:sp>
        <p:nvSpPr>
          <p:cNvPr id="3" name="Content Placeholder 2">
            <a:extLst>
              <a:ext uri="{FF2B5EF4-FFF2-40B4-BE49-F238E27FC236}">
                <a16:creationId xmlns:a16="http://schemas.microsoft.com/office/drawing/2014/main" id="{E8EEC25C-348A-537D-88D6-100EB5A7E3C5}"/>
              </a:ext>
            </a:extLst>
          </p:cNvPr>
          <p:cNvSpPr>
            <a:spLocks noGrp="1"/>
          </p:cNvSpPr>
          <p:nvPr>
            <p:ph idx="1"/>
          </p:nvPr>
        </p:nvSpPr>
        <p:spPr>
          <a:xfrm>
            <a:off x="420489" y="3487107"/>
            <a:ext cx="8432566" cy="5757399"/>
          </a:xfrm>
        </p:spPr>
        <p:txBody>
          <a:bodyPr>
            <a:normAutofit/>
          </a:bodyPr>
          <a:lstStyle/>
          <a:p>
            <a:r>
              <a:rPr lang="en-US" sz="2100" dirty="0">
                <a:hlinkClick r:id="rId2"/>
              </a:rPr>
              <a:t>Church Rock uranium mine spill </a:t>
            </a:r>
            <a:r>
              <a:rPr lang="en-US" sz="2100" dirty="0"/>
              <a:t>: 1979 </a:t>
            </a:r>
          </a:p>
          <a:p>
            <a:pPr lvl="1"/>
            <a:r>
              <a:t>Church Rock, New Mexico (on Navajo Nation land)</a:t>
            </a:r>
          </a:p>
          <a:p>
            <a:pPr lvl="1"/>
            <a:r>
              <a:t>United Nuclear Corp. tailings dam breach</a:t>
            </a:r>
          </a:p>
          <a:p>
            <a:pPr lvl="1"/>
            <a:r>
              <a:t>~94 million gallons radioactive liquid + ~1,100 tons solid tailings into Puerco River</a:t>
            </a:r>
          </a:p>
          <a:p>
            <a:pPr lvl="1"/>
            <a:r>
              <a:t>Largest radioactive release in US history by volume (&gt; Three Mile Island, same year)</a:t>
            </a:r>
          </a:p>
          <a:p>
            <a:r>
              <a:rPr dirty="0">
                <a:hlinkClick r:id="rId5"/>
              </a:rPr>
              <a:t>Three-Mile Island : 28 March, 1979</a:t>
            </a:r>
          </a:p>
          <a:p>
            <a:pPr lvl="1"/>
            <a:r>
              <a:rPr dirty="0"/>
              <a:t>Londonderry Township, PA</a:t>
            </a:r>
          </a:p>
          <a:p>
            <a:pPr lvl="1"/>
            <a:r>
              <a:rPr dirty="0"/>
              <a:t>Stuck relief valve, partial core meltdown, operator error</a:t>
            </a:r>
          </a:p>
          <a:p>
            <a:pPr lvl="1"/>
            <a:r>
              <a:rPr dirty="0"/>
              <a:t>INES level 5 - no direct deaths, no confirmed long-term cancer link</a:t>
            </a:r>
          </a:p>
          <a:p>
            <a:r>
              <a:rPr dirty="0">
                <a:hlinkClick r:id="rId6"/>
              </a:rPr>
              <a:t>Chernobyl : 26 April, 1986</a:t>
            </a:r>
          </a:p>
          <a:p>
            <a:pPr lvl="1"/>
            <a:r>
              <a:rPr dirty="0"/>
              <a:t>Pripyat, Ukraine (then the Ukrainian SSR)</a:t>
            </a:r>
          </a:p>
          <a:p>
            <a:pPr lvl="1"/>
            <a:r>
              <a:rPr dirty="0"/>
              <a:t>Flawed reactor design + power surge -&gt; explosion, fire</a:t>
            </a:r>
          </a:p>
          <a:p>
            <a:pPr lvl="1"/>
            <a:r>
              <a:rPr dirty="0"/>
              <a:t>INES level 7 (highest) - 28 acute radiation deaths</a:t>
            </a:r>
          </a:p>
          <a:p>
            <a:pPr lvl="1"/>
            <a:r>
              <a:rPr dirty="0"/>
              <a:t>WHO est. ~4,000 eventual cancer deaths; some estimates up to ~1 million</a:t>
            </a:r>
          </a:p>
          <a:p>
            <a:r>
              <a:rPr dirty="0">
                <a:hlinkClick r:id="rId7"/>
              </a:rPr>
              <a:t>Fukushima : 11 March, 2011</a:t>
            </a:r>
          </a:p>
          <a:p>
            <a:pPr lvl="1"/>
            <a:r>
              <a:rPr dirty="0"/>
              <a:t>Okuma, Fukushima Prefecture, Japan</a:t>
            </a:r>
          </a:p>
          <a:p>
            <a:pPr lvl="1"/>
            <a:r>
              <a:rPr dirty="0"/>
              <a:t>Earthquake + tsunami -&gt; lost backup power -&gt; triple meltdown</a:t>
            </a:r>
          </a:p>
          <a:p>
            <a:pPr lvl="1"/>
            <a:r>
              <a:rPr dirty="0"/>
              <a:t>INES level 7 - 1 officially recognized radiation-linked worker death</a:t>
            </a:r>
          </a:p>
          <a:p>
            <a:pPr lvl="1"/>
            <a:r>
              <a:rPr dirty="0"/>
              <a:t>No significant public radiation death toll expected; evacuation stress was the major health impact</a:t>
            </a:r>
          </a:p>
        </p:txBody>
      </p:sp>
      <p:pic>
        <p:nvPicPr>
          <p:cNvPr id="4" name="Picture 3">
            <a:extLst>
              <a:ext uri="{FF2B5EF4-FFF2-40B4-BE49-F238E27FC236}">
                <a16:creationId xmlns:a16="http://schemas.microsoft.com/office/drawing/2014/main" id="{24692973-68F4-9B88-82A8-1FE9E081E287}"/>
              </a:ext>
            </a:extLst>
          </p:cNvPr>
          <p:cNvPicPr>
            <a:picLocks noChangeAspect="1"/>
          </p:cNvPicPr>
          <p:nvPr/>
        </p:nvPicPr>
        <p:blipFill>
          <a:blip r:embed="rId3"/>
          <a:stretch>
            <a:fillRect/>
          </a:stretch>
        </p:blipFill>
        <p:spPr>
          <a:xfrm>
            <a:off x="8492840" y="850491"/>
            <a:ext cx="4091471" cy="3612001"/>
          </a:xfrm>
          <a:prstGeom prst="rect">
            <a:avLst/>
          </a:prstGeom>
        </p:spPr>
      </p:pic>
      <p:pic>
        <p:nvPicPr>
          <p:cNvPr id="5" name="Picture 2" descr="/Users/rappoccio/Library/Containers/com.microsoft.Powerpoint/Data/tmp/WebArchiveCopyPasteTempFiles/330px-IAEA_02790015_%285613115146%29.jpg?utm_source=en.wikipedia.org&amp;utm_campaign=parser&amp;utm_content=thumbnail">
            <a:extLst>
              <a:ext uri="{FF2B5EF4-FFF2-40B4-BE49-F238E27FC236}">
                <a16:creationId xmlns:a16="http://schemas.microsoft.com/office/drawing/2014/main" id="{FF8FD984-3CD3-C3B9-523F-4E39C853B4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74664" y="4613564"/>
            <a:ext cx="2609647" cy="400767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6D90C53-ACFC-3617-B363-CF1209D092F6}"/>
              </a:ext>
            </a:extLst>
          </p:cNvPr>
          <p:cNvSpPr/>
          <p:nvPr/>
        </p:nvSpPr>
        <p:spPr>
          <a:xfrm>
            <a:off x="9335382" y="8772308"/>
            <a:ext cx="3384419" cy="276999"/>
          </a:xfrm>
          <a:prstGeom prst="rect">
            <a:avLst/>
          </a:prstGeom>
        </p:spPr>
        <p:txBody>
          <a:bodyPr wrap="square">
            <a:spAutoFit/>
          </a:bodyPr>
          <a:lstStyle/>
          <a:p>
            <a:r>
              <a:rPr lang="en-US" sz="1200" dirty="0"/>
              <a:t>By IAEA </a:t>
            </a:r>
            <a:r>
              <a:rPr lang="en-US" sz="1200" dirty="0" err="1"/>
              <a:t>Imagebank</a:t>
            </a:r>
            <a:r>
              <a:rPr lang="en-US" sz="1200" dirty="0"/>
              <a:t> - 02790015, CC BY-SA 2.0</a:t>
            </a:r>
          </a:p>
        </p:txBody>
      </p:sp>
      <p:cxnSp>
        <p:nvCxnSpPr>
          <p:cNvPr id="8" name="Straight Arrow Connector 7">
            <a:extLst>
              <a:ext uri="{FF2B5EF4-FFF2-40B4-BE49-F238E27FC236}">
                <a16:creationId xmlns:a16="http://schemas.microsoft.com/office/drawing/2014/main" id="{72396E9A-9940-E395-FEC3-101F1ADDDB83}"/>
              </a:ext>
            </a:extLst>
          </p:cNvPr>
          <p:cNvCxnSpPr/>
          <p:nvPr/>
        </p:nvCxnSpPr>
        <p:spPr>
          <a:xfrm flipV="1">
            <a:off x="4862945" y="2441864"/>
            <a:ext cx="3408219" cy="11949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69EB234F-5260-0028-DCC5-7325FDFB24E9}"/>
              </a:ext>
            </a:extLst>
          </p:cNvPr>
          <p:cNvCxnSpPr/>
          <p:nvPr/>
        </p:nvCxnSpPr>
        <p:spPr>
          <a:xfrm flipV="1">
            <a:off x="3792682" y="7045036"/>
            <a:ext cx="6037118" cy="498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86215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748273"/>
            <a:ext cx="11216640" cy="926592"/>
          </a:xfrm>
        </p:spPr>
        <p:txBody>
          <a:bodyPr/>
          <a:lstStyle/>
          <a:p>
            <a:r>
              <a:t>Which energy actually kills people?</a:t>
            </a:r>
          </a:p>
        </p:txBody>
      </p:sp>
      <p:sp>
        <p:nvSpPr>
          <p:cNvPr id="5" name="Content Placeholder 2">
            <a:extLst>
              <a:ext uri="{FF2B5EF4-FFF2-40B4-BE49-F238E27FC236}">
                <a16:creationId xmlns:a16="http://schemas.microsoft.com/office/drawing/2014/main" id="{F693510E-E52A-43D2-D96B-9045F9A06C1D}"/>
              </a:ext>
              <a:ext uri="{C183D7F6-B498-43B3-948B-1728B52AA6E4}">
                <adec:decorative xmlns:adec="http://schemas.microsoft.com/office/drawing/2017/decorative" val="0"/>
              </a:ext>
            </a:extLst>
          </p:cNvPr>
          <p:cNvSpPr>
            <a:spLocks noGrp="1"/>
          </p:cNvSpPr>
          <p:nvPr>
            <p:ph idx="1" hasCustomPrompt="1"/>
          </p:nvPr>
        </p:nvSpPr>
        <p:spPr>
          <a:xfrm>
            <a:off x="420488" y="3834531"/>
            <a:ext cx="6274780" cy="4318049"/>
          </a:xfrm>
        </p:spPr>
        <p:txBody>
          <a:bodyPr/>
          <a:lstStyle/>
          <a:p>
            <a:pPr lvl="0"/>
            <a:r>
              <a:rPr dirty="0"/>
              <a:t>Measured as </a:t>
            </a:r>
            <a:r>
              <a:rPr b="1" dirty="0">
                <a:hlinkClick r:id="rId3"/>
              </a:rPr>
              <a:t>deaths per unit of energy</a:t>
            </a:r>
            <a:r>
              <a:rPr dirty="0"/>
              <a:t>, coal and oil are by far the deadliest</a:t>
            </a:r>
            <a:r>
              <a:rPr lang="en-US" dirty="0"/>
              <a:t>, </a:t>
            </a:r>
            <a:r>
              <a:rPr dirty="0"/>
              <a:t>mostly from </a:t>
            </a:r>
            <a:r>
              <a:rPr b="1" dirty="0"/>
              <a:t>air pollution</a:t>
            </a:r>
          </a:p>
          <a:p>
            <a:pPr lvl="0"/>
            <a:r>
              <a:rPr b="1" dirty="0"/>
              <a:t>Nuclear, wind, solar, and hydro</a:t>
            </a:r>
            <a:r>
              <a:rPr dirty="0"/>
              <a:t> are among the </a:t>
            </a:r>
            <a:r>
              <a:rPr b="1" dirty="0"/>
              <a:t>safest</a:t>
            </a:r>
          </a:p>
          <a:p>
            <a:pPr lvl="0"/>
            <a:r>
              <a:rPr dirty="0"/>
              <a:t>This surprises almost everyone</a:t>
            </a:r>
            <a:r>
              <a:rPr lang="en-US" dirty="0"/>
              <a:t>! F</a:t>
            </a:r>
            <a:r>
              <a:rPr dirty="0"/>
              <a:t>ollow the data, not the vibe</a:t>
            </a:r>
          </a:p>
          <a:p>
            <a:pPr marL="0" indent="0">
              <a:buNone/>
            </a:pPr>
            <a:r>
              <a:rPr i="1" dirty="0"/>
              <a:t>Source: Our World in Data, from </a:t>
            </a:r>
            <a:r>
              <a:rPr i="1" dirty="0" err="1"/>
              <a:t>Markandya</a:t>
            </a:r>
            <a:r>
              <a:rPr i="1" dirty="0"/>
              <a:t> &amp; Wilkinson (2007, The Lancet) and </a:t>
            </a:r>
            <a:r>
              <a:rPr i="1" dirty="0" err="1"/>
              <a:t>Sovacool</a:t>
            </a:r>
            <a:r>
              <a:rPr i="1" dirty="0"/>
              <a:t> et al. (2016)</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32</a:t>
            </a:fld>
            <a:endParaRPr lang="en-US"/>
          </a:p>
        </p:txBody>
      </p:sp>
      <p:pic>
        <p:nvPicPr>
          <p:cNvPr id="4" name="Picture 3">
            <a:extLst>
              <a:ext uri="{FF2B5EF4-FFF2-40B4-BE49-F238E27FC236}">
                <a16:creationId xmlns:a16="http://schemas.microsoft.com/office/drawing/2014/main" id="{F2AA69C5-26E0-AC43-B6D5-9F0FEA3525C1}"/>
              </a:ext>
            </a:extLst>
          </p:cNvPr>
          <p:cNvPicPr>
            <a:picLocks noChangeAspect="1"/>
          </p:cNvPicPr>
          <p:nvPr/>
        </p:nvPicPr>
        <p:blipFill>
          <a:blip r:embed="rId4"/>
          <a:stretch>
            <a:fillRect/>
          </a:stretch>
        </p:blipFill>
        <p:spPr>
          <a:xfrm>
            <a:off x="6941211" y="3639797"/>
            <a:ext cx="5076213" cy="439391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285E3-4200-8E7E-8B5B-7106451E9366}"/>
              </a:ext>
            </a:extLst>
          </p:cNvPr>
          <p:cNvSpPr>
            <a:spLocks noGrp="1"/>
          </p:cNvSpPr>
          <p:nvPr>
            <p:ph type="title"/>
          </p:nvPr>
        </p:nvSpPr>
        <p:spPr>
          <a:xfrm>
            <a:off x="420489" y="1368146"/>
            <a:ext cx="11216640" cy="1235456"/>
          </a:xfrm>
        </p:spPr>
        <p:txBody>
          <a:bodyPr/>
          <a:lstStyle/>
          <a:p>
            <a:r>
              <a:rPr lang="en-US" dirty="0"/>
              <a:t>Gen 4 Reactors</a:t>
            </a:r>
          </a:p>
        </p:txBody>
      </p:sp>
      <p:sp>
        <p:nvSpPr>
          <p:cNvPr id="3" name="Content Placeholder 2">
            <a:extLst>
              <a:ext uri="{FF2B5EF4-FFF2-40B4-BE49-F238E27FC236}">
                <a16:creationId xmlns:a16="http://schemas.microsoft.com/office/drawing/2014/main" id="{C10C7884-3B44-1797-D0AC-7C2531E0CC2D}"/>
              </a:ext>
            </a:extLst>
          </p:cNvPr>
          <p:cNvSpPr>
            <a:spLocks noGrp="1"/>
          </p:cNvSpPr>
          <p:nvPr>
            <p:ph idx="1"/>
          </p:nvPr>
        </p:nvSpPr>
        <p:spPr>
          <a:xfrm>
            <a:off x="420489" y="2383954"/>
            <a:ext cx="7129511" cy="5891366"/>
          </a:xfrm>
        </p:spPr>
        <p:txBody>
          <a:bodyPr/>
          <a:lstStyle/>
          <a:p>
            <a:pPr marL="228600" indent="-228600">
              <a:lnSpc>
                <a:spcPct val="105000"/>
              </a:lnSpc>
              <a:spcBef>
                <a:spcPts val="400"/>
              </a:spcBef>
              <a:buFont typeface="Arial"/>
              <a:buChar char="•"/>
            </a:pPr>
            <a:r>
              <a:rPr lang="en-US" sz="1500" dirty="0"/>
              <a:t>Features: </a:t>
            </a:r>
          </a:p>
          <a:p>
            <a:pPr marL="716295" lvl="1" indent="-228600">
              <a:lnSpc>
                <a:spcPct val="105000"/>
              </a:lnSpc>
              <a:spcBef>
                <a:spcPts val="400"/>
              </a:spcBef>
              <a:buFont typeface="Arial"/>
              <a:buChar char="•"/>
            </a:pPr>
            <a:r>
              <a:rPr lang="en-US" sz="1500" dirty="0"/>
              <a:t>passive safety, </a:t>
            </a:r>
          </a:p>
          <a:p>
            <a:pPr marL="716295" lvl="1" indent="-228600">
              <a:lnSpc>
                <a:spcPct val="105000"/>
              </a:lnSpc>
              <a:spcBef>
                <a:spcPts val="400"/>
              </a:spcBef>
              <a:buFont typeface="Arial"/>
              <a:buChar char="•"/>
            </a:pPr>
            <a:r>
              <a:rPr lang="en-US" sz="1500" dirty="0"/>
              <a:t>far better fuel use (100–300× more energy per kg of uranium), or even closed-loop </a:t>
            </a:r>
          </a:p>
          <a:p>
            <a:pPr marL="716295" lvl="1" indent="-228600">
              <a:lnSpc>
                <a:spcPct val="105000"/>
              </a:lnSpc>
              <a:spcBef>
                <a:spcPts val="400"/>
              </a:spcBef>
              <a:buFont typeface="Arial"/>
              <a:buChar char="•"/>
            </a:pPr>
            <a:r>
              <a:rPr lang="en-US" sz="1500" dirty="0"/>
              <a:t>waste dangerous for centuries rather than millennia or eliminated altogether</a:t>
            </a:r>
          </a:p>
          <a:p>
            <a:pPr marL="716295" lvl="1" indent="-228600">
              <a:lnSpc>
                <a:spcPct val="105000"/>
              </a:lnSpc>
              <a:spcBef>
                <a:spcPts val="400"/>
              </a:spcBef>
              <a:buFont typeface="Arial"/>
              <a:buChar char="•"/>
            </a:pPr>
            <a:r>
              <a:rPr lang="en-US" sz="1500" dirty="0"/>
              <a:t>stronger proliferation resistance</a:t>
            </a:r>
          </a:p>
          <a:p>
            <a:pPr marL="228600" indent="-228600">
              <a:lnSpc>
                <a:spcPct val="105000"/>
              </a:lnSpc>
              <a:spcBef>
                <a:spcPts val="400"/>
              </a:spcBef>
              <a:buFont typeface="Arial"/>
              <a:buChar char="•"/>
            </a:pPr>
            <a:r>
              <a:rPr lang="en-US" sz="1500" dirty="0"/>
              <a:t>Molten-salt reactor (MSR) — fuel is dissolved in a liquid fluoride/chloride salt that also serves as coolant; high temperature, low (near-atmospheric) pressure</a:t>
            </a:r>
          </a:p>
          <a:p>
            <a:pPr marL="571500" lvl="1" indent="-228600">
              <a:lnSpc>
                <a:spcPct val="105000"/>
              </a:lnSpc>
              <a:spcBef>
                <a:spcPts val="300"/>
              </a:spcBef>
              <a:buFont typeface="Arial"/>
              <a:buChar char="–"/>
            </a:pPr>
            <a:r>
              <a:rPr lang="en-US" sz="1350" dirty="0"/>
              <a:t>A passive “freeze plug” melts open on overheating, draining fuel salt into a safe, subcritical tank</a:t>
            </a:r>
          </a:p>
          <a:p>
            <a:pPr marL="571500" lvl="1" indent="-228600">
              <a:lnSpc>
                <a:spcPct val="105000"/>
              </a:lnSpc>
              <a:spcBef>
                <a:spcPts val="300"/>
              </a:spcBef>
              <a:buFont typeface="Arial"/>
              <a:buChar char="–"/>
            </a:pPr>
            <a:r>
              <a:rPr lang="en-US" sz="1350" dirty="0"/>
              <a:t>Demonstrated at Oak Ridge's Molten-Salt Reactor Experiment, 1965–1969 (7.4 MWth, 635–663°C)</a:t>
            </a:r>
          </a:p>
          <a:p>
            <a:pPr marL="228600" indent="-228600">
              <a:lnSpc>
                <a:spcPct val="105000"/>
              </a:lnSpc>
              <a:spcBef>
                <a:spcPts val="400"/>
              </a:spcBef>
              <a:buFont typeface="Arial"/>
              <a:buChar char="•"/>
            </a:pPr>
            <a:r>
              <a:rPr lang="en-US" sz="1500" dirty="0"/>
              <a:t>Sodium-cooled fast reactor (SFR) — liquid-sodium-cooled, metallic fuel; consumes transuranic waste while breeding new Pu fuel</a:t>
            </a:r>
          </a:p>
          <a:p>
            <a:pPr marL="228600" indent="-228600">
              <a:lnSpc>
                <a:spcPct val="105000"/>
              </a:lnSpc>
              <a:spcBef>
                <a:spcPts val="400"/>
              </a:spcBef>
              <a:buFont typeface="Arial"/>
              <a:buChar char="•"/>
            </a:pPr>
            <a:r>
              <a:rPr lang="en-US" sz="1500" dirty="0"/>
              <a:t>Very-high-temperature reactor (VHTR) — graphite-moderated, helium/salt-cooled, ~1,000°C outlet for hydrogen production</a:t>
            </a:r>
          </a:p>
          <a:p>
            <a:pPr marL="228600" indent="-228600">
              <a:lnSpc>
                <a:spcPct val="105000"/>
              </a:lnSpc>
              <a:spcBef>
                <a:spcPts val="400"/>
              </a:spcBef>
              <a:buFont typeface="Arial"/>
              <a:buChar char="•"/>
            </a:pPr>
            <a:r>
              <a:rPr lang="en-US" sz="1500" dirty="0"/>
              <a:t>Gas-cooled fast (GFR), lead-cooled fast (LFR), and supercritical-water-cooled (SCWR) round out the six designs; SCWR alone reaches ~45% efficiency vs. ~33% for today's light-water reactors</a:t>
            </a:r>
          </a:p>
        </p:txBody>
      </p:sp>
      <p:sp>
        <p:nvSpPr>
          <p:cNvPr id="4" name="TextBox 3"/>
          <p:cNvSpPr txBox="1"/>
          <p:nvPr/>
        </p:nvSpPr>
        <p:spPr>
          <a:xfrm>
            <a:off x="420489" y="8830000"/>
            <a:ext cx="11216640" cy="800000"/>
          </a:xfrm>
          <a:prstGeom prst="rect">
            <a:avLst/>
          </a:prstGeom>
          <a:noFill/>
        </p:spPr>
        <p:txBody>
          <a:bodyPr wrap="square">
            <a:spAutoFit/>
          </a:bodyPr>
          <a:lstStyle/>
          <a:p>
            <a:r>
              <a:rPr sz="1200" i="1"/>
              <a:t>Sources: en.wikipedia.org/wiki/Generation_IV_reactor · en.wikipedia.org/wiki/Molten-Salt_Reactor_Experiment</a:t>
            </a:r>
          </a:p>
          <a:p>
            <a:r>
              <a:rPr sz="1200" i="1"/>
              <a:t>Image: “Molten Salt Reactor.svg”, US DOE NERAC — public domain — commons.wikimedia.org/wiki/File:Molten_Salt_Reactor.svg</a:t>
            </a:r>
          </a:p>
        </p:txBody>
      </p:sp>
      <p:pic>
        <p:nvPicPr>
          <p:cNvPr id="5" name="Picture 4" descr="molten_salt_reactor.png"/>
          <p:cNvPicPr>
            <a:picLocks noChangeAspect="1"/>
          </p:cNvPicPr>
          <p:nvPr/>
        </p:nvPicPr>
        <p:blipFill>
          <a:blip r:embed="rId2"/>
          <a:stretch>
            <a:fillRect/>
          </a:stretch>
        </p:blipFill>
        <p:spPr>
          <a:xfrm>
            <a:off x="7550000" y="4140265"/>
            <a:ext cx="5033989" cy="3693689"/>
          </a:xfrm>
          <a:prstGeom prst="rect">
            <a:avLst/>
          </a:prstGeom>
        </p:spPr>
      </p:pic>
    </p:spTree>
    <p:extLst>
      <p:ext uri="{BB962C8B-B14F-4D97-AF65-F5344CB8AC3E}">
        <p14:creationId xmlns:p14="http://schemas.microsoft.com/office/powerpoint/2010/main" val="1212913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34</a:t>
            </a:fld>
            <a:endParaRPr/>
          </a:p>
        </p:txBody>
      </p:sp>
      <p:sp>
        <p:nvSpPr>
          <p:cNvPr id="358" name="Nuclear fusion?"/>
          <p:cNvSpPr txBox="1">
            <a:spLocks noGrp="1"/>
          </p:cNvSpPr>
          <p:nvPr>
            <p:ph type="title"/>
          </p:nvPr>
        </p:nvSpPr>
        <p:spPr>
          <a:prstGeom prst="rect">
            <a:avLst/>
          </a:prstGeom>
        </p:spPr>
        <p:txBody>
          <a:bodyPr/>
          <a:lstStyle>
            <a:lvl1pPr defTabSz="665226">
              <a:defRPr sz="5432"/>
            </a:lvl1pPr>
          </a:lstStyle>
          <a:p>
            <a:r>
              <a:t>Nuclear fusion? </a:t>
            </a:r>
          </a:p>
        </p:txBody>
      </p:sp>
      <p:pic>
        <p:nvPicPr>
          <p:cNvPr id="359" name="Image" descr="Image"/>
          <p:cNvPicPr>
            <a:picLocks noChangeAspect="1"/>
          </p:cNvPicPr>
          <p:nvPr/>
        </p:nvPicPr>
        <p:blipFill>
          <a:blip r:embed="rId2"/>
          <a:stretch>
            <a:fillRect/>
          </a:stretch>
        </p:blipFill>
        <p:spPr>
          <a:xfrm>
            <a:off x="1194507" y="3331269"/>
            <a:ext cx="4649370" cy="3091063"/>
          </a:xfrm>
          <a:prstGeom prst="rect">
            <a:avLst/>
          </a:prstGeom>
          <a:ln w="12700">
            <a:miter lim="400000"/>
          </a:ln>
        </p:spPr>
      </p:pic>
      <p:sp>
        <p:nvSpPr>
          <p:cNvPr id="360" name="https://www.nuclear-power.net/nuclear-power/nuclear-fusion/"/>
          <p:cNvSpPr txBox="1"/>
          <p:nvPr/>
        </p:nvSpPr>
        <p:spPr>
          <a:xfrm>
            <a:off x="1929650" y="8471327"/>
            <a:ext cx="8930776" cy="4862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r>
              <a:rPr sz="2560"/>
              <a:t>https://www.nuclear-power.net/nuclear-power/nuclear-fusion/</a:t>
            </a:r>
          </a:p>
        </p:txBody>
      </p:sp>
      <p:pic>
        <p:nvPicPr>
          <p:cNvPr id="361" name="Image" descr="Image"/>
          <p:cNvPicPr>
            <a:picLocks noChangeAspect="1"/>
          </p:cNvPicPr>
          <p:nvPr/>
        </p:nvPicPr>
        <p:blipFill>
          <a:blip r:embed="rId3"/>
          <a:stretch>
            <a:fillRect/>
          </a:stretch>
        </p:blipFill>
        <p:spPr>
          <a:xfrm>
            <a:off x="8152306" y="3093870"/>
            <a:ext cx="4515557" cy="4714241"/>
          </a:xfrm>
          <a:prstGeom prst="rect">
            <a:avLst/>
          </a:prstGeom>
          <a:ln w="12700">
            <a:miter lim="400000"/>
          </a:ln>
        </p:spPr>
      </p:pic>
      <p:sp>
        <p:nvSpPr>
          <p:cNvPr id="362" name="https://en.wikipedia.org/wiki/ITER"/>
          <p:cNvSpPr txBox="1"/>
          <p:nvPr/>
        </p:nvSpPr>
        <p:spPr>
          <a:xfrm>
            <a:off x="2747403" y="9006815"/>
            <a:ext cx="4972385" cy="4862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r>
              <a:rPr sz="2560"/>
              <a:t>https://en.wikipedia.org/wiki/ITER</a:t>
            </a:r>
          </a:p>
        </p:txBody>
      </p:sp>
      <p:sp>
        <p:nvSpPr>
          <p:cNvPr id="363" name="ITER Reactor: Tokamak generator"/>
          <p:cNvSpPr txBox="1"/>
          <p:nvPr/>
        </p:nvSpPr>
        <p:spPr>
          <a:xfrm>
            <a:off x="9383957" y="2177083"/>
            <a:ext cx="2941829" cy="880241"/>
          </a:xfrm>
          <a:prstGeom prst="rect">
            <a:avLst/>
          </a:prstGeom>
          <a:solidFill>
            <a:schemeClr val="accent3"/>
          </a:solidFill>
          <a:ln w="19050">
            <a:solidFill>
              <a:srgbClr val="FFFFFF"/>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5023" rIns="65023">
            <a:spAutoFit/>
          </a:bodyPr>
          <a:lstStyle/>
          <a:p>
            <a:pPr>
              <a:defRPr>
                <a:solidFill>
                  <a:srgbClr val="FFFFFF"/>
                </a:solidFill>
              </a:defRPr>
            </a:pPr>
            <a:r>
              <a:rPr sz="2560"/>
              <a:t>ITER Reactor:</a:t>
            </a:r>
            <a:br>
              <a:rPr sz="2560"/>
            </a:br>
            <a:r>
              <a:rPr sz="2560"/>
              <a:t>Tokamak generator</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6F07F-6838-D7B5-3F06-EFC3EFEE8CB3}"/>
              </a:ext>
            </a:extLst>
          </p:cNvPr>
          <p:cNvSpPr>
            <a:spLocks noGrp="1"/>
          </p:cNvSpPr>
          <p:nvPr>
            <p:ph type="title"/>
          </p:nvPr>
        </p:nvSpPr>
        <p:spPr/>
        <p:txBody>
          <a:bodyPr/>
          <a:lstStyle/>
          <a:p>
            <a:r>
              <a:rPr lang="en-US" dirty="0"/>
              <a:t>Nuclear fusion?</a:t>
            </a:r>
          </a:p>
        </p:txBody>
      </p:sp>
      <p:sp>
        <p:nvSpPr>
          <p:cNvPr id="3" name="Content Placeholder 2">
            <a:extLst>
              <a:ext uri="{FF2B5EF4-FFF2-40B4-BE49-F238E27FC236}">
                <a16:creationId xmlns:a16="http://schemas.microsoft.com/office/drawing/2014/main" id="{0F145FB5-2BCD-7798-3E0D-60FDA65176ED}"/>
              </a:ext>
            </a:extLst>
          </p:cNvPr>
          <p:cNvSpPr>
            <a:spLocks noGrp="1"/>
          </p:cNvSpPr>
          <p:nvPr>
            <p:ph idx="1"/>
          </p:nvPr>
        </p:nvSpPr>
        <p:spPr/>
        <p:txBody>
          <a:bodyPr>
            <a:normAutofit/>
          </a:bodyPr>
          <a:lstStyle/>
          <a:p>
            <a:r>
              <a:rPr i="1">
                <a:hlinkClick r:id="rId2"/>
              </a:rPr>
              <a:t>Source: Wikipedia - Nuclear fusion</a:t>
            </a:r>
          </a:p>
          <a:p>
            <a:pPr lvl="1"/>
            <a:r>
              <a:t>NIF (Dec 2022): first net energy gain - 2.05 MJ in, 3.15 MJ out</a:t>
            </a:r>
          </a:p>
          <a:p>
            <a:pPr lvl="1"/>
            <a:r>
              <a:t>ITER: plasma experiments ~2034, full D-T fusion not until ~2039</a:t>
            </a:r>
          </a:p>
          <a:p>
            <a:pPr lvl="1"/>
            <a:r>
              <a:t>WEST tokamak (France): sustained 90-million-degree plasma for 6 minutes</a:t>
            </a:r>
          </a:p>
          <a:p>
            <a:pPr lvl="1"/>
            <a:r>
              <a:t>Private sector surge: $2.6B+ funding in 2021 alone</a:t>
            </a:r>
          </a:p>
          <a:p>
            <a:pPr lvl="1"/>
            <a:r>
              <a:t>Key players: Commonwealth Fusion, Helion, TAE, General Fusion, Zap Energy</a:t>
            </a:r>
          </a:p>
          <a:p>
            <a:pPr lvl="1"/>
            <a:r>
              <a:t>Approaches: magnetic confinement (tokamak/stellarator), inertial confinement (lasers), hybrid fusion-fission</a:t>
            </a:r>
          </a:p>
          <a:p>
            <a:pPr lvl="1"/>
            <a:r>
              <a:t>Still developmental worldwide - commercial power likely decades away</a:t>
            </a:r>
          </a:p>
        </p:txBody>
      </p:sp>
    </p:spTree>
    <p:extLst>
      <p:ext uri="{BB962C8B-B14F-4D97-AF65-F5344CB8AC3E}">
        <p14:creationId xmlns:p14="http://schemas.microsoft.com/office/powerpoint/2010/main" val="2411520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FB331-97A5-8538-7C6E-E39ADE78F13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D48900C-5722-19B2-BE6B-80681420A3F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7175164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5.png"/></Relationships>
</file>

<file path=ppt/theme/theme1.xml><?xml version="1.0" encoding="utf-8"?>
<a:theme xmlns:a="http://schemas.openxmlformats.org/drawingml/2006/main" name="UBOfficial">
  <a:themeElements>
    <a:clrScheme name="UB Brand Colors">
      <a:dk1>
        <a:srgbClr val="FFFFFF"/>
      </a:dk1>
      <a:lt1>
        <a:srgbClr val="4D4D4D"/>
      </a:lt1>
      <a:dk2>
        <a:srgbClr val="FFFFFF"/>
      </a:dk2>
      <a:lt2>
        <a:srgbClr val="005BBB"/>
      </a:lt2>
      <a:accent1>
        <a:srgbClr val="005BBB"/>
      </a:accent1>
      <a:accent2>
        <a:srgbClr val="2F9FD0"/>
      </a:accent2>
      <a:accent3>
        <a:srgbClr val="E56954"/>
      </a:accent3>
      <a:accent4>
        <a:srgbClr val="002F56"/>
      </a:accent4>
      <a:accent5>
        <a:srgbClr val="E3E3E3"/>
      </a:accent5>
      <a:accent6>
        <a:srgbClr val="006570"/>
      </a:accent6>
      <a:hlink>
        <a:srgbClr val="005BBB"/>
      </a:hlink>
      <a:folHlink>
        <a:srgbClr val="2F9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BOfficial" id="{18509813-927B-5742-8F3A-1F3B30009E7C}" vid="{38A77CD0-F947-CE49-A1D8-95B7FAC0523E}"/>
    </a:ext>
  </a:extLst>
</a:theme>
</file>

<file path=ppt/theme/theme2.xml><?xml version="1.0" encoding="utf-8"?>
<a:theme xmlns:a="http://schemas.openxmlformats.org/drawingml/2006/main" name="Black">
  <a:themeElements>
    <a:clrScheme name="Black">
      <a:dk1>
        <a:srgbClr val="000000"/>
      </a:dk1>
      <a:lt1>
        <a:srgbClr val="FFFFFF"/>
      </a:lt1>
      <a:dk2>
        <a:srgbClr val="53585F"/>
      </a:dk2>
      <a:lt2>
        <a:srgbClr val="DCDEE0"/>
      </a:lt2>
      <a:accent1>
        <a:srgbClr val="0065C1"/>
      </a:accent1>
      <a:accent2>
        <a:srgbClr val="00A6AC"/>
      </a:accent2>
      <a:accent3>
        <a:srgbClr val="308B16"/>
      </a:accent3>
      <a:accent4>
        <a:srgbClr val="BC8027"/>
      </a:accent4>
      <a:accent5>
        <a:srgbClr val="971817"/>
      </a:accent5>
      <a:accent6>
        <a:srgbClr val="5747C1"/>
      </a:accent6>
      <a:hlink>
        <a:srgbClr val="0000FF"/>
      </a:hlink>
      <a:folHlink>
        <a:srgbClr val="FF00FF"/>
      </a:folHlink>
    </a:clrScheme>
    <a:fontScheme name="Black">
      <a:majorFont>
        <a:latin typeface="Helvetica Light"/>
        <a:ea typeface="Helvetica Light"/>
        <a:cs typeface="Helvetica Light"/>
      </a:majorFont>
      <a:minorFont>
        <a:latin typeface="Helvetica Light"/>
        <a:ea typeface="Helvetica Light"/>
        <a:cs typeface="Helvetica Light"/>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UBOfficial</Template>
  <TotalTime>21913</TotalTime>
  <Words>3114</Words>
  <Application>Microsoft Macintosh PowerPoint</Application>
  <PresentationFormat>Custom</PresentationFormat>
  <Paragraphs>272</Paragraphs>
  <Slides>36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Cambria Math</vt:lpstr>
      <vt:lpstr>Georgia</vt:lpstr>
      <vt:lpstr>Helvetica Neue</vt:lpstr>
      <vt:lpstr>System Font Regular</vt:lpstr>
      <vt:lpstr>UBOfficial</vt:lpstr>
      <vt:lpstr>Lecture 4 —   energy generation</vt:lpstr>
      <vt:lpstr>Nuclear power</vt:lpstr>
      <vt:lpstr>Nuclear Fission</vt:lpstr>
      <vt:lpstr>U-235 Reaction</vt:lpstr>
      <vt:lpstr>U-238 to Pu-239 Reaction</vt:lpstr>
      <vt:lpstr>Enriching Uranium</vt:lpstr>
      <vt:lpstr>In the news : Iran nuclear program</vt:lpstr>
      <vt:lpstr>Types of fission reactors</vt:lpstr>
      <vt:lpstr>Health and Environmental Risks of Nuclear Power</vt:lpstr>
      <vt:lpstr>Health and Environmental Risks of Nuclear Power</vt:lpstr>
      <vt:lpstr>What is radiation?</vt:lpstr>
      <vt:lpstr>What is radiation?</vt:lpstr>
      <vt:lpstr>Protection: distance and shielding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about waste or meltdown? </vt:lpstr>
      <vt:lpstr>Nuclear Waste</vt:lpstr>
      <vt:lpstr>Catastrophes</vt:lpstr>
      <vt:lpstr>Which energy actually kills people?</vt:lpstr>
      <vt:lpstr>Gen 4 Reactors</vt:lpstr>
      <vt:lpstr>Nuclear fusion? </vt:lpstr>
      <vt:lpstr>Nuclear fusion?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Salvatore Rappoccio</cp:lastModifiedBy>
  <cp:revision>111</cp:revision>
  <dcterms:modified xsi:type="dcterms:W3CDTF">2026-09-30T18:25:36Z</dcterms:modified>
</cp:coreProperties>
</file>