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10"/>
  </p:notesMasterIdLst>
  <p:sldIdLst>
    <p:sldId id="344" r:id="rId2"/>
    <p:sldId id="346" r:id="rId3"/>
    <p:sldId id="345" r:id="rId4"/>
    <p:sldId id="348" r:id="rId5"/>
    <p:sldId id="347" r:id="rId6"/>
    <p:sldId id="349" r:id="rId7"/>
    <p:sldId id="350" r:id="rId8"/>
    <p:sldId id="351" r:id="rId9"/>
  </p:sldIdLst>
  <p:sldSz cx="130048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3C0FC">
              <a:alpha val="26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136794"/>
              <a:satOff val="-2150"/>
              <a:lumOff val="15693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8EA5CB">
              <a:alpha val="2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CB9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CB9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alpha val="35000"/>
            </a:scheme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2D7132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254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BF630E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B4407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B4407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1F2428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84B4C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84B4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/>
    <p:restoredTop sz="94502"/>
  </p:normalViewPr>
  <p:slideViewPr>
    <p:cSldViewPr snapToGrid="0">
      <p:cViewPr>
        <p:scale>
          <a:sx n="85" d="100"/>
          <a:sy n="85" d="100"/>
        </p:scale>
        <p:origin x="2760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" name="Shape 2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6463" y="2404565"/>
            <a:ext cx="9753600" cy="3421585"/>
          </a:xfrm>
        </p:spPr>
        <p:txBody>
          <a:bodyPr anchor="b"/>
          <a:lstStyle>
            <a:lvl1pPr algn="l">
              <a:lnSpc>
                <a:spcPts val="6400"/>
              </a:lnSpc>
              <a:defRPr sz="64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6463" y="5996536"/>
            <a:ext cx="9753600" cy="211911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987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 dirty="0"/>
              <a:t>Sub-topic text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92352-7DF4-5EB6-32FA-9FB7E764D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70202" y="8437782"/>
            <a:ext cx="5859012" cy="90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70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03B264A-5859-DC5E-8BB3-FDCEFB5151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6463" y="5996536"/>
            <a:ext cx="9753600" cy="26087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987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 dirty="0"/>
              <a:t>Sub-topic text goes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121344-8E5D-8C90-90D5-425531E533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6463" y="2404565"/>
            <a:ext cx="9753600" cy="3421585"/>
          </a:xfrm>
        </p:spPr>
        <p:txBody>
          <a:bodyPr anchor="b"/>
          <a:lstStyle>
            <a:lvl1pPr algn="l">
              <a:lnSpc>
                <a:spcPts val="6400"/>
              </a:lnSpc>
              <a:defRPr sz="64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Slide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225321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9" y="3487107"/>
            <a:ext cx="11216640" cy="5757399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46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Bulleted List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8994E2-EA49-29ED-92E0-393343750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61013" y="1950720"/>
            <a:ext cx="5743787" cy="7802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4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0E64E3-43AA-E108-65B7-E60FA7F2EC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9" y="3487107"/>
            <a:ext cx="11216640" cy="5757399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2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6688526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 vitae dapibus elit ligula vel urna. Integer mollis elit vel justo bibendum vitae et efficitur arcu bibendum. consectetur adipiscing elit. Vivamus euismod, leo a condimentum pretium.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9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4528800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29B7451-E98E-FC17-C95F-97570ABD4F77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5236413" y="3428726"/>
            <a:ext cx="4528800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8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um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13FBDA0-6DAD-2BD7-8995-0DD004DCD4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D848CF-329C-12E6-A53F-3C3893FC544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9" y="3487108"/>
            <a:ext cx="5364480" cy="5761125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E746082-11FB-1BAB-9564-CFA32F2BC5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70172" y="3487107"/>
            <a:ext cx="5366957" cy="5757399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6837F-65A2-482E-691B-FA0A12696B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4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E57A07-9930-44A5-B8A4-E2B0497B97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6" y="3493025"/>
            <a:ext cx="11216640" cy="73669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707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27"/>
              </a:spcBef>
              <a:buFont typeface="System Font Regular"/>
              <a:buChar char="−"/>
              <a:defRPr sz="192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FF8DBE-F14C-4661-C6FB-66F0BEF559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0489" y="4402312"/>
            <a:ext cx="11216640" cy="4528758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635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0A87E8-FC38-EF63-519A-A20B6C53B4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7" y="3493025"/>
            <a:ext cx="5269111" cy="73669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707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27"/>
              </a:spcBef>
              <a:buFont typeface="System Font Regular"/>
              <a:buChar char="−"/>
              <a:defRPr sz="192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372A22-8E95-EEF5-A75E-63F3C0F2C2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0489" y="4402312"/>
            <a:ext cx="5269111" cy="4528758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spcBef>
                <a:spcPts val="427"/>
              </a:spcBef>
              <a:defRPr/>
            </a:lvl2pPr>
            <a:lvl3pPr>
              <a:spcBef>
                <a:spcPts val="427"/>
              </a:spcBef>
              <a:defRPr/>
            </a:lvl3pPr>
            <a:lvl4pPr>
              <a:spcBef>
                <a:spcPts val="427"/>
              </a:spcBef>
              <a:defRPr/>
            </a:lvl4pPr>
            <a:lvl5pPr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56CF4B-B17A-2337-0D52-61EC19AA7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376094" y="3493025"/>
            <a:ext cx="5269111" cy="73669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707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27"/>
              </a:spcBef>
              <a:buFont typeface="System Font Regular"/>
              <a:buChar char="−"/>
              <a:defRPr sz="192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825F99-D766-A623-5D1B-AE0CC6933E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376096" y="4402312"/>
            <a:ext cx="5269111" cy="4528758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876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5536174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5538994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9B8DD2A-7177-2E52-DD5A-3EAE044C53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223726" y="2038765"/>
            <a:ext cx="6360586" cy="614462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4D129EA-B4FE-13E2-9E6F-CFD7407BEA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8086" y="8826366"/>
            <a:ext cx="739046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6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93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871AB5E-101C-7C13-4D65-215EA69060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8086" y="8826366"/>
            <a:ext cx="739046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18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5536174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5538994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419426" y="1672046"/>
            <a:ext cx="6583680" cy="8081554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235938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Text +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5536174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5538994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414182" y="1672046"/>
            <a:ext cx="6586693" cy="4040777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855A2D2-CB1F-E260-6EEA-7E2D6D512F1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414181" y="5712822"/>
            <a:ext cx="3296717" cy="4044493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9823783-F8CE-C00A-E2E8-141FB0CBA29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704158" y="5712824"/>
            <a:ext cx="3296717" cy="4040777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704674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-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0CA1-FF95-DB59-A307-6E7802C57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139913"/>
            <a:ext cx="5536174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13004800" cy="97536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95484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19231-8A35-C0C4-A52C-FD510095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89" y="2139913"/>
            <a:ext cx="11216640" cy="123545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E5F18-0F44-D0C4-865B-4F1686C2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489" y="3588256"/>
            <a:ext cx="11216640" cy="575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text level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7C836-75E5-4C64-D3C5-1D1833BAD8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48086" y="8826366"/>
            <a:ext cx="73904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DEE38-7B4E-C8A4-CC0C-614E4A2B6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4579" y="329238"/>
            <a:ext cx="5859012" cy="90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632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3840" b="0" i="0" kern="1200">
          <a:solidFill>
            <a:schemeClr val="tx2"/>
          </a:solidFill>
          <a:latin typeface="Georgia" panose="02040502050405020303" pitchFamily="18" charset="0"/>
          <a:ea typeface="+mj-ea"/>
          <a:cs typeface="Arial" panose="020B0604020202020204" pitchFamily="34" charset="0"/>
        </a:defRPr>
      </a:lvl1pPr>
    </p:titleStyle>
    <p:bodyStyle>
      <a:lvl1pPr marL="243848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31543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System Font Regular"/>
        <a:buChar char="−"/>
        <a:defRPr sz="21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9238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06933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94629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" TargetMode="External"/><Relationship Id="rId2" Type="http://schemas.openxmlformats.org/officeDocument/2006/relationships/hyperlink" Target="https://obsidian.md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6462" y="296883"/>
            <a:ext cx="11977211" cy="6123203"/>
          </a:xfrm>
        </p:spPr>
        <p:txBody>
          <a:bodyPr/>
          <a:lstStyle/>
          <a:p>
            <a:pPr algn="ctr"/>
            <a:r>
              <a:rPr dirty="0"/>
              <a:t>Lecture </a:t>
            </a:r>
            <a:r>
              <a:rPr lang="en-US" dirty="0"/>
              <a:t>4</a:t>
            </a:r>
            <a:r>
              <a:rPr dirty="0"/>
              <a:t> —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energy generation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6462" y="6809132"/>
            <a:ext cx="9753600" cy="1589339"/>
          </a:xfrm>
          <a:prstGeom prst="rect">
            <a:avLst/>
          </a:prstGeom>
        </p:spPr>
        <p:txBody>
          <a:bodyPr/>
          <a:lstStyle/>
          <a:p>
            <a:r>
              <a:rPr dirty="0"/>
              <a:t>PHY199-RAP · Energy in the 21st Century</a:t>
            </a:r>
            <a:br>
              <a:rPr dirty="0"/>
            </a:br>
            <a:br>
              <a:rPr dirty="0"/>
            </a:br>
            <a:r>
              <a:rPr dirty="0"/>
              <a:t>Dr. Salvatore Rappoccio</a:t>
            </a:r>
          </a:p>
        </p:txBody>
      </p:sp>
      <p:sp>
        <p:nvSpPr>
          <p:cNvPr id="4" name=" 3"/>
          <p:cNvSpPr/>
          <p:nvPr/>
        </p:nvSpPr>
        <p:spPr/>
        <p:txBody>
          <a:bodyPr/>
          <a:lstStyle/>
          <a:p>
            <a:endParaRPr lang="en-US" sz="19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437D-A9FC-AC9F-EDBC-D9F54CE8C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manage your time effectively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D532B-F5C2-EDF3-FA27-82828AD67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calendar and mark urgent items</a:t>
            </a:r>
          </a:p>
          <a:p>
            <a:r>
              <a:rPr lang="en-US" dirty="0"/>
              <a:t>Develop a consistent work schedule</a:t>
            </a:r>
          </a:p>
          <a:p>
            <a:r>
              <a:rPr lang="en-US" dirty="0"/>
              <a:t>Prioritize your tasks by urgency</a:t>
            </a:r>
          </a:p>
          <a:p>
            <a:r>
              <a:rPr lang="en-US" dirty="0"/>
              <a:t>Keep records of your progress to “save state” while context switching</a:t>
            </a:r>
          </a:p>
          <a:p>
            <a:r>
              <a:rPr lang="en-US" dirty="0"/>
              <a:t>Be sure to rest and maintain work/life balance</a:t>
            </a:r>
          </a:p>
        </p:txBody>
      </p:sp>
    </p:spTree>
    <p:extLst>
      <p:ext uri="{BB962C8B-B14F-4D97-AF65-F5344CB8AC3E}">
        <p14:creationId xmlns:p14="http://schemas.microsoft.com/office/powerpoint/2010/main" val="2921078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375A5-0976-B03C-1321-66A91B2D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a calendar and mark urgent items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4698B9-0467-A9E5-D251-E0825B65C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09" y="3076101"/>
            <a:ext cx="11405981" cy="605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968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6B757-C129-78BC-A784-E1D84D5DE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 sure to rest and maintain work/life 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A14A3-E2DE-7278-B4E6-93CA900E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489" y="3487107"/>
            <a:ext cx="6081911" cy="5757399"/>
          </a:xfrm>
        </p:spPr>
        <p:txBody>
          <a:bodyPr/>
          <a:lstStyle/>
          <a:p>
            <a:r>
              <a:rPr lang="en-US" dirty="0"/>
              <a:t>Outside of your scheduled work and practice time, GO HAVE FUN</a:t>
            </a:r>
          </a:p>
          <a:p>
            <a:r>
              <a:rPr lang="en-US" dirty="0"/>
              <a:t>Touch grass</a:t>
            </a:r>
          </a:p>
          <a:p>
            <a:r>
              <a:rPr lang="en-US" dirty="0"/>
              <a:t>Talk to humans</a:t>
            </a:r>
          </a:p>
          <a:p>
            <a:r>
              <a:rPr lang="en-US" dirty="0"/>
              <a:t>Do video games</a:t>
            </a:r>
          </a:p>
          <a:p>
            <a:r>
              <a:rPr lang="en-US" dirty="0"/>
              <a:t>Pet a cat</a:t>
            </a:r>
          </a:p>
          <a:p>
            <a:r>
              <a:rPr lang="en-US" dirty="0"/>
              <a:t>Play soccer</a:t>
            </a:r>
          </a:p>
          <a:p>
            <a:r>
              <a:rPr lang="en-US" dirty="0"/>
              <a:t>Sleep in</a:t>
            </a:r>
          </a:p>
          <a:p>
            <a:r>
              <a:rPr lang="en-US" dirty="0"/>
              <a:t>Have a nice breakfast with friends</a:t>
            </a:r>
          </a:p>
          <a:p>
            <a:r>
              <a:rPr lang="en-US" dirty="0"/>
              <a:t>Dance </a:t>
            </a:r>
          </a:p>
          <a:p>
            <a:r>
              <a:rPr lang="en-US" dirty="0"/>
              <a:t>Be joyous</a:t>
            </a:r>
          </a:p>
        </p:txBody>
      </p:sp>
      <p:pic>
        <p:nvPicPr>
          <p:cNvPr id="4" name="Picture 3" descr="Photo">
            <a:extLst>
              <a:ext uri="{FF2B5EF4-FFF2-40B4-BE49-F238E27FC236}">
                <a16:creationId xmlns:a16="http://schemas.microsoft.com/office/drawing/2014/main" id="{95113E01-1379-B107-F482-37215EA83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827" y="3487107"/>
            <a:ext cx="5269007" cy="35071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D616E5-A57D-D706-FE16-277FF60CE68D}"/>
              </a:ext>
            </a:extLst>
          </p:cNvPr>
          <p:cNvSpPr txBox="1"/>
          <p:nvPr/>
        </p:nvSpPr>
        <p:spPr>
          <a:xfrm>
            <a:off x="7172827" y="7022510"/>
            <a:ext cx="650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www.tixr.com</a:t>
            </a:r>
            <a:r>
              <a:rPr lang="en-US" dirty="0"/>
              <a:t>/groups/</a:t>
            </a:r>
            <a:r>
              <a:rPr lang="en-US" dirty="0" err="1"/>
              <a:t>venu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0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67D71-C8CC-5CAF-DFBB-528D8D2E9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3035-D33F-A14E-3376-F408DCD3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a consistent work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EF868-9FE7-4912-1D92-27C55E0C5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490" y="3274220"/>
            <a:ext cx="7899052" cy="5757399"/>
          </a:xfrm>
        </p:spPr>
        <p:txBody>
          <a:bodyPr/>
          <a:lstStyle/>
          <a:p>
            <a:r>
              <a:rPr lang="en-US" dirty="0"/>
              <a:t>I tell this to all of my graduate students too</a:t>
            </a:r>
          </a:p>
          <a:p>
            <a:r>
              <a:rPr lang="en-US" dirty="0"/>
              <a:t>Work specific hours. It doesn’t have to be M-F 9am-5pm, but block out times and </a:t>
            </a:r>
            <a:r>
              <a:rPr lang="en-US" b="1" dirty="0"/>
              <a:t>stick to them</a:t>
            </a:r>
          </a:p>
          <a:p>
            <a:pPr lvl="1"/>
            <a:r>
              <a:rPr lang="en-US" dirty="0"/>
              <a:t>Block them off in your calendar</a:t>
            </a:r>
          </a:p>
          <a:p>
            <a:pPr lvl="1"/>
            <a:r>
              <a:rPr lang="en-US" dirty="0"/>
              <a:t>You will not run out of tasks, but in the odd event that you do, PRACTICE </a:t>
            </a:r>
          </a:p>
          <a:p>
            <a:pPr lvl="2"/>
            <a:r>
              <a:rPr lang="en-US" dirty="0"/>
              <a:t>Homework problems</a:t>
            </a:r>
          </a:p>
          <a:p>
            <a:pPr lvl="2"/>
            <a:r>
              <a:rPr lang="en-US" dirty="0"/>
              <a:t>Dance routines, Music performances, </a:t>
            </a:r>
            <a:r>
              <a:rPr lang="en-US" dirty="0" err="1"/>
              <a:t>etc</a:t>
            </a:r>
            <a:endParaRPr lang="en-US" dirty="0"/>
          </a:p>
          <a:p>
            <a:pPr lvl="2"/>
            <a:r>
              <a:rPr lang="en-US" dirty="0"/>
              <a:t>Case studies</a:t>
            </a:r>
          </a:p>
          <a:p>
            <a:pPr lvl="2"/>
            <a:r>
              <a:rPr lang="en-US" dirty="0"/>
              <a:t>Whatever your discipline requires, do it often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34AB6-CB13-C1DC-A528-EFD2AC298F1C}"/>
              </a:ext>
            </a:extLst>
          </p:cNvPr>
          <p:cNvSpPr txBox="1"/>
          <p:nvPr/>
        </p:nvSpPr>
        <p:spPr>
          <a:xfrm>
            <a:off x="8704172" y="2973049"/>
            <a:ext cx="3168039" cy="25853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5400" dirty="0"/>
              <a:t>Practice practice practice!</a:t>
            </a:r>
          </a:p>
        </p:txBody>
      </p:sp>
    </p:spTree>
    <p:extLst>
      <p:ext uri="{BB962C8B-B14F-4D97-AF65-F5344CB8AC3E}">
        <p14:creationId xmlns:p14="http://schemas.microsoft.com/office/powerpoint/2010/main" val="1817677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40175-3D94-A464-1FF7-3F986F7A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Prioritize your tasks by urgency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D91F4-4AA7-6C45-075A-41C2337F0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Options can include : </a:t>
            </a:r>
          </a:p>
          <a:p>
            <a:pPr lvl="1"/>
            <a:r>
              <a:rPr lang="en-US" dirty="0"/>
              <a:t>Keep a daily to-do list</a:t>
            </a:r>
          </a:p>
          <a:p>
            <a:pPr lvl="1"/>
            <a:r>
              <a:rPr lang="en-US" dirty="0"/>
              <a:t>Use your email directly (make a “tasks” folder, email tasks to yourself)</a:t>
            </a:r>
          </a:p>
          <a:p>
            <a:pPr lvl="1"/>
            <a:r>
              <a:rPr lang="en-US" dirty="0"/>
              <a:t>Apps like </a:t>
            </a:r>
            <a:r>
              <a:rPr lang="en-US" dirty="0">
                <a:hlinkClick r:id="rId2"/>
              </a:rPr>
              <a:t>Obsidian</a:t>
            </a:r>
            <a:endParaRPr lang="en-US" dirty="0"/>
          </a:p>
          <a:p>
            <a:pPr lvl="1"/>
            <a:r>
              <a:rPr lang="en-US" dirty="0"/>
              <a:t>Websites like </a:t>
            </a:r>
            <a:r>
              <a:rPr lang="en-US" dirty="0">
                <a:hlinkClick r:id="rId3"/>
              </a:rPr>
              <a:t>Trello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5FD3E3-E641-C229-F123-96B56DB97C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440" y="5707628"/>
            <a:ext cx="9513689" cy="374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97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A907D-707D-2EF5-B02D-40D59F01F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chemeClr val="tx2"/>
              </a:buClr>
            </a:pPr>
            <a:r>
              <a:rPr lang="en-US" dirty="0"/>
              <a:t>Keep records of your progress to “save state” while context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C45E2-977B-6E3B-6FAD-A172B7161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489" y="3487107"/>
            <a:ext cx="8825111" cy="5757399"/>
          </a:xfrm>
        </p:spPr>
        <p:txBody>
          <a:bodyPr/>
          <a:lstStyle/>
          <a:p>
            <a:r>
              <a:rPr lang="en-US" dirty="0"/>
              <a:t>Keeping a log of what you do is very useful (or even required) in a lot of fields</a:t>
            </a:r>
          </a:p>
          <a:p>
            <a:pPr lvl="1"/>
            <a:r>
              <a:rPr lang="en-US" dirty="0"/>
              <a:t>Programming </a:t>
            </a:r>
          </a:p>
          <a:p>
            <a:pPr lvl="1"/>
            <a:r>
              <a:rPr lang="en-US" b="1" dirty="0"/>
              <a:t>AI workflows! ABSOLUTELY CRITICAL</a:t>
            </a:r>
          </a:p>
          <a:p>
            <a:pPr lvl="1"/>
            <a:r>
              <a:rPr lang="en-US" dirty="0"/>
              <a:t>Research</a:t>
            </a:r>
          </a:p>
          <a:p>
            <a:pPr lvl="1"/>
            <a:r>
              <a:rPr lang="en-US" dirty="0"/>
              <a:t>Clinical work (required often by law)</a:t>
            </a:r>
          </a:p>
          <a:p>
            <a:pPr lvl="1"/>
            <a:r>
              <a:rPr lang="en-US" dirty="0"/>
              <a:t>Law</a:t>
            </a:r>
          </a:p>
          <a:p>
            <a:pPr lvl="1"/>
            <a:r>
              <a:rPr lang="en-US" dirty="0"/>
              <a:t>But hell, why not keep a log of what you need to do to finish your book that you’ve been writing for, oh I don’t know, 15 YEARS GEORGE!</a:t>
            </a:r>
          </a:p>
          <a:p>
            <a:r>
              <a:rPr lang="en-US" dirty="0"/>
              <a:t>This allows you to migrate between tasks that need to be done and assist in time management</a:t>
            </a:r>
          </a:p>
          <a:p>
            <a:r>
              <a:rPr lang="en-US" dirty="0"/>
              <a:t>Software options : Text editors (google docs, word, obsidian, other markdown editors), project management tools, log books </a:t>
            </a:r>
          </a:p>
        </p:txBody>
      </p:sp>
      <p:pic>
        <p:nvPicPr>
          <p:cNvPr id="4" name="Picture 3" descr="Photo of George R R Martin">
            <a:extLst>
              <a:ext uri="{FF2B5EF4-FFF2-40B4-BE49-F238E27FC236}">
                <a16:creationId xmlns:a16="http://schemas.microsoft.com/office/drawing/2014/main" id="{E4291203-6F94-2CFB-DD7B-C714905E7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066" y="5856610"/>
            <a:ext cx="2607733" cy="17981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E49832-68F3-A604-34CA-AA04C0657F3A}"/>
              </a:ext>
            </a:extLst>
          </p:cNvPr>
          <p:cNvSpPr txBox="1"/>
          <p:nvPr/>
        </p:nvSpPr>
        <p:spPr>
          <a:xfrm>
            <a:off x="9381066" y="7654722"/>
            <a:ext cx="2607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George R R Martin, author of Game of Thrones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3BFC99-192D-1C36-9896-7C633B47F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600" y="2843386"/>
            <a:ext cx="3494443" cy="277907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B0C69B-F95A-865D-FF26-E74BCA8CC713}"/>
              </a:ext>
            </a:extLst>
          </p:cNvPr>
          <p:cNvCxnSpPr/>
          <p:nvPr/>
        </p:nvCxnSpPr>
        <p:spPr>
          <a:xfrm flipV="1">
            <a:off x="6502400" y="4482059"/>
            <a:ext cx="3570990" cy="394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789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A14E9-7C11-B58E-7466-DB7CC005F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also how to use AI effectively!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6265C-A92D-6A61-FAD7-F111AD8DF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requires careful planning of workflows</a:t>
            </a:r>
          </a:p>
          <a:p>
            <a:r>
              <a:rPr lang="en-US" dirty="0"/>
              <a:t>Your calendar is a workflow! Your to-do list is a workflow! </a:t>
            </a:r>
          </a:p>
          <a:p>
            <a:r>
              <a:rPr lang="en-US" dirty="0"/>
              <a:t>Doing these tasks is increasingly important as AI begins to take over more and more of the workforce. </a:t>
            </a:r>
          </a:p>
        </p:txBody>
      </p:sp>
    </p:spTree>
    <p:extLst>
      <p:ext uri="{BB962C8B-B14F-4D97-AF65-F5344CB8AC3E}">
        <p14:creationId xmlns:p14="http://schemas.microsoft.com/office/powerpoint/2010/main" val="1056274447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theme/theme1.xml><?xml version="1.0" encoding="utf-8"?>
<a:theme xmlns:a="http://schemas.openxmlformats.org/drawingml/2006/main" name="UBOfficial">
  <a:themeElements>
    <a:clrScheme name="UB Brand Colors">
      <a:dk1>
        <a:srgbClr val="FFFFFF"/>
      </a:dk1>
      <a:lt1>
        <a:srgbClr val="4D4D4D"/>
      </a:lt1>
      <a:dk2>
        <a:srgbClr val="FFFFFF"/>
      </a:dk2>
      <a:lt2>
        <a:srgbClr val="005BBB"/>
      </a:lt2>
      <a:accent1>
        <a:srgbClr val="005BBB"/>
      </a:accent1>
      <a:accent2>
        <a:srgbClr val="2F9FD0"/>
      </a:accent2>
      <a:accent3>
        <a:srgbClr val="E56954"/>
      </a:accent3>
      <a:accent4>
        <a:srgbClr val="002F56"/>
      </a:accent4>
      <a:accent5>
        <a:srgbClr val="E3E3E3"/>
      </a:accent5>
      <a:accent6>
        <a:srgbClr val="006570"/>
      </a:accent6>
      <a:hlink>
        <a:srgbClr val="005BBB"/>
      </a:hlink>
      <a:folHlink>
        <a:srgbClr val="2F9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BOfficial" id="{18509813-927B-5742-8F3A-1F3B30009E7C}" vid="{38A77CD0-F947-CE49-A1D8-95B7FAC0523E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UBOfficial</Template>
  <TotalTime>13584</TotalTime>
  <Words>428</Words>
  <Application>Microsoft Macintosh PowerPoint</Application>
  <PresentationFormat>Custom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Georgia</vt:lpstr>
      <vt:lpstr>Helvetica Neue</vt:lpstr>
      <vt:lpstr>System Font Regular</vt:lpstr>
      <vt:lpstr>UBOfficial</vt:lpstr>
      <vt:lpstr>Lecture 4 —   energy generation</vt:lpstr>
      <vt:lpstr>How to manage your time effectively</vt:lpstr>
      <vt:lpstr>Use a calendar and mark urgent items</vt:lpstr>
      <vt:lpstr>Be sure to rest and maintain work/life balance</vt:lpstr>
      <vt:lpstr>Develop a consistent work schedule</vt:lpstr>
      <vt:lpstr>Prioritize your tasks by urgency</vt:lpstr>
      <vt:lpstr>Keep records of your progress to “save state” while context switching</vt:lpstr>
      <vt:lpstr>This is also how to use AI effectively!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Salvatore Rappoccio</cp:lastModifiedBy>
  <cp:revision>116</cp:revision>
  <dcterms:modified xsi:type="dcterms:W3CDTF">2026-09-24T17:45:18Z</dcterms:modified>
</cp:coreProperties>
</file>