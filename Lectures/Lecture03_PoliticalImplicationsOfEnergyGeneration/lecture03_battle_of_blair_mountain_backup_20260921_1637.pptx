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notesMasterIdLst>
    <p:notesMasterId r:id="rId39"/>
  </p:notesMasterIdLst>
  <p:sldIdLst>
    <p:sldId id="344" r:id="rId2"/>
    <p:sldId id="405" r:id="rId3"/>
    <p:sldId id="400" r:id="rId4"/>
    <p:sldId id="393" r:id="rId5"/>
    <p:sldId id="394" r:id="rId6"/>
    <p:sldId id="395" r:id="rId7"/>
    <p:sldId id="396" r:id="rId8"/>
    <p:sldId id="402" r:id="rId9"/>
    <p:sldId id="397" r:id="rId10"/>
    <p:sldId id="353" r:id="rId11"/>
    <p:sldId id="403" r:id="rId12"/>
    <p:sldId id="401" r:id="rId13"/>
    <p:sldId id="355" r:id="rId14"/>
    <p:sldId id="372" r:id="rId15"/>
    <p:sldId id="406" r:id="rId16"/>
    <p:sldId id="407" r:id="rId17"/>
    <p:sldId id="408" r:id="rId18"/>
    <p:sldId id="365" r:id="rId19"/>
    <p:sldId id="366" r:id="rId20"/>
    <p:sldId id="409" r:id="rId21"/>
    <p:sldId id="356" r:id="rId22"/>
    <p:sldId id="410" r:id="rId23"/>
    <p:sldId id="357" r:id="rId24"/>
    <p:sldId id="358" r:id="rId25"/>
    <p:sldId id="411" r:id="rId26"/>
    <p:sldId id="373" r:id="rId27"/>
    <p:sldId id="359" r:id="rId28"/>
    <p:sldId id="360" r:id="rId29"/>
    <p:sldId id="361" r:id="rId30"/>
    <p:sldId id="369" r:id="rId31"/>
    <p:sldId id="370" r:id="rId32"/>
    <p:sldId id="371" r:id="rId33"/>
    <p:sldId id="374" r:id="rId34"/>
    <p:sldId id="367" r:id="rId35"/>
    <p:sldId id="375" r:id="rId36"/>
    <p:sldId id="413" r:id="rId37"/>
    <p:sldId id="376" r:id="rId38"/>
  </p:sldIdLst>
  <p:sldSz cx="13004800" cy="9753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3C0FC">
              <a:alpha val="26000"/>
            </a:srgbClr>
          </a:solidFill>
        </a:fill>
      </a:tcStyle>
    </a:band2H>
    <a:firstCol>
      <a:tcTxStyle b="off" i="off">
        <a:fontRef idx="minor">
          <a:srgbClr val="FFFFFF"/>
        </a:fontRef>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hueOff val="-136794"/>
              <a:satOff val="-2150"/>
              <a:lumOff val="15693"/>
            </a:schemeClr>
          </a:solidFill>
        </a:fill>
      </a:tcStyle>
    </a:firstCol>
    <a:lastRow>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lastRow>
    <a:firstRow>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Row>
  </a:tblStyle>
  <a:tblStyle styleId="{C7B018BB-80A7-4F77-B60F-C8B233D01FF8}" styleName="">
    <a:tblBg/>
    <a:wholeTbl>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a:tcStyle>
        <a:tcBdr/>
        <a:fill>
          <a:solidFill>
            <a:srgbClr val="8EA5CB">
              <a:alpha val="25000"/>
            </a:srgbClr>
          </a:solidFill>
        </a:fill>
      </a:tcStyle>
    </a:band2H>
    <a:firstCol>
      <a:tcTxStyle b="off" i="off">
        <a:fontRef idx="minor">
          <a:srgbClr val="FFFFFF"/>
        </a:fontRef>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solidFill>
            <a:srgbClr val="53585F"/>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929292"/>
              </a:solidFill>
              <a:prstDash val="solid"/>
              <a:miter lim="400000"/>
            </a:ln>
          </a:insideH>
          <a:insideV>
            <a:ln w="12700" cap="flat">
              <a:noFill/>
              <a:miter lim="400000"/>
            </a:ln>
          </a:insideV>
        </a:tcBdr>
        <a:fill>
          <a:solidFill>
            <a:srgbClr val="004CB9"/>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929292"/>
              </a:solidFill>
              <a:prstDash val="solid"/>
              <a:miter lim="400000"/>
            </a:ln>
          </a:insideH>
          <a:insideV>
            <a:ln w="12700" cap="flat">
              <a:noFill/>
              <a:miter lim="400000"/>
            </a:ln>
          </a:insideV>
        </a:tcBdr>
        <a:fill>
          <a:solidFill>
            <a:srgbClr val="004CB9"/>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a:tcStyle>
        <a:tcBdr/>
        <a:fill>
          <a:solidFill>
            <a:schemeClr val="accent3">
              <a:alpha val="35000"/>
            </a:scheme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CBCBCB"/>
              </a:solidFill>
              <a:prstDash val="solid"/>
              <a:miter lim="400000"/>
            </a:ln>
          </a:insideV>
        </a:tcBdr>
        <a:fill>
          <a:solidFill>
            <a:srgbClr val="2D7132"/>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CBCBCB"/>
              </a:solidFill>
              <a:prstDash val="solid"/>
              <a:miter lim="400000"/>
            </a:ln>
          </a:insideH>
          <a:insideV>
            <a:ln w="12700" cap="flat">
              <a:noFill/>
              <a:miter lim="400000"/>
            </a:ln>
          </a:insideV>
        </a:tcBdr>
        <a:fill>
          <a:solidFill>
            <a:schemeClr val="accent3"/>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25400" cap="flat">
              <a:solidFill>
                <a:srgbClr val="CBCBCB"/>
              </a:solidFill>
              <a:prstDash val="solid"/>
              <a:miter lim="400000"/>
            </a:ln>
          </a:insideH>
          <a:insideV>
            <a:ln w="12700" cap="flat">
              <a:noFill/>
              <a:miter lim="400000"/>
            </a:ln>
          </a:insideV>
        </a:tcBdr>
        <a:fill>
          <a:solidFill>
            <a:schemeClr val="accent3"/>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D6D7D6"/>
              </a:solidFill>
              <a:prstDash val="solid"/>
              <a:miter lim="400000"/>
            </a:ln>
          </a:insideV>
        </a:tcBdr>
        <a:fill>
          <a:solidFill>
            <a:srgbClr val="BF630E"/>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9B4407"/>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9B4407"/>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a:tcStyle>
        <a:tcBdr/>
        <a:fill>
          <a:solidFill>
            <a:srgbClr val="797A7C">
              <a:alpha val="30000"/>
            </a:srgbClr>
          </a:solidFill>
        </a:fill>
      </a:tcStyle>
    </a:band2H>
    <a:firstCol>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25400" cap="flat">
              <a:solidFill>
                <a:srgbClr val="D6D7D6"/>
              </a:solidFill>
              <a:prstDash val="solid"/>
              <a:miter lim="400000"/>
            </a:ln>
          </a:insideV>
        </a:tcBdr>
        <a:fill>
          <a:solidFill>
            <a:srgbClr val="1F2428"/>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484B4C"/>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D6D7D6"/>
              </a:solidFill>
              <a:prstDash val="solid"/>
              <a:miter lim="400000"/>
            </a:ln>
          </a:insideH>
          <a:insideV>
            <a:ln w="12700" cap="flat">
              <a:noFill/>
              <a:miter lim="400000"/>
            </a:ln>
          </a:insideV>
        </a:tcBdr>
        <a:fill>
          <a:solidFill>
            <a:srgbClr val="484B4C"/>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a:tcStyle>
        <a:tcBdr/>
        <a:fill>
          <a:solidFill>
            <a:srgbClr val="797A7C">
              <a:alpha val="30000"/>
            </a:srgbClr>
          </a:solidFill>
        </a:fill>
      </a:tcStyle>
    </a:band2H>
    <a:firstCol>
      <a:tcTxStyle b="on" i="off">
        <a:font>
          <a:latin typeface="Helvetica"/>
          <a:ea typeface="Helvetica"/>
          <a:cs typeface="Helvetica"/>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n" i="off">
        <a:font>
          <a:latin typeface="Helvetica"/>
          <a:ea typeface="Helvetica"/>
          <a:cs typeface="Helvetica"/>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a:ea typeface="Helvetica"/>
          <a:cs typeface="Helvetica"/>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21"/>
    <p:restoredTop sz="94555"/>
  </p:normalViewPr>
  <p:slideViewPr>
    <p:cSldViewPr snapToGrid="0">
      <p:cViewPr varScale="1">
        <p:scale>
          <a:sx n="106" d="100"/>
          <a:sy n="106" d="100"/>
        </p:scale>
        <p:origin x="184" y="9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 name="Shape 19"/>
          <p:cNvSpPr>
            <a:spLocks noGrp="1" noRot="1" noChangeAspect="1"/>
          </p:cNvSpPr>
          <p:nvPr>
            <p:ph type="sldImg"/>
          </p:nvPr>
        </p:nvSpPr>
        <p:spPr>
          <a:xfrm>
            <a:off x="1143000" y="685800"/>
            <a:ext cx="4572000" cy="3429000"/>
          </a:xfrm>
          <a:prstGeom prst="rect">
            <a:avLst/>
          </a:prstGeom>
        </p:spPr>
        <p:txBody>
          <a:bodyPr/>
          <a:lstStyle/>
          <a:p>
            <a:endParaRPr/>
          </a:p>
        </p:txBody>
      </p:sp>
      <p:sp>
        <p:nvSpPr>
          <p:cNvPr id="20" name="Shape 2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Geology as destiny. Anthracite is ~300-million-year-old Carboniferous swamp buried deeper and squeezed harder than bituminous - more heat and pressure, more carbon, fewer volatiles.</a:t>
            </a:r>
          </a:p>
          <a:p>
            <a:endParaRPr/>
          </a:p>
          <a:p>
            <a:r>
              <a:t>Note the ordering: canal FIRST (1827), then rail, then steel. Energy infrastructure precedes and determines industry location. Still true - it is why data centers are going up next to Susquehanna and next to hydro.</a:t>
            </a:r>
          </a:p>
        </p:txBody>
      </p:sp>
    </p:spTree>
    <p:extLst>
      <p:ext uri="{BB962C8B-B14F-4D97-AF65-F5344CB8AC3E}">
        <p14:creationId xmlns:p14="http://schemas.microsoft.com/office/powerpoint/2010/main" val="1612413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3715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33924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[BUFFALO] The local hook, and a sharp one: a steel company relocated several hundred miles, in part, to get away from a union. Lackawanna NY is named after Lackawanna PA - the company brought the name with it. ~2,000 workers moved; ~6,000 employed by 1903. Bethlehem Steel bought it in 1922.</a:t>
            </a:r>
          </a:p>
          <a:p>
            <a:endParaRPr/>
          </a:p>
          <a:p>
            <a:r>
              <a:t>Lackawanna Iron &amp; Steel also started its own company town in 1901 - it 'lacked most services' and 'the housing stood empty for many years'. Buffalo has its own small company-town story; Section 4 picks it up.</a:t>
            </a:r>
          </a:p>
        </p:txBody>
      </p:sp>
    </p:spTree>
    <p:extLst>
      <p:ext uri="{BB962C8B-B14F-4D97-AF65-F5344CB8AC3E}">
        <p14:creationId xmlns:p14="http://schemas.microsoft.com/office/powerpoint/2010/main" val="1820670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[WEEK 7 SETUP] The strongest bridge in the deck to the AI material. The American folk archetype of technological unemployment is a Black convict laborer who wins the contest and dies anyway. When we talk about automation in Week 7, that is the image to return to: the question is never only 'can the machine do it' but 'what happens to the person, and did anyone owe them anything.'</a:t>
            </a:r>
          </a:p>
          <a:p>
            <a:endParaRPr dirty="0"/>
          </a:p>
          <a:p>
            <a:r>
              <a:rPr dirty="0"/>
              <a:t>Flag the honest uncertainty: Nelson's identification is a strong argument, not a proven fact. Others </a:t>
            </a:r>
            <a:r>
              <a:rPr dirty="0" err="1"/>
              <a:t>favour</a:t>
            </a:r>
            <a:r>
              <a:rPr dirty="0"/>
              <a:t> Big Bend Tunnel in WV - and the C&amp;O's chief engineer denied steam drills were even used there. Good research-skills moment.</a:t>
            </a:r>
          </a:p>
          <a:p>
            <a:endParaRPr dirty="0"/>
          </a:p>
          <a:p>
            <a:r>
              <a:rPr dirty="0"/>
              <a:t>Lead Belly (Huddie Ledbetter, 1888/89-1949) recorded John Henry and much else. 'Discovered' by John and Alan Lomax at Angola prison in 1933; the Lomaxes initially presented him to white audiences in prison stripes as a curiosity. Even the preservation of Black music ran through a system that treated the musician as property of a narrative. He shaped Dylan, the Weavers, Nirvana, and by George Harrison's account, the Beatles.</a:t>
            </a:r>
          </a:p>
        </p:txBody>
      </p:sp>
    </p:spTree>
    <p:extLst>
      <p:ext uri="{BB962C8B-B14F-4D97-AF65-F5344CB8AC3E}">
        <p14:creationId xmlns:p14="http://schemas.microsoft.com/office/powerpoint/2010/main" val="1322980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34693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Pullman built his town outside Chicago in the 1880s for 6,000 employees and 6,000 dependents. After the Panic of 1893 he cut wages but did NOT cut rents or store prices - because those were separate business lines. That is the logic of the company town exposed in one decision: your wage is a cost to be minimized, your rent is revenue to be maximized, and you are the same person.</a:t>
            </a:r>
          </a:p>
          <a:p>
            <a:endParaRPr/>
          </a:p>
          <a:p>
            <a:r>
              <a:t>Note the dates: 1898, Illinois breaks up Pullman. 1921, Blair Mountain. The legal precedent existed and did not reach West Virginia for another generation.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WORKED NUMBER - our simple calculation for the day:</a:t>
            </a:r>
          </a:p>
          <a:p>
            <a:endParaRPr/>
          </a:p>
          <a:p>
            <a:r>
              <a:t>  Earn $5.00/day in scrip. Nearest independent store takes it at 25% off.</a:t>
            </a:r>
          </a:p>
          <a:p>
            <a:r>
              <a:t>  Real wage if you shop anywhere but the company store: $3.75/day.</a:t>
            </a:r>
          </a:p>
          <a:p>
            <a:r>
              <a:t>  = a 25% pay cut for the crime of shopping around.</a:t>
            </a:r>
          </a:p>
          <a:p>
            <a:r>
              <a:t>  Over a 300-day working year: $1,500 nominal, $1,125 real. $375/yr taken.</a:t>
            </a:r>
          </a:p>
          <a:p>
            <a:r>
              <a:t>  In 1921 dollars, $375 is roughly three months of a miner's earnings.</a:t>
            </a:r>
          </a:p>
          <a:p>
            <a:r>
              <a:t>  (Or the company store simply charges more. Either way the money comes back.)</a:t>
            </a:r>
          </a:p>
          <a:p>
            <a:endParaRPr/>
          </a:p>
          <a:p>
            <a:r>
              <a:t>Economists do debate how coercive scrip was in practice - see Price Fishback, 'Did Coal Miners Owe Their Souls to the Company Store?', Journal of Economic History. Honest framing: the discount is documented; the argument is about how much choice miners actually had. In isolated single-road hollows, not much.</a:t>
            </a:r>
          </a:p>
          <a:p>
            <a:endParaRPr/>
          </a:p>
          <a:p>
            <a:r>
              <a:t>The operators' defense was that scrip 'educated miners to sound credit practices'. A 1925 investigation concluded it did the opposite.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We call them 'labor disputes'. They were armed conflicts with a body count. The private army in most of them is the same one: the Baldwin-Felts Detective Agency.</a:t>
            </a:r>
          </a:p>
          <a:p>
            <a:endParaRPr/>
          </a:p>
          <a:p>
            <a:r>
              <a:t>Read the Ludlow line slowly. 20 April 1914: Colorado National Guard and Baldwin-Felts guards attacked a tent colony of evicted strikers the day after Orthodox Easter. Four women and eleven children hid in a pit under a tent; the tent was set on fire above them. Two women and all eleven children suffocated. The mine was Colorado Fuel &amp; Iron - controlled by JOHN D. ROCKEFELLER JR. Twenty-two guardsmen were court-martialed. All acquitted.</a:t>
            </a:r>
          </a:p>
          <a:p>
            <a:endParaRPr/>
          </a:p>
          <a:p>
            <a:r>
              <a:t>That is the same Rockefeller from the table two sections ago. These are not separate stories.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Sets up Section 4. The key idea: the company was simultaneously your employer, your landlord, your grocer, your bank, your police force, and in many counties your judge. There is no part of your life that striking does not put at risk. That is the design.</a:t>
            </a:r>
          </a:p>
          <a:p>
            <a:endParaRPr/>
          </a:p>
          <a:p>
            <a:r>
              <a:t>Ask the class: 'what would it take for you to go on strike under those conditions?' Then tell them 10,000 people did.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The closing moral argument, so land it carefully.</a:t>
            </a:r>
          </a:p>
          <a:p>
            <a:endParaRPr/>
          </a:p>
          <a:p>
            <a:r>
              <a:t>The historiography is genuinely mixed and you should say so: the second Klan sometimes SUPPORTED striking white Protestant workers while opposing interracial unions. It was not simply a company weapon. But its function in the coalfields was the same either way - a workforce divided by race and religion cannot strike, and every operator knew it. Division was the cheapest possible security expense.</a:t>
            </a:r>
          </a:p>
          <a:p>
            <a:endParaRPr/>
          </a:p>
          <a:p>
            <a:r>
              <a:t>Chuck Keeney's line, repeated here: 'they all understood that if they did not work together they couldn't be effective.'</a:t>
            </a:r>
          </a:p>
          <a:p>
            <a:endParaRPr/>
          </a:p>
          <a:p>
            <a:r>
              <a:t>Then the honest ending: it did not save them. They lost anyway in 1921. Solidarity was necessary and insufficient - the same verdict as 'the oligarchy won'. What finally changed things was law, in 1933. Which is a statement about POLITICS, and politics is the title of this lecture.</a:t>
            </a:r>
          </a:p>
          <a:p>
            <a:endParaRPr/>
          </a:p>
          <a:p>
            <a:r>
              <a:t>[MOTIF] Hunger Games close: the mockingjay wasn't a weapon, it was a signal that other people were also refusing. The red bandana did the same job.</a:t>
            </a:r>
          </a:p>
        </p:txBody>
      </p:sp>
    </p:spTree>
    <p:extLst>
      <p:ext uri="{BB962C8B-B14F-4D97-AF65-F5344CB8AC3E}">
        <p14:creationId xmlns:p14="http://schemas.microsoft.com/office/powerpoint/2010/main" val="839624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The emotional pivot of the deck. Slow down. The detail that does the work: on the courthouse steps, in front of his wife, unarmed, and nobody was charged. Miners concluded, correctly, that the law was not available to them.</a:t>
            </a:r>
          </a:p>
          <a:p>
            <a:endParaRPr/>
          </a:p>
          <a:p>
            <a:r>
              <a:t>Mother Jones was 83 and urged them to stand down, fearing a massacre. Frank Keeney and Fred Mooney led the rally on 7 Aug; both later fled to Ohio.</a:t>
            </a:r>
          </a:p>
          <a:p>
            <a:endParaRPr/>
          </a:p>
          <a:p>
            <a:r>
              <a:t>[MOTIF] Hunger Games: this is the whipping in the square. The system demonstrates its rules do not apply to itself - that is what starts a rebellion, not the poverty they had already endured for thirty years.</a:t>
            </a:r>
          </a:p>
          <a:p>
            <a:endParaRPr/>
          </a:p>
          <a:p>
            <a:r>
              <a:t>John Sayles' film MATEWAN (1987) dramatizes the massacre - Chris Cooper, James Earl Jones. Worth a two-minute clip.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[RESEARCH SKILL TIE-IN] Use the casualty disagreement deliberately - the best teaching moment in the deck. Ask: why would the number be unknown? Who would have had to count? Who had an interest in it being small, or large? What would count as a primary source? (Coroner's records, incomplete for Logan County; UMW Journal reporting, partisan; the 985 indictments, a hard number precisely because the state generated them.)</a:t>
            </a:r>
          </a:p>
          <a:p>
            <a:endParaRPr/>
          </a:p>
          <a:p>
            <a:r>
              <a:t>The miners wore RED BANDANAS around their necks to identify each other. Their opponents wore white armbands and called them 'rednecks' - one credible origin of the word, per the WV Mine Wars Museum. Flag it as ONE account, not settled etymology.</a:t>
            </a:r>
          </a:p>
          <a:p>
            <a:endParaRPr/>
          </a:p>
          <a:p>
            <a:r>
              <a:t>The army was BLACK, WHITE AND IMMIGRANT TOGETHER - 'a darn solid mass of different colors and tribes blended together' (Fred Ball, UMW Journal). Matewan in 1921 was one of very few US towns where Black and white children attended school together. Chuck Keeney: Black and white miners held cafeteria workers at gunpoint until everyone was served in the same room. In 1921. In the South. Hold that for the Klan slide.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Resist the urge to redeem this slide. Students expect a triumphant labor story and this is not one. The honest version: organized workers lost badly for twelve years, and what eventually changed it was federal law (NIRA, 1933) plus the Depression - not courage alone. Courage was necessary and not sufficient.</a:t>
            </a:r>
          </a:p>
          <a:p>
            <a:endParaRPr/>
          </a:p>
          <a:p>
            <a:r>
              <a:t>Bill Blizzard was acquitted of treason. His defense exhibit was an unexploded bomb dropped on the miners from an aircraft, recovered from the battlefield.</a:t>
            </a:r>
          </a:p>
          <a:p>
            <a:endParaRPr/>
          </a:p>
          <a:p>
            <a:r>
              <a:t>Then pivot: if losing a shooting war didn't change it, what did? -&gt; the political movement.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Sinclair's own verdict on The Jungle is the line worth quoting: he aimed at the public's heart and hit its stomach. He wrote a book about WORKERS being destroyed and America responded by regulating MEAT. That is a lesson about whose suffering registers.</a:t>
            </a:r>
          </a:p>
          <a:p>
            <a:endParaRPr/>
          </a:p>
          <a:p>
            <a:r>
              <a:t>Ida B. Wells belongs on this list and is usually left off it. She was doing the hardest and most dangerous investigative journalism of the era - her Memphis newspaper office was destroyed by a mob and she was driven out of the South under threat of death. She counted and documented lynchings when no institution would.</a:t>
            </a:r>
          </a:p>
        </p:txBody>
      </p:sp>
    </p:spTree>
    <p:extLst>
      <p:ext uri="{BB962C8B-B14F-4D97-AF65-F5344CB8AC3E}">
        <p14:creationId xmlns:p14="http://schemas.microsoft.com/office/powerpoint/2010/main" val="685203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The point for a physics class: these songs are EVIDENCE. When the official record is written by the people who own the mine, the folk record is a primary source about conditions, and historians treat it as one.</a:t>
            </a:r>
          </a:p>
          <a:p>
            <a:endParaRPr/>
          </a:p>
          <a:p>
            <a:r>
              <a:t>Play 30 seconds of 'Which Side Are You On?' - preferably the Almanac Singers 1941 version, or Florence Reece's own late recording, which is better because she is old and furious and unaccompanied.</a:t>
            </a:r>
          </a:p>
          <a:p>
            <a:endParaRPr/>
          </a:p>
          <a:p>
            <a:r>
              <a:t>Ask the class what the 2026 equivalent is. It's a real question, not a rhetorical one.</a:t>
            </a:r>
          </a:p>
        </p:txBody>
      </p:sp>
    </p:spTree>
    <p:extLst>
      <p:ext uri="{BB962C8B-B14F-4D97-AF65-F5344CB8AC3E}">
        <p14:creationId xmlns:p14="http://schemas.microsoft.com/office/powerpoint/2010/main" val="23196690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The company-town checklist, 1921 vs 2025: one employer (yes), company-owned housing (yes), company-selected local government (yes), company control over public access and movement (yes, as of HB 5246). What is missing is scrip - and note the crypto wing of this movement is explicitly interested in that.</a:t>
            </a:r>
          </a:p>
          <a:p>
            <a:endParaRPr dirty="0"/>
          </a:p>
          <a:p>
            <a:r>
              <a:rPr dirty="0"/>
              <a:t>Rep. Trey Martinez Fischer on the beach bill: 'The question is who gets to make the call...? I submit to you it's not the people in the company town.'</a:t>
            </a:r>
          </a:p>
          <a:p>
            <a:endParaRPr dirty="0"/>
          </a:p>
          <a:p>
            <a:r>
              <a:rPr dirty="0"/>
              <a:t>Opposition is led by the CARRIZO/COMECRUDO TRIBE OF TEXAS, the South Texas Environmental Justice Network, and Save RGV. Note who is objecting: an Indigenous nation whose ancestral land this is. That is the Susquehannock slide again, 262 years later. Say it out loud.</a:t>
            </a:r>
          </a:p>
          <a:p>
            <a:endParaRPr dirty="0"/>
          </a:p>
          <a:p>
            <a:r>
              <a:rPr dirty="0"/>
              <a:t>Be fair: Boca Chica Village residents were bought out in 2019 at a reported 3x fair market value, and some took it willingly. Blair Mountain this is not. The argument is about STRUCTURE, not about whether SpaceX has shot anyone.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rPr dirty="0"/>
              <a:t>Explicit handoff to Lecture 4. The emotional arc of today is deliberately unresolved; next week we make it quantitative, which is both the physicist's move and a genuine relief after this material.</a:t>
            </a:r>
          </a:p>
          <a:p>
            <a:endParaRPr dirty="0"/>
          </a:p>
          <a:p>
            <a:r>
              <a:rPr dirty="0"/>
              <a:t>Participation question to close on, if time: 'Blair Mountain is a National Register site that coal subsidiaries of Arch Coal and Massey Energy held mountaintop-removal permits over. It was listed in 2008, removed in 2009 on a clerical technicality, litigated, and restored on 27 June 2018. Who decides what gets remembered?'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Per course policy: Wikipedia is a finding aid here, not the citation of record. Before this goes in front of students as coursework, the .gov items (NPS, coalheritage.wv.gov) should each be paired with an independent source - the Mine Wars Museum and the Smithsonian piece already cover most of it.</a:t>
            </a:r>
          </a:p>
          <a:p>
            <a:endParaRPr/>
          </a:p>
          <a:p>
            <a:r>
              <a:t>AI-USE DISCLOSURE (per course policy):</a:t>
            </a:r>
          </a:p>
          <a:p>
            <a:r>
              <a:t>  Model: Claude (Anthropic), claude-opus-5, session of 15-Sep-2026.</a:t>
            </a:r>
          </a:p>
          <a:p>
            <a:r>
              <a:t>  Task: source gathering, summarization and drafting. All factual claims traced to the sources listed; no text generated without a source.</a:t>
            </a:r>
          </a:p>
          <a:p>
            <a:r>
              <a:t>  Source material: English Wikipedia articles listed above; WV Mine Wars Museum; e-WV; Smithsonian Magazine; Texas Tribune; Scientific American; New Republic.</a:t>
            </a:r>
          </a:p>
          <a:p>
            <a:r>
              <a:t>  Data centers: Anthropic runs on AWS and Google Cloud, primarily US regions (us-east / us-west); exact facility not disclosed by the vendor.</a:t>
            </a:r>
          </a:p>
          <a:p>
            <a:r>
              <a:t>  Compute estimate: to be filled in from this session's token count.</a:t>
            </a:r>
          </a:p>
          <a:p>
            <a:r>
              <a:t>  Human authorship: outline, framing, argument and final assembly by S. Rappoccio.</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36463" y="2404565"/>
            <a:ext cx="9753600" cy="3421585"/>
          </a:xfrm>
        </p:spPr>
        <p:txBody>
          <a:bodyPr anchor="b"/>
          <a:lstStyle>
            <a:lvl1pPr algn="l">
              <a:lnSpc>
                <a:spcPts val="6400"/>
              </a:lnSpc>
              <a:defRPr sz="6400" b="1" i="0" cap="all" baseline="0">
                <a:solidFill>
                  <a:schemeClr val="bg1"/>
                </a:solidFill>
                <a:latin typeface="Arial" panose="020B0604020202020204" pitchFamily="34" charset="0"/>
                <a:cs typeface="Arial" panose="020B0604020202020204" pitchFamily="34" charset="0"/>
              </a:defRPr>
            </a:lvl1pPr>
          </a:lstStyle>
          <a:p>
            <a:r>
              <a:rPr lang="en-US" dirty="0"/>
              <a:t>Presentation </a:t>
            </a:r>
            <a:br>
              <a:rPr lang="en-US" dirty="0"/>
            </a:br>
            <a:r>
              <a:rPr lang="en-US" dirty="0"/>
              <a:t>Title</a:t>
            </a:r>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36463" y="5996536"/>
            <a:ext cx="9753600" cy="2119118"/>
          </a:xfrm>
          <a:prstGeom prst="rect">
            <a:avLst/>
          </a:prstGeom>
        </p:spPr>
        <p:txBody>
          <a:bodyPr/>
          <a:lstStyle>
            <a:lvl1pPr marL="0" indent="0" algn="l">
              <a:buNone/>
              <a:defRPr sz="2987">
                <a:solidFill>
                  <a:schemeClr val="bg1"/>
                </a:solidFill>
                <a:latin typeface="Georgia" panose="02040502050405020303" pitchFamily="18" charset="0"/>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dirty="0"/>
              <a:t>Sub-topic text goes here</a:t>
            </a:r>
          </a:p>
        </p:txBody>
      </p:sp>
      <p:pic>
        <p:nvPicPr>
          <p:cNvPr id="6" name="Picture 5">
            <a:extLst>
              <a:ext uri="{FF2B5EF4-FFF2-40B4-BE49-F238E27FC236}">
                <a16:creationId xmlns:a16="http://schemas.microsoft.com/office/drawing/2014/main" id="{6F392352-7DF4-5EB6-32FA-9FB7E764DB7C}"/>
              </a:ext>
              <a:ext uri="{C183D7F6-B498-43B3-948B-1728B52AA6E4}">
                <adec:decorative xmlns:adec="http://schemas.microsoft.com/office/drawing/2017/decorative" val="1"/>
              </a:ext>
            </a:extLst>
          </p:cNvPr>
          <p:cNvPicPr/>
          <p:nvPr/>
        </p:nvPicPr>
        <p:blipFill>
          <a:blip r:embed="rId3"/>
          <a:stretch>
            <a:fillRect/>
          </a:stretch>
        </p:blipFill>
        <p:spPr>
          <a:xfrm>
            <a:off x="370202" y="8437782"/>
            <a:ext cx="5859012" cy="906193"/>
          </a:xfrm>
          <a:prstGeom prst="rect">
            <a:avLst/>
          </a:prstGeom>
        </p:spPr>
      </p:pic>
    </p:spTree>
    <p:extLst>
      <p:ext uri="{BB962C8B-B14F-4D97-AF65-F5344CB8AC3E}">
        <p14:creationId xmlns:p14="http://schemas.microsoft.com/office/powerpoint/2010/main" val="2211370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E03B264A-5859-DC5E-8BB3-FDCEFB5151C4}"/>
              </a:ext>
              <a:ext uri="{C183D7F6-B498-43B3-948B-1728B52AA6E4}">
                <adec:decorative xmlns:adec="http://schemas.microsoft.com/office/drawing/2017/decorative" val="0"/>
              </a:ext>
            </a:extLst>
          </p:cNvPr>
          <p:cNvSpPr>
            <a:spLocks noGrp="1"/>
          </p:cNvSpPr>
          <p:nvPr>
            <p:ph type="subTitle" idx="1" hasCustomPrompt="1"/>
          </p:nvPr>
        </p:nvSpPr>
        <p:spPr>
          <a:xfrm>
            <a:off x="436463" y="5996536"/>
            <a:ext cx="9753600" cy="2608722"/>
          </a:xfrm>
          <a:prstGeom prst="rect">
            <a:avLst/>
          </a:prstGeom>
        </p:spPr>
        <p:txBody>
          <a:bodyPr/>
          <a:lstStyle>
            <a:lvl1pPr marL="0" indent="0" algn="l">
              <a:buNone/>
              <a:defRPr sz="2987">
                <a:solidFill>
                  <a:schemeClr val="bg1"/>
                </a:solidFill>
                <a:latin typeface="Georgia" panose="02040502050405020303" pitchFamily="18" charset="0"/>
              </a:defRPr>
            </a:lvl1pPr>
            <a:lvl2pPr marL="487695" indent="0" algn="ctr">
              <a:buNone/>
              <a:defRPr sz="2133"/>
            </a:lvl2pPr>
            <a:lvl3pPr marL="975390" indent="0" algn="ctr">
              <a:buNone/>
              <a:defRPr sz="1920"/>
            </a:lvl3pPr>
            <a:lvl4pPr marL="1463086" indent="0" algn="ctr">
              <a:buNone/>
              <a:defRPr sz="1707"/>
            </a:lvl4pPr>
            <a:lvl5pPr marL="1950781" indent="0" algn="ctr">
              <a:buNone/>
              <a:defRPr sz="1707"/>
            </a:lvl5pPr>
            <a:lvl6pPr marL="2438476" indent="0" algn="ctr">
              <a:buNone/>
              <a:defRPr sz="1707"/>
            </a:lvl6pPr>
            <a:lvl7pPr marL="2926171" indent="0" algn="ctr">
              <a:buNone/>
              <a:defRPr sz="1707"/>
            </a:lvl7pPr>
            <a:lvl8pPr marL="3413867" indent="0" algn="ctr">
              <a:buNone/>
              <a:defRPr sz="1707"/>
            </a:lvl8pPr>
            <a:lvl9pPr marL="3901562" indent="0" algn="ctr">
              <a:buNone/>
              <a:defRPr sz="1707"/>
            </a:lvl9pPr>
          </a:lstStyle>
          <a:p>
            <a:r>
              <a:rPr lang="en-US" dirty="0"/>
              <a:t>Sub-topic text goes here</a:t>
            </a:r>
          </a:p>
        </p:txBody>
      </p:sp>
      <p:sp>
        <p:nvSpPr>
          <p:cNvPr id="6" name="Title 1">
            <a:extLst>
              <a:ext uri="{FF2B5EF4-FFF2-40B4-BE49-F238E27FC236}">
                <a16:creationId xmlns:a16="http://schemas.microsoft.com/office/drawing/2014/main" id="{86121344-8E5D-8C90-90D5-425531E533DA}"/>
              </a:ext>
              <a:ext uri="{C183D7F6-B498-43B3-948B-1728B52AA6E4}">
                <adec:decorative xmlns:adec="http://schemas.microsoft.com/office/drawing/2017/decorative" val="0"/>
              </a:ext>
            </a:extLst>
          </p:cNvPr>
          <p:cNvSpPr>
            <a:spLocks noGrp="1"/>
          </p:cNvSpPr>
          <p:nvPr>
            <p:ph type="ctrTitle" hasCustomPrompt="1"/>
          </p:nvPr>
        </p:nvSpPr>
        <p:spPr>
          <a:xfrm>
            <a:off x="436463" y="2404565"/>
            <a:ext cx="9753600" cy="3421585"/>
          </a:xfrm>
        </p:spPr>
        <p:txBody>
          <a:bodyPr anchor="b"/>
          <a:lstStyle>
            <a:lvl1pPr algn="l">
              <a:lnSpc>
                <a:spcPts val="6400"/>
              </a:lnSpc>
              <a:defRPr sz="6400" b="1" i="0" cap="all" baseline="0">
                <a:solidFill>
                  <a:schemeClr val="bg1"/>
                </a:solidFill>
                <a:latin typeface="Arial" panose="020B0604020202020204" pitchFamily="34" charset="0"/>
                <a:cs typeface="Arial" panose="020B0604020202020204" pitchFamily="34" charset="0"/>
              </a:defRPr>
            </a:lvl1pPr>
          </a:lstStyle>
          <a:p>
            <a:r>
              <a:rPr lang="en-US" dirty="0"/>
              <a:t>Divider Slide </a:t>
            </a:r>
            <a:br>
              <a:rPr lang="en-US" dirty="0"/>
            </a:br>
            <a:r>
              <a:rPr lang="en-US" dirty="0"/>
              <a:t>Title</a:t>
            </a:r>
          </a:p>
        </p:txBody>
      </p:sp>
    </p:spTree>
    <p:extLst>
      <p:ext uri="{BB962C8B-B14F-4D97-AF65-F5344CB8AC3E}">
        <p14:creationId xmlns:p14="http://schemas.microsoft.com/office/powerpoint/2010/main" val="2225321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Column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5" name="Content Placeholder 2">
            <a:extLst>
              <a:ext uri="{FF2B5EF4-FFF2-40B4-BE49-F238E27FC236}">
                <a16:creationId xmlns:a16="http://schemas.microsoft.com/office/drawing/2014/main" id="{F693510E-E52A-43D2-D96B-9045F9A06C1D}"/>
              </a:ext>
              <a:ext uri="{C183D7F6-B498-43B3-948B-1728B52AA6E4}">
                <adec:decorative xmlns:adec="http://schemas.microsoft.com/office/drawing/2017/decorative" val="0"/>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97194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Column Bulleted List (No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8994E2-EA49-29ED-92E0-393343750616}"/>
              </a:ext>
              <a:ext uri="{C183D7F6-B498-43B3-948B-1728B52AA6E4}">
                <adec:decorative xmlns:adec="http://schemas.microsoft.com/office/drawing/2017/decorative" val="1"/>
              </a:ext>
            </a:extLst>
          </p:cNvPr>
          <p:cNvSpPr/>
          <p:nvPr/>
        </p:nvSpPr>
        <p:spPr>
          <a:xfrm>
            <a:off x="7261013" y="1950720"/>
            <a:ext cx="5743787" cy="780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840"/>
          </a:p>
        </p:txBody>
      </p:sp>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7" name="Content Placeholder 2">
            <a:extLst>
              <a:ext uri="{FF2B5EF4-FFF2-40B4-BE49-F238E27FC236}">
                <a16:creationId xmlns:a16="http://schemas.microsoft.com/office/drawing/2014/main" id="{E00E64E3-43AA-E108-65B7-E60FA7F2EC87}"/>
              </a:ext>
            </a:extLst>
          </p:cNvPr>
          <p:cNvSpPr>
            <a:spLocks noGrp="1"/>
          </p:cNvSpPr>
          <p:nvPr>
            <p:ph idx="1" hasCustomPrompt="1"/>
          </p:nvPr>
        </p:nvSpPr>
        <p:spPr>
          <a:xfrm>
            <a:off x="420489" y="3487107"/>
            <a:ext cx="11216640"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F00FA020-8573-C593-D6BB-C7397DC3698D}"/>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50721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6688526"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 pretium.</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19169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Column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72111FF-5304-D6B1-8333-440DC4F5129A}"/>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4" name="Text Placeholder 3">
            <a:extLst>
              <a:ext uri="{FF2B5EF4-FFF2-40B4-BE49-F238E27FC236}">
                <a16:creationId xmlns:a16="http://schemas.microsoft.com/office/drawing/2014/main" id="{735A9F8A-F58D-4DBE-FAEF-CB216CFAB2FF}"/>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4528800"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2" name="Text Placeholder 3">
            <a:extLst>
              <a:ext uri="{FF2B5EF4-FFF2-40B4-BE49-F238E27FC236}">
                <a16:creationId xmlns:a16="http://schemas.microsoft.com/office/drawing/2014/main" id="{F29B7451-E98E-FC17-C95F-97570ABD4F77}"/>
              </a:ext>
            </a:extLst>
          </p:cNvPr>
          <p:cNvSpPr>
            <a:spLocks noGrp="1"/>
          </p:cNvSpPr>
          <p:nvPr>
            <p:ph type="body" sz="half" idx="13" hasCustomPrompt="1"/>
          </p:nvPr>
        </p:nvSpPr>
        <p:spPr>
          <a:xfrm>
            <a:off x="5236413" y="3428726"/>
            <a:ext cx="4528800"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et unus sit amet consectetur et pretium a adipiscing elit. Vivamus euismod et leo a vitae condimentum mollis pretium nisl est convallis nisl urna vitae dapibus elit ligula vel urna. Integer mollis elit vel justo bibendum vitae.</a:t>
            </a:r>
          </a:p>
        </p:txBody>
      </p:sp>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464786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Column Bulleted Lis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13FBDA0-6DAD-2BD7-8995-0DD004DCD42A}"/>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8" name="Content Placeholder 2">
            <a:extLst>
              <a:ext uri="{FF2B5EF4-FFF2-40B4-BE49-F238E27FC236}">
                <a16:creationId xmlns:a16="http://schemas.microsoft.com/office/drawing/2014/main" id="{C7D848CF-329C-12E6-A53F-3C3893FC5442}"/>
              </a:ext>
              <a:ext uri="{C183D7F6-B498-43B3-948B-1728B52AA6E4}">
                <adec:decorative xmlns:adec="http://schemas.microsoft.com/office/drawing/2017/decorative" val="0"/>
              </a:ext>
            </a:extLst>
          </p:cNvPr>
          <p:cNvSpPr>
            <a:spLocks noGrp="1"/>
          </p:cNvSpPr>
          <p:nvPr>
            <p:ph idx="1" hasCustomPrompt="1"/>
          </p:nvPr>
        </p:nvSpPr>
        <p:spPr>
          <a:xfrm>
            <a:off x="420489" y="3487108"/>
            <a:ext cx="5364480" cy="5761125"/>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0E746082-11FB-1BAB-9564-CFA32F2BC5F7}"/>
              </a:ext>
              <a:ext uri="{C183D7F6-B498-43B3-948B-1728B52AA6E4}">
                <adec:decorative xmlns:adec="http://schemas.microsoft.com/office/drawing/2017/decorative" val="0"/>
              </a:ext>
            </a:extLst>
          </p:cNvPr>
          <p:cNvSpPr>
            <a:spLocks noGrp="1"/>
          </p:cNvSpPr>
          <p:nvPr>
            <p:ph idx="13" hasCustomPrompt="1"/>
          </p:nvPr>
        </p:nvSpPr>
        <p:spPr>
          <a:xfrm>
            <a:off x="6270172" y="3487107"/>
            <a:ext cx="5366957" cy="5757399"/>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6716837F-65A2-482E-691B-FA0A12696BC6}"/>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664344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86CB4B4D-7CA3-9044-876B-883B54F8677D}" type="slidenum">
              <a:rPr lang="en-US" smtClean="0"/>
              <a:t>‹#›</a:t>
            </a:fld>
            <a:endParaRPr lang="en-US"/>
          </a:p>
        </p:txBody>
      </p:sp>
      <p:sp>
        <p:nvSpPr>
          <p:cNvPr id="4" name="Content Placeholder 2">
            <a:extLst>
              <a:ext uri="{FF2B5EF4-FFF2-40B4-BE49-F238E27FC236}">
                <a16:creationId xmlns:a16="http://schemas.microsoft.com/office/drawing/2014/main" id="{1FE57A07-9930-44A5-B8A4-E2B0497B9772}"/>
              </a:ext>
              <a:ext uri="{C183D7F6-B498-43B3-948B-1728B52AA6E4}">
                <adec:decorative xmlns:adec="http://schemas.microsoft.com/office/drawing/2017/decorative" val="0"/>
              </a:ext>
            </a:extLst>
          </p:cNvPr>
          <p:cNvSpPr>
            <a:spLocks noGrp="1"/>
          </p:cNvSpPr>
          <p:nvPr>
            <p:ph idx="1" hasCustomPrompt="1"/>
          </p:nvPr>
        </p:nvSpPr>
        <p:spPr>
          <a:xfrm>
            <a:off x="420486" y="3493025"/>
            <a:ext cx="11216640"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5" name="Content Placeholder 2">
            <a:extLst>
              <a:ext uri="{FF2B5EF4-FFF2-40B4-BE49-F238E27FC236}">
                <a16:creationId xmlns:a16="http://schemas.microsoft.com/office/drawing/2014/main" id="{A2FF8DBE-F14C-4661-C6FB-66F0BEF55947}"/>
              </a:ext>
              <a:ext uri="{C183D7F6-B498-43B3-948B-1728B52AA6E4}">
                <adec:decorative xmlns:adec="http://schemas.microsoft.com/office/drawing/2017/decorative" val="0"/>
              </a:ext>
            </a:extLst>
          </p:cNvPr>
          <p:cNvSpPr>
            <a:spLocks noGrp="1"/>
          </p:cNvSpPr>
          <p:nvPr>
            <p:ph idx="14" hasCustomPrompt="1"/>
          </p:nvPr>
        </p:nvSpPr>
        <p:spPr>
          <a:xfrm>
            <a:off x="420489" y="4402312"/>
            <a:ext cx="11216640" cy="4528758"/>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635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Column Sub-title Bulleted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6CE-B0F0-D865-9FE6-A7F32345C8D9}"/>
              </a:ext>
              <a:ext uri="{C183D7F6-B498-43B3-948B-1728B52AA6E4}">
                <adec:decorative xmlns:adec="http://schemas.microsoft.com/office/drawing/2017/decorative" val="0"/>
              </a:ext>
            </a:extLst>
          </p:cNvPr>
          <p:cNvSpPr>
            <a:spLocks noGrp="1"/>
          </p:cNvSpPr>
          <p:nvPr>
            <p:ph type="title" hasCustomPrompt="1"/>
          </p:nvPr>
        </p:nvSpPr>
        <p:spPr>
          <a:xfrm>
            <a:off x="420489" y="2038764"/>
            <a:ext cx="11216640" cy="1235456"/>
          </a:xfrm>
        </p:spPr>
        <p:txBody>
          <a:bodyPr/>
          <a:lstStyle/>
          <a:p>
            <a:r>
              <a:rPr lang="en-US" dirty="0"/>
              <a:t>Click to edit title</a:t>
            </a:r>
          </a:p>
        </p:txBody>
      </p:sp>
      <p:sp>
        <p:nvSpPr>
          <p:cNvPr id="6" name="Slide Number Placeholder 5">
            <a:extLst>
              <a:ext uri="{FF2B5EF4-FFF2-40B4-BE49-F238E27FC236}">
                <a16:creationId xmlns:a16="http://schemas.microsoft.com/office/drawing/2014/main" id="{F00FA020-8573-C593-D6BB-C7397DC3698D}"/>
              </a:ext>
            </a:extLst>
          </p:cNvPr>
          <p:cNvSpPr>
            <a:spLocks noGrp="1"/>
          </p:cNvSpPr>
          <p:nvPr>
            <p:ph type="sldNum" sz="quarter" idx="12"/>
          </p:nvPr>
        </p:nvSpPr>
        <p:spPr/>
        <p:txBody>
          <a:bodyPr/>
          <a:lstStyle/>
          <a:p>
            <a:fld id="{86CB4B4D-7CA3-9044-876B-883B54F8677D}" type="slidenum">
              <a:rPr lang="en-US" smtClean="0"/>
              <a:t>‹#›</a:t>
            </a:fld>
            <a:endParaRPr lang="en-US"/>
          </a:p>
        </p:txBody>
      </p:sp>
      <p:sp>
        <p:nvSpPr>
          <p:cNvPr id="12" name="Content Placeholder 2">
            <a:extLst>
              <a:ext uri="{FF2B5EF4-FFF2-40B4-BE49-F238E27FC236}">
                <a16:creationId xmlns:a16="http://schemas.microsoft.com/office/drawing/2014/main" id="{430A87E8-FC38-EF63-519A-A20B6C53B421}"/>
              </a:ext>
              <a:ext uri="{C183D7F6-B498-43B3-948B-1728B52AA6E4}">
                <adec:decorative xmlns:adec="http://schemas.microsoft.com/office/drawing/2017/decorative" val="0"/>
              </a:ext>
            </a:extLst>
          </p:cNvPr>
          <p:cNvSpPr>
            <a:spLocks noGrp="1"/>
          </p:cNvSpPr>
          <p:nvPr>
            <p:ph idx="1" hasCustomPrompt="1"/>
          </p:nvPr>
        </p:nvSpPr>
        <p:spPr>
          <a:xfrm>
            <a:off x="420487" y="3493025"/>
            <a:ext cx="5269111"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13" name="Content Placeholder 2">
            <a:extLst>
              <a:ext uri="{FF2B5EF4-FFF2-40B4-BE49-F238E27FC236}">
                <a16:creationId xmlns:a16="http://schemas.microsoft.com/office/drawing/2014/main" id="{03372A22-8E95-EEF5-A75E-63F3C0F2C29E}"/>
              </a:ext>
              <a:ext uri="{C183D7F6-B498-43B3-948B-1728B52AA6E4}">
                <adec:decorative xmlns:adec="http://schemas.microsoft.com/office/drawing/2017/decorative" val="0"/>
              </a:ext>
            </a:extLst>
          </p:cNvPr>
          <p:cNvSpPr>
            <a:spLocks noGrp="1"/>
          </p:cNvSpPr>
          <p:nvPr>
            <p:ph idx="14" hasCustomPrompt="1"/>
          </p:nvPr>
        </p:nvSpPr>
        <p:spPr>
          <a:xfrm>
            <a:off x="420489" y="4402312"/>
            <a:ext cx="5269111" cy="4528758"/>
          </a:xfrm>
          <a:prstGeom prst="rect">
            <a:avLst/>
          </a:prstGeom>
        </p:spPr>
        <p:txBody>
          <a:bodyPr/>
          <a:lstStyle>
            <a:lvl1pPr>
              <a:lnSpc>
                <a:spcPct val="120000"/>
              </a:lnSpc>
              <a:defRPr/>
            </a:lvl1pPr>
            <a:lvl2pPr>
              <a:spcBef>
                <a:spcPts val="427"/>
              </a:spcBef>
              <a:defRPr/>
            </a:lvl2pPr>
            <a:lvl3pPr>
              <a:spcBef>
                <a:spcPts val="427"/>
              </a:spcBef>
              <a:defRPr/>
            </a:lvl3pPr>
            <a:lvl4pPr>
              <a:spcBef>
                <a:spcPts val="427"/>
              </a:spcBef>
              <a:defRPr/>
            </a:lvl4pPr>
            <a:lvl5pPr>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7856CF4B-B17A-2337-0D52-61EC19AA7002}"/>
              </a:ext>
              <a:ext uri="{C183D7F6-B498-43B3-948B-1728B52AA6E4}">
                <adec:decorative xmlns:adec="http://schemas.microsoft.com/office/drawing/2017/decorative" val="0"/>
              </a:ext>
            </a:extLst>
          </p:cNvPr>
          <p:cNvSpPr>
            <a:spLocks noGrp="1"/>
          </p:cNvSpPr>
          <p:nvPr>
            <p:ph idx="15" hasCustomPrompt="1"/>
          </p:nvPr>
        </p:nvSpPr>
        <p:spPr>
          <a:xfrm>
            <a:off x="6376094" y="3493025"/>
            <a:ext cx="5269111" cy="736691"/>
          </a:xfrm>
          <a:prstGeom prst="rect">
            <a:avLst/>
          </a:prstGeom>
        </p:spPr>
        <p:txBody>
          <a:bodyPr anchor="b" anchorCtr="0"/>
          <a:lstStyle>
            <a:lvl1pPr marL="0" indent="0">
              <a:lnSpc>
                <a:spcPct val="100000"/>
              </a:lnSpc>
              <a:spcBef>
                <a:spcPts val="0"/>
              </a:spcBef>
              <a:buFontTx/>
              <a:buNone/>
              <a:defRPr sz="1707" b="1" cap="all" baseline="0">
                <a:solidFill>
                  <a:schemeClr val="tx2"/>
                </a:solidFill>
              </a:defRPr>
            </a:lvl1pPr>
            <a:lvl2pPr>
              <a:buFont typeface="Arial" panose="020B0604020202020204" pitchFamily="34" charset="0"/>
              <a:buChar char="•"/>
              <a:defRPr/>
            </a:lvl2pPr>
            <a:lvl3pPr>
              <a:spcBef>
                <a:spcPts val="427"/>
              </a:spcBef>
              <a:buFont typeface="System Font Regular"/>
              <a:buChar char="−"/>
              <a:defRPr sz="1920"/>
            </a:lvl3pPr>
          </a:lstStyle>
          <a:p>
            <a:pPr lvl="0"/>
            <a:r>
              <a:rPr lang="en-US" dirty="0"/>
              <a:t>Click here to edit Sub-title</a:t>
            </a:r>
          </a:p>
        </p:txBody>
      </p:sp>
      <p:sp>
        <p:nvSpPr>
          <p:cNvPr id="15" name="Content Placeholder 2">
            <a:extLst>
              <a:ext uri="{FF2B5EF4-FFF2-40B4-BE49-F238E27FC236}">
                <a16:creationId xmlns:a16="http://schemas.microsoft.com/office/drawing/2014/main" id="{23825F99-D766-A623-5D1B-AE0CC6933E0B}"/>
              </a:ext>
              <a:ext uri="{C183D7F6-B498-43B3-948B-1728B52AA6E4}">
                <adec:decorative xmlns:adec="http://schemas.microsoft.com/office/drawing/2017/decorative" val="0"/>
              </a:ext>
            </a:extLst>
          </p:cNvPr>
          <p:cNvSpPr>
            <a:spLocks noGrp="1"/>
          </p:cNvSpPr>
          <p:nvPr>
            <p:ph idx="16" hasCustomPrompt="1"/>
          </p:nvPr>
        </p:nvSpPr>
        <p:spPr>
          <a:xfrm>
            <a:off x="6376096" y="4402312"/>
            <a:ext cx="5269111" cy="4528758"/>
          </a:xfrm>
          <a:prstGeom prst="rect">
            <a:avLst/>
          </a:prstGeom>
        </p:spPr>
        <p:txBody>
          <a:bodyPr/>
          <a:lstStyle>
            <a:lvl1pPr>
              <a:lnSpc>
                <a:spcPct val="120000"/>
              </a:lnSpc>
              <a:defRPr/>
            </a:lvl1pPr>
            <a:lvl2pPr>
              <a:lnSpc>
                <a:spcPct val="120000"/>
              </a:lnSpc>
              <a:spcBef>
                <a:spcPts val="427"/>
              </a:spcBef>
              <a:defRPr/>
            </a:lvl2pPr>
            <a:lvl3pPr>
              <a:lnSpc>
                <a:spcPct val="120000"/>
              </a:lnSpc>
              <a:spcBef>
                <a:spcPts val="427"/>
              </a:spcBef>
              <a:defRPr/>
            </a:lvl3pPr>
            <a:lvl4pPr>
              <a:lnSpc>
                <a:spcPct val="120000"/>
              </a:lnSpc>
              <a:spcBef>
                <a:spcPts val="427"/>
              </a:spcBef>
              <a:defRPr/>
            </a:lvl4pPr>
            <a:lvl5pPr>
              <a:lnSpc>
                <a:spcPct val="120000"/>
              </a:lnSpc>
              <a:spcBef>
                <a:spcPts val="427"/>
              </a:spcBef>
              <a:defRPr/>
            </a:lvl5pPr>
          </a:lstStyle>
          <a:p>
            <a:pPr lvl="0"/>
            <a:r>
              <a:rPr lang="en-US" dirty="0"/>
              <a:t>Click here to edit text</a:t>
            </a:r>
          </a:p>
          <a:p>
            <a:pPr lvl="0"/>
            <a:r>
              <a:rPr lang="en-US" dirty="0"/>
              <a:t>Click here to edit text</a:t>
            </a:r>
          </a:p>
          <a:p>
            <a:pPr lvl="1"/>
            <a:r>
              <a:rPr lang="en-US" dirty="0"/>
              <a:t>Second level</a:t>
            </a:r>
          </a:p>
          <a:p>
            <a:pPr lvl="1"/>
            <a:r>
              <a:rPr lang="en-US" dirty="0"/>
              <a:t>Second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0876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Column Text + Char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 uri="{C183D7F6-B498-43B3-948B-1728B52AA6E4}">
                <adec:decorative xmlns:adec="http://schemas.microsoft.com/office/drawing/2017/decorative" val="0"/>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 uri="{C183D7F6-B498-43B3-948B-1728B52AA6E4}">
                <adec:decorative xmlns:adec="http://schemas.microsoft.com/office/drawing/2017/decorative" val="0"/>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4" name="Chart Placeholder 3">
            <a:extLst>
              <a:ext uri="{FF2B5EF4-FFF2-40B4-BE49-F238E27FC236}">
                <a16:creationId xmlns:a16="http://schemas.microsoft.com/office/drawing/2014/main" id="{09B8DD2A-7177-2E52-DD5A-3EAE044C5349}"/>
              </a:ext>
              <a:ext uri="{C183D7F6-B498-43B3-948B-1728B52AA6E4}">
                <adec:decorative xmlns:adec="http://schemas.microsoft.com/office/drawing/2017/decorative" val="0"/>
              </a:ext>
            </a:extLst>
          </p:cNvPr>
          <p:cNvSpPr>
            <a:spLocks noGrp="1"/>
          </p:cNvSpPr>
          <p:nvPr>
            <p:ph type="chart" sz="quarter" idx="10"/>
          </p:nvPr>
        </p:nvSpPr>
        <p:spPr>
          <a:xfrm>
            <a:off x="6223726" y="2038765"/>
            <a:ext cx="6360586" cy="6144627"/>
          </a:xfrm>
          <a:prstGeom prst="rect">
            <a:avLst/>
          </a:prstGeom>
        </p:spPr>
        <p:txBody>
          <a:bodyPr/>
          <a:lstStyle/>
          <a:p>
            <a:r>
              <a:rPr lang="en-US"/>
              <a:t>Click icon to add chart</a:t>
            </a:r>
          </a:p>
        </p:txBody>
      </p:sp>
      <p:sp>
        <p:nvSpPr>
          <p:cNvPr id="2" name="Slide Number Placeholder 6">
            <a:extLst>
              <a:ext uri="{FF2B5EF4-FFF2-40B4-BE49-F238E27FC236}">
                <a16:creationId xmlns:a16="http://schemas.microsoft.com/office/drawing/2014/main" id="{24D129EA-B4FE-13E2-9E6F-CFD7407BEA74}"/>
              </a:ext>
              <a:ext uri="{C183D7F6-B498-43B3-948B-1728B52AA6E4}">
                <adec:decorative xmlns:adec="http://schemas.microsoft.com/office/drawing/2017/decorative" val="0"/>
              </a:ext>
            </a:extLst>
          </p:cNvPr>
          <p:cNvSpPr>
            <a:spLocks noGrp="1"/>
          </p:cNvSpPr>
          <p:nvPr>
            <p:ph type="sldNum" sz="quarter" idx="12"/>
          </p:nvPr>
        </p:nvSpPr>
        <p:spPr>
          <a:xfrm>
            <a:off x="11848086" y="8826366"/>
            <a:ext cx="739046"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99526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145E6A-5CC6-3D59-03B2-79BA22BAC1E2}"/>
              </a:ext>
              <a:ext uri="{C183D7F6-B498-43B3-948B-1728B52AA6E4}">
                <adec:decorative xmlns:adec="http://schemas.microsoft.com/office/drawing/2017/decorative" val="0"/>
              </a:ext>
            </a:extLst>
          </p:cNvPr>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392793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No Backgroun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3871AB5E-101C-7C13-4D65-215EA69060E6}"/>
              </a:ext>
              <a:ext uri="{C183D7F6-B498-43B3-948B-1728B52AA6E4}">
                <adec:decorative xmlns:adec="http://schemas.microsoft.com/office/drawing/2017/decorative" val="0"/>
              </a:ext>
            </a:extLst>
          </p:cNvPr>
          <p:cNvSpPr>
            <a:spLocks noGrp="1"/>
          </p:cNvSpPr>
          <p:nvPr>
            <p:ph type="sldNum" sz="quarter" idx="12"/>
          </p:nvPr>
        </p:nvSpPr>
        <p:spPr>
          <a:xfrm>
            <a:off x="11848086" y="8826366"/>
            <a:ext cx="739046"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55818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Column Text + Phot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 uri="{C183D7F6-B498-43B3-948B-1728B52AA6E4}">
                <adec:decorative xmlns:adec="http://schemas.microsoft.com/office/drawing/2017/decorative" val="0"/>
              </a:ext>
            </a:extLst>
          </p:cNvPr>
          <p:cNvSpPr>
            <a:spLocks noGrp="1"/>
          </p:cNvSpPr>
          <p:nvPr>
            <p:ph type="pic" idx="1" hasCustomPrompt="1"/>
          </p:nvPr>
        </p:nvSpPr>
        <p:spPr>
          <a:xfrm>
            <a:off x="6419426" y="1672046"/>
            <a:ext cx="6583680" cy="8081554"/>
          </a:xfrm>
          <a:prstGeom prst="rect">
            <a:avLst/>
          </a:prstGeom>
          <a:solidFill>
            <a:schemeClr val="accent5"/>
          </a:solidFill>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235938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Column Text + 3 Photo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A70E803-0CD4-37E6-6B4A-D7207B5FF5B4}"/>
              </a:ext>
            </a:extLst>
          </p:cNvPr>
          <p:cNvSpPr>
            <a:spLocks noGrp="1"/>
          </p:cNvSpPr>
          <p:nvPr>
            <p:ph type="title" hasCustomPrompt="1"/>
          </p:nvPr>
        </p:nvSpPr>
        <p:spPr>
          <a:xfrm>
            <a:off x="420489" y="2038764"/>
            <a:ext cx="5536174" cy="1235456"/>
          </a:xfrm>
        </p:spPr>
        <p:txBody>
          <a:bodyPr/>
          <a:lstStyle/>
          <a:p>
            <a:r>
              <a:rPr lang="en-US" dirty="0"/>
              <a:t>Click to edit title</a:t>
            </a:r>
          </a:p>
        </p:txBody>
      </p:sp>
      <p:sp>
        <p:nvSpPr>
          <p:cNvPr id="6" name="Text Placeholder 3">
            <a:extLst>
              <a:ext uri="{FF2B5EF4-FFF2-40B4-BE49-F238E27FC236}">
                <a16:creationId xmlns:a16="http://schemas.microsoft.com/office/drawing/2014/main" id="{79FC7291-FE51-B6E9-4282-93216FB48CDA}"/>
              </a:ext>
            </a:extLst>
          </p:cNvPr>
          <p:cNvSpPr>
            <a:spLocks noGrp="1"/>
          </p:cNvSpPr>
          <p:nvPr>
            <p:ph type="body" sz="half" idx="2" hasCustomPrompt="1"/>
          </p:nvPr>
        </p:nvSpPr>
        <p:spPr>
          <a:xfrm>
            <a:off x="417669" y="3428726"/>
            <a:ext cx="5538994" cy="5420925"/>
          </a:xfrm>
          <a:prstGeom prst="rect">
            <a:avLst/>
          </a:prstGeom>
        </p:spPr>
        <p:txBody>
          <a:bodyPr/>
          <a:lstStyle>
            <a:lvl1pPr marL="0" indent="0">
              <a:lnSpc>
                <a:spcPct val="120000"/>
              </a:lnSpc>
              <a:buNone/>
              <a:defRPr sz="2133"/>
            </a:lvl1pPr>
            <a:lvl2pPr marL="487695" indent="0">
              <a:buNone/>
              <a:defRPr sz="1493"/>
            </a:lvl2pPr>
            <a:lvl3pPr marL="975390" indent="0">
              <a:buNone/>
              <a:defRPr sz="1280"/>
            </a:lvl3pPr>
            <a:lvl4pPr marL="1463086" indent="0">
              <a:buNone/>
              <a:defRPr sz="1067"/>
            </a:lvl4pPr>
            <a:lvl5pPr marL="1950781" indent="0">
              <a:buNone/>
              <a:defRPr sz="1067"/>
            </a:lvl5pPr>
            <a:lvl6pPr marL="2438476" indent="0">
              <a:buNone/>
              <a:defRPr sz="1067"/>
            </a:lvl6pPr>
            <a:lvl7pPr marL="2926171" indent="0">
              <a:buNone/>
              <a:defRPr sz="1067"/>
            </a:lvl7pPr>
            <a:lvl8pPr marL="3413867" indent="0">
              <a:buNone/>
              <a:defRPr sz="1067"/>
            </a:lvl8pPr>
            <a:lvl9pPr marL="3901562" indent="0">
              <a:buNone/>
              <a:defRPr sz="1067"/>
            </a:lvl9pPr>
          </a:lstStyle>
          <a:p>
            <a:pPr lvl="0"/>
            <a:r>
              <a:rPr lang="en-US" dirty="0"/>
              <a:t>Lorem ipsum dolor sit amet consectetur et adipiscing elit. Vivamus euismod et leo a condimentum pretium nisl est convallis nisl, vitae dapibus elit ligula vel urna. Integer mollis elit vel justo bibendum vitae et efficitur arcu bibendum. consectetur adipiscing elit. Vivamus euismod leo a condimentum.</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6414182" y="1672046"/>
            <a:ext cx="6586693" cy="4040777"/>
          </a:xfrm>
          <a:prstGeom prst="rect">
            <a:avLst/>
          </a:prstGeom>
          <a:solidFill>
            <a:schemeClr val="accent5"/>
          </a:solidFill>
          <a:ln>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
        <p:nvSpPr>
          <p:cNvPr id="4" name="Picture Placeholder 2">
            <a:extLst>
              <a:ext uri="{FF2B5EF4-FFF2-40B4-BE49-F238E27FC236}">
                <a16:creationId xmlns:a16="http://schemas.microsoft.com/office/drawing/2014/main" id="{1855A2D2-CB1F-E260-6EEA-7E2D6D512F1B}"/>
              </a:ext>
            </a:extLst>
          </p:cNvPr>
          <p:cNvSpPr>
            <a:spLocks noGrp="1"/>
          </p:cNvSpPr>
          <p:nvPr>
            <p:ph type="pic" idx="11" hasCustomPrompt="1"/>
          </p:nvPr>
        </p:nvSpPr>
        <p:spPr>
          <a:xfrm>
            <a:off x="6414181" y="5712822"/>
            <a:ext cx="3296717" cy="4044493"/>
          </a:xfrm>
          <a:prstGeom prst="rect">
            <a:avLst/>
          </a:prstGeom>
          <a:solidFill>
            <a:schemeClr val="accent5"/>
          </a:solidFill>
          <a:ln w="9525">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
        <p:nvSpPr>
          <p:cNvPr id="2" name="Picture Placeholder 2">
            <a:extLst>
              <a:ext uri="{FF2B5EF4-FFF2-40B4-BE49-F238E27FC236}">
                <a16:creationId xmlns:a16="http://schemas.microsoft.com/office/drawing/2014/main" id="{E9823783-F8CE-C00A-E2E8-141FB0CBA29A}"/>
              </a:ext>
            </a:extLst>
          </p:cNvPr>
          <p:cNvSpPr>
            <a:spLocks noGrp="1"/>
          </p:cNvSpPr>
          <p:nvPr>
            <p:ph type="pic" idx="10" hasCustomPrompt="1"/>
          </p:nvPr>
        </p:nvSpPr>
        <p:spPr>
          <a:xfrm>
            <a:off x="9704158" y="5712824"/>
            <a:ext cx="3296717" cy="4040777"/>
          </a:xfrm>
          <a:prstGeom prst="rect">
            <a:avLst/>
          </a:prstGeom>
          <a:solidFill>
            <a:schemeClr val="accent5"/>
          </a:solidFill>
          <a:ln>
            <a:solidFill>
              <a:schemeClr val="bg1"/>
            </a:solidFill>
          </a:ln>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7046747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Full-Wid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0CA1-FF95-DB59-A307-6E7802C571C9}"/>
              </a:ext>
            </a:extLst>
          </p:cNvPr>
          <p:cNvSpPr>
            <a:spLocks noGrp="1"/>
          </p:cNvSpPr>
          <p:nvPr>
            <p:ph type="title" hasCustomPrompt="1"/>
          </p:nvPr>
        </p:nvSpPr>
        <p:spPr>
          <a:xfrm>
            <a:off x="420489" y="2139913"/>
            <a:ext cx="5536174" cy="1235456"/>
          </a:xfrm>
        </p:spPr>
        <p:txBody>
          <a:bodyPr/>
          <a:lstStyle/>
          <a:p>
            <a:r>
              <a:rPr lang="en-US" dirty="0"/>
              <a:t>Click to edit title</a:t>
            </a:r>
          </a:p>
        </p:txBody>
      </p:sp>
      <p:sp>
        <p:nvSpPr>
          <p:cNvPr id="3" name="Picture Placeholder 2">
            <a:extLst>
              <a:ext uri="{FF2B5EF4-FFF2-40B4-BE49-F238E27FC236}">
                <a16:creationId xmlns:a16="http://schemas.microsoft.com/office/drawing/2014/main" id="{0E4453FC-9ACD-2BD9-D95C-9641E9530AEF}"/>
              </a:ext>
            </a:extLst>
          </p:cNvPr>
          <p:cNvSpPr>
            <a:spLocks noGrp="1"/>
          </p:cNvSpPr>
          <p:nvPr>
            <p:ph type="pic" idx="1" hasCustomPrompt="1"/>
          </p:nvPr>
        </p:nvSpPr>
        <p:spPr>
          <a:xfrm>
            <a:off x="0" y="1"/>
            <a:ext cx="13004800" cy="9753600"/>
          </a:xfrm>
          <a:prstGeom prst="rect">
            <a:avLst/>
          </a:prstGeom>
          <a:solidFill>
            <a:schemeClr val="accent5"/>
          </a:solidFill>
        </p:spPr>
        <p:txBody>
          <a:bodyPr/>
          <a:lstStyle>
            <a:lvl1pPr marL="0" marR="0" indent="0" algn="ctr"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sz="1493"/>
            </a:lvl1pPr>
            <a:lvl2pPr marL="487695" indent="0">
              <a:buNone/>
              <a:defRPr sz="2987"/>
            </a:lvl2pPr>
            <a:lvl3pPr marL="975390" indent="0">
              <a:buNone/>
              <a:defRPr sz="2560"/>
            </a:lvl3pPr>
            <a:lvl4pPr marL="1463086" indent="0">
              <a:buNone/>
              <a:defRPr sz="2133"/>
            </a:lvl4pPr>
            <a:lvl5pPr marL="1950781" indent="0">
              <a:buNone/>
              <a:defRPr sz="2133"/>
            </a:lvl5pPr>
            <a:lvl6pPr marL="2438476" indent="0">
              <a:buNone/>
              <a:defRPr sz="2133"/>
            </a:lvl6pPr>
            <a:lvl7pPr marL="2926171" indent="0">
              <a:buNone/>
              <a:defRPr sz="2133"/>
            </a:lvl7pPr>
            <a:lvl8pPr marL="3413867" indent="0">
              <a:buNone/>
              <a:defRPr sz="2133"/>
            </a:lvl8pPr>
            <a:lvl9pPr marL="3901562" indent="0">
              <a:buNone/>
              <a:defRPr sz="2133"/>
            </a:lvl9pPr>
          </a:lstStyle>
          <a:p>
            <a:pPr marL="0" marR="0" lvl="0" indent="0" algn="l" defTabSz="975390" rtl="0" eaLnBrk="1" fontAlgn="auto" latinLnBrk="0" hangingPunct="1">
              <a:lnSpc>
                <a:spcPts val="2773"/>
              </a:lnSpc>
              <a:spcBef>
                <a:spcPts val="853"/>
              </a:spcBef>
              <a:spcAft>
                <a:spcPts val="0"/>
              </a:spcAft>
              <a:buClr>
                <a:schemeClr val="tx2"/>
              </a:buClr>
              <a:buSzTx/>
              <a:buFont typeface="Arial" panose="020B0604020202020204" pitchFamily="34" charset="0"/>
              <a:buNone/>
              <a:tabLst/>
              <a:defRPr/>
            </a:pPr>
            <a:r>
              <a:rPr lang="en-US" dirty="0"/>
              <a:t>                  </a:t>
            </a:r>
          </a:p>
        </p:txBody>
      </p:sp>
    </p:spTree>
    <p:extLst>
      <p:ext uri="{BB962C8B-B14F-4D97-AF65-F5344CB8AC3E}">
        <p14:creationId xmlns:p14="http://schemas.microsoft.com/office/powerpoint/2010/main" val="2954846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A19231-8A35-C0C4-A52C-FD510095F937}"/>
              </a:ext>
            </a:extLst>
          </p:cNvPr>
          <p:cNvSpPr>
            <a:spLocks noGrp="1"/>
          </p:cNvSpPr>
          <p:nvPr>
            <p:ph type="title"/>
          </p:nvPr>
        </p:nvSpPr>
        <p:spPr>
          <a:xfrm>
            <a:off x="420489" y="2139913"/>
            <a:ext cx="11216640" cy="1235456"/>
          </a:xfrm>
          <a:prstGeom prst="rect">
            <a:avLst/>
          </a:prstGeom>
        </p:spPr>
        <p:txBody>
          <a:bodyPr vert="horz" lIns="91440" tIns="45720" rIns="91440" bIns="45720" rtlCol="0" anchor="ctr" anchorCtr="0">
            <a:noAutofit/>
          </a:bodyPr>
          <a:lstStyle/>
          <a:p>
            <a:r>
              <a:rPr lang="en-US" dirty="0"/>
              <a:t>Click to edit title</a:t>
            </a:r>
          </a:p>
        </p:txBody>
      </p:sp>
      <p:sp>
        <p:nvSpPr>
          <p:cNvPr id="3" name="Text Placeholder 2">
            <a:extLst>
              <a:ext uri="{FF2B5EF4-FFF2-40B4-BE49-F238E27FC236}">
                <a16:creationId xmlns:a16="http://schemas.microsoft.com/office/drawing/2014/main" id="{AE6E5F18-0F44-D0C4-865B-4F1686C20A3A}"/>
              </a:ext>
            </a:extLst>
          </p:cNvPr>
          <p:cNvSpPr>
            <a:spLocks noGrp="1"/>
          </p:cNvSpPr>
          <p:nvPr>
            <p:ph type="body" idx="1"/>
          </p:nvPr>
        </p:nvSpPr>
        <p:spPr>
          <a:xfrm>
            <a:off x="420489" y="3588256"/>
            <a:ext cx="11216640" cy="5757399"/>
          </a:xfrm>
          <a:prstGeom prst="rect">
            <a:avLst/>
          </a:prstGeom>
        </p:spPr>
        <p:txBody>
          <a:bodyPr vert="horz" lIns="91440" tIns="45720" rIns="91440" bIns="45720" rtlCol="0">
            <a:noAutofit/>
          </a:bodyPr>
          <a:lstStyle/>
          <a:p>
            <a:pPr lvl="0"/>
            <a:r>
              <a:rPr lang="en-US" dirty="0"/>
              <a:t>Click here to edit text</a:t>
            </a:r>
          </a:p>
          <a:p>
            <a:pPr lvl="0"/>
            <a:r>
              <a:rPr lang="en-US" dirty="0"/>
              <a:t>Click here to edit text</a:t>
            </a:r>
          </a:p>
          <a:p>
            <a:pPr lvl="1"/>
            <a:r>
              <a:rPr lang="en-US" dirty="0"/>
              <a:t>Second text level</a:t>
            </a:r>
          </a:p>
          <a:p>
            <a:pPr lvl="1"/>
            <a:r>
              <a:rPr lang="en-US" dirty="0"/>
              <a:t>Second text level</a:t>
            </a:r>
          </a:p>
          <a:p>
            <a:pPr lvl="2"/>
            <a:r>
              <a:rPr lang="en-US" dirty="0"/>
              <a:t>Third text level</a:t>
            </a:r>
          </a:p>
          <a:p>
            <a:pPr lvl="2"/>
            <a:r>
              <a:rPr lang="en-US" dirty="0"/>
              <a:t>Third text level</a:t>
            </a:r>
          </a:p>
          <a:p>
            <a:pPr lvl="3"/>
            <a:r>
              <a:rPr lang="en-US" dirty="0"/>
              <a:t>Fourth text level</a:t>
            </a:r>
          </a:p>
          <a:p>
            <a:pPr lvl="4"/>
            <a:r>
              <a:rPr lang="en-US" dirty="0"/>
              <a:t>Fifth text level</a:t>
            </a:r>
          </a:p>
        </p:txBody>
      </p:sp>
      <p:sp>
        <p:nvSpPr>
          <p:cNvPr id="6" name="Slide Number Placeholder 5">
            <a:extLst>
              <a:ext uri="{FF2B5EF4-FFF2-40B4-BE49-F238E27FC236}">
                <a16:creationId xmlns:a16="http://schemas.microsoft.com/office/drawing/2014/main" id="{37C7C836-75E5-4C64-D3C5-1D1833BAD801}"/>
              </a:ext>
              <a:ext uri="{C183D7F6-B498-43B3-948B-1728B52AA6E4}">
                <adec:decorative xmlns:adec="http://schemas.microsoft.com/office/drawing/2017/decorative" val="0"/>
              </a:ext>
            </a:extLst>
          </p:cNvPr>
          <p:cNvSpPr>
            <a:spLocks noGrp="1"/>
          </p:cNvSpPr>
          <p:nvPr>
            <p:ph type="sldNum" sz="quarter" idx="4"/>
          </p:nvPr>
        </p:nvSpPr>
        <p:spPr>
          <a:xfrm>
            <a:off x="11848086" y="8826366"/>
            <a:ext cx="739046" cy="519289"/>
          </a:xfrm>
          <a:prstGeom prst="rect">
            <a:avLst/>
          </a:prstGeom>
        </p:spPr>
        <p:txBody>
          <a:bodyPr vert="horz" lIns="91440" tIns="45720" rIns="91440" bIns="45720" rtlCol="0" anchor="ctr"/>
          <a:lstStyle>
            <a:lvl1pPr algn="r">
              <a:defRPr sz="1280" b="1">
                <a:solidFill>
                  <a:schemeClr val="tx1"/>
                </a:solidFill>
                <a:latin typeface="Arial" panose="020B0604020202020204" pitchFamily="34" charset="0"/>
                <a:cs typeface="Arial" panose="020B0604020202020204" pitchFamily="34" charset="0"/>
              </a:defRPr>
            </a:lvl1pPr>
          </a:lstStyle>
          <a:p>
            <a:fld id="{86CB4B4D-7CA3-9044-876B-883B54F8677D}" type="slidenum">
              <a:rPr lang="en-US" smtClean="0"/>
              <a:t>‹#›</a:t>
            </a:fld>
            <a:endParaRPr lang="en-US"/>
          </a:p>
        </p:txBody>
      </p:sp>
      <p:pic>
        <p:nvPicPr>
          <p:cNvPr id="4" name="Picture 3">
            <a:extLst>
              <a:ext uri="{FF2B5EF4-FFF2-40B4-BE49-F238E27FC236}">
                <a16:creationId xmlns:a16="http://schemas.microsoft.com/office/drawing/2014/main" id="{253DEE38-7B4E-C8A4-CC0C-614E4A2B60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18"/>
          <a:stretch>
            <a:fillRect/>
          </a:stretch>
        </p:blipFill>
        <p:spPr>
          <a:xfrm>
            <a:off x="234579" y="329238"/>
            <a:ext cx="5859012" cy="906193"/>
          </a:xfrm>
          <a:prstGeom prst="rect">
            <a:avLst/>
          </a:prstGeom>
        </p:spPr>
      </p:pic>
    </p:spTree>
    <p:extLst>
      <p:ext uri="{BB962C8B-B14F-4D97-AF65-F5344CB8AC3E}">
        <p14:creationId xmlns:p14="http://schemas.microsoft.com/office/powerpoint/2010/main" val="1445263217"/>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txStyles>
    <p:titleStyle>
      <a:lvl1pPr algn="l" defTabSz="975390" rtl="0" eaLnBrk="1" latinLnBrk="0" hangingPunct="1">
        <a:lnSpc>
          <a:spcPct val="90000"/>
        </a:lnSpc>
        <a:spcBef>
          <a:spcPct val="0"/>
        </a:spcBef>
        <a:buNone/>
        <a:defRPr sz="3840" b="0" i="0" kern="1200">
          <a:solidFill>
            <a:schemeClr val="tx2"/>
          </a:solidFill>
          <a:latin typeface="Georgia" panose="02040502050405020303" pitchFamily="18" charset="0"/>
          <a:ea typeface="+mj-ea"/>
          <a:cs typeface="Arial" panose="020B0604020202020204" pitchFamily="34" charset="0"/>
        </a:defRPr>
      </a:lvl1pPr>
    </p:titleStyle>
    <p:bodyStyle>
      <a:lvl1pPr marL="243848" indent="-243848" algn="l" defTabSz="975390" rtl="0" eaLnBrk="1" latinLnBrk="0" hangingPunct="1">
        <a:lnSpc>
          <a:spcPct val="120000"/>
        </a:lnSpc>
        <a:spcBef>
          <a:spcPts val="1067"/>
        </a:spcBef>
        <a:buClr>
          <a:schemeClr val="tx2"/>
        </a:buClr>
        <a:buFont typeface="Arial" panose="020B0604020202020204" pitchFamily="34" charset="0"/>
        <a:buChar char="•"/>
        <a:defRPr sz="2133" kern="1200">
          <a:solidFill>
            <a:schemeClr val="tx1"/>
          </a:solidFill>
          <a:latin typeface="Arial" panose="020B0604020202020204" pitchFamily="34" charset="0"/>
          <a:ea typeface="+mn-ea"/>
          <a:cs typeface="Arial" panose="020B0604020202020204" pitchFamily="34" charset="0"/>
        </a:defRPr>
      </a:lvl1pPr>
      <a:lvl2pPr marL="731543" indent="-243848" algn="l" defTabSz="975390" rtl="0" eaLnBrk="1" latinLnBrk="0" hangingPunct="1">
        <a:lnSpc>
          <a:spcPct val="120000"/>
        </a:lnSpc>
        <a:spcBef>
          <a:spcPts val="1067"/>
        </a:spcBef>
        <a:buClr>
          <a:schemeClr val="tx2"/>
        </a:buClr>
        <a:buFont typeface="System Font Regular"/>
        <a:buChar char="−"/>
        <a:defRPr sz="2133" kern="1200">
          <a:solidFill>
            <a:schemeClr val="tx1"/>
          </a:solidFill>
          <a:latin typeface="Arial" panose="020B0604020202020204" pitchFamily="34" charset="0"/>
          <a:ea typeface="+mn-ea"/>
          <a:cs typeface="Arial" panose="020B0604020202020204" pitchFamily="34" charset="0"/>
        </a:defRPr>
      </a:lvl2pPr>
      <a:lvl3pPr marL="1219238"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3pPr>
      <a:lvl4pPr marL="1706933"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4pPr>
      <a:lvl5pPr marL="2194629" indent="-243848" algn="l" defTabSz="975390" rtl="0" eaLnBrk="1" latinLnBrk="0" hangingPunct="1">
        <a:lnSpc>
          <a:spcPct val="120000"/>
        </a:lnSpc>
        <a:spcBef>
          <a:spcPts val="1067"/>
        </a:spcBef>
        <a:buClr>
          <a:schemeClr val="tx2"/>
        </a:buClr>
        <a:buFont typeface="Arial" panose="020B0604020202020204" pitchFamily="34" charset="0"/>
        <a:buChar char="•"/>
        <a:defRPr sz="1920" kern="1200">
          <a:solidFill>
            <a:schemeClr val="tx1"/>
          </a:solidFill>
          <a:latin typeface="Arial" panose="020B0604020202020204" pitchFamily="34" charset="0"/>
          <a:ea typeface="+mn-ea"/>
          <a:cs typeface="Arial" panose="020B0604020202020204" pitchFamily="34" charset="0"/>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p:bodyStyle>
    <p:otherStyle>
      <a:defPPr>
        <a:defRPr lang="en-US"/>
      </a:defPPr>
      <a:lvl1pPr marL="0" algn="l" defTabSz="975390" rtl="0" eaLnBrk="1" latinLnBrk="0" hangingPunct="1">
        <a:defRPr sz="1920" kern="1200">
          <a:solidFill>
            <a:schemeClr val="tx1"/>
          </a:solidFill>
          <a:latin typeface="+mn-lt"/>
          <a:ea typeface="+mn-ea"/>
          <a:cs typeface="+mn-cs"/>
        </a:defRPr>
      </a:lvl1pPr>
      <a:lvl2pPr marL="487695" algn="l" defTabSz="975390" rtl="0" eaLnBrk="1" latinLnBrk="0" hangingPunct="1">
        <a:defRPr sz="1920" kern="1200">
          <a:solidFill>
            <a:schemeClr val="tx1"/>
          </a:solidFill>
          <a:latin typeface="+mn-lt"/>
          <a:ea typeface="+mn-ea"/>
          <a:cs typeface="+mn-cs"/>
        </a:defRPr>
      </a:lvl2pPr>
      <a:lvl3pPr marL="975390" algn="l" defTabSz="975390" rtl="0" eaLnBrk="1" latinLnBrk="0" hangingPunct="1">
        <a:defRPr sz="1920" kern="1200">
          <a:solidFill>
            <a:schemeClr val="tx1"/>
          </a:solidFill>
          <a:latin typeface="+mn-lt"/>
          <a:ea typeface="+mn-ea"/>
          <a:cs typeface="+mn-cs"/>
        </a:defRPr>
      </a:lvl3pPr>
      <a:lvl4pPr marL="1463086" algn="l" defTabSz="975390" rtl="0" eaLnBrk="1" latinLnBrk="0" hangingPunct="1">
        <a:defRPr sz="1920" kern="1200">
          <a:solidFill>
            <a:schemeClr val="tx1"/>
          </a:solidFill>
          <a:latin typeface="+mn-lt"/>
          <a:ea typeface="+mn-ea"/>
          <a:cs typeface="+mn-cs"/>
        </a:defRPr>
      </a:lvl4pPr>
      <a:lvl5pPr marL="1950781" algn="l" defTabSz="975390" rtl="0" eaLnBrk="1" latinLnBrk="0" hangingPunct="1">
        <a:defRPr sz="1920" kern="1200">
          <a:solidFill>
            <a:schemeClr val="tx1"/>
          </a:solidFill>
          <a:latin typeface="+mn-lt"/>
          <a:ea typeface="+mn-ea"/>
          <a:cs typeface="+mn-cs"/>
        </a:defRPr>
      </a:lvl5pPr>
      <a:lvl6pPr marL="2438476" algn="l" defTabSz="975390" rtl="0" eaLnBrk="1" latinLnBrk="0" hangingPunct="1">
        <a:defRPr sz="1920" kern="1200">
          <a:solidFill>
            <a:schemeClr val="tx1"/>
          </a:solidFill>
          <a:latin typeface="+mn-lt"/>
          <a:ea typeface="+mn-ea"/>
          <a:cs typeface="+mn-cs"/>
        </a:defRPr>
      </a:lvl6pPr>
      <a:lvl7pPr marL="2926171" algn="l" defTabSz="975390" rtl="0" eaLnBrk="1" latinLnBrk="0" hangingPunct="1">
        <a:defRPr sz="1920" kern="1200">
          <a:solidFill>
            <a:schemeClr val="tx1"/>
          </a:solidFill>
          <a:latin typeface="+mn-lt"/>
          <a:ea typeface="+mn-ea"/>
          <a:cs typeface="+mn-cs"/>
        </a:defRPr>
      </a:lvl7pPr>
      <a:lvl8pPr marL="3413867" algn="l" defTabSz="975390" rtl="0" eaLnBrk="1" latinLnBrk="0" hangingPunct="1">
        <a:defRPr sz="1920" kern="1200">
          <a:solidFill>
            <a:schemeClr val="tx1"/>
          </a:solidFill>
          <a:latin typeface="+mn-lt"/>
          <a:ea typeface="+mn-ea"/>
          <a:cs typeface="+mn-cs"/>
        </a:defRPr>
      </a:lvl8pPr>
      <a:lvl9pPr marL="3901562" algn="l" defTabSz="975390" rtl="0" eaLnBrk="1" latinLnBrk="0" hangingPunct="1">
        <a:defRPr sz="19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Anthracite" TargetMode="External"/><Relationship Id="rId2" Type="http://schemas.openxmlformats.org/officeDocument/2006/relationships/hyperlink" Target="https://en.wikipedia.org/wiki/Bituminous_coal" TargetMode="External"/><Relationship Id="rId1" Type="http://schemas.openxmlformats.org/officeDocument/2006/relationships/slideLayout" Target="../slideLayouts/slideLayout3.xml"/><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Magnetite" TargetMode="External"/><Relationship Id="rId2" Type="http://schemas.openxmlformats.org/officeDocument/2006/relationships/hyperlink" Target="https://en.wikipedia.org/wiki/Iron_ore" TargetMode="External"/><Relationship Id="rId1" Type="http://schemas.openxmlformats.org/officeDocument/2006/relationships/slideLayout" Target="../slideLayouts/slideLayout3.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hyperlink" Target="https://en.wikipedia.org/wiki/Hematite"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Coal_Region"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4.jpg"/><Relationship Id="rId5" Type="http://schemas.openxmlformats.org/officeDocument/2006/relationships/image" Target="../media/image13.jpg"/><Relationship Id="rId4" Type="http://schemas.openxmlformats.org/officeDocument/2006/relationships/hyperlink" Target="https://en.wikipedia.org/wiki/Lehigh_Valley"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en.wikipedia.org/wiki/Mergers_and_acquisitions_in_the_United_States_steel_industry" TargetMode="External"/><Relationship Id="rId3" Type="http://schemas.openxmlformats.org/officeDocument/2006/relationships/hyperlink" Target="https://en.wikipedia.org/wiki/Mesabi_Range" TargetMode="External"/><Relationship Id="rId7" Type="http://schemas.openxmlformats.org/officeDocument/2006/relationships/hyperlink" Target="https://www.ussteel.com/about-us/history"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s://en.wikipedia.org/wiki/Mountain_Iron_Mine" TargetMode="External"/><Relationship Id="rId5" Type="http://schemas.openxmlformats.org/officeDocument/2006/relationships/hyperlink" Target="https://towersoudanhistory.com/historicsites/soudan-underground-mine/" TargetMode="External"/><Relationship Id="rId4" Type="http://schemas.openxmlformats.org/officeDocument/2006/relationships/hyperlink" Target="https://www.mnhs.org/mnopedia/search/index/immigrants-and-refugees-minnesota-connecting-past-and-present" TargetMode="External"/><Relationship Id="rId9" Type="http://schemas.openxmlformats.org/officeDocument/2006/relationships/image" Target="../media/image1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immigrationtounitedstates.org/438-coal-industry.html"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hyperlink" Target="https://en.wikipedia.org/wiki/John_Henry_(folklore)" TargetMode="External"/><Relationship Id="rId7"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hyperlink" Target="%3ciframe%20data-testid=%22embed-iframe%22%20style=%22border-radius:12px%22%20src=%22https:/open.spotify.com/embed/track/2zUm7fGo5weawxH0igx0de?utm_source=generator&amp;si=b092a91ba93d46d5%22%20width=%22100%25%22%20height=%22352%22%20frameBorder=%220%22%20allowfullscreen=%22%22%20allow=%22autoplay;%20clipboard-write;%20encrypted-media;%20fullscreen;%20picture-in-picture%22%20loading=%22lazy%22%3e%3c/iframe%3e" TargetMode="External"/><Relationship Id="rId5" Type="http://schemas.openxmlformats.org/officeDocument/2006/relationships/hyperlink" Target="https://www.loc.gov/item/lomaxbib000499/" TargetMode="External"/><Relationship Id="rId10" Type="http://schemas.openxmlformats.org/officeDocument/2006/relationships/image" Target="../media/image18.jpeg"/><Relationship Id="rId4" Type="http://schemas.openxmlformats.org/officeDocument/2006/relationships/hyperlink" Target="https://www.loc.gov/collections/songs-of-america/articles-and-essays/articles-about-songs/john-henry/" TargetMode="External"/><Relationship Id="rId9" Type="http://schemas.openxmlformats.org/officeDocument/2006/relationships/hyperlink" Target="%3ciframe%20data-testid=%22embed-iframe%22%20style=%22border-radius:12px%22%20src=%22https:/open.spotify.com/embed/track/1zbSOaMjZvz9p4D4zk9nGi?utm_source=generator&amp;si=920eb5063f7a42c9%22%20width=%22100%25%22%20height=%22352%22%20frameBorder=%220%22%20allowfullscreen=%22%22%20allow=%22autoplay;%20clipboard-write;%20encrypted-media;%20fullscreen;%20picture-in-picture%22%20loading=%22lazy%22%3e%3c/iframe%3e"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American_Federation_of_Labor" TargetMode="External"/><Relationship Id="rId2" Type="http://schemas.openxmlformats.org/officeDocument/2006/relationships/hyperlink" Target="https://umwa.org/" TargetMode="Externa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hyperlink" Target="https://en.wikipedia.org/wiki/AFL-CIO" TargetMode="External"/><Relationship Id="rId4" Type="http://schemas.openxmlformats.org/officeDocument/2006/relationships/hyperlink" Target="https://en.wikipedia.org/wiki/Congress_of_Industrial_Organization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Seneca_Indians" TargetMode="External"/><Relationship Id="rId7" Type="http://schemas.openxmlformats.org/officeDocument/2006/relationships/image" Target="../media/image20.jp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https://en.wikipedia.org/wiki/Bethlehem_Steel" TargetMode="External"/><Relationship Id="rId5" Type="http://schemas.openxmlformats.org/officeDocument/2006/relationships/hyperlink" Target="https://en.wikipedia.org/wiki/Lackawanna_Steel_Company" TargetMode="External"/><Relationship Id="rId4" Type="http://schemas.openxmlformats.org/officeDocument/2006/relationships/hyperlink" Target="https://en.wikipedia.org/wiki/Buffalo_Creek_Reservation"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en.wikipedia.org/wiki/Panic_of_1907" TargetMode="External"/><Relationship Id="rId1" Type="http://schemas.openxmlformats.org/officeDocument/2006/relationships/slideLayout" Target="../slideLayouts/slideLayout3.xml"/><Relationship Id="rId6" Type="http://schemas.openxmlformats.org/officeDocument/2006/relationships/hyperlink" Target="https://en.wikipedia.org/wiki/George_Washington" TargetMode="External"/><Relationship Id="rId5" Type="http://schemas.openxmlformats.org/officeDocument/2006/relationships/hyperlink" Target="https://en.wikipedia.org/wiki/Federal_Hall_National_Memorial" TargetMode="External"/><Relationship Id="rId4" Type="http://schemas.openxmlformats.org/officeDocument/2006/relationships/hyperlink" Target="https://en.wikipedia.org/wiki/Wall_Street"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3.jpg"/></Relationships>
</file>

<file path=ppt/slides/_rels/slide1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hyperlink" Target="%3ciframe%20data-testid=%22embed-iframe%22%20style=%22border-radius:12px%22%20src=%22https:/open.spotify.com/embed/track/6Jvw3KvzhMnp67v3wLbc6m?utm_source=generator&amp;si=7193332439de49a5%22%20width=%22100%25%22%20height=%22352%22%20frameBorder=%220%22%20allowfullscreen=%22%22%20allow=%22autoplay;%20clipboard-write;%20encrypted-media;%20fullscreen;%20picture-in-picture%22%20loading=%22lazy%22%3e%3c/iframe%3e"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hyperlink" Target="https://en.wikipedia.org/wiki/Pinkerton_(detective_agency)" TargetMode="External"/><Relationship Id="rId13" Type="http://schemas.openxmlformats.org/officeDocument/2006/relationships/hyperlink" Target="https://en.wikipedia.org/wiki/Fayette_County,_West_Virginia" TargetMode="External"/><Relationship Id="rId3" Type="http://schemas.openxmlformats.org/officeDocument/2006/relationships/hyperlink" Target="https://en.wikipedia.org/wiki/The_Citadel,_The_Military_College_of_South_Carolina" TargetMode="External"/><Relationship Id="rId7" Type="http://schemas.openxmlformats.org/officeDocument/2006/relationships/hyperlink" Target="https://en.wikipedia.org/wiki/Baldwin&#8211;Felts_Detective_Agency" TargetMode="External"/><Relationship Id="rId12" Type="http://schemas.openxmlformats.org/officeDocument/2006/relationships/hyperlink" Target="https://en.wikipedia.org/wiki/Glen_Jean,_West_Virginia" TargetMode="External"/><Relationship Id="rId2" Type="http://schemas.openxmlformats.org/officeDocument/2006/relationships/hyperlink" Target="https://en.wikipedia.org/wiki/Slave_patrol" TargetMode="External"/><Relationship Id="rId1" Type="http://schemas.openxmlformats.org/officeDocument/2006/relationships/slideLayout" Target="../slideLayouts/slideLayout3.xml"/><Relationship Id="rId6" Type="http://schemas.openxmlformats.org/officeDocument/2006/relationships/hyperlink" Target="https://en.wikipedia.org/wiki/Sinners_(2025_film)" TargetMode="External"/><Relationship Id="rId11" Type="http://schemas.openxmlformats.org/officeDocument/2006/relationships/image" Target="../media/image30.png"/><Relationship Id="rId5" Type="http://schemas.openxmlformats.org/officeDocument/2006/relationships/hyperlink" Target="https://en.wikipedia.org/wiki/Ku_Klux_Klan" TargetMode="External"/><Relationship Id="rId10" Type="http://schemas.openxmlformats.org/officeDocument/2006/relationships/image" Target="../media/image29.jpeg"/><Relationship Id="rId4" Type="http://schemas.openxmlformats.org/officeDocument/2006/relationships/hyperlink" Target="https://en.wikipedia.org/wiki/Virginia_Military_Institute" TargetMode="External"/><Relationship Id="rId9" Type="http://schemas.openxmlformats.org/officeDocument/2006/relationships/image" Target="../media/image28.jpeg"/></Relationships>
</file>

<file path=ppt/slides/_rels/slide2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32.jpeg"/><Relationship Id="rId4" Type="http://schemas.openxmlformats.org/officeDocument/2006/relationships/hyperlink" Target="%3ciframe%20data-testid=%22embed-iframe%22%20style=%22border-radius:12px%22%20src=%22https:/open.spotify.com/embed/track/59WN2psjkt1tyaxjspN8fp?utm_source=generator&amp;si=d06724e28fed4300%22%20width=%22100%25%22%20height=%22352%22%20frameBorder=%220%22%20allowfullscreen=%22%22%20allow=%22autoplay;%20clipboard-write;%20encrypted-media;%20fullscreen;%20picture-in-picture%22%20loading=%22lazy%22%3e%3c/iframe%3e"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37.png"/><Relationship Id="rId5" Type="http://schemas.openxmlformats.org/officeDocument/2006/relationships/image" Target="../media/image36.jpg"/><Relationship Id="rId4" Type="http://schemas.openxmlformats.org/officeDocument/2006/relationships/image" Target="../media/image35.jpg"/></Relationships>
</file>

<file path=ppt/slides/_rels/slide2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Starbase,_Texas"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1.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10FA-7ECD-D4D9-D377-60E0FE6A9038}"/>
              </a:ext>
              <a:ext uri="{C183D7F6-B498-43B3-948B-1728B52AA6E4}">
                <adec:decorative xmlns:adec="http://schemas.microsoft.com/office/drawing/2017/decorative" val="0"/>
              </a:ext>
            </a:extLst>
          </p:cNvPr>
          <p:cNvSpPr>
            <a:spLocks noGrp="1"/>
          </p:cNvSpPr>
          <p:nvPr>
            <p:ph type="ctrTitle" hasCustomPrompt="1"/>
          </p:nvPr>
        </p:nvSpPr>
        <p:spPr>
          <a:xfrm>
            <a:off x="436462" y="296883"/>
            <a:ext cx="11977211" cy="6123203"/>
          </a:xfrm>
        </p:spPr>
        <p:txBody>
          <a:bodyPr/>
          <a:lstStyle/>
          <a:p>
            <a:pPr algn="ctr"/>
            <a:r>
              <a:rPr dirty="0"/>
              <a:t>Lecture </a:t>
            </a:r>
            <a:r>
              <a:rPr lang="en-US" dirty="0"/>
              <a:t>3</a:t>
            </a:r>
            <a:r>
              <a:rPr dirty="0"/>
              <a:t> — </a:t>
            </a:r>
            <a:br>
              <a:rPr lang="en-US" dirty="0"/>
            </a:br>
            <a:br>
              <a:rPr lang="en-US" dirty="0"/>
            </a:br>
            <a:r>
              <a:rPr lang="en-US" dirty="0"/>
              <a:t>Coal country </a:t>
            </a:r>
            <a:br>
              <a:rPr lang="en-US" dirty="0"/>
            </a:br>
            <a:r>
              <a:rPr lang="en-US" dirty="0"/>
              <a:t>and </a:t>
            </a:r>
            <a:br>
              <a:rPr lang="en-US" dirty="0"/>
            </a:br>
            <a:r>
              <a:rPr lang="en-US" dirty="0"/>
              <a:t>the Battle of </a:t>
            </a:r>
            <a:r>
              <a:rPr lang="en-US" dirty="0" err="1"/>
              <a:t>blair</a:t>
            </a:r>
            <a:r>
              <a:rPr lang="en-US" dirty="0"/>
              <a:t> mountain</a:t>
            </a:r>
            <a:endParaRPr dirty="0"/>
          </a:p>
        </p:txBody>
      </p:sp>
      <p:sp>
        <p:nvSpPr>
          <p:cNvPr id="3" name="Subtitle 2">
            <a:extLst>
              <a:ext uri="{FF2B5EF4-FFF2-40B4-BE49-F238E27FC236}">
                <a16:creationId xmlns:a16="http://schemas.microsoft.com/office/drawing/2014/main" id="{17573CCE-562D-8451-99E0-194B6D8D3B0A}"/>
              </a:ext>
              <a:ext uri="{C183D7F6-B498-43B3-948B-1728B52AA6E4}">
                <adec:decorative xmlns:adec="http://schemas.microsoft.com/office/drawing/2017/decorative" val="0"/>
              </a:ext>
            </a:extLst>
          </p:cNvPr>
          <p:cNvSpPr>
            <a:spLocks noGrp="1"/>
          </p:cNvSpPr>
          <p:nvPr>
            <p:ph type="subTitle" idx="1" hasCustomPrompt="1"/>
          </p:nvPr>
        </p:nvSpPr>
        <p:spPr>
          <a:xfrm>
            <a:off x="436462" y="6809132"/>
            <a:ext cx="9753600" cy="1589339"/>
          </a:xfrm>
          <a:prstGeom prst="rect">
            <a:avLst/>
          </a:prstGeom>
        </p:spPr>
        <p:txBody>
          <a:bodyPr/>
          <a:lstStyle/>
          <a:p>
            <a:r>
              <a:rPr dirty="0"/>
              <a:t>PHY199-RAP · Energy in the 21st Century</a:t>
            </a:r>
            <a:br>
              <a:rPr dirty="0"/>
            </a:br>
            <a:br>
              <a:rPr dirty="0"/>
            </a:br>
            <a:r>
              <a:rPr dirty="0"/>
              <a:t>Dr. Salvatore Rappoccio</a:t>
            </a:r>
          </a:p>
        </p:txBody>
      </p:sp>
      <p:sp>
        <p:nvSpPr>
          <p:cNvPr id="4" name=" 3"/>
          <p:cNvSpPr/>
          <p:nvPr/>
        </p:nvSpPr>
        <p:spPr/>
        <p:txBody>
          <a:bodyPr/>
          <a:lstStyle/>
          <a:p>
            <a:endParaRPr lang="en-US" sz="192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E2F80-E78E-52CE-FF92-5639B1066267}"/>
              </a:ext>
            </a:extLst>
          </p:cNvPr>
          <p:cNvSpPr>
            <a:spLocks noGrp="1"/>
          </p:cNvSpPr>
          <p:nvPr>
            <p:ph type="title"/>
          </p:nvPr>
        </p:nvSpPr>
        <p:spPr/>
        <p:txBody>
          <a:bodyPr/>
          <a:lstStyle/>
          <a:p>
            <a:r>
              <a:rPr lang="en-US" dirty="0"/>
              <a:t>Content Warnings</a:t>
            </a:r>
          </a:p>
        </p:txBody>
      </p:sp>
      <p:sp>
        <p:nvSpPr>
          <p:cNvPr id="3" name="Content Placeholder 2">
            <a:extLst>
              <a:ext uri="{FF2B5EF4-FFF2-40B4-BE49-F238E27FC236}">
                <a16:creationId xmlns:a16="http://schemas.microsoft.com/office/drawing/2014/main" id="{D997AF79-9AC9-BB90-2F38-A07F239AA9EA}"/>
              </a:ext>
            </a:extLst>
          </p:cNvPr>
          <p:cNvSpPr>
            <a:spLocks noGrp="1"/>
          </p:cNvSpPr>
          <p:nvPr>
            <p:ph idx="1"/>
          </p:nvPr>
        </p:nvSpPr>
        <p:spPr/>
        <p:txBody>
          <a:bodyPr/>
          <a:lstStyle/>
          <a:p>
            <a:r>
              <a:rPr lang="en-US" dirty="0"/>
              <a:t>Genocide and colonialism against Native American populations</a:t>
            </a:r>
          </a:p>
          <a:p>
            <a:r>
              <a:rPr lang="en-US" dirty="0"/>
              <a:t>Abuse and death of enslaved people and escaped enslaved people</a:t>
            </a:r>
          </a:p>
          <a:p>
            <a:r>
              <a:rPr lang="en-US" dirty="0"/>
              <a:t>White supremacy organizations</a:t>
            </a:r>
          </a:p>
          <a:p>
            <a:r>
              <a:rPr lang="en-US" dirty="0"/>
              <a:t>Child labor</a:t>
            </a:r>
          </a:p>
          <a:p>
            <a:r>
              <a:rPr lang="en-US" dirty="0"/>
              <a:t>Exploitation and suppression of workers</a:t>
            </a:r>
          </a:p>
        </p:txBody>
      </p:sp>
    </p:spTree>
    <p:extLst>
      <p:ext uri="{BB962C8B-B14F-4D97-AF65-F5344CB8AC3E}">
        <p14:creationId xmlns:p14="http://schemas.microsoft.com/office/powerpoint/2010/main" val="3537281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817F3E-F685-DAF9-ABCC-BB9F3077C16A}"/>
              </a:ext>
            </a:extLst>
          </p:cNvPr>
          <p:cNvSpPr>
            <a:spLocks noGrp="1"/>
          </p:cNvSpPr>
          <p:nvPr>
            <p:ph type="ctrTitle"/>
          </p:nvPr>
        </p:nvSpPr>
        <p:spPr/>
        <p:txBody>
          <a:bodyPr/>
          <a:lstStyle/>
          <a:p>
            <a:r>
              <a:rPr lang="en-US" dirty="0"/>
              <a:t>The Resources</a:t>
            </a:r>
          </a:p>
        </p:txBody>
      </p:sp>
    </p:spTree>
    <p:extLst>
      <p:ext uri="{BB962C8B-B14F-4D97-AF65-F5344CB8AC3E}">
        <p14:creationId xmlns:p14="http://schemas.microsoft.com/office/powerpoint/2010/main" val="3207794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EC82E-8521-B1F6-417B-EB0B09CF8D60}"/>
              </a:ext>
            </a:extLst>
          </p:cNvPr>
          <p:cNvSpPr>
            <a:spLocks noGrp="1"/>
          </p:cNvSpPr>
          <p:nvPr>
            <p:ph type="title"/>
          </p:nvPr>
        </p:nvSpPr>
        <p:spPr>
          <a:xfrm>
            <a:off x="420489" y="1442095"/>
            <a:ext cx="11216640" cy="1235456"/>
          </a:xfrm>
        </p:spPr>
        <p:txBody>
          <a:bodyPr/>
          <a:lstStyle/>
          <a:p>
            <a:r>
              <a:rPr lang="en-US" dirty="0"/>
              <a:t>How to Make Steel</a:t>
            </a:r>
          </a:p>
        </p:txBody>
      </p:sp>
      <p:sp>
        <p:nvSpPr>
          <p:cNvPr id="3" name="Content Placeholder 2">
            <a:extLst>
              <a:ext uri="{FF2B5EF4-FFF2-40B4-BE49-F238E27FC236}">
                <a16:creationId xmlns:a16="http://schemas.microsoft.com/office/drawing/2014/main" id="{6DF86A99-55DF-D455-56AC-CB4ABACB488E}"/>
              </a:ext>
            </a:extLst>
          </p:cNvPr>
          <p:cNvSpPr>
            <a:spLocks noGrp="1"/>
          </p:cNvSpPr>
          <p:nvPr>
            <p:ph idx="1"/>
          </p:nvPr>
        </p:nvSpPr>
        <p:spPr>
          <a:xfrm>
            <a:off x="2581798" y="2956573"/>
            <a:ext cx="7559729" cy="738052"/>
          </a:xfrm>
        </p:spPr>
        <p:txBody>
          <a:bodyPr/>
          <a:lstStyle/>
          <a:p>
            <a:r>
              <a:rPr lang="en-US" sz="4400" dirty="0"/>
              <a:t>Iron + coal = steel</a:t>
            </a:r>
          </a:p>
        </p:txBody>
      </p:sp>
      <p:pic>
        <p:nvPicPr>
          <p:cNvPr id="8" name="Picture 7" descr="Blast Furnace screen from minecraft, where a book (recipe) is used in a blast furnace, smelting iron with coal and making steel. ">
            <a:extLst>
              <a:ext uri="{FF2B5EF4-FFF2-40B4-BE49-F238E27FC236}">
                <a16:creationId xmlns:a16="http://schemas.microsoft.com/office/drawing/2014/main" id="{EDC85DC6-FA54-B84E-E560-DD9ED213861D}"/>
              </a:ext>
            </a:extLst>
          </p:cNvPr>
          <p:cNvPicPr>
            <a:picLocks noChangeAspect="1"/>
          </p:cNvPicPr>
          <p:nvPr/>
        </p:nvPicPr>
        <p:blipFill>
          <a:blip r:embed="rId2"/>
          <a:stretch>
            <a:fillRect/>
          </a:stretch>
        </p:blipFill>
        <p:spPr>
          <a:xfrm>
            <a:off x="999147" y="3973647"/>
            <a:ext cx="11006505" cy="4337858"/>
          </a:xfrm>
          <a:prstGeom prst="rect">
            <a:avLst/>
          </a:prstGeom>
        </p:spPr>
      </p:pic>
      <p:sp>
        <p:nvSpPr>
          <p:cNvPr id="10" name="TextBox 9">
            <a:extLst>
              <a:ext uri="{FF2B5EF4-FFF2-40B4-BE49-F238E27FC236}">
                <a16:creationId xmlns:a16="http://schemas.microsoft.com/office/drawing/2014/main" id="{5E9584BC-22FC-A9C9-BA1A-449CF34EC7C8}"/>
              </a:ext>
            </a:extLst>
          </p:cNvPr>
          <p:cNvSpPr txBox="1"/>
          <p:nvPr/>
        </p:nvSpPr>
        <p:spPr>
          <a:xfrm>
            <a:off x="4411360" y="8486602"/>
            <a:ext cx="6504708" cy="276999"/>
          </a:xfrm>
          <a:prstGeom prst="rect">
            <a:avLst/>
          </a:prstGeom>
          <a:noFill/>
        </p:spPr>
        <p:txBody>
          <a:bodyPr wrap="square">
            <a:spAutoFit/>
          </a:bodyPr>
          <a:lstStyle/>
          <a:p>
            <a:r>
              <a:rPr lang="en-US" sz="1200" dirty="0"/>
              <a:t>https://</a:t>
            </a:r>
            <a:r>
              <a:rPr lang="en-US" sz="1200" dirty="0" err="1"/>
              <a:t>thatvideogameblog.com</a:t>
            </a:r>
            <a:r>
              <a:rPr lang="en-US" sz="1200" dirty="0"/>
              <a:t>/blast-furnace-recipe/</a:t>
            </a:r>
          </a:p>
        </p:txBody>
      </p:sp>
    </p:spTree>
    <p:extLst>
      <p:ext uri="{BB962C8B-B14F-4D97-AF65-F5344CB8AC3E}">
        <p14:creationId xmlns:p14="http://schemas.microsoft.com/office/powerpoint/2010/main" val="229475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CC947-06EF-8964-785C-8A6CD695A1B4}"/>
              </a:ext>
            </a:extLst>
          </p:cNvPr>
          <p:cNvSpPr>
            <a:spLocks noGrp="1"/>
          </p:cNvSpPr>
          <p:nvPr>
            <p:ph type="title"/>
          </p:nvPr>
        </p:nvSpPr>
        <p:spPr>
          <a:xfrm>
            <a:off x="392780" y="1346037"/>
            <a:ext cx="11216640" cy="1235456"/>
          </a:xfrm>
        </p:spPr>
        <p:txBody>
          <a:bodyPr/>
          <a:lstStyle/>
          <a:p>
            <a:r>
              <a:rPr lang="en-US" dirty="0"/>
              <a:t>How to Make Steel</a:t>
            </a:r>
          </a:p>
        </p:txBody>
      </p:sp>
      <p:pic>
        <p:nvPicPr>
          <p:cNvPr id="4" name="Picture 3" descr="A map from 1910 of the contiguous United States showing the regions of iron coal deposits. The map is keyed to show deposits of iron ore, lignite coal, bituminous coal, and anthracite coal in the region.&#10;&#10;From &#10;https://etc.usf.edu/maps/pages/2000/2085/2085.htm">
            <a:extLst>
              <a:ext uri="{FF2B5EF4-FFF2-40B4-BE49-F238E27FC236}">
                <a16:creationId xmlns:a16="http://schemas.microsoft.com/office/drawing/2014/main" id="{8B307C74-07DE-FC91-4B0F-D0C5C62C32FB}"/>
              </a:ext>
            </a:extLst>
          </p:cNvPr>
          <p:cNvPicPr>
            <a:picLocks noChangeAspect="1"/>
          </p:cNvPicPr>
          <p:nvPr/>
        </p:nvPicPr>
        <p:blipFill>
          <a:blip r:embed="rId2"/>
          <a:stretch>
            <a:fillRect/>
          </a:stretch>
        </p:blipFill>
        <p:spPr>
          <a:xfrm>
            <a:off x="1686164" y="1507786"/>
            <a:ext cx="10117219" cy="7817851"/>
          </a:xfrm>
          <a:prstGeom prst="rect">
            <a:avLst/>
          </a:prstGeom>
        </p:spPr>
      </p:pic>
    </p:spTree>
    <p:extLst>
      <p:ext uri="{BB962C8B-B14F-4D97-AF65-F5344CB8AC3E}">
        <p14:creationId xmlns:p14="http://schemas.microsoft.com/office/powerpoint/2010/main" val="3125959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491EE-4E2F-AD5E-A7E1-6C43421AD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9A7DB-44FA-9EB5-0B9B-0D90A572F651}"/>
              </a:ext>
            </a:extLst>
          </p:cNvPr>
          <p:cNvSpPr>
            <a:spLocks noGrp="1"/>
          </p:cNvSpPr>
          <p:nvPr>
            <p:ph type="title"/>
          </p:nvPr>
        </p:nvSpPr>
        <p:spPr>
          <a:xfrm>
            <a:off x="392780" y="1346037"/>
            <a:ext cx="11216640" cy="1235456"/>
          </a:xfrm>
        </p:spPr>
        <p:txBody>
          <a:bodyPr/>
          <a:lstStyle/>
          <a:p>
            <a:r>
              <a:rPr lang="en-US" dirty="0"/>
              <a:t>How to Make Steel</a:t>
            </a:r>
          </a:p>
        </p:txBody>
      </p:sp>
      <p:pic>
        <p:nvPicPr>
          <p:cNvPr id="4" name="Picture 3" descr="A map from 1910 of the contiguous United States showing the regions of iron coal deposits. The map is keyed to show deposits of iron ore, lignite coal, bituminous coal, and anthracite coal in the region.&#10;&#10;From &#10;https://etc.usf.edu/maps/pages/2000/2085/2085.htm">
            <a:extLst>
              <a:ext uri="{FF2B5EF4-FFF2-40B4-BE49-F238E27FC236}">
                <a16:creationId xmlns:a16="http://schemas.microsoft.com/office/drawing/2014/main" id="{E6B52875-E692-9306-37EE-EA13B30BA6D8}"/>
              </a:ext>
            </a:extLst>
          </p:cNvPr>
          <p:cNvPicPr>
            <a:picLocks noChangeAspect="1"/>
          </p:cNvPicPr>
          <p:nvPr/>
        </p:nvPicPr>
        <p:blipFill>
          <a:blip r:embed="rId2"/>
          <a:srcRect l="51388" t="22744" r="17020" b="53906"/>
          <a:stretch>
            <a:fillRect/>
          </a:stretch>
        </p:blipFill>
        <p:spPr>
          <a:xfrm>
            <a:off x="490395" y="2428406"/>
            <a:ext cx="11701262" cy="6682947"/>
          </a:xfrm>
          <a:prstGeom prst="rect">
            <a:avLst/>
          </a:prstGeom>
        </p:spPr>
      </p:pic>
      <p:pic>
        <p:nvPicPr>
          <p:cNvPr id="3" name="Picture 2" descr="A map from 1910 of the contiguous United States showing the regions of iron coal deposits. The map is keyed to show deposits of iron ore, lignite coal, bituminous coal, and anthracite coal in the region.&#10;&#10;From &#10;https://etc.usf.edu/maps/pages/2000/2085/2085.htm">
            <a:extLst>
              <a:ext uri="{FF2B5EF4-FFF2-40B4-BE49-F238E27FC236}">
                <a16:creationId xmlns:a16="http://schemas.microsoft.com/office/drawing/2014/main" id="{3CC22640-8BAC-19C3-B4A4-4C51E72E185B}"/>
              </a:ext>
            </a:extLst>
          </p:cNvPr>
          <p:cNvPicPr>
            <a:picLocks noChangeAspect="1"/>
          </p:cNvPicPr>
          <p:nvPr/>
        </p:nvPicPr>
        <p:blipFill>
          <a:blip r:embed="rId2"/>
          <a:srcRect l="55638" t="68082" r="26834" b="20931"/>
          <a:stretch>
            <a:fillRect/>
          </a:stretch>
        </p:blipFill>
        <p:spPr>
          <a:xfrm>
            <a:off x="6132593" y="1710372"/>
            <a:ext cx="4033011" cy="1953490"/>
          </a:xfrm>
          <a:prstGeom prst="rect">
            <a:avLst/>
          </a:prstGeom>
        </p:spPr>
      </p:pic>
    </p:spTree>
    <p:extLst>
      <p:ext uri="{BB962C8B-B14F-4D97-AF65-F5344CB8AC3E}">
        <p14:creationId xmlns:p14="http://schemas.microsoft.com/office/powerpoint/2010/main" val="1756728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6CDD1-77DB-8130-606B-620A0526D96D}"/>
              </a:ext>
            </a:extLst>
          </p:cNvPr>
          <p:cNvSpPr>
            <a:spLocks noGrp="1"/>
          </p:cNvSpPr>
          <p:nvPr>
            <p:ph type="title"/>
          </p:nvPr>
        </p:nvSpPr>
        <p:spPr/>
        <p:txBody>
          <a:bodyPr/>
          <a:lstStyle/>
          <a:p>
            <a:r>
              <a:rPr lang="en-US" dirty="0"/>
              <a:t>Coal</a:t>
            </a:r>
          </a:p>
        </p:txBody>
      </p:sp>
      <p:sp>
        <p:nvSpPr>
          <p:cNvPr id="3" name="Content Placeholder 2">
            <a:extLst>
              <a:ext uri="{FF2B5EF4-FFF2-40B4-BE49-F238E27FC236}">
                <a16:creationId xmlns:a16="http://schemas.microsoft.com/office/drawing/2014/main" id="{F8A0AEED-5935-3C09-290C-F8B777603044}"/>
              </a:ext>
            </a:extLst>
          </p:cNvPr>
          <p:cNvSpPr>
            <a:spLocks noGrp="1"/>
          </p:cNvSpPr>
          <p:nvPr>
            <p:ph idx="1"/>
          </p:nvPr>
        </p:nvSpPr>
        <p:spPr>
          <a:xfrm>
            <a:off x="420489" y="3487107"/>
            <a:ext cx="7324202" cy="5757399"/>
          </a:xfrm>
        </p:spPr>
        <p:txBody>
          <a:bodyPr/>
          <a:lstStyle/>
          <a:p>
            <a:r>
              <a:rPr lang="en-US" dirty="0">
                <a:hlinkClick r:id="rId2"/>
              </a:rPr>
              <a:t>Bituminous</a:t>
            </a:r>
            <a:r>
              <a:rPr lang="en-US" dirty="0"/>
              <a:t> : </a:t>
            </a:r>
          </a:p>
          <a:p>
            <a:pPr lvl="1"/>
            <a:r>
              <a:rPr lang="en-US" dirty="0"/>
              <a:t>Very abundant</a:t>
            </a:r>
          </a:p>
          <a:p>
            <a:pPr lvl="1"/>
            <a:r>
              <a:rPr lang="en-US" dirty="0"/>
              <a:t>Used for production of steel and also for power generation</a:t>
            </a:r>
          </a:p>
          <a:p>
            <a:pPr lvl="1"/>
            <a:r>
              <a:rPr lang="en-US" dirty="0"/>
              <a:t>Burns with lots of outgassing and pollution</a:t>
            </a:r>
          </a:p>
          <a:p>
            <a:r>
              <a:rPr lang="en-US" dirty="0">
                <a:hlinkClick r:id="rId3"/>
              </a:rPr>
              <a:t>Anthracite</a:t>
            </a:r>
            <a:r>
              <a:rPr lang="en-US" dirty="0"/>
              <a:t> : </a:t>
            </a:r>
          </a:p>
          <a:p>
            <a:pPr lvl="1"/>
            <a:r>
              <a:rPr lang="en-US" dirty="0"/>
              <a:t>Very rare (&lt;1% of coal)</a:t>
            </a:r>
          </a:p>
          <a:p>
            <a:pPr lvl="1"/>
            <a:r>
              <a:rPr lang="en-US" dirty="0"/>
              <a:t>Used for power generation and high-grade metallurgy</a:t>
            </a:r>
          </a:p>
          <a:p>
            <a:pPr lvl="1"/>
            <a:r>
              <a:rPr lang="en-US" dirty="0"/>
              <a:t>Mostly coming from area surrounding Lehigh Valley in PA</a:t>
            </a:r>
          </a:p>
        </p:txBody>
      </p:sp>
      <p:pic>
        <p:nvPicPr>
          <p:cNvPr id="4" name="Picture 3" descr="Bituminous coal">
            <a:extLst>
              <a:ext uri="{FF2B5EF4-FFF2-40B4-BE49-F238E27FC236}">
                <a16:creationId xmlns:a16="http://schemas.microsoft.com/office/drawing/2014/main" id="{3EBA270B-B816-3A25-FF66-4993F977C2AD}"/>
              </a:ext>
            </a:extLst>
          </p:cNvPr>
          <p:cNvPicPr>
            <a:picLocks noChangeAspect="1"/>
          </p:cNvPicPr>
          <p:nvPr/>
        </p:nvPicPr>
        <p:blipFill>
          <a:blip r:embed="rId4"/>
          <a:stretch>
            <a:fillRect/>
          </a:stretch>
        </p:blipFill>
        <p:spPr>
          <a:xfrm>
            <a:off x="8170717" y="2038764"/>
            <a:ext cx="3175000" cy="2717800"/>
          </a:xfrm>
          <a:prstGeom prst="rect">
            <a:avLst/>
          </a:prstGeom>
        </p:spPr>
      </p:pic>
      <p:pic>
        <p:nvPicPr>
          <p:cNvPr id="5" name="Picture 4">
            <a:extLst>
              <a:ext uri="{FF2B5EF4-FFF2-40B4-BE49-F238E27FC236}">
                <a16:creationId xmlns:a16="http://schemas.microsoft.com/office/drawing/2014/main" id="{F7453163-63FE-AA0B-C198-42CFA7398F7F}"/>
              </a:ext>
            </a:extLst>
          </p:cNvPr>
          <p:cNvPicPr>
            <a:picLocks noChangeAspect="1"/>
          </p:cNvPicPr>
          <p:nvPr/>
        </p:nvPicPr>
        <p:blipFill>
          <a:blip r:embed="rId5"/>
          <a:stretch>
            <a:fillRect/>
          </a:stretch>
        </p:blipFill>
        <p:spPr>
          <a:xfrm>
            <a:off x="8323118" y="4876800"/>
            <a:ext cx="2355273" cy="3532909"/>
          </a:xfrm>
          <a:prstGeom prst="rect">
            <a:avLst/>
          </a:prstGeom>
        </p:spPr>
      </p:pic>
    </p:spTree>
    <p:extLst>
      <p:ext uri="{BB962C8B-B14F-4D97-AF65-F5344CB8AC3E}">
        <p14:creationId xmlns:p14="http://schemas.microsoft.com/office/powerpoint/2010/main" val="1429659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4F958-109C-8454-9704-566616D864B8}"/>
              </a:ext>
            </a:extLst>
          </p:cNvPr>
          <p:cNvSpPr>
            <a:spLocks noGrp="1"/>
          </p:cNvSpPr>
          <p:nvPr>
            <p:ph type="title"/>
          </p:nvPr>
        </p:nvSpPr>
        <p:spPr/>
        <p:txBody>
          <a:bodyPr/>
          <a:lstStyle/>
          <a:p>
            <a:r>
              <a:rPr lang="en-US" dirty="0">
                <a:hlinkClick r:id="rId2"/>
              </a:rPr>
              <a:t>Iron Ore</a:t>
            </a:r>
            <a:endParaRPr lang="en-US" dirty="0"/>
          </a:p>
        </p:txBody>
      </p:sp>
      <p:sp>
        <p:nvSpPr>
          <p:cNvPr id="3" name="Content Placeholder 2">
            <a:extLst>
              <a:ext uri="{FF2B5EF4-FFF2-40B4-BE49-F238E27FC236}">
                <a16:creationId xmlns:a16="http://schemas.microsoft.com/office/drawing/2014/main" id="{5F83071E-F4A7-6926-F56F-929045C061DD}"/>
              </a:ext>
            </a:extLst>
          </p:cNvPr>
          <p:cNvSpPr>
            <a:spLocks noGrp="1"/>
          </p:cNvSpPr>
          <p:nvPr>
            <p:ph idx="1"/>
          </p:nvPr>
        </p:nvSpPr>
        <p:spPr>
          <a:xfrm>
            <a:off x="420489" y="3487107"/>
            <a:ext cx="5410685" cy="5757399"/>
          </a:xfrm>
        </p:spPr>
        <p:txBody>
          <a:bodyPr/>
          <a:lstStyle/>
          <a:p>
            <a:r>
              <a:rPr lang="en-US" dirty="0">
                <a:hlinkClick r:id="rId3"/>
              </a:rPr>
              <a:t>Magnetite</a:t>
            </a:r>
            <a:endParaRPr lang="en-US" dirty="0"/>
          </a:p>
          <a:p>
            <a:r>
              <a:rPr lang="en-US" dirty="0">
                <a:hlinkClick r:id="rId4"/>
              </a:rPr>
              <a:t>Hematite</a:t>
            </a:r>
            <a:endParaRPr lang="en-US" dirty="0"/>
          </a:p>
          <a:p>
            <a:r>
              <a:rPr lang="en-US" dirty="0"/>
              <a:t>Mostly came from Minnesota</a:t>
            </a:r>
          </a:p>
          <a:p>
            <a:r>
              <a:rPr lang="en-US" dirty="0"/>
              <a:t>Almost all used to make steel</a:t>
            </a:r>
          </a:p>
        </p:txBody>
      </p:sp>
      <p:pic>
        <p:nvPicPr>
          <p:cNvPr id="4" name="Picture 3">
            <a:extLst>
              <a:ext uri="{FF2B5EF4-FFF2-40B4-BE49-F238E27FC236}">
                <a16:creationId xmlns:a16="http://schemas.microsoft.com/office/drawing/2014/main" id="{A673857C-DC53-DE98-CAAD-5172D50CC99D}"/>
              </a:ext>
            </a:extLst>
          </p:cNvPr>
          <p:cNvPicPr>
            <a:picLocks noChangeAspect="1"/>
          </p:cNvPicPr>
          <p:nvPr/>
        </p:nvPicPr>
        <p:blipFill>
          <a:blip r:embed="rId5"/>
          <a:stretch>
            <a:fillRect/>
          </a:stretch>
        </p:blipFill>
        <p:spPr>
          <a:xfrm>
            <a:off x="6803477" y="1707962"/>
            <a:ext cx="3488520" cy="3558290"/>
          </a:xfrm>
          <a:prstGeom prst="rect">
            <a:avLst/>
          </a:prstGeom>
        </p:spPr>
      </p:pic>
      <p:sp>
        <p:nvSpPr>
          <p:cNvPr id="6" name="TextBox 5">
            <a:extLst>
              <a:ext uri="{FF2B5EF4-FFF2-40B4-BE49-F238E27FC236}">
                <a16:creationId xmlns:a16="http://schemas.microsoft.com/office/drawing/2014/main" id="{CC3CC3CA-501C-C015-6B1C-C9C7E5CAA4E8}"/>
              </a:ext>
            </a:extLst>
          </p:cNvPr>
          <p:cNvSpPr txBox="1"/>
          <p:nvPr/>
        </p:nvSpPr>
        <p:spPr>
          <a:xfrm>
            <a:off x="7550891" y="1497680"/>
            <a:ext cx="1993691" cy="420564"/>
          </a:xfrm>
          <a:prstGeom prst="rect">
            <a:avLst/>
          </a:prstGeom>
          <a:noFill/>
        </p:spPr>
        <p:txBody>
          <a:bodyPr wrap="square">
            <a:spAutoFit/>
          </a:bodyPr>
          <a:lstStyle/>
          <a:p>
            <a:r>
              <a:rPr lang="en-US" sz="2133" dirty="0"/>
              <a:t>Magnetite</a:t>
            </a:r>
          </a:p>
        </p:txBody>
      </p:sp>
      <p:pic>
        <p:nvPicPr>
          <p:cNvPr id="7" name="Picture 6">
            <a:extLst>
              <a:ext uri="{FF2B5EF4-FFF2-40B4-BE49-F238E27FC236}">
                <a16:creationId xmlns:a16="http://schemas.microsoft.com/office/drawing/2014/main" id="{DD7BE2AD-2A93-44E7-50FA-FD3AED0FCA3C}"/>
              </a:ext>
            </a:extLst>
          </p:cNvPr>
          <p:cNvPicPr>
            <a:picLocks noChangeAspect="1"/>
          </p:cNvPicPr>
          <p:nvPr/>
        </p:nvPicPr>
        <p:blipFill>
          <a:blip r:embed="rId6"/>
          <a:stretch>
            <a:fillRect/>
          </a:stretch>
        </p:blipFill>
        <p:spPr>
          <a:xfrm>
            <a:off x="6823229" y="6198780"/>
            <a:ext cx="4024927" cy="3032112"/>
          </a:xfrm>
          <a:prstGeom prst="rect">
            <a:avLst/>
          </a:prstGeom>
        </p:spPr>
      </p:pic>
      <p:sp>
        <p:nvSpPr>
          <p:cNvPr id="8" name="TextBox 7">
            <a:extLst>
              <a:ext uri="{FF2B5EF4-FFF2-40B4-BE49-F238E27FC236}">
                <a16:creationId xmlns:a16="http://schemas.microsoft.com/office/drawing/2014/main" id="{E53F3BE4-3234-E587-A7D0-8205412E67D4}"/>
              </a:ext>
            </a:extLst>
          </p:cNvPr>
          <p:cNvSpPr txBox="1"/>
          <p:nvPr/>
        </p:nvSpPr>
        <p:spPr>
          <a:xfrm>
            <a:off x="7673310" y="5748337"/>
            <a:ext cx="1993691" cy="420564"/>
          </a:xfrm>
          <a:prstGeom prst="rect">
            <a:avLst/>
          </a:prstGeom>
          <a:noFill/>
        </p:spPr>
        <p:txBody>
          <a:bodyPr wrap="square">
            <a:spAutoFit/>
          </a:bodyPr>
          <a:lstStyle/>
          <a:p>
            <a:r>
              <a:rPr lang="en-US" sz="2133" dirty="0"/>
              <a:t>Hematite</a:t>
            </a:r>
          </a:p>
        </p:txBody>
      </p:sp>
    </p:spTree>
    <p:extLst>
      <p:ext uri="{BB962C8B-B14F-4D97-AF65-F5344CB8AC3E}">
        <p14:creationId xmlns:p14="http://schemas.microsoft.com/office/powerpoint/2010/main" val="2674979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26328-4A1C-0B00-6C5F-1E411D8615A8}"/>
              </a:ext>
            </a:extLst>
          </p:cNvPr>
          <p:cNvSpPr>
            <a:spLocks noGrp="1"/>
          </p:cNvSpPr>
          <p:nvPr>
            <p:ph type="title"/>
          </p:nvPr>
        </p:nvSpPr>
        <p:spPr/>
        <p:txBody>
          <a:bodyPr/>
          <a:lstStyle/>
          <a:p>
            <a:r>
              <a:rPr lang="en-US" dirty="0"/>
              <a:t>Mining Coal and Iron</a:t>
            </a:r>
          </a:p>
        </p:txBody>
      </p:sp>
      <p:pic>
        <p:nvPicPr>
          <p:cNvPr id="4" name="Picture 3" descr="standing on bedrock">
            <a:extLst>
              <a:ext uri="{FF2B5EF4-FFF2-40B4-BE49-F238E27FC236}">
                <a16:creationId xmlns:a16="http://schemas.microsoft.com/office/drawing/2014/main" id="{2638A7D6-CF98-B876-5618-59DEAC228C31}"/>
              </a:ext>
            </a:extLst>
          </p:cNvPr>
          <p:cNvPicPr>
            <a:picLocks noChangeAspect="1"/>
          </p:cNvPicPr>
          <p:nvPr/>
        </p:nvPicPr>
        <p:blipFill>
          <a:blip r:embed="rId2"/>
          <a:stretch>
            <a:fillRect/>
          </a:stretch>
        </p:blipFill>
        <p:spPr>
          <a:xfrm>
            <a:off x="592494" y="4876800"/>
            <a:ext cx="4776580" cy="2676875"/>
          </a:xfrm>
          <a:prstGeom prst="rect">
            <a:avLst/>
          </a:prstGeom>
        </p:spPr>
      </p:pic>
      <p:sp>
        <p:nvSpPr>
          <p:cNvPr id="5" name="TextBox 4">
            <a:extLst>
              <a:ext uri="{FF2B5EF4-FFF2-40B4-BE49-F238E27FC236}">
                <a16:creationId xmlns:a16="http://schemas.microsoft.com/office/drawing/2014/main" id="{0BB25B63-3D7F-A4C9-F5C0-20D04586296A}"/>
              </a:ext>
            </a:extLst>
          </p:cNvPr>
          <p:cNvSpPr txBox="1"/>
          <p:nvPr/>
        </p:nvSpPr>
        <p:spPr>
          <a:xfrm>
            <a:off x="1054548" y="3295574"/>
            <a:ext cx="3852471" cy="144655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4400" dirty="0">
                <a:solidFill>
                  <a:schemeClr val="bg1"/>
                </a:solidFill>
              </a:rPr>
              <a:t>Mining in Minecraft</a:t>
            </a:r>
          </a:p>
        </p:txBody>
      </p:sp>
      <p:pic>
        <p:nvPicPr>
          <p:cNvPr id="6" name="Picture 5" descr="breaker_boys.jpg">
            <a:extLst>
              <a:ext uri="{FF2B5EF4-FFF2-40B4-BE49-F238E27FC236}">
                <a16:creationId xmlns:a16="http://schemas.microsoft.com/office/drawing/2014/main" id="{EA92C9CC-CCC8-5501-3D55-3E547FF5EC2D}"/>
              </a:ext>
            </a:extLst>
          </p:cNvPr>
          <p:cNvPicPr>
            <a:picLocks noChangeAspect="1"/>
          </p:cNvPicPr>
          <p:nvPr/>
        </p:nvPicPr>
        <p:blipFill>
          <a:blip r:embed="rId3"/>
          <a:stretch>
            <a:fillRect/>
          </a:stretch>
        </p:blipFill>
        <p:spPr>
          <a:xfrm>
            <a:off x="7684875" y="4742124"/>
            <a:ext cx="3952254" cy="2877735"/>
          </a:xfrm>
          <a:prstGeom prst="rect">
            <a:avLst/>
          </a:prstGeom>
        </p:spPr>
      </p:pic>
      <p:sp>
        <p:nvSpPr>
          <p:cNvPr id="7" name="TextBox 6">
            <a:extLst>
              <a:ext uri="{FF2B5EF4-FFF2-40B4-BE49-F238E27FC236}">
                <a16:creationId xmlns:a16="http://schemas.microsoft.com/office/drawing/2014/main" id="{9BF5E12C-F410-EB69-A3D7-463BF8D59C1E}"/>
              </a:ext>
            </a:extLst>
          </p:cNvPr>
          <p:cNvSpPr txBox="1"/>
          <p:nvPr/>
        </p:nvSpPr>
        <p:spPr>
          <a:xfrm>
            <a:off x="7684875" y="7714836"/>
            <a:ext cx="5341438" cy="246221"/>
          </a:xfrm>
          <a:prstGeom prst="rect">
            <a:avLst/>
          </a:prstGeom>
          <a:noFill/>
        </p:spPr>
        <p:txBody>
          <a:bodyPr wrap="square">
            <a:spAutoFit/>
          </a:bodyPr>
          <a:lstStyle/>
          <a:p>
            <a:r>
              <a:rPr sz="1000" dirty="0">
                <a:solidFill>
                  <a:srgbClr val="595959"/>
                </a:solidFill>
              </a:rPr>
              <a:t>Breaker boys and men, Pennsylvania Coal Co. Photo Lewis Hine. PD (LoC).</a:t>
            </a:r>
          </a:p>
        </p:txBody>
      </p:sp>
      <p:sp>
        <p:nvSpPr>
          <p:cNvPr id="8" name="TextBox 7">
            <a:extLst>
              <a:ext uri="{FF2B5EF4-FFF2-40B4-BE49-F238E27FC236}">
                <a16:creationId xmlns:a16="http://schemas.microsoft.com/office/drawing/2014/main" id="{09299787-19BC-F670-CCCD-2CE77D861572}"/>
              </a:ext>
            </a:extLst>
          </p:cNvPr>
          <p:cNvSpPr txBox="1"/>
          <p:nvPr/>
        </p:nvSpPr>
        <p:spPr>
          <a:xfrm>
            <a:off x="7413538" y="3249408"/>
            <a:ext cx="3852471" cy="769441"/>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4400" dirty="0">
                <a:solidFill>
                  <a:schemeClr val="bg1"/>
                </a:solidFill>
              </a:rPr>
              <a:t>Mining IRL</a:t>
            </a:r>
          </a:p>
        </p:txBody>
      </p:sp>
      <p:sp>
        <p:nvSpPr>
          <p:cNvPr id="9" name="TextBox 8">
            <a:extLst>
              <a:ext uri="{FF2B5EF4-FFF2-40B4-BE49-F238E27FC236}">
                <a16:creationId xmlns:a16="http://schemas.microsoft.com/office/drawing/2014/main" id="{824E737F-3F9C-3048-B98A-2C7BDC7B4B6F}"/>
              </a:ext>
            </a:extLst>
          </p:cNvPr>
          <p:cNvSpPr txBox="1"/>
          <p:nvPr/>
        </p:nvSpPr>
        <p:spPr>
          <a:xfrm>
            <a:off x="420489" y="7767937"/>
            <a:ext cx="5341437" cy="1569660"/>
          </a:xfrm>
          <a:prstGeom prst="rect">
            <a:avLst/>
          </a:prstGeom>
          <a:noFill/>
        </p:spPr>
        <p:txBody>
          <a:bodyPr wrap="square" rtlCol="0">
            <a:spAutoFit/>
          </a:bodyPr>
          <a:lstStyle/>
          <a:p>
            <a:pPr marL="285750" indent="-285750">
              <a:buFont typeface="Arial" panose="020B0604020202020204" pitchFamily="34" charset="0"/>
              <a:buChar char="•"/>
            </a:pPr>
            <a:r>
              <a:rPr lang="en-US" sz="3200" dirty="0"/>
              <a:t>Fun</a:t>
            </a:r>
          </a:p>
          <a:p>
            <a:pPr marL="285750" indent="-285750">
              <a:buFont typeface="Arial" panose="020B0604020202020204" pitchFamily="34" charset="0"/>
              <a:buChar char="•"/>
            </a:pPr>
            <a:r>
              <a:rPr lang="en-US" sz="3200" dirty="0"/>
              <a:t>Has zombies</a:t>
            </a:r>
          </a:p>
          <a:p>
            <a:pPr marL="285750" indent="-285750">
              <a:buFont typeface="Arial" panose="020B0604020202020204" pitchFamily="34" charset="0"/>
              <a:buChar char="•"/>
            </a:pPr>
            <a:r>
              <a:rPr lang="en-US" sz="3200" dirty="0"/>
              <a:t>Can fight Ender Dragon</a:t>
            </a:r>
            <a:endParaRPr lang="en-US" dirty="0"/>
          </a:p>
        </p:txBody>
      </p:sp>
      <p:sp>
        <p:nvSpPr>
          <p:cNvPr id="10" name="TextBox 9">
            <a:extLst>
              <a:ext uri="{FF2B5EF4-FFF2-40B4-BE49-F238E27FC236}">
                <a16:creationId xmlns:a16="http://schemas.microsoft.com/office/drawing/2014/main" id="{EBCA6E7D-58E5-7CF7-E6BD-496AEC360EEC}"/>
              </a:ext>
            </a:extLst>
          </p:cNvPr>
          <p:cNvSpPr txBox="1"/>
          <p:nvPr/>
        </p:nvSpPr>
        <p:spPr>
          <a:xfrm>
            <a:off x="6780703" y="7856446"/>
            <a:ext cx="5341437" cy="1569660"/>
          </a:xfrm>
          <a:prstGeom prst="rect">
            <a:avLst/>
          </a:prstGeom>
          <a:noFill/>
        </p:spPr>
        <p:txBody>
          <a:bodyPr wrap="square" rtlCol="0">
            <a:spAutoFit/>
          </a:bodyPr>
          <a:lstStyle/>
          <a:p>
            <a:pPr marL="285750" indent="-285750">
              <a:buFont typeface="Arial" panose="020B0604020202020204" pitchFamily="34" charset="0"/>
              <a:buChar char="•"/>
            </a:pPr>
            <a:r>
              <a:rPr lang="en-US" sz="3200" dirty="0"/>
              <a:t>Not fun</a:t>
            </a:r>
          </a:p>
          <a:p>
            <a:pPr marL="285750" indent="-285750">
              <a:buFont typeface="Arial" panose="020B0604020202020204" pitchFamily="34" charset="0"/>
              <a:buChar char="•"/>
            </a:pPr>
            <a:r>
              <a:rPr lang="en-US" sz="3200" dirty="0"/>
              <a:t>Has coal lung</a:t>
            </a:r>
          </a:p>
          <a:p>
            <a:pPr marL="285750" indent="-285750">
              <a:buFont typeface="Arial" panose="020B0604020202020204" pitchFamily="34" charset="0"/>
              <a:buChar char="•"/>
            </a:pPr>
            <a:r>
              <a:rPr lang="en-US" sz="3200" dirty="0"/>
              <a:t>Can fight your… boss? </a:t>
            </a:r>
          </a:p>
        </p:txBody>
      </p:sp>
    </p:spTree>
    <p:extLst>
      <p:ext uri="{BB962C8B-B14F-4D97-AF65-F5344CB8AC3E}">
        <p14:creationId xmlns:p14="http://schemas.microsoft.com/office/powerpoint/2010/main" val="459105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2889" y="1429164"/>
            <a:ext cx="5536174" cy="1235456"/>
          </a:xfrm>
        </p:spPr>
        <p:txBody>
          <a:bodyPr/>
          <a:lstStyle/>
          <a:p>
            <a:r>
              <a:rPr dirty="0"/>
              <a:t>Anthracite</a:t>
            </a:r>
            <a:r>
              <a:rPr lang="en-US" dirty="0"/>
              <a:t> Coal</a:t>
            </a:r>
            <a:endParaRPr dirty="0"/>
          </a:p>
        </p:txBody>
      </p:sp>
      <p:sp>
        <p:nvSpPr>
          <p:cNvPr id="3" name="Text Placeholder 2"/>
          <p:cNvSpPr>
            <a:spLocks noGrp="1"/>
          </p:cNvSpPr>
          <p:nvPr>
            <p:ph type="body" sz="half" idx="2"/>
          </p:nvPr>
        </p:nvSpPr>
        <p:spPr>
          <a:xfrm>
            <a:off x="570069" y="2392760"/>
            <a:ext cx="6325670" cy="6695822"/>
          </a:xfrm>
        </p:spPr>
        <p:txBody>
          <a:bodyPr wrap="square"/>
          <a:lstStyle/>
          <a:p>
            <a:pPr marL="285750" indent="-285750">
              <a:buFont typeface="Arial" panose="020B0604020202020204" pitchFamily="34" charset="0"/>
              <a:buChar char="•"/>
            </a:pPr>
            <a:r>
              <a:rPr sz="2000" dirty="0"/>
              <a:t>Pennsylvania's </a:t>
            </a:r>
            <a:r>
              <a:rPr sz="2000" b="1" dirty="0">
                <a:hlinkClick r:id="rId3"/>
              </a:rPr>
              <a:t>Coal Region</a:t>
            </a:r>
            <a:r>
              <a:rPr sz="2000" dirty="0">
                <a:hlinkClick r:id="rId3"/>
              </a:rPr>
              <a:t> </a:t>
            </a:r>
            <a:r>
              <a:rPr sz="2000" dirty="0"/>
              <a:t>— Carbon, Lackawanna, Luzerne, Northumberland, Schuylkill counties — holds </a:t>
            </a:r>
            <a:r>
              <a:rPr sz="2000" b="1" dirty="0"/>
              <a:t>the largest known anthracite deposits in the world</a:t>
            </a:r>
            <a:r>
              <a:rPr sz="2000" dirty="0"/>
              <a:t>: roughly </a:t>
            </a:r>
            <a:r>
              <a:rPr sz="2000" b="1" dirty="0"/>
              <a:t>7 billion short tons</a:t>
            </a:r>
            <a:r>
              <a:rPr sz="2000" dirty="0"/>
              <a:t>.</a:t>
            </a:r>
            <a:endParaRPr lang="en-US" sz="2000" dirty="0"/>
          </a:p>
          <a:p>
            <a:pPr marL="285750" indent="-285750">
              <a:buFont typeface="Arial" panose="020B0604020202020204" pitchFamily="34" charset="0"/>
              <a:buChar char="•"/>
            </a:pPr>
            <a:r>
              <a:rPr sz="2000" dirty="0"/>
              <a:t>The </a:t>
            </a:r>
            <a:r>
              <a:rPr sz="2000" b="1" dirty="0">
                <a:hlinkClick r:id="rId4"/>
              </a:rPr>
              <a:t>Lehigh Valley</a:t>
            </a:r>
            <a:r>
              <a:rPr sz="2000" dirty="0">
                <a:hlinkClick r:id="rId4"/>
              </a:rPr>
              <a:t> </a:t>
            </a:r>
            <a:r>
              <a:rPr lang="en-US" sz="2000" dirty="0"/>
              <a:t>in the Appalachian range </a:t>
            </a:r>
            <a:r>
              <a:rPr sz="2000" dirty="0"/>
              <a:t>is where that coal got out</a:t>
            </a:r>
            <a:r>
              <a:rPr lang="en-US" sz="2000" dirty="0"/>
              <a:t>:</a:t>
            </a:r>
          </a:p>
          <a:p>
            <a:pPr marL="773445" lvl="1" indent="-285750">
              <a:buFont typeface="Arial" panose="020B0604020202020204" pitchFamily="34" charset="0"/>
              <a:buChar char="•"/>
            </a:pPr>
            <a:r>
              <a:rPr lang="en-US" sz="2000" b="1" dirty="0"/>
              <a:t>Lehigh Canal</a:t>
            </a:r>
            <a:r>
              <a:rPr lang="en-US" sz="2000" dirty="0"/>
              <a:t>, opened </a:t>
            </a:r>
            <a:r>
              <a:rPr lang="en-US" sz="2000" b="1" dirty="0"/>
              <a:t>1827</a:t>
            </a:r>
            <a:r>
              <a:rPr lang="en-US" sz="2000" dirty="0"/>
              <a:t> — coal to Philadelphia and New York</a:t>
            </a:r>
          </a:p>
          <a:p>
            <a:pPr marL="773445" lvl="1" indent="-285750">
              <a:buFont typeface="Arial" panose="020B0604020202020204" pitchFamily="34" charset="0"/>
              <a:buChar char="•"/>
            </a:pPr>
            <a:r>
              <a:rPr lang="en-US" sz="2000" b="1" dirty="0"/>
              <a:t>Lehigh Valley Railroad</a:t>
            </a:r>
            <a:r>
              <a:rPr lang="en-US" sz="2000" dirty="0"/>
              <a:t> (Asa Packer) — coal to everywhere else</a:t>
            </a:r>
          </a:p>
          <a:p>
            <a:pPr marL="773445" lvl="1" indent="-285750">
              <a:buFont typeface="Arial" panose="020B0604020202020204" pitchFamily="34" charset="0"/>
              <a:buChar char="•"/>
            </a:pPr>
            <a:r>
              <a:rPr sz="2000" b="1" dirty="0"/>
              <a:t>Bethlehem Steel</a:t>
            </a:r>
            <a:r>
              <a:rPr sz="2000" dirty="0"/>
              <a:t>, founded </a:t>
            </a:r>
            <a:r>
              <a:rPr sz="2000" b="1" dirty="0"/>
              <a:t>1899</a:t>
            </a:r>
            <a:r>
              <a:rPr sz="2000" dirty="0"/>
              <a:t> — the nation's #2 steelmaker, built on that coal</a:t>
            </a:r>
          </a:p>
        </p:txBody>
      </p:sp>
      <p:pic>
        <p:nvPicPr>
          <p:cNvPr id="4" name="Picture 3" descr="breaker_boys.jpg"/>
          <p:cNvPicPr>
            <a:picLocks noChangeAspect="1"/>
          </p:cNvPicPr>
          <p:nvPr/>
        </p:nvPicPr>
        <p:blipFill>
          <a:blip r:embed="rId5"/>
          <a:stretch>
            <a:fillRect/>
          </a:stretch>
        </p:blipFill>
        <p:spPr>
          <a:xfrm>
            <a:off x="7275557" y="1672046"/>
            <a:ext cx="4871417" cy="3547000"/>
          </a:xfrm>
          <a:prstGeom prst="rect">
            <a:avLst/>
          </a:prstGeom>
        </p:spPr>
      </p:pic>
      <p:sp>
        <p:nvSpPr>
          <p:cNvPr id="5" name="TextBox 4"/>
          <p:cNvSpPr txBox="1"/>
          <p:nvPr/>
        </p:nvSpPr>
        <p:spPr>
          <a:xfrm>
            <a:off x="6419426" y="5273910"/>
            <a:ext cx="6583680" cy="384048"/>
          </a:xfrm>
          <a:prstGeom prst="rect">
            <a:avLst/>
          </a:prstGeom>
          <a:noFill/>
        </p:spPr>
        <p:txBody>
          <a:bodyPr wrap="square">
            <a:spAutoFit/>
          </a:bodyPr>
          <a:lstStyle/>
          <a:p>
            <a:r>
              <a:rPr sz="1000">
                <a:solidFill>
                  <a:srgbClr val="595959"/>
                </a:solidFill>
              </a:rPr>
              <a:t>Breaker boys and men, Pennsylvania Coal Co. Photo Lewis Hine. PD (LoC).</a:t>
            </a:r>
          </a:p>
        </p:txBody>
      </p:sp>
      <p:pic>
        <p:nvPicPr>
          <p:cNvPr id="6" name="Picture 5" descr="lehigh_canal.jpg"/>
          <p:cNvPicPr>
            <a:picLocks noChangeAspect="1"/>
          </p:cNvPicPr>
          <p:nvPr/>
        </p:nvPicPr>
        <p:blipFill>
          <a:blip r:embed="rId6"/>
          <a:stretch>
            <a:fillRect/>
          </a:stretch>
        </p:blipFill>
        <p:spPr>
          <a:xfrm>
            <a:off x="7369371" y="5712823"/>
            <a:ext cx="4683790" cy="3547001"/>
          </a:xfrm>
          <a:prstGeom prst="rect">
            <a:avLst/>
          </a:prstGeom>
        </p:spPr>
      </p:pic>
      <p:sp>
        <p:nvSpPr>
          <p:cNvPr id="7" name="TextBox 6"/>
          <p:cNvSpPr txBox="1"/>
          <p:nvPr/>
        </p:nvSpPr>
        <p:spPr>
          <a:xfrm>
            <a:off x="6419426" y="9314688"/>
            <a:ext cx="6583680" cy="384048"/>
          </a:xfrm>
          <a:prstGeom prst="rect">
            <a:avLst/>
          </a:prstGeom>
          <a:noFill/>
        </p:spPr>
        <p:txBody>
          <a:bodyPr wrap="square">
            <a:spAutoFit/>
          </a:bodyPr>
          <a:lstStyle/>
          <a:p>
            <a:r>
              <a:rPr sz="1000">
                <a:solidFill>
                  <a:srgbClr val="595959"/>
                </a:solidFill>
              </a:rPr>
              <a:t>Chutes loading coal boats on the Lehigh Canal (opened 1827). PD.</a:t>
            </a:r>
          </a:p>
        </p:txBody>
      </p:sp>
    </p:spTree>
    <p:extLst>
      <p:ext uri="{BB962C8B-B14F-4D97-AF65-F5344CB8AC3E}">
        <p14:creationId xmlns:p14="http://schemas.microsoft.com/office/powerpoint/2010/main" val="1939493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EAE7A-1D3F-7D80-5EEA-B338E7692D94}"/>
              </a:ext>
            </a:extLst>
          </p:cNvPr>
          <p:cNvSpPr>
            <a:spLocks noGrp="1"/>
          </p:cNvSpPr>
          <p:nvPr>
            <p:ph type="title"/>
          </p:nvPr>
        </p:nvSpPr>
        <p:spPr>
          <a:xfrm>
            <a:off x="420489" y="1224628"/>
            <a:ext cx="11216640" cy="1235456"/>
          </a:xfrm>
        </p:spPr>
        <p:txBody>
          <a:bodyPr/>
          <a:lstStyle/>
          <a:p>
            <a:r>
              <a:rPr lang="en-US" dirty="0"/>
              <a:t>Iron Ore</a:t>
            </a:r>
          </a:p>
        </p:txBody>
      </p:sp>
      <p:sp>
        <p:nvSpPr>
          <p:cNvPr id="3" name="Content Placeholder 2">
            <a:extLst>
              <a:ext uri="{FF2B5EF4-FFF2-40B4-BE49-F238E27FC236}">
                <a16:creationId xmlns:a16="http://schemas.microsoft.com/office/drawing/2014/main" id="{597106A4-A70A-A192-A0C4-268BD7B0A7A3}"/>
              </a:ext>
            </a:extLst>
          </p:cNvPr>
          <p:cNvSpPr>
            <a:spLocks noGrp="1"/>
          </p:cNvSpPr>
          <p:nvPr>
            <p:ph idx="1"/>
          </p:nvPr>
        </p:nvSpPr>
        <p:spPr>
          <a:xfrm>
            <a:off x="420489" y="2288501"/>
            <a:ext cx="5852560" cy="7176775"/>
          </a:xfrm>
        </p:spPr>
        <p:txBody>
          <a:bodyPr/>
          <a:lstStyle/>
          <a:p>
            <a:r>
              <a:rPr lang="en-US" sz="2000" dirty="0">
                <a:hlinkClick r:id="rId3"/>
              </a:rPr>
              <a:t>Primarily from the Mesabi Range in northeastern Minnesota </a:t>
            </a:r>
            <a:endParaRPr lang="en-US" sz="2000" dirty="0"/>
          </a:p>
          <a:p>
            <a:pPr lvl="1"/>
            <a:r>
              <a:rPr lang="en-US" sz="2000" dirty="0"/>
              <a:t>Ojibwe in N.E. Minnesota knew of the iron ore in the region, and told blacksmith N.A. Posey in 1863 and surveyor George Stunz</a:t>
            </a:r>
          </a:p>
          <a:p>
            <a:pPr lvl="1"/>
            <a:r>
              <a:rPr lang="en-US" sz="2000" dirty="0">
                <a:hlinkClick r:id="rId4"/>
              </a:rPr>
              <a:t>Immigrants from Europe </a:t>
            </a:r>
            <a:r>
              <a:rPr lang="en-US" sz="2000" dirty="0"/>
              <a:t>(German, Irish, Swedes, Italians) moved into the region near Duluth in the late 19</a:t>
            </a:r>
            <a:r>
              <a:rPr lang="en-US" sz="2000" baseline="30000" dirty="0"/>
              <a:t>th</a:t>
            </a:r>
            <a:r>
              <a:rPr lang="en-US" sz="2000" dirty="0"/>
              <a:t> Century</a:t>
            </a:r>
          </a:p>
          <a:p>
            <a:r>
              <a:rPr lang="en-US" sz="2000" dirty="0"/>
              <a:t>Mining companies opened in the late 19</a:t>
            </a:r>
            <a:r>
              <a:rPr lang="en-US" sz="2000" baseline="30000" dirty="0"/>
              <a:t>th</a:t>
            </a:r>
            <a:r>
              <a:rPr lang="en-US" sz="2000" dirty="0"/>
              <a:t> century, examples: </a:t>
            </a:r>
          </a:p>
          <a:p>
            <a:pPr lvl="1"/>
            <a:r>
              <a:rPr lang="en-US" sz="2000" dirty="0">
                <a:hlinkClick r:id="rId5"/>
              </a:rPr>
              <a:t>Soudan Mine</a:t>
            </a:r>
            <a:endParaRPr lang="en-US" sz="2000" dirty="0">
              <a:hlinkClick r:id="rId6"/>
            </a:endParaRPr>
          </a:p>
          <a:p>
            <a:pPr lvl="1"/>
            <a:r>
              <a:rPr lang="en-US" sz="2000" dirty="0">
                <a:hlinkClick r:id="rId6"/>
              </a:rPr>
              <a:t>Mountain Iron Mine</a:t>
            </a:r>
            <a:endParaRPr lang="en-US" sz="2000" dirty="0"/>
          </a:p>
          <a:p>
            <a:r>
              <a:rPr lang="en-US" sz="2000" dirty="0">
                <a:hlinkClick r:id="rId7"/>
              </a:rPr>
              <a:t>Carnegie, Morgan, Charles Schwab, Elbert Gary</a:t>
            </a:r>
            <a:r>
              <a:rPr lang="en-US" sz="2000" dirty="0"/>
              <a:t> and others eventually merged all of the disparate steel operations into one megacorporation, </a:t>
            </a:r>
            <a:r>
              <a:rPr lang="en-US" sz="2000" dirty="0">
                <a:hlinkClick r:id="rId8"/>
              </a:rPr>
              <a:t>US Steel</a:t>
            </a:r>
            <a:r>
              <a:rPr lang="en-US" sz="2000" dirty="0"/>
              <a:t>, which held a virtual monopoly on steel production in the US</a:t>
            </a:r>
          </a:p>
        </p:txBody>
      </p:sp>
      <p:pic>
        <p:nvPicPr>
          <p:cNvPr id="4" name="Picture 3">
            <a:extLst>
              <a:ext uri="{FF2B5EF4-FFF2-40B4-BE49-F238E27FC236}">
                <a16:creationId xmlns:a16="http://schemas.microsoft.com/office/drawing/2014/main" id="{1F0519A3-3E57-29B8-4658-9FD39D956673}"/>
              </a:ext>
            </a:extLst>
          </p:cNvPr>
          <p:cNvPicPr>
            <a:picLocks noChangeAspect="1"/>
          </p:cNvPicPr>
          <p:nvPr/>
        </p:nvPicPr>
        <p:blipFill>
          <a:blip r:embed="rId9"/>
          <a:stretch>
            <a:fillRect/>
          </a:stretch>
        </p:blipFill>
        <p:spPr>
          <a:xfrm>
            <a:off x="6273049" y="1842356"/>
            <a:ext cx="6311262" cy="4768509"/>
          </a:xfrm>
          <a:prstGeom prst="rect">
            <a:avLst/>
          </a:prstGeom>
        </p:spPr>
      </p:pic>
    </p:spTree>
    <p:extLst>
      <p:ext uri="{BB962C8B-B14F-4D97-AF65-F5344CB8AC3E}">
        <p14:creationId xmlns:p14="http://schemas.microsoft.com/office/powerpoint/2010/main" val="3331202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12FAF-05D1-C9E5-27A4-459064FCE9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6E94B6-B3E0-6255-3E53-0E381622B89D}"/>
              </a:ext>
            </a:extLst>
          </p:cNvPr>
          <p:cNvSpPr>
            <a:spLocks noGrp="1"/>
          </p:cNvSpPr>
          <p:nvPr>
            <p:ph type="ctrTitle"/>
          </p:nvPr>
        </p:nvSpPr>
        <p:spPr/>
        <p:txBody>
          <a:bodyPr/>
          <a:lstStyle/>
          <a:p>
            <a:r>
              <a:rPr lang="en-US" dirty="0"/>
              <a:t>The people, Their unions, and the company town</a:t>
            </a:r>
          </a:p>
        </p:txBody>
      </p:sp>
    </p:spTree>
    <p:extLst>
      <p:ext uri="{BB962C8B-B14F-4D97-AF65-F5344CB8AC3E}">
        <p14:creationId xmlns:p14="http://schemas.microsoft.com/office/powerpoint/2010/main" val="666973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489" y="1499118"/>
            <a:ext cx="5536174" cy="1235456"/>
          </a:xfrm>
        </p:spPr>
        <p:txBody>
          <a:bodyPr/>
          <a:lstStyle/>
          <a:p>
            <a:r>
              <a:rPr lang="en-US" dirty="0"/>
              <a:t>Who dug it, and where the wealth went</a:t>
            </a:r>
            <a:endParaRPr dirty="0"/>
          </a:p>
        </p:txBody>
      </p:sp>
      <p:sp>
        <p:nvSpPr>
          <p:cNvPr id="3" name="Text Placeholder 2"/>
          <p:cNvSpPr>
            <a:spLocks noGrp="1"/>
          </p:cNvSpPr>
          <p:nvPr>
            <p:ph type="body" sz="half" idx="2"/>
          </p:nvPr>
        </p:nvSpPr>
        <p:spPr>
          <a:xfrm>
            <a:off x="417668" y="2833557"/>
            <a:ext cx="6084732" cy="6659359"/>
          </a:xfrm>
        </p:spPr>
        <p:txBody>
          <a:bodyPr wrap="square"/>
          <a:lstStyle/>
          <a:p>
            <a:pPr marL="285750" indent="-285750">
              <a:buFont typeface="Arial" panose="020B0604020202020204" pitchFamily="34" charset="0"/>
              <a:buChar char="•"/>
            </a:pPr>
            <a:r>
              <a:rPr sz="2400" dirty="0">
                <a:hlinkClick r:id="rId3"/>
              </a:rPr>
              <a:t>The Coal Region's workforce was imported in waves</a:t>
            </a:r>
            <a:r>
              <a:rPr sz="2400" dirty="0"/>
              <a:t>: </a:t>
            </a:r>
            <a:r>
              <a:rPr sz="2400" b="1" dirty="0"/>
              <a:t>English, Welsh, Irish, German</a:t>
            </a:r>
            <a:r>
              <a:rPr sz="2400" dirty="0"/>
              <a:t> first, then </a:t>
            </a:r>
            <a:r>
              <a:rPr sz="2400" b="1" dirty="0"/>
              <a:t>Polish, Slovak, Ukrainian, Hungarian, Italian, Russian, Lithuanian and Jewish</a:t>
            </a:r>
            <a:r>
              <a:rPr sz="2400" dirty="0"/>
              <a:t> immigrants</a:t>
            </a:r>
            <a:r>
              <a:rPr lang="en-US" sz="2400" dirty="0"/>
              <a:t>, as well as extensive migration of </a:t>
            </a:r>
            <a:r>
              <a:rPr lang="en-US" sz="2400" b="1" dirty="0"/>
              <a:t>Black Americans</a:t>
            </a:r>
            <a:r>
              <a:rPr lang="en-US" sz="2400" dirty="0"/>
              <a:t> escaping the Jim Crow South in the Great Migration</a:t>
            </a:r>
            <a:endParaRPr sz="2400" dirty="0"/>
          </a:p>
          <a:p>
            <a:pPr marL="285750" indent="-285750">
              <a:buFont typeface="Arial" panose="020B0604020202020204" pitchFamily="34" charset="0"/>
              <a:buChar char="•"/>
            </a:pPr>
            <a:r>
              <a:rPr sz="2400" dirty="0"/>
              <a:t>The coal did not stay. It went to the </a:t>
            </a:r>
            <a:r>
              <a:rPr sz="2400" b="1" dirty="0"/>
              <a:t>Steel Belt</a:t>
            </a:r>
            <a:r>
              <a:rPr sz="2400" dirty="0"/>
              <a:t> — Pittsburgh, Cleveland, Detroit, Chicago, and </a:t>
            </a:r>
            <a:r>
              <a:rPr sz="2400" b="1" dirty="0"/>
              <a:t>Buffalo</a:t>
            </a:r>
            <a:r>
              <a:rPr sz="2400" dirty="0"/>
              <a:t> — where Appalachian coking coal met Minnesota iron ore over Great Lakes shipping.</a:t>
            </a:r>
          </a:p>
        </p:txBody>
      </p:sp>
    </p:spTree>
    <p:extLst>
      <p:ext uri="{BB962C8B-B14F-4D97-AF65-F5344CB8AC3E}">
        <p14:creationId xmlns:p14="http://schemas.microsoft.com/office/powerpoint/2010/main" val="1797635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669" y="1340932"/>
            <a:ext cx="5536174" cy="1235456"/>
          </a:xfrm>
        </p:spPr>
        <p:txBody>
          <a:bodyPr/>
          <a:lstStyle/>
          <a:p>
            <a:r>
              <a:rPr dirty="0">
                <a:hlinkClick r:id="rId3"/>
              </a:rPr>
              <a:t>John Henry</a:t>
            </a:r>
            <a:endParaRPr dirty="0"/>
          </a:p>
        </p:txBody>
      </p:sp>
      <p:sp>
        <p:nvSpPr>
          <p:cNvPr id="3" name="Text Placeholder 2"/>
          <p:cNvSpPr>
            <a:spLocks noGrp="1"/>
          </p:cNvSpPr>
          <p:nvPr>
            <p:ph type="body" sz="half" idx="2"/>
          </p:nvPr>
        </p:nvSpPr>
        <p:spPr>
          <a:xfrm>
            <a:off x="417668" y="2225842"/>
            <a:ext cx="7294573" cy="6906126"/>
          </a:xfrm>
        </p:spPr>
        <p:txBody>
          <a:bodyPr wrap="square"/>
          <a:lstStyle/>
          <a:p>
            <a:pPr marL="285750" indent="-285750">
              <a:buFont typeface="Arial" panose="020B0604020202020204" pitchFamily="34" charset="0"/>
              <a:buChar char="•"/>
            </a:pPr>
            <a:r>
              <a:rPr sz="2000" b="1" dirty="0"/>
              <a:t>John Henry</a:t>
            </a:r>
            <a:r>
              <a:rPr sz="2000" dirty="0"/>
              <a:t> is </a:t>
            </a:r>
            <a:r>
              <a:rPr lang="en-US" sz="2000" dirty="0"/>
              <a:t>a Black American folk hero. According to legend, he</a:t>
            </a:r>
            <a:r>
              <a:rPr sz="2000" dirty="0"/>
              <a:t> race</a:t>
            </a:r>
            <a:r>
              <a:rPr lang="en-US" sz="2000" dirty="0"/>
              <a:t>d</a:t>
            </a:r>
            <a:r>
              <a:rPr sz="2000" dirty="0"/>
              <a:t> a steam drill through a mountain</a:t>
            </a:r>
            <a:r>
              <a:rPr lang="en-US" sz="2000" dirty="0"/>
              <a:t> at Big Bend Tunnel</a:t>
            </a:r>
            <a:r>
              <a:rPr sz="2000" dirty="0"/>
              <a:t>, </a:t>
            </a:r>
            <a:r>
              <a:rPr lang="en-US" sz="2000" dirty="0"/>
              <a:t>won</a:t>
            </a:r>
            <a:r>
              <a:rPr sz="2000" dirty="0"/>
              <a:t>, and die</a:t>
            </a:r>
            <a:r>
              <a:rPr lang="en-US" sz="2000" dirty="0"/>
              <a:t>d</a:t>
            </a:r>
            <a:r>
              <a:rPr sz="2000" dirty="0"/>
              <a:t> with the hammer in his hand.</a:t>
            </a:r>
          </a:p>
          <a:p>
            <a:pPr marL="285750" indent="-285750">
              <a:buFont typeface="Arial" panose="020B0604020202020204" pitchFamily="34" charset="0"/>
              <a:buChar char="•"/>
            </a:pPr>
            <a:r>
              <a:rPr sz="2000" dirty="0"/>
              <a:t>Historian </a:t>
            </a:r>
            <a:r>
              <a:rPr sz="2000" b="1" dirty="0"/>
              <a:t>Scott Reynolds Nelson</a:t>
            </a:r>
            <a:r>
              <a:rPr sz="2000" dirty="0"/>
              <a:t> traced him to prison records — a </a:t>
            </a:r>
            <a:r>
              <a:rPr sz="2000" b="1" dirty="0"/>
              <a:t>19-year-old</a:t>
            </a:r>
            <a:r>
              <a:rPr sz="2000" dirty="0"/>
              <a:t> named John William Henry, in the Virginia Penitentiary, sent to tunnel work on the </a:t>
            </a:r>
            <a:r>
              <a:rPr sz="2000" b="1" dirty="0"/>
              <a:t>Chesapeake &amp; Ohio Railway</a:t>
            </a:r>
            <a:r>
              <a:rPr sz="2000" dirty="0"/>
              <a:t> in the 1870s.</a:t>
            </a:r>
            <a:endParaRPr lang="en-US" sz="2000" dirty="0"/>
          </a:p>
          <a:p>
            <a:pPr marL="773445" lvl="1" indent="-285750">
              <a:buFont typeface="Arial" panose="020B0604020202020204" pitchFamily="34" charset="0"/>
              <a:buChar char="•"/>
            </a:pPr>
            <a:r>
              <a:rPr lang="en-US" sz="2000" b="1" dirty="0"/>
              <a:t>Co</a:t>
            </a:r>
            <a:r>
              <a:rPr sz="2000" b="1" dirty="0"/>
              <a:t>nvict laborer</a:t>
            </a:r>
            <a:r>
              <a:rPr sz="2000" dirty="0"/>
              <a:t>, and he probably died of </a:t>
            </a:r>
            <a:r>
              <a:rPr sz="2000" b="1" dirty="0"/>
              <a:t>silicosis</a:t>
            </a:r>
            <a:r>
              <a:rPr sz="2000" dirty="0"/>
              <a:t> from rock dust — not a burst heart.</a:t>
            </a:r>
            <a:endParaRPr lang="en-US" sz="2000" dirty="0"/>
          </a:p>
          <a:p>
            <a:pPr marL="773445" lvl="1" indent="-285750">
              <a:buFont typeface="Arial" panose="020B0604020202020204" pitchFamily="34" charset="0"/>
              <a:buChar char="•"/>
            </a:pPr>
            <a:r>
              <a:rPr lang="en-US" sz="2000" dirty="0"/>
              <a:t>John Henry stands for hundreds who died anonymously.</a:t>
            </a:r>
          </a:p>
          <a:p>
            <a:pPr marL="773445" lvl="1" indent="-285750">
              <a:buFont typeface="Arial" panose="020B0604020202020204" pitchFamily="34" charset="0"/>
              <a:buChar char="•"/>
            </a:pPr>
            <a:r>
              <a:rPr sz="2000" b="1" dirty="0"/>
              <a:t>Convict leasing</a:t>
            </a:r>
            <a:r>
              <a:rPr sz="2000" dirty="0"/>
              <a:t> put thousands of Black men, arrested on minor or invented charges, into mines and tunnels across </a:t>
            </a:r>
            <a:r>
              <a:rPr lang="en-US" sz="2000" dirty="0"/>
              <a:t>America, a practice that still exists today</a:t>
            </a:r>
          </a:p>
          <a:p>
            <a:pPr marL="285750" indent="-285750">
              <a:buFont typeface="Arial" panose="020B0604020202020204" pitchFamily="34" charset="0"/>
              <a:buChar char="•"/>
            </a:pPr>
            <a:r>
              <a:rPr lang="en-US" sz="2000" dirty="0">
                <a:hlinkClick r:id="rId4"/>
              </a:rPr>
              <a:t>The Ballad of John Henry </a:t>
            </a:r>
            <a:r>
              <a:rPr lang="en-US" sz="2000" dirty="0"/>
              <a:t>became a very </a:t>
            </a:r>
            <a:r>
              <a:rPr lang="en-US" sz="2000" dirty="0">
                <a:hlinkClick r:id="rId5"/>
              </a:rPr>
              <a:t>popular folk song</a:t>
            </a:r>
            <a:r>
              <a:rPr lang="en-US" sz="2000" dirty="0"/>
              <a:t>, Sung by many including Gabriel Brown and Rochelle French, as well as 21</a:t>
            </a:r>
            <a:r>
              <a:rPr lang="en-US" sz="2000" baseline="30000" dirty="0"/>
              <a:t>st</a:t>
            </a:r>
            <a:r>
              <a:rPr lang="en-US" sz="2000" dirty="0"/>
              <a:t> century artists like </a:t>
            </a:r>
            <a:r>
              <a:rPr lang="en-US" sz="2000" dirty="0">
                <a:hlinkClick r:id="rId6"/>
              </a:rPr>
              <a:t>Joe Bonamassa </a:t>
            </a:r>
            <a:r>
              <a:rPr lang="en-US" sz="2000" dirty="0"/>
              <a:t>(From Rochester) </a:t>
            </a:r>
          </a:p>
        </p:txBody>
      </p:sp>
      <p:pic>
        <p:nvPicPr>
          <p:cNvPr id="4" name="Picture 3" descr="Sign outside of the Big Bend Tunnel noting its connection to the legend of John Henry. “Big Bend Tunnel: The great tunnel of the C&amp;O Railroad was started at Big Bend in 1870 and completed three years later. It is more than a mile long, and now has a twin tunnel. Tradition makes this the scene of the steel drivers’ ballad, John Henry”">
            <a:extLst>
              <a:ext uri="{FF2B5EF4-FFF2-40B4-BE49-F238E27FC236}">
                <a16:creationId xmlns:a16="http://schemas.microsoft.com/office/drawing/2014/main" id="{591938B4-62ED-6AA3-6752-173B77A6086B}"/>
              </a:ext>
            </a:extLst>
          </p:cNvPr>
          <p:cNvPicPr>
            <a:picLocks noChangeAspect="1"/>
          </p:cNvPicPr>
          <p:nvPr/>
        </p:nvPicPr>
        <p:blipFill>
          <a:blip r:embed="rId7"/>
          <a:stretch>
            <a:fillRect/>
          </a:stretch>
        </p:blipFill>
        <p:spPr>
          <a:xfrm>
            <a:off x="9761804" y="3292938"/>
            <a:ext cx="3235543" cy="2803358"/>
          </a:xfrm>
          <a:prstGeom prst="rect">
            <a:avLst/>
          </a:prstGeom>
        </p:spPr>
      </p:pic>
      <p:pic>
        <p:nvPicPr>
          <p:cNvPr id="6" name="Picture 5" descr="Cover of “Steel Drivin’ Man - John Henry - The untold story of an Amercian Legend” by Scott Reynolds Nelson, which shows a cartoon depiction of John Henry driving a steel pin held by two seated men into a rail tie">
            <a:extLst>
              <a:ext uri="{FF2B5EF4-FFF2-40B4-BE49-F238E27FC236}">
                <a16:creationId xmlns:a16="http://schemas.microsoft.com/office/drawing/2014/main" id="{9D3986C9-4E69-38E2-2841-8754CA1E12B0}"/>
              </a:ext>
            </a:extLst>
          </p:cNvPr>
          <p:cNvPicPr>
            <a:picLocks noChangeAspect="1"/>
          </p:cNvPicPr>
          <p:nvPr/>
        </p:nvPicPr>
        <p:blipFill>
          <a:blip r:embed="rId8"/>
          <a:stretch>
            <a:fillRect/>
          </a:stretch>
        </p:blipFill>
        <p:spPr>
          <a:xfrm>
            <a:off x="7872017" y="0"/>
            <a:ext cx="2489160" cy="3729789"/>
          </a:xfrm>
          <a:prstGeom prst="rect">
            <a:avLst/>
          </a:prstGeom>
        </p:spPr>
      </p:pic>
      <p:pic>
        <p:nvPicPr>
          <p:cNvPr id="7" name="Picture 6" descr="Gabriel Brown and Rochelle French, Eatonville, Florida, from https://www.loc.gov/item/2007660100/">
            <a:hlinkClick r:id="rId9"/>
            <a:extLst>
              <a:ext uri="{FF2B5EF4-FFF2-40B4-BE49-F238E27FC236}">
                <a16:creationId xmlns:a16="http://schemas.microsoft.com/office/drawing/2014/main" id="{1B939C3D-9B3C-7800-73D1-536D33418A50}"/>
              </a:ext>
            </a:extLst>
          </p:cNvPr>
          <p:cNvPicPr>
            <a:picLocks noChangeAspect="1"/>
          </p:cNvPicPr>
          <p:nvPr/>
        </p:nvPicPr>
        <p:blipFill>
          <a:blip r:embed="rId10"/>
          <a:stretch>
            <a:fillRect/>
          </a:stretch>
        </p:blipFill>
        <p:spPr>
          <a:xfrm>
            <a:off x="8216650" y="6278479"/>
            <a:ext cx="4647207" cy="3167725"/>
          </a:xfrm>
          <a:prstGeom prst="rect">
            <a:avLst/>
          </a:prstGeom>
        </p:spPr>
      </p:pic>
      <p:sp>
        <p:nvSpPr>
          <p:cNvPr id="9" name="TextBox 8">
            <a:extLst>
              <a:ext uri="{FF2B5EF4-FFF2-40B4-BE49-F238E27FC236}">
                <a16:creationId xmlns:a16="http://schemas.microsoft.com/office/drawing/2014/main" id="{1EEA37BA-5C85-F0E9-2D70-93B5F6E05664}"/>
              </a:ext>
            </a:extLst>
          </p:cNvPr>
          <p:cNvSpPr txBox="1"/>
          <p:nvPr/>
        </p:nvSpPr>
        <p:spPr>
          <a:xfrm>
            <a:off x="8216650" y="9446204"/>
            <a:ext cx="6503068" cy="276999"/>
          </a:xfrm>
          <a:prstGeom prst="rect">
            <a:avLst/>
          </a:prstGeom>
          <a:noFill/>
        </p:spPr>
        <p:txBody>
          <a:bodyPr wrap="square">
            <a:spAutoFit/>
          </a:bodyPr>
          <a:lstStyle/>
          <a:p>
            <a:pPr indent="0" algn="l" rtl="0">
              <a:buNone/>
            </a:pPr>
            <a:r>
              <a:rPr lang="en-US" sz="1200" i="0" dirty="0">
                <a:solidFill>
                  <a:schemeClr val="tx1"/>
                </a:solidFill>
                <a:effectLst/>
                <a:latin typeface="+mn-lt"/>
              </a:rPr>
              <a:t>Gabriel Brown and Rochelle French, Eatonville, Florida</a:t>
            </a:r>
            <a:endParaRPr lang="en-US" sz="1200" i="0" dirty="0">
              <a:solidFill>
                <a:srgbClr val="242424"/>
              </a:solidFill>
              <a:effectLst/>
              <a:latin typeface="Roboto Slab" pitchFamily="2" charset="0"/>
            </a:endParaRPr>
          </a:p>
        </p:txBody>
      </p:sp>
    </p:spTree>
    <p:extLst>
      <p:ext uri="{BB962C8B-B14F-4D97-AF65-F5344CB8AC3E}">
        <p14:creationId xmlns:p14="http://schemas.microsoft.com/office/powerpoint/2010/main" val="3373160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69389-9C03-813F-3341-D8362D9D829E}"/>
              </a:ext>
            </a:extLst>
          </p:cNvPr>
          <p:cNvSpPr>
            <a:spLocks noGrp="1"/>
          </p:cNvSpPr>
          <p:nvPr>
            <p:ph type="title"/>
          </p:nvPr>
        </p:nvSpPr>
        <p:spPr/>
        <p:txBody>
          <a:bodyPr/>
          <a:lstStyle/>
          <a:p>
            <a:r>
              <a:rPr lang="en-US" dirty="0"/>
              <a:t>Unions</a:t>
            </a:r>
          </a:p>
        </p:txBody>
      </p:sp>
      <p:sp>
        <p:nvSpPr>
          <p:cNvPr id="3" name="Content Placeholder 2">
            <a:extLst>
              <a:ext uri="{FF2B5EF4-FFF2-40B4-BE49-F238E27FC236}">
                <a16:creationId xmlns:a16="http://schemas.microsoft.com/office/drawing/2014/main" id="{B25688DE-C480-E094-5829-F6E827291B45}"/>
              </a:ext>
            </a:extLst>
          </p:cNvPr>
          <p:cNvSpPr>
            <a:spLocks noGrp="1"/>
          </p:cNvSpPr>
          <p:nvPr>
            <p:ph idx="1"/>
          </p:nvPr>
        </p:nvSpPr>
        <p:spPr>
          <a:xfrm>
            <a:off x="596117" y="2995384"/>
            <a:ext cx="6172816" cy="5757399"/>
          </a:xfrm>
        </p:spPr>
        <p:txBody>
          <a:bodyPr/>
          <a:lstStyle/>
          <a:p>
            <a:r>
              <a:rPr lang="en-US" dirty="0"/>
              <a:t>The brutal mining conditions, awful health outcomes, and exploitation of workers and the community led to the formation of the </a:t>
            </a:r>
            <a:r>
              <a:rPr lang="en-US" dirty="0">
                <a:hlinkClick r:id="rId2"/>
              </a:rPr>
              <a:t>United Mine Workers of America</a:t>
            </a:r>
            <a:r>
              <a:rPr lang="en-US" dirty="0"/>
              <a:t> in 1890</a:t>
            </a:r>
          </a:p>
          <a:p>
            <a:r>
              <a:rPr lang="en-US" dirty="0"/>
              <a:t>Modeled after the </a:t>
            </a:r>
            <a:r>
              <a:rPr lang="en-US" dirty="0">
                <a:hlinkClick r:id="rId3"/>
              </a:rPr>
              <a:t>American Federation of Labor </a:t>
            </a:r>
            <a:r>
              <a:rPr lang="en-US" dirty="0"/>
              <a:t>(AFL), but then broke with AFL to set up its own federation, the </a:t>
            </a:r>
            <a:r>
              <a:rPr lang="en-US" dirty="0">
                <a:hlinkClick r:id="rId4"/>
              </a:rPr>
              <a:t>Congress of Industrial Organizations</a:t>
            </a:r>
            <a:r>
              <a:rPr lang="en-US" dirty="0"/>
              <a:t>, later all incorporated into the </a:t>
            </a:r>
            <a:r>
              <a:rPr lang="en-US" dirty="0">
                <a:hlinkClick r:id="rId5"/>
              </a:rPr>
              <a:t>AFL-CIO</a:t>
            </a:r>
            <a:r>
              <a:rPr lang="en-US" dirty="0"/>
              <a:t> </a:t>
            </a:r>
          </a:p>
          <a:p>
            <a:endParaRPr lang="en-US" dirty="0"/>
          </a:p>
        </p:txBody>
      </p:sp>
      <p:pic>
        <p:nvPicPr>
          <p:cNvPr id="4" name="Picture 3" descr="Logo for the United MIne Workers of America with the letters UMWA&#10;&#10;https://umwa.org">
            <a:extLst>
              <a:ext uri="{FF2B5EF4-FFF2-40B4-BE49-F238E27FC236}">
                <a16:creationId xmlns:a16="http://schemas.microsoft.com/office/drawing/2014/main" id="{A757A0C0-F26B-60E6-4A93-F4476C551933}"/>
              </a:ext>
            </a:extLst>
          </p:cNvPr>
          <p:cNvPicPr>
            <a:picLocks noChangeAspect="1"/>
          </p:cNvPicPr>
          <p:nvPr/>
        </p:nvPicPr>
        <p:blipFill>
          <a:blip r:embed="rId6"/>
          <a:stretch>
            <a:fillRect/>
          </a:stretch>
        </p:blipFill>
        <p:spPr>
          <a:xfrm>
            <a:off x="6944560" y="1810084"/>
            <a:ext cx="5829300" cy="4064000"/>
          </a:xfrm>
          <a:prstGeom prst="rect">
            <a:avLst/>
          </a:prstGeom>
        </p:spPr>
      </p:pic>
      <p:sp>
        <p:nvSpPr>
          <p:cNvPr id="6" name="TextBox 5">
            <a:extLst>
              <a:ext uri="{FF2B5EF4-FFF2-40B4-BE49-F238E27FC236}">
                <a16:creationId xmlns:a16="http://schemas.microsoft.com/office/drawing/2014/main" id="{4D39213E-D1B1-B86F-8376-0B3D586EA4AE}"/>
              </a:ext>
            </a:extLst>
          </p:cNvPr>
          <p:cNvSpPr txBox="1"/>
          <p:nvPr/>
        </p:nvSpPr>
        <p:spPr>
          <a:xfrm>
            <a:off x="8394184" y="5828835"/>
            <a:ext cx="3805837" cy="369332"/>
          </a:xfrm>
          <a:prstGeom prst="rect">
            <a:avLst/>
          </a:prstGeom>
          <a:noFill/>
        </p:spPr>
        <p:txBody>
          <a:bodyPr wrap="square">
            <a:spAutoFit/>
          </a:bodyPr>
          <a:lstStyle/>
          <a:p>
            <a:r>
              <a:rPr lang="en-US" dirty="0"/>
              <a:t>https://</a:t>
            </a:r>
            <a:r>
              <a:rPr lang="en-US" dirty="0" err="1"/>
              <a:t>umwa.org</a:t>
            </a:r>
            <a:endParaRPr lang="en-US" dirty="0"/>
          </a:p>
        </p:txBody>
      </p:sp>
    </p:spTree>
    <p:extLst>
      <p:ext uri="{BB962C8B-B14F-4D97-AF65-F5344CB8AC3E}">
        <p14:creationId xmlns:p14="http://schemas.microsoft.com/office/powerpoint/2010/main" val="258756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1A1F-A1F0-108B-DAC3-608BB6FF2035}"/>
              </a:ext>
            </a:extLst>
          </p:cNvPr>
          <p:cNvSpPr>
            <a:spLocks noGrp="1"/>
          </p:cNvSpPr>
          <p:nvPr>
            <p:ph type="title"/>
          </p:nvPr>
        </p:nvSpPr>
        <p:spPr>
          <a:xfrm>
            <a:off x="420488" y="1540933"/>
            <a:ext cx="11216640" cy="1235456"/>
          </a:xfrm>
        </p:spPr>
        <p:txBody>
          <a:bodyPr/>
          <a:lstStyle/>
          <a:p>
            <a:r>
              <a:rPr lang="en-US" dirty="0"/>
              <a:t>Lackawanna Steel</a:t>
            </a:r>
          </a:p>
        </p:txBody>
      </p:sp>
      <p:sp>
        <p:nvSpPr>
          <p:cNvPr id="3" name="Content Placeholder 2">
            <a:extLst>
              <a:ext uri="{FF2B5EF4-FFF2-40B4-BE49-F238E27FC236}">
                <a16:creationId xmlns:a16="http://schemas.microsoft.com/office/drawing/2014/main" id="{D06C50B0-A120-6B09-DA9F-6B8448F6C3BE}"/>
              </a:ext>
            </a:extLst>
          </p:cNvPr>
          <p:cNvSpPr>
            <a:spLocks noGrp="1"/>
          </p:cNvSpPr>
          <p:nvPr>
            <p:ph idx="1"/>
          </p:nvPr>
        </p:nvSpPr>
        <p:spPr>
          <a:xfrm>
            <a:off x="420488" y="2429461"/>
            <a:ext cx="7013245" cy="7104006"/>
          </a:xfrm>
        </p:spPr>
        <p:txBody>
          <a:bodyPr/>
          <a:lstStyle/>
          <a:p>
            <a:pPr marL="285750" indent="-285750"/>
            <a:r>
              <a:rPr lang="en-US" sz="1800" dirty="0"/>
              <a:t>The </a:t>
            </a:r>
            <a:r>
              <a:rPr lang="en-US" sz="1800" dirty="0">
                <a:hlinkClick r:id="rId3"/>
              </a:rPr>
              <a:t>Seneca nation </a:t>
            </a:r>
            <a:r>
              <a:rPr lang="en-US" sz="1800" dirty="0"/>
              <a:t>sold part of the </a:t>
            </a:r>
            <a:r>
              <a:rPr lang="en-US" sz="1800" dirty="0">
                <a:hlinkClick r:id="rId4"/>
              </a:rPr>
              <a:t>Buffalo Creek Reservation </a:t>
            </a:r>
            <a:r>
              <a:rPr lang="en-US" sz="1800" dirty="0"/>
              <a:t>in 1842 </a:t>
            </a:r>
          </a:p>
          <a:p>
            <a:pPr marL="773445" lvl="1" indent="-285750"/>
            <a:r>
              <a:rPr lang="en-US" sz="1800" dirty="0"/>
              <a:t>Part of this became the town of Seneca</a:t>
            </a:r>
          </a:p>
          <a:p>
            <a:pPr marL="773445" lvl="1" indent="-285750"/>
            <a:r>
              <a:rPr lang="en-US" sz="1800" dirty="0"/>
              <a:t>1899-1902 </a:t>
            </a:r>
            <a:r>
              <a:rPr lang="en-US" sz="1800" b="1" dirty="0">
                <a:hlinkClick r:id="rId5"/>
              </a:rPr>
              <a:t>Lackawanna Steel</a:t>
            </a:r>
            <a:r>
              <a:rPr lang="en-US" sz="1800" dirty="0">
                <a:hlinkClick r:id="rId5"/>
              </a:rPr>
              <a:t> </a:t>
            </a:r>
            <a:r>
              <a:rPr lang="en-US" sz="1800" dirty="0"/>
              <a:t>moved from Scranton, in the Coal Region, to the Lake Erie shore south of Buffalo and renamed part of Seneca and we got West Seneca and Lackawanna in the end</a:t>
            </a:r>
          </a:p>
          <a:p>
            <a:pPr marL="773445" lvl="1" indent="-285750"/>
            <a:r>
              <a:rPr lang="en-US" sz="1800" dirty="0"/>
              <a:t>Consolidated into US Steel in 1907</a:t>
            </a:r>
          </a:p>
          <a:p>
            <a:pPr marL="285750" indent="-285750"/>
            <a:r>
              <a:rPr lang="en-US" sz="1800" dirty="0"/>
              <a:t>Stated reasons included shipping costs — </a:t>
            </a:r>
            <a:r>
              <a:rPr lang="en-US" sz="1800" b="1" dirty="0"/>
              <a:t>and the fact that the United Mine Workers of America had organized Scranton in 1897 and struck successfully in 1900 and 1902.</a:t>
            </a:r>
          </a:p>
          <a:p>
            <a:pPr marL="285750" indent="-285750"/>
            <a:r>
              <a:rPr lang="en-US" sz="1800" dirty="0"/>
              <a:t>Acquired by </a:t>
            </a:r>
            <a:r>
              <a:rPr lang="en-US" sz="1800" dirty="0">
                <a:hlinkClick r:id="rId6"/>
              </a:rPr>
              <a:t>Bethlehem Steel </a:t>
            </a:r>
            <a:r>
              <a:rPr lang="en-US" sz="1800" dirty="0"/>
              <a:t>in 1922</a:t>
            </a:r>
          </a:p>
          <a:p>
            <a:pPr marL="285750" indent="-285750"/>
            <a:r>
              <a:rPr lang="en-US" sz="1800" dirty="0"/>
              <a:t>By the 1940s that plant employed </a:t>
            </a:r>
            <a:r>
              <a:rPr lang="en-US" sz="1800" b="1" dirty="0"/>
              <a:t>over 20,000 people</a:t>
            </a:r>
            <a:r>
              <a:rPr lang="en-US" sz="1800" dirty="0"/>
              <a:t>, and closed in 1982 after massive layoffs</a:t>
            </a:r>
          </a:p>
          <a:p>
            <a:pPr marL="285750" indent="-285750"/>
            <a:r>
              <a:rPr lang="en-US" sz="1800" dirty="0"/>
              <a:t>The company had considerable friction with the neighboring communities due to public health problems including cholera, typhoid, and flu, and incorporated Lackawanna, NY in 1909 </a:t>
            </a:r>
          </a:p>
        </p:txBody>
      </p:sp>
      <p:pic>
        <p:nvPicPr>
          <p:cNvPr id="10" name="Picture 9" descr="lackawanna_steel.jpg">
            <a:extLst>
              <a:ext uri="{FF2B5EF4-FFF2-40B4-BE49-F238E27FC236}">
                <a16:creationId xmlns:a16="http://schemas.microsoft.com/office/drawing/2014/main" id="{F53C361F-33E3-4EC1-5F21-CC9193EDBE9E}"/>
              </a:ext>
            </a:extLst>
          </p:cNvPr>
          <p:cNvPicPr>
            <a:picLocks noChangeAspect="1"/>
          </p:cNvPicPr>
          <p:nvPr/>
        </p:nvPicPr>
        <p:blipFill>
          <a:blip r:embed="rId7"/>
          <a:stretch>
            <a:fillRect/>
          </a:stretch>
        </p:blipFill>
        <p:spPr>
          <a:xfrm>
            <a:off x="7900507" y="1845733"/>
            <a:ext cx="4933266" cy="3716770"/>
          </a:xfrm>
          <a:prstGeom prst="rect">
            <a:avLst/>
          </a:prstGeom>
        </p:spPr>
      </p:pic>
      <p:sp>
        <p:nvSpPr>
          <p:cNvPr id="11" name="TextBox 10">
            <a:extLst>
              <a:ext uri="{FF2B5EF4-FFF2-40B4-BE49-F238E27FC236}">
                <a16:creationId xmlns:a16="http://schemas.microsoft.com/office/drawing/2014/main" id="{494616B8-BB99-4E0C-DA30-AE046201B912}"/>
              </a:ext>
            </a:extLst>
          </p:cNvPr>
          <p:cNvSpPr txBox="1"/>
          <p:nvPr/>
        </p:nvSpPr>
        <p:spPr>
          <a:xfrm>
            <a:off x="7900507" y="5739429"/>
            <a:ext cx="4621106" cy="276999"/>
          </a:xfrm>
          <a:prstGeom prst="rect">
            <a:avLst/>
          </a:prstGeom>
          <a:noFill/>
        </p:spPr>
        <p:txBody>
          <a:bodyPr wrap="square">
            <a:spAutoFit/>
          </a:bodyPr>
          <a:lstStyle/>
          <a:p>
            <a:r>
              <a:rPr sz="1200">
                <a:solidFill>
                  <a:srgbClr val="595959"/>
                </a:solidFill>
              </a:rPr>
              <a:t>Inside the Lackawanna plant, Buffalo. PD (HAER, LoC).</a:t>
            </a:r>
          </a:p>
        </p:txBody>
      </p:sp>
    </p:spTree>
    <p:extLst>
      <p:ext uri="{BB962C8B-B14F-4D97-AF65-F5344CB8AC3E}">
        <p14:creationId xmlns:p14="http://schemas.microsoft.com/office/powerpoint/2010/main" val="4262897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F4817-4B06-0394-0730-C12FE0628626}"/>
              </a:ext>
            </a:extLst>
          </p:cNvPr>
          <p:cNvSpPr>
            <a:spLocks noGrp="1"/>
          </p:cNvSpPr>
          <p:nvPr>
            <p:ph type="title"/>
          </p:nvPr>
        </p:nvSpPr>
        <p:spPr/>
        <p:txBody>
          <a:bodyPr/>
          <a:lstStyle/>
          <a:p>
            <a:r>
              <a:rPr lang="en-US" dirty="0">
                <a:hlinkClick r:id="rId2"/>
              </a:rPr>
              <a:t>Panic of 1907</a:t>
            </a:r>
            <a:endParaRPr lang="en-US" dirty="0"/>
          </a:p>
        </p:txBody>
      </p:sp>
      <p:sp>
        <p:nvSpPr>
          <p:cNvPr id="3" name="Content Placeholder 2">
            <a:extLst>
              <a:ext uri="{FF2B5EF4-FFF2-40B4-BE49-F238E27FC236}">
                <a16:creationId xmlns:a16="http://schemas.microsoft.com/office/drawing/2014/main" id="{59F0A188-CAF6-C1DC-9FAD-C3F840C174D3}"/>
              </a:ext>
            </a:extLst>
          </p:cNvPr>
          <p:cNvSpPr>
            <a:spLocks noGrp="1"/>
          </p:cNvSpPr>
          <p:nvPr>
            <p:ph idx="1"/>
          </p:nvPr>
        </p:nvSpPr>
        <p:spPr>
          <a:xfrm>
            <a:off x="420489" y="3487107"/>
            <a:ext cx="7114844" cy="5757399"/>
          </a:xfrm>
        </p:spPr>
        <p:txBody>
          <a:bodyPr/>
          <a:lstStyle/>
          <a:p>
            <a:r>
              <a:rPr lang="en-US" dirty="0"/>
              <a:t>The “Knickerbocker Crisis” of 1907 was a three-week-long financial crisis that caused a recession and the NYSE fell 50%</a:t>
            </a:r>
          </a:p>
          <a:p>
            <a:r>
              <a:rPr lang="en-US" dirty="0"/>
              <a:t>Triggered by an attempt to corner the market of the United Copper Company (not steel, but also had its own mining issues and exploitation) </a:t>
            </a:r>
          </a:p>
          <a:p>
            <a:r>
              <a:rPr lang="en-US" dirty="0"/>
              <a:t>JP Morgan stabilized the financial system and the action was approved by US President Theodore Roosevelt </a:t>
            </a:r>
          </a:p>
          <a:p>
            <a:endParaRPr lang="en-US" dirty="0"/>
          </a:p>
        </p:txBody>
      </p:sp>
      <p:pic>
        <p:nvPicPr>
          <p:cNvPr id="4" name="Picture 3" descr="Wall Street during the bank panic in October 1907. Federal Hall National Memorial, with its statue of George Washington, is seen on the right.">
            <a:extLst>
              <a:ext uri="{FF2B5EF4-FFF2-40B4-BE49-F238E27FC236}">
                <a16:creationId xmlns:a16="http://schemas.microsoft.com/office/drawing/2014/main" id="{C576AC4C-1D50-8C40-3BA9-7A7B38C91A42}"/>
              </a:ext>
            </a:extLst>
          </p:cNvPr>
          <p:cNvPicPr>
            <a:picLocks noChangeAspect="1"/>
          </p:cNvPicPr>
          <p:nvPr/>
        </p:nvPicPr>
        <p:blipFill>
          <a:blip r:embed="rId3"/>
          <a:stretch>
            <a:fillRect/>
          </a:stretch>
        </p:blipFill>
        <p:spPr>
          <a:xfrm>
            <a:off x="8022046" y="2267364"/>
            <a:ext cx="4452698" cy="3736394"/>
          </a:xfrm>
          <a:prstGeom prst="rect">
            <a:avLst/>
          </a:prstGeom>
        </p:spPr>
      </p:pic>
      <p:sp>
        <p:nvSpPr>
          <p:cNvPr id="6" name="TextBox 5">
            <a:extLst>
              <a:ext uri="{FF2B5EF4-FFF2-40B4-BE49-F238E27FC236}">
                <a16:creationId xmlns:a16="http://schemas.microsoft.com/office/drawing/2014/main" id="{844C058C-88AC-AEF1-DE0D-D358D1720524}"/>
              </a:ext>
            </a:extLst>
          </p:cNvPr>
          <p:cNvSpPr txBox="1"/>
          <p:nvPr/>
        </p:nvSpPr>
        <p:spPr>
          <a:xfrm>
            <a:off x="8022047" y="6003758"/>
            <a:ext cx="4452698" cy="646331"/>
          </a:xfrm>
          <a:prstGeom prst="rect">
            <a:avLst/>
          </a:prstGeom>
          <a:noFill/>
        </p:spPr>
        <p:txBody>
          <a:bodyPr wrap="square">
            <a:spAutoFit/>
          </a:bodyPr>
          <a:lstStyle/>
          <a:p>
            <a:r>
              <a:rPr lang="en-US" sz="1200" b="0" i="0" u="none" strike="noStrike" dirty="0">
                <a:effectLst/>
                <a:latin typeface="+mn-lt"/>
                <a:hlinkClick r:id="rId4" tooltip="Wall Street"/>
              </a:rPr>
              <a:t>Wall Street</a:t>
            </a:r>
            <a:r>
              <a:rPr lang="en-US" sz="1200" b="0" i="0" u="none" strike="noStrike" dirty="0">
                <a:solidFill>
                  <a:schemeClr val="tx1"/>
                </a:solidFill>
                <a:effectLst/>
                <a:latin typeface="+mn-lt"/>
              </a:rPr>
              <a:t> during the bank panic in October 1907. </a:t>
            </a:r>
            <a:r>
              <a:rPr lang="en-US" sz="1200" b="0" i="0" u="none" strike="noStrike" dirty="0">
                <a:effectLst/>
                <a:latin typeface="+mn-lt"/>
                <a:hlinkClick r:id="rId5" tooltip="Federal Hall National Memorial"/>
              </a:rPr>
              <a:t>Federal Hall National Memorial</a:t>
            </a:r>
            <a:r>
              <a:rPr lang="en-US" sz="1200" b="0" i="0" u="none" strike="noStrike" dirty="0">
                <a:solidFill>
                  <a:schemeClr val="tx1"/>
                </a:solidFill>
                <a:effectLst/>
                <a:latin typeface="+mn-lt"/>
              </a:rPr>
              <a:t>, with its statue of </a:t>
            </a:r>
            <a:r>
              <a:rPr lang="en-US" sz="1200" b="0" i="0" u="none" strike="noStrike" dirty="0">
                <a:effectLst/>
                <a:latin typeface="+mn-lt"/>
                <a:hlinkClick r:id="rId6" tooltip="George Washington"/>
              </a:rPr>
              <a:t>George Washington</a:t>
            </a:r>
            <a:r>
              <a:rPr lang="en-US" sz="1200" b="0" i="0" u="none" strike="noStrike" dirty="0">
                <a:solidFill>
                  <a:schemeClr val="tx1"/>
                </a:solidFill>
                <a:effectLst/>
                <a:latin typeface="+mn-lt"/>
              </a:rPr>
              <a:t>, is seen on the right.</a:t>
            </a:r>
            <a:endParaRPr lang="en-US" sz="1200" dirty="0"/>
          </a:p>
        </p:txBody>
      </p:sp>
    </p:spTree>
    <p:extLst>
      <p:ext uri="{BB962C8B-B14F-4D97-AF65-F5344CB8AC3E}">
        <p14:creationId xmlns:p14="http://schemas.microsoft.com/office/powerpoint/2010/main" val="3047914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669" y="1672046"/>
            <a:ext cx="5536174" cy="1235456"/>
          </a:xfrm>
        </p:spPr>
        <p:txBody>
          <a:bodyPr/>
          <a:lstStyle/>
          <a:p>
            <a:r>
              <a:rPr lang="en-US" dirty="0"/>
              <a:t>The Company Store</a:t>
            </a:r>
            <a:endParaRPr dirty="0"/>
          </a:p>
        </p:txBody>
      </p:sp>
      <p:sp>
        <p:nvSpPr>
          <p:cNvPr id="3" name="Text Placeholder 2"/>
          <p:cNvSpPr>
            <a:spLocks noGrp="1"/>
          </p:cNvSpPr>
          <p:nvPr>
            <p:ph type="body" sz="half" idx="2"/>
          </p:nvPr>
        </p:nvSpPr>
        <p:spPr>
          <a:xfrm>
            <a:off x="417669" y="2907502"/>
            <a:ext cx="6084731" cy="5985604"/>
          </a:xfrm>
        </p:spPr>
        <p:txBody>
          <a:bodyPr wrap="square"/>
          <a:lstStyle/>
          <a:p>
            <a:r>
              <a:rPr sz="1800" dirty="0"/>
              <a:t>A </a:t>
            </a:r>
            <a:r>
              <a:rPr sz="1800" b="1" dirty="0"/>
              <a:t>company town</a:t>
            </a:r>
            <a:r>
              <a:rPr sz="1800" dirty="0"/>
              <a:t> is a settlement where one company owns the housing, the store, the school, the church, and the job.</a:t>
            </a:r>
          </a:p>
          <a:p>
            <a:r>
              <a:rPr sz="1800" dirty="0"/>
              <a:t>At their peak: </a:t>
            </a:r>
            <a:r>
              <a:rPr sz="1800" b="1" dirty="0"/>
              <a:t>more than 2,500</a:t>
            </a:r>
            <a:r>
              <a:rPr sz="1800" dirty="0"/>
              <a:t> company towns in the US, housing </a:t>
            </a:r>
            <a:r>
              <a:rPr sz="1800" b="1" dirty="0"/>
              <a:t>about 3%</a:t>
            </a:r>
            <a:r>
              <a:rPr sz="1800" dirty="0"/>
              <a:t> of the population. A </a:t>
            </a:r>
            <a:r>
              <a:rPr sz="1800" b="1" dirty="0"/>
              <a:t>1916</a:t>
            </a:r>
            <a:r>
              <a:rPr sz="1800" dirty="0"/>
              <a:t> Bureau of Labor Statistics survey found </a:t>
            </a:r>
            <a:r>
              <a:rPr sz="1800" b="1" dirty="0"/>
              <a:t>34.4%</a:t>
            </a:r>
            <a:r>
              <a:rPr sz="1800" dirty="0"/>
              <a:t> of the surveyed workforce living in company housing.</a:t>
            </a:r>
          </a:p>
          <a:p>
            <a:r>
              <a:rPr sz="1800" dirty="0"/>
              <a:t>The company called this </a:t>
            </a:r>
            <a:r>
              <a:rPr sz="1800" b="1" dirty="0"/>
              <a:t>paternalism</a:t>
            </a:r>
            <a:r>
              <a:rPr sz="1800" dirty="0"/>
              <a:t> and considered it a moral duty. A federal commission investigating the </a:t>
            </a:r>
            <a:r>
              <a:rPr sz="1800" b="1" dirty="0"/>
              <a:t>Pullman</a:t>
            </a:r>
            <a:r>
              <a:rPr sz="1800" dirty="0"/>
              <a:t> strike of </a:t>
            </a:r>
            <a:r>
              <a:rPr sz="1800" b="1" dirty="0"/>
              <a:t>1894</a:t>
            </a:r>
            <a:r>
              <a:rPr sz="1800" dirty="0"/>
              <a:t> called it something else:</a:t>
            </a:r>
          </a:p>
          <a:p>
            <a:pPr lvl="1"/>
            <a:r>
              <a:rPr sz="1800" i="1" dirty="0"/>
              <a:t>"The aesthetic features are admired by visitors, but have little money value to employees, especially when they lack bread."</a:t>
            </a:r>
          </a:p>
          <a:p>
            <a:r>
              <a:rPr sz="1800" dirty="0"/>
              <a:t>Its verdict on Pullman's paternalism: </a:t>
            </a:r>
            <a:r>
              <a:rPr sz="1800" b="1" dirty="0"/>
              <a:t>"Un-American."</a:t>
            </a:r>
            <a:r>
              <a:rPr sz="1800" dirty="0"/>
              <a:t> Illinois sued, and in </a:t>
            </a:r>
            <a:r>
              <a:rPr sz="1800" b="1" dirty="0"/>
              <a:t>1898</a:t>
            </a:r>
            <a:r>
              <a:rPr sz="1800" dirty="0"/>
              <a:t> the state Supreme Court forced Pullman to sell the town.</a:t>
            </a:r>
          </a:p>
        </p:txBody>
      </p:sp>
      <p:pic>
        <p:nvPicPr>
          <p:cNvPr id="4" name="Picture 3" descr="company_store.jpg"/>
          <p:cNvPicPr>
            <a:picLocks noChangeAspect="1"/>
          </p:cNvPicPr>
          <p:nvPr/>
        </p:nvPicPr>
        <p:blipFill>
          <a:blip r:embed="rId3"/>
          <a:stretch>
            <a:fillRect/>
          </a:stretch>
        </p:blipFill>
        <p:spPr>
          <a:xfrm>
            <a:off x="7488602" y="1672046"/>
            <a:ext cx="4445327" cy="3547001"/>
          </a:xfrm>
          <a:prstGeom prst="rect">
            <a:avLst/>
          </a:prstGeom>
        </p:spPr>
      </p:pic>
      <p:sp>
        <p:nvSpPr>
          <p:cNvPr id="5" name="TextBox 4"/>
          <p:cNvSpPr txBox="1"/>
          <p:nvPr/>
        </p:nvSpPr>
        <p:spPr>
          <a:xfrm>
            <a:off x="6419426" y="5273911"/>
            <a:ext cx="6583680" cy="384048"/>
          </a:xfrm>
          <a:prstGeom prst="rect">
            <a:avLst/>
          </a:prstGeom>
          <a:noFill/>
        </p:spPr>
        <p:txBody>
          <a:bodyPr wrap="square">
            <a:spAutoFit/>
          </a:bodyPr>
          <a:lstStyle/>
          <a:p>
            <a:r>
              <a:rPr sz="1000">
                <a:solidFill>
                  <a:srgbClr val="595959"/>
                </a:solidFill>
              </a:rPr>
              <a:t>The company store, Federal No. 1 Mine, Grant Town, WV. PD (NARA).</a:t>
            </a:r>
          </a:p>
        </p:txBody>
      </p:sp>
      <p:pic>
        <p:nvPicPr>
          <p:cNvPr id="6" name="Picture 5" descr="pullman.jpg"/>
          <p:cNvPicPr>
            <a:picLocks noChangeAspect="1"/>
          </p:cNvPicPr>
          <p:nvPr/>
        </p:nvPicPr>
        <p:blipFill>
          <a:blip r:embed="rId4"/>
          <a:stretch>
            <a:fillRect/>
          </a:stretch>
        </p:blipFill>
        <p:spPr>
          <a:xfrm>
            <a:off x="8381141" y="5712823"/>
            <a:ext cx="2660250" cy="3547001"/>
          </a:xfrm>
          <a:prstGeom prst="rect">
            <a:avLst/>
          </a:prstGeom>
        </p:spPr>
      </p:pic>
      <p:sp>
        <p:nvSpPr>
          <p:cNvPr id="7" name="TextBox 6"/>
          <p:cNvSpPr txBox="1"/>
          <p:nvPr/>
        </p:nvSpPr>
        <p:spPr>
          <a:xfrm>
            <a:off x="6419426" y="9314688"/>
            <a:ext cx="6583680" cy="384048"/>
          </a:xfrm>
          <a:prstGeom prst="rect">
            <a:avLst/>
          </a:prstGeom>
          <a:noFill/>
        </p:spPr>
        <p:txBody>
          <a:bodyPr wrap="square">
            <a:spAutoFit/>
          </a:bodyPr>
          <a:lstStyle/>
          <a:p>
            <a:r>
              <a:rPr sz="1000">
                <a:solidFill>
                  <a:srgbClr val="595959"/>
                </a:solidFill>
              </a:rPr>
              <a:t>Pullman company housing, Chicago, today. Photo Richie Diesterheft, CC BY 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Scrip: private money</a:t>
            </a:r>
          </a:p>
        </p:txBody>
      </p:sp>
      <p:sp>
        <p:nvSpPr>
          <p:cNvPr id="3" name="Text Placeholder 2"/>
          <p:cNvSpPr>
            <a:spLocks noGrp="1"/>
          </p:cNvSpPr>
          <p:nvPr>
            <p:ph type="body" sz="half" idx="2"/>
          </p:nvPr>
        </p:nvSpPr>
        <p:spPr>
          <a:xfrm>
            <a:off x="417670" y="2997494"/>
            <a:ext cx="5826720" cy="6158538"/>
          </a:xfrm>
        </p:spPr>
        <p:txBody>
          <a:bodyPr wrap="square"/>
          <a:lstStyle/>
          <a:p>
            <a:pPr marL="285750" indent="-285750">
              <a:buFont typeface="Arial" panose="020B0604020202020204" pitchFamily="34" charset="0"/>
              <a:buChar char="•"/>
            </a:pPr>
            <a:r>
              <a:rPr sz="1800" dirty="0"/>
              <a:t>Miners were often paid in </a:t>
            </a:r>
            <a:r>
              <a:rPr sz="1800" b="1" dirty="0"/>
              <a:t>scrip</a:t>
            </a:r>
            <a:r>
              <a:rPr sz="1800" dirty="0"/>
              <a:t> — </a:t>
            </a:r>
            <a:r>
              <a:rPr lang="en-US" sz="1800" dirty="0"/>
              <a:t>basically 19</a:t>
            </a:r>
            <a:r>
              <a:rPr lang="en-US" sz="1800" baseline="30000" dirty="0"/>
              <a:t>th</a:t>
            </a:r>
            <a:r>
              <a:rPr lang="en-US" sz="1800" dirty="0"/>
              <a:t> century crypto. M</a:t>
            </a:r>
            <a:r>
              <a:rPr sz="1800" dirty="0"/>
              <a:t>etal or paper tokens issued by the coal company.</a:t>
            </a:r>
          </a:p>
          <a:p>
            <a:pPr marL="773445" lvl="1" indent="-285750">
              <a:buFont typeface="Arial" panose="020B0604020202020204" pitchFamily="34" charset="0"/>
              <a:buChar char="•"/>
            </a:pPr>
            <a:r>
              <a:rPr sz="1800" dirty="0"/>
              <a:t>Worth </a:t>
            </a:r>
            <a:r>
              <a:rPr sz="1800" b="1" dirty="0"/>
              <a:t>full face value only at the company store</a:t>
            </a:r>
          </a:p>
          <a:p>
            <a:pPr marL="773445" lvl="1" indent="-285750">
              <a:buFont typeface="Arial" panose="020B0604020202020204" pitchFamily="34" charset="0"/>
              <a:buChar char="•"/>
            </a:pPr>
            <a:r>
              <a:rPr sz="1800" dirty="0"/>
              <a:t>Companies </a:t>
            </a:r>
            <a:r>
              <a:rPr sz="1800" b="1" dirty="0"/>
              <a:t>refused to redeem it for cash</a:t>
            </a:r>
          </a:p>
          <a:p>
            <a:pPr marL="773445" lvl="1" indent="-285750">
              <a:buFont typeface="Arial" panose="020B0604020202020204" pitchFamily="34" charset="0"/>
              <a:buChar char="•"/>
            </a:pPr>
            <a:r>
              <a:rPr sz="1800" dirty="0"/>
              <a:t>Independent traders bought it at a discount of </a:t>
            </a:r>
            <a:r>
              <a:rPr sz="1800" b="1" dirty="0"/>
              <a:t>25% and up</a:t>
            </a:r>
            <a:r>
              <a:rPr sz="1800" dirty="0"/>
              <a:t>; nearby stores took it at </a:t>
            </a:r>
            <a:r>
              <a:rPr sz="1800" b="1" dirty="0"/>
              <a:t>10-30% off</a:t>
            </a:r>
          </a:p>
          <a:p>
            <a:pPr marL="773445" lvl="1" indent="-285750">
              <a:buFont typeface="Arial" panose="020B0604020202020204" pitchFamily="34" charset="0"/>
              <a:buChar char="•"/>
            </a:pPr>
            <a:r>
              <a:rPr sz="1800" dirty="0"/>
              <a:t>So taking your pay somewhere else meant taking a pay cut of up to a quarter</a:t>
            </a:r>
          </a:p>
          <a:p>
            <a:pPr marL="285750" indent="-285750">
              <a:buFont typeface="Arial" panose="020B0604020202020204" pitchFamily="34" charset="0"/>
              <a:buChar char="•"/>
            </a:pPr>
            <a:r>
              <a:rPr sz="1800" dirty="0"/>
              <a:t>West Virginia banned scrip-as-wages in </a:t>
            </a:r>
            <a:r>
              <a:rPr sz="1800" b="1" dirty="0"/>
              <a:t>1891</a:t>
            </a:r>
            <a:r>
              <a:rPr sz="1800" dirty="0"/>
              <a:t> and made it non-transferable in </a:t>
            </a:r>
            <a:r>
              <a:rPr sz="1800" b="1" dirty="0"/>
              <a:t>1925</a:t>
            </a:r>
            <a:r>
              <a:rPr sz="1800" dirty="0"/>
              <a:t>. It survived until the coal industry itself collapsed in the </a:t>
            </a:r>
            <a:r>
              <a:rPr sz="1800" b="1" dirty="0"/>
              <a:t>1950s</a:t>
            </a:r>
            <a:r>
              <a:rPr sz="1800" dirty="0"/>
              <a:t>.</a:t>
            </a:r>
          </a:p>
          <a:p>
            <a:pPr marL="285750" indent="-285750">
              <a:buFont typeface="Arial" panose="020B0604020202020204" pitchFamily="34" charset="0"/>
              <a:buChar char="•"/>
            </a:pPr>
            <a:r>
              <a:rPr sz="1800" b="1" dirty="0"/>
              <a:t>"I owe my soul to the company store"</a:t>
            </a:r>
            <a:r>
              <a:rPr sz="1800" dirty="0"/>
              <a:t> is not a metaphor. It is a description of a currency system.</a:t>
            </a:r>
          </a:p>
        </p:txBody>
      </p:sp>
      <p:pic>
        <p:nvPicPr>
          <p:cNvPr id="4" name="Picture 3" descr="coal_scrip.jpg"/>
          <p:cNvPicPr>
            <a:picLocks noChangeAspect="1"/>
          </p:cNvPicPr>
          <p:nvPr/>
        </p:nvPicPr>
        <p:blipFill>
          <a:blip r:embed="rId3"/>
          <a:stretch>
            <a:fillRect/>
          </a:stretch>
        </p:blipFill>
        <p:spPr>
          <a:xfrm>
            <a:off x="6419426" y="2220709"/>
            <a:ext cx="6583680" cy="6600180"/>
          </a:xfrm>
          <a:prstGeom prst="rect">
            <a:avLst/>
          </a:prstGeom>
        </p:spPr>
      </p:pic>
      <p:sp>
        <p:nvSpPr>
          <p:cNvPr id="5" name="TextBox 4"/>
          <p:cNvSpPr txBox="1"/>
          <p:nvPr/>
        </p:nvSpPr>
        <p:spPr>
          <a:xfrm>
            <a:off x="6419426" y="8875753"/>
            <a:ext cx="6583680" cy="384048"/>
          </a:xfrm>
          <a:prstGeom prst="rect">
            <a:avLst/>
          </a:prstGeom>
          <a:noFill/>
        </p:spPr>
        <p:txBody>
          <a:bodyPr wrap="square">
            <a:spAutoFit/>
          </a:bodyPr>
          <a:lstStyle/>
          <a:p>
            <a:r>
              <a:rPr sz="1000">
                <a:solidFill>
                  <a:srgbClr val="595959"/>
                </a:solidFill>
              </a:rPr>
              <a:t>Coal scrip, Killarney, West Virginia. PD.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8DF06-75E7-C38D-D563-A954CDDA3C74}"/>
              </a:ext>
            </a:extLst>
          </p:cNvPr>
          <p:cNvSpPr>
            <a:spLocks noGrp="1"/>
          </p:cNvSpPr>
          <p:nvPr>
            <p:ph type="title"/>
          </p:nvPr>
        </p:nvSpPr>
        <p:spPr/>
        <p:txBody>
          <a:bodyPr/>
          <a:lstStyle/>
          <a:p>
            <a:r>
              <a:rPr lang="en-US" dirty="0">
                <a:hlinkClick r:id="rId2"/>
              </a:rPr>
              <a:t>Sixteen Tons</a:t>
            </a:r>
            <a:endParaRPr lang="en-US" dirty="0"/>
          </a:p>
        </p:txBody>
      </p:sp>
      <p:sp>
        <p:nvSpPr>
          <p:cNvPr id="3" name="Content Placeholder 2">
            <a:extLst>
              <a:ext uri="{FF2B5EF4-FFF2-40B4-BE49-F238E27FC236}">
                <a16:creationId xmlns:a16="http://schemas.microsoft.com/office/drawing/2014/main" id="{C1B452BB-49E5-3D68-2786-5E24B87DBE9A}"/>
              </a:ext>
            </a:extLst>
          </p:cNvPr>
          <p:cNvSpPr>
            <a:spLocks noGrp="1"/>
          </p:cNvSpPr>
          <p:nvPr>
            <p:ph idx="1"/>
          </p:nvPr>
        </p:nvSpPr>
        <p:spPr>
          <a:xfrm>
            <a:off x="420489" y="3487107"/>
            <a:ext cx="5859995" cy="5757399"/>
          </a:xfrm>
        </p:spPr>
        <p:txBody>
          <a:bodyPr/>
          <a:lstStyle/>
          <a:p>
            <a:r>
              <a:rPr lang="en-US" dirty="0"/>
              <a:t>Song written by Merle Travis about the life of a coal miner in Rosewood, Kentucky</a:t>
            </a:r>
          </a:p>
          <a:p>
            <a:pPr lvl="1"/>
            <a:r>
              <a:rPr lang="en-US" dirty="0"/>
              <a:t>Travis grew up in Rosewood, and sung often about the exploitation of workers in the 19</a:t>
            </a:r>
            <a:r>
              <a:rPr lang="en-US" baseline="30000" dirty="0"/>
              <a:t>th</a:t>
            </a:r>
            <a:r>
              <a:rPr lang="en-US" dirty="0"/>
              <a:t> and 20</a:t>
            </a:r>
            <a:r>
              <a:rPr lang="en-US" sz="2000" baseline="30000" dirty="0"/>
              <a:t>th</a:t>
            </a:r>
            <a:r>
              <a:rPr lang="en-US" dirty="0"/>
              <a:t> centuries </a:t>
            </a:r>
          </a:p>
          <a:p>
            <a:r>
              <a:rPr lang="en-US" dirty="0"/>
              <a:t>“Saint Peter don’t call me, </a:t>
            </a:r>
            <a:r>
              <a:rPr lang="en-US" dirty="0" err="1"/>
              <a:t>cuz</a:t>
            </a:r>
            <a:r>
              <a:rPr lang="en-US" dirty="0"/>
              <a:t> I can’t go… I owe my soul to the Company store”</a:t>
            </a:r>
          </a:p>
        </p:txBody>
      </p:sp>
      <p:pic>
        <p:nvPicPr>
          <p:cNvPr id="4" name="Picture 3" descr="Photo of Mearle Travis in a pinstripe sute and tie. ">
            <a:extLst>
              <a:ext uri="{FF2B5EF4-FFF2-40B4-BE49-F238E27FC236}">
                <a16:creationId xmlns:a16="http://schemas.microsoft.com/office/drawing/2014/main" id="{AB03EFA4-E8D6-8189-878F-3029CAE1D575}"/>
              </a:ext>
            </a:extLst>
          </p:cNvPr>
          <p:cNvPicPr>
            <a:picLocks noChangeAspect="1"/>
          </p:cNvPicPr>
          <p:nvPr/>
        </p:nvPicPr>
        <p:blipFill>
          <a:blip r:embed="rId3"/>
          <a:stretch>
            <a:fillRect/>
          </a:stretch>
        </p:blipFill>
        <p:spPr>
          <a:xfrm>
            <a:off x="7476877" y="1849228"/>
            <a:ext cx="3897435" cy="4630153"/>
          </a:xfrm>
          <a:prstGeom prst="rect">
            <a:avLst/>
          </a:prstGeom>
        </p:spPr>
      </p:pic>
    </p:spTree>
    <p:extLst>
      <p:ext uri="{BB962C8B-B14F-4D97-AF65-F5344CB8AC3E}">
        <p14:creationId xmlns:p14="http://schemas.microsoft.com/office/powerpoint/2010/main" val="2674400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dirty="0"/>
              <a:t>The Shooting War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98BB1-63E3-38F7-A3F5-B131498297B2}"/>
              </a:ext>
            </a:extLst>
          </p:cNvPr>
          <p:cNvSpPr>
            <a:spLocks noGrp="1"/>
          </p:cNvSpPr>
          <p:nvPr>
            <p:ph type="title"/>
          </p:nvPr>
        </p:nvSpPr>
        <p:spPr/>
        <p:txBody>
          <a:bodyPr/>
          <a:lstStyle/>
          <a:p>
            <a:r>
              <a:rPr lang="en-US" dirty="0"/>
              <a:t>Conflicts Arise</a:t>
            </a:r>
          </a:p>
        </p:txBody>
      </p:sp>
      <p:sp>
        <p:nvSpPr>
          <p:cNvPr id="3" name="Content Placeholder 2">
            <a:extLst>
              <a:ext uri="{FF2B5EF4-FFF2-40B4-BE49-F238E27FC236}">
                <a16:creationId xmlns:a16="http://schemas.microsoft.com/office/drawing/2014/main" id="{8A5959C3-B75D-D1B6-7DAC-766C91FFAB9D}"/>
              </a:ext>
            </a:extLst>
          </p:cNvPr>
          <p:cNvSpPr>
            <a:spLocks noGrp="1"/>
          </p:cNvSpPr>
          <p:nvPr>
            <p:ph idx="1"/>
          </p:nvPr>
        </p:nvSpPr>
        <p:spPr>
          <a:xfrm>
            <a:off x="420489" y="3487107"/>
            <a:ext cx="7556448" cy="5757399"/>
          </a:xfrm>
        </p:spPr>
        <p:txBody>
          <a:bodyPr/>
          <a:lstStyle/>
          <a:p>
            <a:r>
              <a:rPr lang="en-US" dirty="0"/>
              <a:t>The conditions in the 19</a:t>
            </a:r>
            <a:r>
              <a:rPr lang="en-US" baseline="30000" dirty="0"/>
              <a:t>th</a:t>
            </a:r>
            <a:r>
              <a:rPr lang="en-US" dirty="0"/>
              <a:t> and 20</a:t>
            </a:r>
            <a:r>
              <a:rPr lang="en-US" baseline="30000" dirty="0"/>
              <a:t>th</a:t>
            </a:r>
            <a:r>
              <a:rPr lang="en-US" dirty="0"/>
              <a:t> century were rife for exploitation</a:t>
            </a:r>
          </a:p>
          <a:p>
            <a:r>
              <a:rPr lang="en-US" dirty="0"/>
              <a:t>Ready-made workforce of Black Americans and immigrants from everywhere were poor, desperate, and often unhoused</a:t>
            </a:r>
          </a:p>
          <a:p>
            <a:r>
              <a:rPr lang="en-US" dirty="0"/>
              <a:t>They took what they had to in order to live</a:t>
            </a:r>
          </a:p>
        </p:txBody>
      </p:sp>
    </p:spTree>
    <p:extLst>
      <p:ext uri="{BB962C8B-B14F-4D97-AF65-F5344CB8AC3E}">
        <p14:creationId xmlns:p14="http://schemas.microsoft.com/office/powerpoint/2010/main" val="1582379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1890-1930: the Coal Wars</a:t>
            </a:r>
          </a:p>
        </p:txBody>
      </p:sp>
      <p:graphicFrame>
        <p:nvGraphicFramePr>
          <p:cNvPr id="3" name="Table 2"/>
          <p:cNvGraphicFramePr>
            <a:graphicFrameLocks noGrp="1"/>
          </p:cNvGraphicFramePr>
          <p:nvPr/>
        </p:nvGraphicFramePr>
        <p:xfrm>
          <a:off x="420489" y="3487107"/>
          <a:ext cx="7402981" cy="4389120"/>
        </p:xfrm>
        <a:graphic>
          <a:graphicData uri="http://schemas.openxmlformats.org/drawingml/2006/table">
            <a:tbl>
              <a:tblPr firstRow="1" bandRow="1">
                <a:tableStyleId>{5C22544A-7EE6-4342-B048-85BDC9FD1C3A}</a:tableStyleId>
              </a:tblPr>
              <a:tblGrid>
                <a:gridCol w="905010">
                  <a:extLst>
                    <a:ext uri="{9D8B030D-6E8A-4147-A177-3AD203B41FA5}">
                      <a16:colId xmlns:a16="http://schemas.microsoft.com/office/drawing/2014/main" val="20000"/>
                    </a:ext>
                  </a:extLst>
                </a:gridCol>
                <a:gridCol w="2775364">
                  <a:extLst>
                    <a:ext uri="{9D8B030D-6E8A-4147-A177-3AD203B41FA5}">
                      <a16:colId xmlns:a16="http://schemas.microsoft.com/office/drawing/2014/main" val="20001"/>
                    </a:ext>
                  </a:extLst>
                </a:gridCol>
                <a:gridCol w="3722607">
                  <a:extLst>
                    <a:ext uri="{9D8B030D-6E8A-4147-A177-3AD203B41FA5}">
                      <a16:colId xmlns:a16="http://schemas.microsoft.com/office/drawing/2014/main" val="20002"/>
                    </a:ext>
                  </a:extLst>
                </a:gridCol>
              </a:tblGrid>
              <a:tr h="420624">
                <a:tc>
                  <a:txBody>
                    <a:bodyPr/>
                    <a:lstStyle/>
                    <a:p>
                      <a:r>
                        <a:rPr sz="1400" b="1">
                          <a:solidFill>
                            <a:srgbClr val="FFFFFF"/>
                          </a:solidFill>
                        </a:rPr>
                        <a:t>Year</a:t>
                      </a:r>
                    </a:p>
                  </a:txBody>
                  <a:tcPr marT="27432" marB="27432" anchor="ctr"/>
                </a:tc>
                <a:tc>
                  <a:txBody>
                    <a:bodyPr/>
                    <a:lstStyle/>
                    <a:p>
                      <a:r>
                        <a:rPr sz="1400" b="1">
                          <a:solidFill>
                            <a:srgbClr val="FFFFFF"/>
                          </a:solidFill>
                        </a:rPr>
                        <a:t>Event</a:t>
                      </a:r>
                    </a:p>
                  </a:txBody>
                  <a:tcPr marT="27432" marB="27432" anchor="ctr"/>
                </a:tc>
                <a:tc>
                  <a:txBody>
                    <a:bodyPr/>
                    <a:lstStyle/>
                    <a:p>
                      <a:r>
                        <a:rPr sz="1400" b="1">
                          <a:solidFill>
                            <a:srgbClr val="FFFFFF"/>
                          </a:solidFill>
                        </a:rPr>
                        <a:t>What happened</a:t>
                      </a:r>
                    </a:p>
                  </a:txBody>
                  <a:tcPr marT="27432" marB="27432" anchor="ctr"/>
                </a:tc>
                <a:extLst>
                  <a:ext uri="{0D108BD9-81ED-4DB2-BD59-A6C34878D82A}">
                    <a16:rowId xmlns:a16="http://schemas.microsoft.com/office/drawing/2014/main" val="10000"/>
                  </a:ext>
                </a:extLst>
              </a:tr>
              <a:tr h="566928">
                <a:tc>
                  <a:txBody>
                    <a:bodyPr/>
                    <a:lstStyle/>
                    <a:p>
                      <a:r>
                        <a:rPr sz="1300">
                          <a:solidFill>
                            <a:srgbClr val="1A1A1A"/>
                          </a:solidFill>
                        </a:rPr>
                        <a:t>1894</a:t>
                      </a:r>
                    </a:p>
                  </a:txBody>
                  <a:tcPr marT="27432" marB="27432" anchor="ctr"/>
                </a:tc>
                <a:tc>
                  <a:txBody>
                    <a:bodyPr/>
                    <a:lstStyle/>
                    <a:p>
                      <a:r>
                        <a:rPr sz="1300">
                          <a:solidFill>
                            <a:srgbClr val="1A1A1A"/>
                          </a:solidFill>
                        </a:rPr>
                        <a:t>Cripple Creek strike (CO)</a:t>
                      </a:r>
                    </a:p>
                  </a:txBody>
                  <a:tcPr marT="27432" marB="27432" anchor="ctr"/>
                </a:tc>
                <a:tc>
                  <a:txBody>
                    <a:bodyPr/>
                    <a:lstStyle/>
                    <a:p>
                      <a:r>
                        <a:rPr sz="1300">
                          <a:solidFill>
                            <a:srgbClr val="1A1A1A"/>
                          </a:solidFill>
                        </a:rPr>
                        <a:t>Miners vs. hired deputies</a:t>
                      </a:r>
                    </a:p>
                  </a:txBody>
                  <a:tcPr marT="27432" marB="27432" anchor="ctr"/>
                </a:tc>
                <a:extLst>
                  <a:ext uri="{0D108BD9-81ED-4DB2-BD59-A6C34878D82A}">
                    <a16:rowId xmlns:a16="http://schemas.microsoft.com/office/drawing/2014/main" val="10001"/>
                  </a:ext>
                </a:extLst>
              </a:tr>
              <a:tr h="566928">
                <a:tc>
                  <a:txBody>
                    <a:bodyPr/>
                    <a:lstStyle/>
                    <a:p>
                      <a:r>
                        <a:rPr sz="1300">
                          <a:solidFill>
                            <a:srgbClr val="1A1A1A"/>
                          </a:solidFill>
                        </a:rPr>
                        <a:t>1902</a:t>
                      </a:r>
                    </a:p>
                  </a:txBody>
                  <a:tcPr marT="27432" marB="27432" anchor="ctr"/>
                </a:tc>
                <a:tc>
                  <a:txBody>
                    <a:bodyPr/>
                    <a:lstStyle/>
                    <a:p>
                      <a:r>
                        <a:rPr sz="1300" b="1">
                          <a:solidFill>
                            <a:srgbClr val="1A1A1A"/>
                          </a:solidFill>
                        </a:rPr>
                        <a:t>Anthracite strike</a:t>
                      </a:r>
                      <a:r>
                        <a:rPr sz="1300">
                          <a:solidFill>
                            <a:srgbClr val="1A1A1A"/>
                          </a:solidFill>
                        </a:rPr>
                        <a:t> (PA)</a:t>
                      </a:r>
                    </a:p>
                  </a:txBody>
                  <a:tcPr marT="27432" marB="27432" anchor="ctr"/>
                </a:tc>
                <a:tc>
                  <a:txBody>
                    <a:bodyPr/>
                    <a:lstStyle/>
                    <a:p>
                      <a:r>
                        <a:rPr sz="1300">
                          <a:solidFill>
                            <a:srgbClr val="1A1A1A"/>
                          </a:solidFill>
                        </a:rPr>
                        <a:t>150,000+ out for 163 days</a:t>
                      </a:r>
                    </a:p>
                  </a:txBody>
                  <a:tcPr marT="27432" marB="27432" anchor="ctr"/>
                </a:tc>
                <a:extLst>
                  <a:ext uri="{0D108BD9-81ED-4DB2-BD59-A6C34878D82A}">
                    <a16:rowId xmlns:a16="http://schemas.microsoft.com/office/drawing/2014/main" val="10002"/>
                  </a:ext>
                </a:extLst>
              </a:tr>
              <a:tr h="566928">
                <a:tc>
                  <a:txBody>
                    <a:bodyPr/>
                    <a:lstStyle/>
                    <a:p>
                      <a:r>
                        <a:rPr sz="1300">
                          <a:solidFill>
                            <a:srgbClr val="1A1A1A"/>
                          </a:solidFill>
                        </a:rPr>
                        <a:t>1912-13</a:t>
                      </a:r>
                    </a:p>
                  </a:txBody>
                  <a:tcPr marT="27432" marB="27432" anchor="ctr"/>
                </a:tc>
                <a:tc>
                  <a:txBody>
                    <a:bodyPr/>
                    <a:lstStyle/>
                    <a:p>
                      <a:r>
                        <a:rPr sz="1300">
                          <a:solidFill>
                            <a:srgbClr val="1A1A1A"/>
                          </a:solidFill>
                        </a:rPr>
                        <a:t>Paint Creek-Cabin Creek (WV)</a:t>
                      </a:r>
                    </a:p>
                  </a:txBody>
                  <a:tcPr marT="27432" marB="27432" anchor="ctr"/>
                </a:tc>
                <a:tc>
                  <a:txBody>
                    <a:bodyPr/>
                    <a:lstStyle/>
                    <a:p>
                      <a:r>
                        <a:rPr sz="1300">
                          <a:solidFill>
                            <a:srgbClr val="1A1A1A"/>
                          </a:solidFill>
                        </a:rPr>
                        <a:t>Mine guards, an armored train, martial law</a:t>
                      </a:r>
                    </a:p>
                  </a:txBody>
                  <a:tcPr marT="27432" marB="27432" anchor="ctr"/>
                </a:tc>
                <a:extLst>
                  <a:ext uri="{0D108BD9-81ED-4DB2-BD59-A6C34878D82A}">
                    <a16:rowId xmlns:a16="http://schemas.microsoft.com/office/drawing/2014/main" val="10003"/>
                  </a:ext>
                </a:extLst>
              </a:tr>
              <a:tr h="566928">
                <a:tc>
                  <a:txBody>
                    <a:bodyPr/>
                    <a:lstStyle/>
                    <a:p>
                      <a:r>
                        <a:rPr sz="1300" b="1">
                          <a:solidFill>
                            <a:srgbClr val="1A1A1A"/>
                          </a:solidFill>
                        </a:rPr>
                        <a:t>1914</a:t>
                      </a:r>
                    </a:p>
                  </a:txBody>
                  <a:tcPr marT="27432" marB="27432" anchor="ctr"/>
                </a:tc>
                <a:tc>
                  <a:txBody>
                    <a:bodyPr/>
                    <a:lstStyle/>
                    <a:p>
                      <a:r>
                        <a:rPr sz="1300" b="1">
                          <a:solidFill>
                            <a:srgbClr val="1A1A1A"/>
                          </a:solidFill>
                        </a:rPr>
                        <a:t>Ludlow Massacre</a:t>
                      </a:r>
                      <a:r>
                        <a:rPr sz="1300">
                          <a:solidFill>
                            <a:srgbClr val="1A1A1A"/>
                          </a:solidFill>
                        </a:rPr>
                        <a:t> (CO)</a:t>
                      </a:r>
                    </a:p>
                  </a:txBody>
                  <a:tcPr marT="27432" marB="27432" anchor="ctr"/>
                </a:tc>
                <a:tc>
                  <a:txBody>
                    <a:bodyPr/>
                    <a:lstStyle/>
                    <a:p>
                      <a:r>
                        <a:rPr sz="1300" b="1">
                          <a:solidFill>
                            <a:srgbClr val="1A1A1A"/>
                          </a:solidFill>
                        </a:rPr>
                        <a:t>~19-25 dead, including 12 children</a:t>
                      </a:r>
                    </a:p>
                  </a:txBody>
                  <a:tcPr marT="27432" marB="27432" anchor="ctr"/>
                </a:tc>
                <a:extLst>
                  <a:ext uri="{0D108BD9-81ED-4DB2-BD59-A6C34878D82A}">
                    <a16:rowId xmlns:a16="http://schemas.microsoft.com/office/drawing/2014/main" val="10004"/>
                  </a:ext>
                </a:extLst>
              </a:tr>
              <a:tr h="566928">
                <a:tc>
                  <a:txBody>
                    <a:bodyPr/>
                    <a:lstStyle/>
                    <a:p>
                      <a:r>
                        <a:rPr sz="1300">
                          <a:solidFill>
                            <a:srgbClr val="1A1A1A"/>
                          </a:solidFill>
                        </a:rPr>
                        <a:t>1920</a:t>
                      </a:r>
                    </a:p>
                  </a:txBody>
                  <a:tcPr marT="27432" marB="27432" anchor="ctr"/>
                </a:tc>
                <a:tc>
                  <a:txBody>
                    <a:bodyPr/>
                    <a:lstStyle/>
                    <a:p>
                      <a:r>
                        <a:rPr sz="1300" b="1">
                          <a:solidFill>
                            <a:srgbClr val="1A1A1A"/>
                          </a:solidFill>
                        </a:rPr>
                        <a:t>Matewan Massacre</a:t>
                      </a:r>
                      <a:r>
                        <a:rPr sz="1300">
                          <a:solidFill>
                            <a:srgbClr val="1A1A1A"/>
                          </a:solidFill>
                        </a:rPr>
                        <a:t> (WV)</a:t>
                      </a:r>
                    </a:p>
                  </a:txBody>
                  <a:tcPr marT="27432" marB="27432" anchor="ctr"/>
                </a:tc>
                <a:tc>
                  <a:txBody>
                    <a:bodyPr/>
                    <a:lstStyle/>
                    <a:p>
                      <a:r>
                        <a:rPr sz="1300">
                          <a:solidFill>
                            <a:srgbClr val="1A1A1A"/>
                          </a:solidFill>
                        </a:rPr>
                        <a:t>10 dead in a 15-second gunfight</a:t>
                      </a:r>
                    </a:p>
                  </a:txBody>
                  <a:tcPr marT="27432" marB="27432" anchor="ctr"/>
                </a:tc>
                <a:extLst>
                  <a:ext uri="{0D108BD9-81ED-4DB2-BD59-A6C34878D82A}">
                    <a16:rowId xmlns:a16="http://schemas.microsoft.com/office/drawing/2014/main" val="10005"/>
                  </a:ext>
                </a:extLst>
              </a:tr>
              <a:tr h="566928">
                <a:tc>
                  <a:txBody>
                    <a:bodyPr/>
                    <a:lstStyle/>
                    <a:p>
                      <a:r>
                        <a:rPr sz="1300" b="1">
                          <a:solidFill>
                            <a:srgbClr val="1A1A1A"/>
                          </a:solidFill>
                        </a:rPr>
                        <a:t>1921</a:t>
                      </a:r>
                    </a:p>
                  </a:txBody>
                  <a:tcPr marT="27432" marB="27432" anchor="ctr"/>
                </a:tc>
                <a:tc>
                  <a:txBody>
                    <a:bodyPr/>
                    <a:lstStyle/>
                    <a:p>
                      <a:r>
                        <a:rPr sz="1300" b="1">
                          <a:solidFill>
                            <a:srgbClr val="1A1A1A"/>
                          </a:solidFill>
                        </a:rPr>
                        <a:t>Battle of Blair Mountain</a:t>
                      </a:r>
                      <a:r>
                        <a:rPr sz="1300">
                          <a:solidFill>
                            <a:srgbClr val="1A1A1A"/>
                          </a:solidFill>
                        </a:rPr>
                        <a:t> (WV)</a:t>
                      </a:r>
                    </a:p>
                  </a:txBody>
                  <a:tcPr marT="27432" marB="27432" anchor="ctr"/>
                </a:tc>
                <a:tc>
                  <a:txBody>
                    <a:bodyPr/>
                    <a:lstStyle/>
                    <a:p>
                      <a:r>
                        <a:rPr sz="1300" b="1">
                          <a:solidFill>
                            <a:srgbClr val="1A1A1A"/>
                          </a:solidFill>
                        </a:rPr>
                        <a:t>~10,000 armed miners</a:t>
                      </a:r>
                    </a:p>
                  </a:txBody>
                  <a:tcPr marT="27432" marB="27432" anchor="ctr"/>
                </a:tc>
                <a:extLst>
                  <a:ext uri="{0D108BD9-81ED-4DB2-BD59-A6C34878D82A}">
                    <a16:rowId xmlns:a16="http://schemas.microsoft.com/office/drawing/2014/main" val="10006"/>
                  </a:ext>
                </a:extLst>
              </a:tr>
              <a:tr h="566928">
                <a:tc>
                  <a:txBody>
                    <a:bodyPr/>
                    <a:lstStyle/>
                    <a:p>
                      <a:r>
                        <a:rPr sz="1300">
                          <a:solidFill>
                            <a:srgbClr val="1A1A1A"/>
                          </a:solidFill>
                        </a:rPr>
                        <a:t>1931-39</a:t>
                      </a:r>
                    </a:p>
                  </a:txBody>
                  <a:tcPr marT="27432" marB="27432" anchor="ctr"/>
                </a:tc>
                <a:tc>
                  <a:txBody>
                    <a:bodyPr/>
                    <a:lstStyle/>
                    <a:p>
                      <a:r>
                        <a:rPr sz="1300">
                          <a:solidFill>
                            <a:srgbClr val="1A1A1A"/>
                          </a:solidFill>
                        </a:rPr>
                        <a:t>Harlan County War (KY)</a:t>
                      </a:r>
                    </a:p>
                  </a:txBody>
                  <a:tcPr marT="27432" marB="27432" anchor="ctr"/>
                </a:tc>
                <a:tc>
                  <a:txBody>
                    <a:bodyPr/>
                    <a:lstStyle/>
                    <a:p>
                      <a:r>
                        <a:rPr sz="1300">
                          <a:solidFill>
                            <a:srgbClr val="1A1A1A"/>
                          </a:solidFill>
                        </a:rPr>
                        <a:t>"Bloody Harlan"</a:t>
                      </a:r>
                    </a:p>
                  </a:txBody>
                  <a:tcPr marT="27432" marB="27432" anchor="ctr"/>
                </a:tc>
                <a:extLst>
                  <a:ext uri="{0D108BD9-81ED-4DB2-BD59-A6C34878D82A}">
                    <a16:rowId xmlns:a16="http://schemas.microsoft.com/office/drawing/2014/main" val="10007"/>
                  </a:ext>
                </a:extLst>
              </a:tr>
            </a:tbl>
          </a:graphicData>
        </a:graphic>
      </p:graphicFrame>
      <p:pic>
        <p:nvPicPr>
          <p:cNvPr id="4" name="Picture 3" descr="ludlow_ruins.jpg"/>
          <p:cNvPicPr>
            <a:picLocks noChangeAspect="1"/>
          </p:cNvPicPr>
          <p:nvPr/>
        </p:nvPicPr>
        <p:blipFill>
          <a:blip r:embed="rId3"/>
          <a:stretch>
            <a:fillRect/>
          </a:stretch>
        </p:blipFill>
        <p:spPr>
          <a:xfrm>
            <a:off x="8097791" y="4068146"/>
            <a:ext cx="3539338" cy="2599201"/>
          </a:xfrm>
          <a:prstGeom prst="rect">
            <a:avLst/>
          </a:prstGeom>
        </p:spPr>
      </p:pic>
      <p:sp>
        <p:nvSpPr>
          <p:cNvPr id="5" name="TextBox 4"/>
          <p:cNvSpPr txBox="1"/>
          <p:nvPr/>
        </p:nvSpPr>
        <p:spPr>
          <a:xfrm>
            <a:off x="8097791" y="6722211"/>
            <a:ext cx="3539338" cy="384048"/>
          </a:xfrm>
          <a:prstGeom prst="rect">
            <a:avLst/>
          </a:prstGeom>
          <a:noFill/>
        </p:spPr>
        <p:txBody>
          <a:bodyPr wrap="square">
            <a:spAutoFit/>
          </a:bodyPr>
          <a:lstStyle/>
          <a:p>
            <a:r>
              <a:rPr sz="1000">
                <a:solidFill>
                  <a:srgbClr val="595959"/>
                </a:solidFill>
              </a:rPr>
              <a:t>Ruins of the Ludlow tent colony, Colorado, April 1914. PD (LoC).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1890-1930 : The Coal Wars</a:t>
            </a:r>
            <a:endParaRPr dirty="0"/>
          </a:p>
        </p:txBody>
      </p:sp>
      <p:sp>
        <p:nvSpPr>
          <p:cNvPr id="3" name="Text Placeholder 2"/>
          <p:cNvSpPr>
            <a:spLocks noGrp="1"/>
          </p:cNvSpPr>
          <p:nvPr>
            <p:ph type="body" sz="half" idx="2"/>
          </p:nvPr>
        </p:nvSpPr>
        <p:spPr>
          <a:xfrm>
            <a:off x="417669" y="3428726"/>
            <a:ext cx="5826720" cy="5420925"/>
          </a:xfrm>
        </p:spPr>
        <p:txBody>
          <a:bodyPr wrap="square"/>
          <a:lstStyle/>
          <a:p>
            <a:pPr marL="285750" indent="-285750">
              <a:buFont typeface="Arial" panose="020B0604020202020204" pitchFamily="34" charset="0"/>
              <a:buChar char="•"/>
            </a:pPr>
            <a:r>
              <a:rPr sz="1600" dirty="0"/>
              <a:t>Not</a:t>
            </a:r>
            <a:r>
              <a:rPr lang="en-US" sz="1600" dirty="0"/>
              <a:t> fought over</a:t>
            </a:r>
            <a:r>
              <a:rPr sz="1600" dirty="0"/>
              <a:t> wages, primarily. </a:t>
            </a:r>
            <a:r>
              <a:rPr sz="1600" b="1" dirty="0"/>
              <a:t>The right to have a union at all.</a:t>
            </a:r>
          </a:p>
          <a:p>
            <a:pPr marL="285750" indent="-285750">
              <a:buFont typeface="Arial" panose="020B0604020202020204" pitchFamily="34" charset="0"/>
              <a:buChar char="•"/>
            </a:pPr>
            <a:r>
              <a:rPr sz="1600" dirty="0"/>
              <a:t>To get there, miners had to get past:</a:t>
            </a:r>
          </a:p>
          <a:p>
            <a:pPr marL="773445" lvl="1" indent="-285750">
              <a:buFont typeface="Arial" panose="020B0604020202020204" pitchFamily="34" charset="0"/>
              <a:buChar char="•"/>
            </a:pPr>
            <a:r>
              <a:rPr sz="1600" b="1" dirty="0"/>
              <a:t>Yellow-dog contracts</a:t>
            </a:r>
            <a:r>
              <a:rPr sz="1600" dirty="0"/>
              <a:t> — sign away your right to join a union as a condition of employment</a:t>
            </a:r>
          </a:p>
          <a:p>
            <a:pPr marL="773445" lvl="1" indent="-285750">
              <a:buFont typeface="Arial" panose="020B0604020202020204" pitchFamily="34" charset="0"/>
              <a:buChar char="•"/>
            </a:pPr>
            <a:r>
              <a:rPr sz="1600" b="1" dirty="0"/>
              <a:t>Mine guards</a:t>
            </a:r>
            <a:r>
              <a:rPr sz="1600" dirty="0"/>
              <a:t> — </a:t>
            </a:r>
            <a:r>
              <a:rPr lang="en-US" sz="1600" b="1" dirty="0"/>
              <a:t>private security </a:t>
            </a:r>
            <a:r>
              <a:rPr sz="1600" b="1" dirty="0"/>
              <a:t>agents</a:t>
            </a:r>
            <a:r>
              <a:rPr sz="1600" dirty="0"/>
              <a:t>, paid by the operators, </a:t>
            </a:r>
            <a:r>
              <a:rPr sz="1600" b="1" dirty="0"/>
              <a:t>deputized by the county</a:t>
            </a:r>
          </a:p>
          <a:p>
            <a:pPr marL="773445" lvl="1" indent="-285750">
              <a:buFont typeface="Arial" panose="020B0604020202020204" pitchFamily="34" charset="0"/>
              <a:buChar char="•"/>
            </a:pPr>
            <a:r>
              <a:rPr sz="1600" b="1" dirty="0"/>
              <a:t>Eviction</a:t>
            </a:r>
            <a:r>
              <a:rPr sz="1600" dirty="0"/>
              <a:t> — you live in the company's house, so a strike makes you homeless the same week</a:t>
            </a:r>
          </a:p>
          <a:p>
            <a:pPr marL="773445" lvl="1" indent="-285750">
              <a:buFont typeface="Arial" panose="020B0604020202020204" pitchFamily="34" charset="0"/>
              <a:buChar char="•"/>
            </a:pPr>
            <a:r>
              <a:rPr sz="1600" b="1" dirty="0"/>
              <a:t>Scrip</a:t>
            </a:r>
            <a:r>
              <a:rPr sz="1600" dirty="0"/>
              <a:t> — you are paid in the company's private money, worth face value </a:t>
            </a:r>
            <a:r>
              <a:rPr sz="1600" i="1" dirty="0"/>
              <a:t>only at the company store</a:t>
            </a:r>
          </a:p>
          <a:p>
            <a:pPr marL="285750" indent="-285750">
              <a:buFont typeface="Arial" panose="020B0604020202020204" pitchFamily="34" charset="0"/>
              <a:buChar char="•"/>
            </a:pPr>
            <a:r>
              <a:rPr sz="1600" dirty="0"/>
              <a:t>A miner in 1921: after loading car after car of coal, you still "couldn't come out to the company store and get enough food to feed your family."</a:t>
            </a:r>
          </a:p>
        </p:txBody>
      </p:sp>
      <p:pic>
        <p:nvPicPr>
          <p:cNvPr id="4" name="Picture 3" descr="union_leaders.jpg"/>
          <p:cNvPicPr>
            <a:picLocks noChangeAspect="1"/>
          </p:cNvPicPr>
          <p:nvPr/>
        </p:nvPicPr>
        <p:blipFill>
          <a:blip r:embed="rId3"/>
          <a:stretch>
            <a:fillRect/>
          </a:stretch>
        </p:blipFill>
        <p:spPr>
          <a:xfrm>
            <a:off x="6419426" y="3437064"/>
            <a:ext cx="6583680" cy="4167469"/>
          </a:xfrm>
          <a:prstGeom prst="rect">
            <a:avLst/>
          </a:prstGeom>
        </p:spPr>
      </p:pic>
      <p:sp>
        <p:nvSpPr>
          <p:cNvPr id="5" name="TextBox 4"/>
          <p:cNvSpPr txBox="1"/>
          <p:nvPr/>
        </p:nvSpPr>
        <p:spPr>
          <a:xfrm>
            <a:off x="6419426" y="7659397"/>
            <a:ext cx="6583680" cy="384048"/>
          </a:xfrm>
          <a:prstGeom prst="rect">
            <a:avLst/>
          </a:prstGeom>
          <a:noFill/>
        </p:spPr>
        <p:txBody>
          <a:bodyPr wrap="square">
            <a:spAutoFit/>
          </a:bodyPr>
          <a:lstStyle/>
          <a:p>
            <a:r>
              <a:rPr sz="1000">
                <a:solidFill>
                  <a:srgbClr val="595959"/>
                </a:solidFill>
              </a:rPr>
              <a:t>Union leaders during the armed march, southern West Virginia, 1921. PD.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FE362-3F68-62C8-A804-5D6E064AB689}"/>
              </a:ext>
            </a:extLst>
          </p:cNvPr>
          <p:cNvSpPr>
            <a:spLocks noGrp="1"/>
          </p:cNvSpPr>
          <p:nvPr>
            <p:ph type="title"/>
          </p:nvPr>
        </p:nvSpPr>
        <p:spPr>
          <a:xfrm>
            <a:off x="420489" y="1402838"/>
            <a:ext cx="11216640" cy="1235456"/>
          </a:xfrm>
        </p:spPr>
        <p:txBody>
          <a:bodyPr/>
          <a:lstStyle/>
          <a:p>
            <a:r>
              <a:rPr lang="en-US" dirty="0"/>
              <a:t>Slave Catchers and Private Detective Agencies</a:t>
            </a:r>
          </a:p>
        </p:txBody>
      </p:sp>
      <p:sp>
        <p:nvSpPr>
          <p:cNvPr id="3" name="Content Placeholder 2">
            <a:extLst>
              <a:ext uri="{FF2B5EF4-FFF2-40B4-BE49-F238E27FC236}">
                <a16:creationId xmlns:a16="http://schemas.microsoft.com/office/drawing/2014/main" id="{1D3FDDEB-76DE-A192-B3DA-71560DF2848F}"/>
              </a:ext>
            </a:extLst>
          </p:cNvPr>
          <p:cNvSpPr>
            <a:spLocks noGrp="1"/>
          </p:cNvSpPr>
          <p:nvPr>
            <p:ph idx="1"/>
          </p:nvPr>
        </p:nvSpPr>
        <p:spPr>
          <a:xfrm>
            <a:off x="340938" y="2361051"/>
            <a:ext cx="7071479" cy="7240149"/>
          </a:xfrm>
        </p:spPr>
        <p:txBody>
          <a:bodyPr/>
          <a:lstStyle/>
          <a:p>
            <a:r>
              <a:rPr lang="en-US" sz="1800" dirty="0"/>
              <a:t>Before the Civil War, </a:t>
            </a:r>
            <a:r>
              <a:rPr lang="en-US" sz="1800" dirty="0">
                <a:hlinkClick r:id="rId2"/>
              </a:rPr>
              <a:t>slave catching </a:t>
            </a:r>
            <a:r>
              <a:rPr lang="en-US" sz="1800" dirty="0"/>
              <a:t>was a regular occupation in the US, especially the South</a:t>
            </a:r>
          </a:p>
          <a:p>
            <a:pPr lvl="1"/>
            <a:r>
              <a:rPr lang="en-US" sz="1800" dirty="0"/>
              <a:t>Recruited militia from places like </a:t>
            </a:r>
            <a:r>
              <a:rPr lang="en-US" sz="1800" dirty="0">
                <a:hlinkClick r:id="rId3"/>
              </a:rPr>
              <a:t>The Citadel </a:t>
            </a:r>
            <a:r>
              <a:rPr lang="en-US" sz="1800" dirty="0"/>
              <a:t>and the </a:t>
            </a:r>
            <a:r>
              <a:rPr lang="en-US" sz="1800" dirty="0">
                <a:hlinkClick r:id="rId4"/>
              </a:rPr>
              <a:t>Virginia Military Institute</a:t>
            </a:r>
            <a:r>
              <a:rPr lang="en-US" sz="1800" dirty="0"/>
              <a:t> </a:t>
            </a:r>
          </a:p>
          <a:p>
            <a:pPr lvl="1"/>
            <a:r>
              <a:rPr lang="en-US" sz="1800" dirty="0"/>
              <a:t>Became a paramilitary operation</a:t>
            </a:r>
          </a:p>
          <a:p>
            <a:pPr lvl="1"/>
            <a:r>
              <a:rPr lang="en-US" sz="1800" dirty="0"/>
              <a:t>After the Civil War, led / linked to the formation of the </a:t>
            </a:r>
            <a:r>
              <a:rPr lang="en-US" sz="1800" dirty="0">
                <a:hlinkClick r:id="rId5"/>
              </a:rPr>
              <a:t>Ku Klux Klan</a:t>
            </a:r>
            <a:r>
              <a:rPr lang="en-US" sz="1800" dirty="0"/>
              <a:t> </a:t>
            </a:r>
          </a:p>
          <a:p>
            <a:pPr lvl="1"/>
            <a:r>
              <a:rPr lang="en-US" sz="1800" dirty="0"/>
              <a:t>These were still implicitly and explicitly enforced by Southern police officers</a:t>
            </a:r>
          </a:p>
          <a:p>
            <a:pPr lvl="1"/>
            <a:r>
              <a:rPr lang="en-US" sz="1800" dirty="0"/>
              <a:t>Addressed in popular culture, such as </a:t>
            </a:r>
            <a:r>
              <a:rPr lang="en-US" sz="1800" dirty="0">
                <a:hlinkClick r:id="rId6"/>
              </a:rPr>
              <a:t>Sinners (2025)</a:t>
            </a:r>
            <a:r>
              <a:rPr lang="en-US" sz="1800" dirty="0"/>
              <a:t> where Smoke and Stack confront KKK members who come to kill them after selling them the juke joint</a:t>
            </a:r>
          </a:p>
          <a:p>
            <a:r>
              <a:rPr lang="en-US" sz="1800" dirty="0"/>
              <a:t>Companies needed a private military force, hired existing agencies to infiltrate and break up unions</a:t>
            </a:r>
          </a:p>
          <a:p>
            <a:pPr lvl="1"/>
            <a:r>
              <a:rPr lang="en-US" sz="1800" dirty="0">
                <a:hlinkClick r:id="rId7"/>
              </a:rPr>
              <a:t>Baldwin-Felts</a:t>
            </a:r>
            <a:endParaRPr lang="en-US" sz="1800" dirty="0"/>
          </a:p>
          <a:p>
            <a:pPr lvl="1"/>
            <a:r>
              <a:rPr lang="en-US" sz="1800" dirty="0">
                <a:hlinkClick r:id="rId8"/>
              </a:rPr>
              <a:t>Pinkertons</a:t>
            </a:r>
            <a:r>
              <a:rPr lang="en-US" sz="1800" dirty="0"/>
              <a:t> </a:t>
            </a:r>
          </a:p>
          <a:p>
            <a:r>
              <a:rPr lang="en-US" sz="1800" dirty="0"/>
              <a:t>This led to a </a:t>
            </a:r>
            <a:r>
              <a:rPr lang="en-US" sz="1800" b="1" dirty="0"/>
              <a:t>ready-made force of paramilitary thugs </a:t>
            </a:r>
            <a:r>
              <a:rPr lang="en-US" sz="1800" dirty="0"/>
              <a:t>who were deputized and enabled by the Federal and local governments to brutally suppress the workforce, Black people escaping the Jim Crow south, and immigrants from everywhere</a:t>
            </a:r>
          </a:p>
        </p:txBody>
      </p:sp>
      <p:pic>
        <p:nvPicPr>
          <p:cNvPr id="4" name="Picture 3">
            <a:extLst>
              <a:ext uri="{FF2B5EF4-FFF2-40B4-BE49-F238E27FC236}">
                <a16:creationId xmlns:a16="http://schemas.microsoft.com/office/drawing/2014/main" id="{49356B2B-1DE5-75AF-BC06-DE10C816BD9B}"/>
              </a:ext>
            </a:extLst>
          </p:cNvPr>
          <p:cNvPicPr>
            <a:picLocks noChangeAspect="1"/>
          </p:cNvPicPr>
          <p:nvPr/>
        </p:nvPicPr>
        <p:blipFill>
          <a:blip r:embed="rId9"/>
          <a:stretch>
            <a:fillRect/>
          </a:stretch>
        </p:blipFill>
        <p:spPr>
          <a:xfrm>
            <a:off x="7501257" y="2198432"/>
            <a:ext cx="3630478" cy="2098416"/>
          </a:xfrm>
          <a:prstGeom prst="rect">
            <a:avLst/>
          </a:prstGeom>
        </p:spPr>
      </p:pic>
      <p:sp>
        <p:nvSpPr>
          <p:cNvPr id="6" name="TextBox 5" descr="Depiction of Mississippi slave patrol&#13;&#10; from https://en.wikipedia.org/wiki/Slave_patrol#/media/File:Slave_Patrol.jpg">
            <a:extLst>
              <a:ext uri="{FF2B5EF4-FFF2-40B4-BE49-F238E27FC236}">
                <a16:creationId xmlns:a16="http://schemas.microsoft.com/office/drawing/2014/main" id="{13262A5D-9FDC-C28D-B1A2-6A6EB91892C3}"/>
              </a:ext>
            </a:extLst>
          </p:cNvPr>
          <p:cNvSpPr txBox="1"/>
          <p:nvPr/>
        </p:nvSpPr>
        <p:spPr>
          <a:xfrm>
            <a:off x="7347872" y="4221818"/>
            <a:ext cx="4289257" cy="276999"/>
          </a:xfrm>
          <a:prstGeom prst="rect">
            <a:avLst/>
          </a:prstGeom>
          <a:noFill/>
        </p:spPr>
        <p:txBody>
          <a:bodyPr wrap="square">
            <a:spAutoFit/>
          </a:bodyPr>
          <a:lstStyle/>
          <a:p>
            <a:r>
              <a:rPr lang="en-US" sz="1200" b="0" i="0" u="none" strike="noStrike" dirty="0">
                <a:solidFill>
                  <a:schemeClr val="tx1"/>
                </a:solidFill>
                <a:effectLst/>
                <a:latin typeface="+mn-lt"/>
              </a:rPr>
              <a:t>Depiction of Mississippi slave patrol</a:t>
            </a:r>
            <a:endParaRPr lang="en-US" sz="1200" dirty="0"/>
          </a:p>
        </p:txBody>
      </p:sp>
      <p:pic>
        <p:nvPicPr>
          <p:cNvPr id="7" name="Picture 6" descr="Sinners, 2025. Depiction of Michael B. Jordan as Smoke, killing a member of the KKK ">
            <a:extLst>
              <a:ext uri="{FF2B5EF4-FFF2-40B4-BE49-F238E27FC236}">
                <a16:creationId xmlns:a16="http://schemas.microsoft.com/office/drawing/2014/main" id="{C36C850A-C58D-4F5F-BAF2-443468FF86A6}"/>
              </a:ext>
            </a:extLst>
          </p:cNvPr>
          <p:cNvPicPr>
            <a:picLocks noChangeAspect="1"/>
          </p:cNvPicPr>
          <p:nvPr/>
        </p:nvPicPr>
        <p:blipFill>
          <a:blip r:embed="rId10"/>
          <a:stretch>
            <a:fillRect/>
          </a:stretch>
        </p:blipFill>
        <p:spPr>
          <a:xfrm>
            <a:off x="8319406" y="4498817"/>
            <a:ext cx="3663448" cy="2060689"/>
          </a:xfrm>
          <a:prstGeom prst="rect">
            <a:avLst/>
          </a:prstGeom>
        </p:spPr>
      </p:pic>
      <p:sp>
        <p:nvSpPr>
          <p:cNvPr id="8" name="TextBox 7" descr="Depiction of Mississippi slave patrol&#13;&#10; from https://en.wikipedia.org/wiki/Slave_patrol#/media/File:Slave_Patrol.jpg">
            <a:extLst>
              <a:ext uri="{FF2B5EF4-FFF2-40B4-BE49-F238E27FC236}">
                <a16:creationId xmlns:a16="http://schemas.microsoft.com/office/drawing/2014/main" id="{2D8D2311-5C15-CE8D-93BB-7CAD7842C70D}"/>
              </a:ext>
            </a:extLst>
          </p:cNvPr>
          <p:cNvSpPr txBox="1"/>
          <p:nvPr/>
        </p:nvSpPr>
        <p:spPr>
          <a:xfrm>
            <a:off x="8262272" y="6531304"/>
            <a:ext cx="4289257" cy="461665"/>
          </a:xfrm>
          <a:prstGeom prst="rect">
            <a:avLst/>
          </a:prstGeom>
          <a:noFill/>
        </p:spPr>
        <p:txBody>
          <a:bodyPr wrap="square">
            <a:spAutoFit/>
          </a:bodyPr>
          <a:lstStyle/>
          <a:p>
            <a:r>
              <a:rPr lang="en-US" sz="1200" dirty="0"/>
              <a:t>Michael B. Jordan as Smoke, killing a member of the KKK in the 2025 film “Sinners” </a:t>
            </a:r>
          </a:p>
        </p:txBody>
      </p:sp>
      <p:pic>
        <p:nvPicPr>
          <p:cNvPr id="9" name="Picture 8" descr="A Baldwin Felts agent at Glen Jean, Fayette County, 1902. ">
            <a:extLst>
              <a:ext uri="{FF2B5EF4-FFF2-40B4-BE49-F238E27FC236}">
                <a16:creationId xmlns:a16="http://schemas.microsoft.com/office/drawing/2014/main" id="{15D648CF-77B8-FEB8-F999-6B3125633D92}"/>
              </a:ext>
            </a:extLst>
          </p:cNvPr>
          <p:cNvPicPr>
            <a:picLocks noChangeAspect="1"/>
          </p:cNvPicPr>
          <p:nvPr/>
        </p:nvPicPr>
        <p:blipFill>
          <a:blip r:embed="rId11"/>
          <a:stretch>
            <a:fillRect/>
          </a:stretch>
        </p:blipFill>
        <p:spPr>
          <a:xfrm>
            <a:off x="7664685" y="7062264"/>
            <a:ext cx="3106287" cy="2329715"/>
          </a:xfrm>
          <a:prstGeom prst="rect">
            <a:avLst/>
          </a:prstGeom>
        </p:spPr>
      </p:pic>
      <p:sp>
        <p:nvSpPr>
          <p:cNvPr id="11" name="TextBox 10">
            <a:extLst>
              <a:ext uri="{FF2B5EF4-FFF2-40B4-BE49-F238E27FC236}">
                <a16:creationId xmlns:a16="http://schemas.microsoft.com/office/drawing/2014/main" id="{D446A10B-490A-18F2-E467-1AFB4635B98B}"/>
              </a:ext>
            </a:extLst>
          </p:cNvPr>
          <p:cNvSpPr txBox="1"/>
          <p:nvPr/>
        </p:nvSpPr>
        <p:spPr>
          <a:xfrm>
            <a:off x="7664685" y="9417916"/>
            <a:ext cx="4436645" cy="276999"/>
          </a:xfrm>
          <a:prstGeom prst="rect">
            <a:avLst/>
          </a:prstGeom>
          <a:noFill/>
        </p:spPr>
        <p:txBody>
          <a:bodyPr wrap="square">
            <a:spAutoFit/>
          </a:bodyPr>
          <a:lstStyle/>
          <a:p>
            <a:r>
              <a:rPr lang="en-US" sz="1200" b="0" i="0" u="none" strike="noStrike" dirty="0">
                <a:solidFill>
                  <a:schemeClr val="tx1"/>
                </a:solidFill>
                <a:effectLst/>
                <a:latin typeface="+mn-lt"/>
              </a:rPr>
              <a:t>A Baldwin Felts agent at </a:t>
            </a:r>
            <a:r>
              <a:rPr lang="en-US" sz="1200" b="0" i="0" u="none" strike="noStrike" dirty="0">
                <a:effectLst/>
                <a:latin typeface="+mn-lt"/>
                <a:hlinkClick r:id="rId12" tooltip="Glen Jean, West Virginia"/>
              </a:rPr>
              <a:t>Glen Jean</a:t>
            </a:r>
            <a:r>
              <a:rPr lang="en-US" sz="1200" b="0" i="0" u="none" strike="noStrike" dirty="0">
                <a:solidFill>
                  <a:schemeClr val="tx1"/>
                </a:solidFill>
                <a:effectLst/>
                <a:latin typeface="+mn-lt"/>
              </a:rPr>
              <a:t>, </a:t>
            </a:r>
            <a:r>
              <a:rPr lang="en-US" sz="1200" b="0" i="0" u="none" strike="noStrike" dirty="0">
                <a:effectLst/>
                <a:latin typeface="+mn-lt"/>
                <a:hlinkClick r:id="rId13" tooltip="Fayette County, West Virginia"/>
              </a:rPr>
              <a:t>Fayette County</a:t>
            </a:r>
            <a:r>
              <a:rPr lang="en-US" sz="1200" b="0" i="0" u="none" strike="noStrike" dirty="0">
                <a:solidFill>
                  <a:schemeClr val="tx1"/>
                </a:solidFill>
                <a:effectLst/>
                <a:latin typeface="+mn-lt"/>
              </a:rPr>
              <a:t>, 1902.</a:t>
            </a:r>
            <a:endParaRPr lang="en-US" sz="1200" dirty="0"/>
          </a:p>
        </p:txBody>
      </p:sp>
    </p:spTree>
    <p:extLst>
      <p:ext uri="{BB962C8B-B14F-4D97-AF65-F5344CB8AC3E}">
        <p14:creationId xmlns:p14="http://schemas.microsoft.com/office/powerpoint/2010/main" val="25618173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669" y="1425153"/>
            <a:ext cx="5536174" cy="1235456"/>
          </a:xfrm>
        </p:spPr>
        <p:txBody>
          <a:bodyPr/>
          <a:lstStyle/>
          <a:p>
            <a:r>
              <a:rPr dirty="0"/>
              <a:t>The other thing that was organizing</a:t>
            </a:r>
          </a:p>
        </p:txBody>
      </p:sp>
      <p:sp>
        <p:nvSpPr>
          <p:cNvPr id="3" name="Text Placeholder 2"/>
          <p:cNvSpPr>
            <a:spLocks noGrp="1"/>
          </p:cNvSpPr>
          <p:nvPr>
            <p:ph type="body" sz="half" idx="2"/>
          </p:nvPr>
        </p:nvSpPr>
        <p:spPr>
          <a:xfrm>
            <a:off x="246581" y="2660610"/>
            <a:ext cx="5841398" cy="6387138"/>
          </a:xfrm>
        </p:spPr>
        <p:txBody>
          <a:bodyPr wrap="square"/>
          <a:lstStyle/>
          <a:p>
            <a:pPr marL="285750" indent="-285750">
              <a:buFont typeface="Arial" panose="020B0604020202020204" pitchFamily="34" charset="0"/>
              <a:buChar char="•"/>
            </a:pPr>
            <a:r>
              <a:rPr sz="1600" dirty="0"/>
              <a:t>In the same years, the </a:t>
            </a:r>
            <a:r>
              <a:rPr sz="1600" b="1" dirty="0"/>
              <a:t>second Ku Klux Klan</a:t>
            </a:r>
            <a:r>
              <a:rPr sz="1600" dirty="0"/>
              <a:t> was the fastest-growing membership organization in America.</a:t>
            </a:r>
          </a:p>
          <a:p>
            <a:pPr marL="773445" lvl="1" indent="-285750">
              <a:buFont typeface="Arial" panose="020B0604020202020204" pitchFamily="34" charset="0"/>
              <a:buChar char="•"/>
            </a:pPr>
            <a:r>
              <a:rPr sz="1600" dirty="0" err="1"/>
              <a:t>Refounded</a:t>
            </a:r>
            <a:r>
              <a:rPr sz="1600" dirty="0"/>
              <a:t> </a:t>
            </a:r>
            <a:r>
              <a:rPr sz="1600" b="1" dirty="0"/>
              <a:t>24 December 1915</a:t>
            </a:r>
            <a:r>
              <a:rPr sz="1600" dirty="0"/>
              <a:t> at Stone Mountain, GA, inspired by the film </a:t>
            </a:r>
            <a:r>
              <a:rPr sz="1600" i="1" dirty="0"/>
              <a:t>The Birth of a Nation</a:t>
            </a:r>
          </a:p>
          <a:p>
            <a:pPr marL="773445" lvl="1" indent="-285750">
              <a:buFont typeface="Arial" panose="020B0604020202020204" pitchFamily="34" charset="0"/>
              <a:buChar char="•"/>
            </a:pPr>
            <a:r>
              <a:rPr sz="1600" dirty="0"/>
              <a:t>Peak membership by </a:t>
            </a:r>
            <a:r>
              <a:rPr sz="1600" b="1" dirty="0"/>
              <a:t>1924: an estimated 3-8 million</a:t>
            </a:r>
          </a:p>
          <a:p>
            <a:pPr marL="773445" lvl="1" indent="-285750">
              <a:buFont typeface="Arial" panose="020B0604020202020204" pitchFamily="34" charset="0"/>
              <a:buChar char="•"/>
            </a:pPr>
            <a:r>
              <a:rPr sz="1600" b="1" dirty="0"/>
              <a:t>Not just the South.</a:t>
            </a:r>
            <a:r>
              <a:rPr sz="1600" dirty="0"/>
              <a:t> Detroit had ~40,000 members. In Indiana, ~18% of eligible men joined</a:t>
            </a:r>
          </a:p>
          <a:p>
            <a:pPr marL="773445" lvl="1" indent="-285750">
              <a:buFont typeface="Arial" panose="020B0604020202020204" pitchFamily="34" charset="0"/>
              <a:buChar char="•"/>
            </a:pPr>
            <a:r>
              <a:rPr sz="1600" dirty="0"/>
              <a:t>Targets: Black Americans, Catholics, </a:t>
            </a:r>
            <a:r>
              <a:rPr lang="en-US" sz="1600" dirty="0"/>
              <a:t>the Jewish diaspora</a:t>
            </a:r>
            <a:r>
              <a:rPr sz="1600" dirty="0"/>
              <a:t>, and Southern and Eastern European immigrants</a:t>
            </a:r>
            <a:endParaRPr lang="en-US" sz="1600" dirty="0"/>
          </a:p>
          <a:p>
            <a:pPr marL="285750" indent="-285750">
              <a:buFont typeface="Arial" panose="020B0604020202020204" pitchFamily="34" charset="0"/>
              <a:buChar char="•"/>
            </a:pPr>
            <a:r>
              <a:rPr lang="en-US" sz="2000" dirty="0"/>
              <a:t>During that period, many law enforcement members were also part of the KKK</a:t>
            </a:r>
          </a:p>
          <a:p>
            <a:pPr marL="773445" lvl="1" indent="-285750">
              <a:buFont typeface="Arial" panose="020B0604020202020204" pitchFamily="34" charset="0"/>
              <a:buChar char="•"/>
            </a:pPr>
            <a:r>
              <a:rPr lang="en-US" sz="1600" dirty="0"/>
              <a:t>Inspired the lyrics of the popular song “Killing in the Name Of” by Rage Against the Machine</a:t>
            </a:r>
            <a:endParaRPr sz="1600" dirty="0"/>
          </a:p>
        </p:txBody>
      </p:sp>
      <p:pic>
        <p:nvPicPr>
          <p:cNvPr id="4" name="Picture 3" descr="kkk_parade_1928.jpg"/>
          <p:cNvPicPr>
            <a:picLocks noChangeAspect="1"/>
          </p:cNvPicPr>
          <p:nvPr/>
        </p:nvPicPr>
        <p:blipFill>
          <a:blip r:embed="rId3"/>
          <a:stretch>
            <a:fillRect/>
          </a:stretch>
        </p:blipFill>
        <p:spPr>
          <a:xfrm>
            <a:off x="6312836" y="161302"/>
            <a:ext cx="6583680" cy="5256657"/>
          </a:xfrm>
          <a:prstGeom prst="rect">
            <a:avLst/>
          </a:prstGeom>
        </p:spPr>
      </p:pic>
      <p:sp>
        <p:nvSpPr>
          <p:cNvPr id="5" name="TextBox 4"/>
          <p:cNvSpPr txBox="1"/>
          <p:nvPr/>
        </p:nvSpPr>
        <p:spPr>
          <a:xfrm>
            <a:off x="6312836" y="5532980"/>
            <a:ext cx="6583680" cy="384048"/>
          </a:xfrm>
          <a:prstGeom prst="rect">
            <a:avLst/>
          </a:prstGeom>
          <a:noFill/>
        </p:spPr>
        <p:txBody>
          <a:bodyPr wrap="square">
            <a:spAutoFit/>
          </a:bodyPr>
          <a:lstStyle/>
          <a:p>
            <a:r>
              <a:rPr sz="1000" dirty="0">
                <a:solidFill>
                  <a:srgbClr val="595959"/>
                </a:solidFill>
              </a:rPr>
              <a:t>Klan parade, Pennsylvania Avenue, Washington DC, 1928. PD (NARA).</a:t>
            </a:r>
          </a:p>
        </p:txBody>
      </p:sp>
      <p:pic>
        <p:nvPicPr>
          <p:cNvPr id="6" name="Picture 5" descr="Image of Zack de la Rocha from Rage Against the Machine. “Some of those that work forces, are the same that burn crosses”">
            <a:hlinkClick r:id="rId4"/>
            <a:extLst>
              <a:ext uri="{FF2B5EF4-FFF2-40B4-BE49-F238E27FC236}">
                <a16:creationId xmlns:a16="http://schemas.microsoft.com/office/drawing/2014/main" id="{25A382FF-B41F-1647-1018-815C15A1010E}"/>
              </a:ext>
            </a:extLst>
          </p:cNvPr>
          <p:cNvPicPr>
            <a:picLocks noChangeAspect="1"/>
          </p:cNvPicPr>
          <p:nvPr/>
        </p:nvPicPr>
        <p:blipFill>
          <a:blip r:embed="rId5"/>
          <a:stretch>
            <a:fillRect/>
          </a:stretch>
        </p:blipFill>
        <p:spPr>
          <a:xfrm>
            <a:off x="6312836" y="6073439"/>
            <a:ext cx="6307086" cy="2974309"/>
          </a:xfrm>
          <a:prstGeom prst="rect">
            <a:avLst/>
          </a:prstGeom>
        </p:spPr>
      </p:pic>
    </p:spTree>
    <p:extLst>
      <p:ext uri="{BB962C8B-B14F-4D97-AF65-F5344CB8AC3E}">
        <p14:creationId xmlns:p14="http://schemas.microsoft.com/office/powerpoint/2010/main" val="407545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19 May 1920 → 1 Aug 1921: the fuse</a:t>
            </a:r>
          </a:p>
        </p:txBody>
      </p:sp>
      <p:sp>
        <p:nvSpPr>
          <p:cNvPr id="3" name="Text Placeholder 2"/>
          <p:cNvSpPr>
            <a:spLocks noGrp="1"/>
          </p:cNvSpPr>
          <p:nvPr>
            <p:ph type="body" sz="half" idx="2"/>
          </p:nvPr>
        </p:nvSpPr>
        <p:spPr/>
        <p:txBody>
          <a:bodyPr wrap="square"/>
          <a:lstStyle/>
          <a:p>
            <a:pPr marL="285750" indent="-285750">
              <a:buFont typeface="Arial" panose="020B0604020202020204" pitchFamily="34" charset="0"/>
              <a:buChar char="•"/>
            </a:pPr>
            <a:r>
              <a:rPr sz="1800" b="1" dirty="0"/>
              <a:t>Matewan, WV, 19 May 1920.</a:t>
            </a:r>
            <a:r>
              <a:rPr sz="1800" dirty="0"/>
              <a:t> Baldwin-Felts agents come to evict miners' families. Police chief </a:t>
            </a:r>
            <a:r>
              <a:rPr sz="1800" b="1" dirty="0"/>
              <a:t>Sid Hatfield</a:t>
            </a:r>
            <a:r>
              <a:rPr sz="1800" dirty="0"/>
              <a:t> and Mayor Cabell Testerman confront them. Fifteen seconds of shooting: </a:t>
            </a:r>
            <a:r>
              <a:rPr sz="1800" b="1" dirty="0"/>
              <a:t>ten dead</a:t>
            </a:r>
            <a:r>
              <a:rPr sz="1800" dirty="0"/>
              <a:t>, including the mayor and Albert Felts.</a:t>
            </a:r>
          </a:p>
          <a:p>
            <a:pPr marL="285750" indent="-285750">
              <a:buFont typeface="Arial" panose="020B0604020202020204" pitchFamily="34" charset="0"/>
              <a:buChar char="•"/>
            </a:pPr>
            <a:r>
              <a:rPr sz="1800" dirty="0"/>
              <a:t>Hatfield becomes a folk hero. Tried for murder in January 1921 — </a:t>
            </a:r>
            <a:r>
              <a:rPr sz="1800" b="1" dirty="0"/>
              <a:t>and acquitted.</a:t>
            </a:r>
          </a:p>
          <a:p>
            <a:pPr marL="285750" indent="-285750">
              <a:buFont typeface="Arial" panose="020B0604020202020204" pitchFamily="34" charset="0"/>
              <a:buChar char="•"/>
            </a:pPr>
            <a:r>
              <a:rPr sz="1800" b="1" dirty="0"/>
              <a:t>1 August 1921.</a:t>
            </a:r>
            <a:r>
              <a:rPr sz="1800" dirty="0"/>
              <a:t> Hatfield walks up the courthouse steps in Welch, unarmed, with his wife on his arm. Baldwin-Felts agents shoot him and his friend Ed Chambers dead on the steps.</a:t>
            </a:r>
          </a:p>
          <a:p>
            <a:pPr marL="285750" indent="-285750">
              <a:buFont typeface="Arial" panose="020B0604020202020204" pitchFamily="34" charset="0"/>
              <a:buChar char="•"/>
            </a:pPr>
            <a:r>
              <a:rPr sz="1800" b="1" dirty="0"/>
              <a:t>Nobody is ever convicted.</a:t>
            </a:r>
          </a:p>
          <a:p>
            <a:pPr marL="285750" indent="-285750">
              <a:buFont typeface="Arial" panose="020B0604020202020204" pitchFamily="34" charset="0"/>
              <a:buChar char="•"/>
            </a:pPr>
            <a:r>
              <a:rPr sz="1800" dirty="0"/>
              <a:t>Two weeks later, ten thousand miners pick up rifles.</a:t>
            </a:r>
          </a:p>
        </p:txBody>
      </p:sp>
      <p:pic>
        <p:nvPicPr>
          <p:cNvPr id="4" name="Picture 3" descr="sid_hatfield.jpg"/>
          <p:cNvPicPr>
            <a:picLocks noChangeAspect="1"/>
          </p:cNvPicPr>
          <p:nvPr/>
        </p:nvPicPr>
        <p:blipFill>
          <a:blip r:embed="rId3"/>
          <a:stretch>
            <a:fillRect/>
          </a:stretch>
        </p:blipFill>
        <p:spPr>
          <a:xfrm>
            <a:off x="7664117" y="2682699"/>
            <a:ext cx="3245882" cy="4900590"/>
          </a:xfrm>
          <a:prstGeom prst="rect">
            <a:avLst/>
          </a:prstGeom>
        </p:spPr>
      </p:pic>
      <p:sp>
        <p:nvSpPr>
          <p:cNvPr id="5" name="TextBox 4"/>
          <p:cNvSpPr txBox="1"/>
          <p:nvPr/>
        </p:nvSpPr>
        <p:spPr>
          <a:xfrm>
            <a:off x="7618159" y="7685521"/>
            <a:ext cx="6583680" cy="384048"/>
          </a:xfrm>
          <a:prstGeom prst="rect">
            <a:avLst/>
          </a:prstGeom>
          <a:noFill/>
        </p:spPr>
        <p:txBody>
          <a:bodyPr wrap="square">
            <a:spAutoFit/>
          </a:bodyPr>
          <a:lstStyle/>
          <a:p>
            <a:r>
              <a:rPr sz="1000">
                <a:solidFill>
                  <a:srgbClr val="595959"/>
                </a:solidFill>
              </a:rPr>
              <a:t>Sid Hatfield, chief of police of Matewan. PD.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25 Aug - 2 Sep 1921: Blair Mountain</a:t>
            </a:r>
          </a:p>
        </p:txBody>
      </p:sp>
      <p:sp>
        <p:nvSpPr>
          <p:cNvPr id="3" name="Text Placeholder 2"/>
          <p:cNvSpPr>
            <a:spLocks noGrp="1"/>
          </p:cNvSpPr>
          <p:nvPr>
            <p:ph type="body" sz="half" idx="2"/>
          </p:nvPr>
        </p:nvSpPr>
        <p:spPr/>
        <p:txBody>
          <a:bodyPr wrap="square"/>
          <a:lstStyle/>
          <a:p>
            <a:pPr marL="285750" indent="-285750">
              <a:buFont typeface="Arial" panose="020B0604020202020204" pitchFamily="34" charset="0"/>
              <a:buChar char="•"/>
            </a:pPr>
            <a:r>
              <a:rPr sz="1500" b="1" dirty="0"/>
              <a:t>~10,000 miners</a:t>
            </a:r>
            <a:r>
              <a:rPr sz="1500" dirty="0"/>
              <a:t> marched on Logan County. Against them: </a:t>
            </a:r>
            <a:r>
              <a:rPr sz="1500" b="1" dirty="0"/>
              <a:t>~3,000 "Logan Defenders"</a:t>
            </a:r>
            <a:r>
              <a:rPr sz="1500" dirty="0"/>
              <a:t> under Sheriff </a:t>
            </a:r>
            <a:r>
              <a:rPr sz="1500" b="1" dirty="0"/>
              <a:t>Don Chafin</a:t>
            </a:r>
            <a:r>
              <a:rPr sz="1500" dirty="0"/>
              <a:t>, paid by the </a:t>
            </a:r>
            <a:r>
              <a:rPr sz="1500" b="1" dirty="0"/>
              <a:t>Logan County Coal Operators Association</a:t>
            </a:r>
            <a:r>
              <a:rPr sz="1500" dirty="0"/>
              <a:t>, plus state police.</a:t>
            </a:r>
          </a:p>
          <a:p>
            <a:pPr marL="285750" indent="-285750">
              <a:buFont typeface="Arial" panose="020B0604020202020204" pitchFamily="34" charset="0"/>
              <a:buChar char="•"/>
            </a:pPr>
            <a:r>
              <a:rPr sz="1500" dirty="0"/>
              <a:t>Five days of fighting along a mountain ridge. Roughly </a:t>
            </a:r>
            <a:r>
              <a:rPr sz="1500" b="1" dirty="0"/>
              <a:t>one million rounds</a:t>
            </a:r>
            <a:r>
              <a:rPr sz="1500" dirty="0"/>
              <a:t> fired. Machine guns on both sides.</a:t>
            </a:r>
          </a:p>
          <a:p>
            <a:pPr marL="285750" indent="-285750">
              <a:buFont typeface="Arial" panose="020B0604020202020204" pitchFamily="34" charset="0"/>
              <a:buChar char="•"/>
            </a:pPr>
            <a:r>
              <a:rPr sz="1500" b="1" dirty="0"/>
              <a:t>Private planes, hired by Chafin, dropped homemade bombs on American citizens.</a:t>
            </a:r>
            <a:r>
              <a:rPr sz="1500" dirty="0"/>
              <a:t> Army bombers flew surveillance under Gen. Billy Mitchell.</a:t>
            </a:r>
          </a:p>
          <a:p>
            <a:pPr marL="285750" indent="-285750">
              <a:buFont typeface="Arial" panose="020B0604020202020204" pitchFamily="34" charset="0"/>
              <a:buChar char="•"/>
            </a:pPr>
            <a:r>
              <a:rPr sz="1500" dirty="0"/>
              <a:t>It ended on </a:t>
            </a:r>
            <a:r>
              <a:rPr sz="1500" b="1" dirty="0"/>
              <a:t>2 September</a:t>
            </a:r>
            <a:r>
              <a:rPr sz="1500" dirty="0"/>
              <a:t> when federal troops arrived — </a:t>
            </a:r>
            <a:r>
              <a:rPr sz="1500" b="1" dirty="0"/>
              <a:t>because the miners would not shoot at US soldiers.</a:t>
            </a:r>
            <a:r>
              <a:rPr sz="1500" dirty="0"/>
              <a:t> Many had been US soldiers three years earlier.</a:t>
            </a:r>
          </a:p>
          <a:p>
            <a:pPr marL="285750" indent="-285750">
              <a:buFont typeface="Arial" panose="020B0604020202020204" pitchFamily="34" charset="0"/>
              <a:buChar char="•"/>
            </a:pPr>
            <a:r>
              <a:rPr sz="1500" b="1" dirty="0"/>
              <a:t>Casualty figures are contested:</a:t>
            </a:r>
            <a:r>
              <a:rPr sz="1500" dirty="0"/>
              <a:t> Wikipedia gives 50-100 miners killed; the WV Mine Wars Museum documents ~16 confirmed. </a:t>
            </a:r>
            <a:endParaRPr sz="1500" i="1" dirty="0"/>
          </a:p>
        </p:txBody>
      </p:sp>
      <p:pic>
        <p:nvPicPr>
          <p:cNvPr id="4" name="Picture 3" descr="blair_map.png"/>
          <p:cNvPicPr>
            <a:picLocks noChangeAspect="1"/>
          </p:cNvPicPr>
          <p:nvPr/>
        </p:nvPicPr>
        <p:blipFill>
          <a:blip r:embed="rId3"/>
          <a:stretch>
            <a:fillRect/>
          </a:stretch>
        </p:blipFill>
        <p:spPr>
          <a:xfrm>
            <a:off x="6419426" y="1724250"/>
            <a:ext cx="3200400" cy="3442592"/>
          </a:xfrm>
          <a:prstGeom prst="rect">
            <a:avLst/>
          </a:prstGeom>
        </p:spPr>
      </p:pic>
      <p:sp>
        <p:nvSpPr>
          <p:cNvPr id="5" name="TextBox 4"/>
          <p:cNvSpPr txBox="1"/>
          <p:nvPr/>
        </p:nvSpPr>
        <p:spPr>
          <a:xfrm>
            <a:off x="6419426" y="5221706"/>
            <a:ext cx="3200400" cy="384048"/>
          </a:xfrm>
          <a:prstGeom prst="rect">
            <a:avLst/>
          </a:prstGeom>
          <a:noFill/>
        </p:spPr>
        <p:txBody>
          <a:bodyPr wrap="square">
            <a:spAutoFit/>
          </a:bodyPr>
          <a:lstStyle/>
          <a:p>
            <a:r>
              <a:rPr sz="1000">
                <a:solidFill>
                  <a:srgbClr val="595959"/>
                </a:solidFill>
              </a:rPr>
              <a:t>The miners' march on Logan County. PD.</a:t>
            </a:r>
          </a:p>
        </p:txBody>
      </p:sp>
      <p:pic>
        <p:nvPicPr>
          <p:cNvPr id="6" name="Picture 5" descr="blair_machine_gun.jpg"/>
          <p:cNvPicPr>
            <a:picLocks noChangeAspect="1"/>
          </p:cNvPicPr>
          <p:nvPr/>
        </p:nvPicPr>
        <p:blipFill>
          <a:blip r:embed="rId4"/>
          <a:stretch>
            <a:fillRect/>
          </a:stretch>
        </p:blipFill>
        <p:spPr>
          <a:xfrm>
            <a:off x="9711266" y="2192791"/>
            <a:ext cx="3200400" cy="2505511"/>
          </a:xfrm>
          <a:prstGeom prst="rect">
            <a:avLst/>
          </a:prstGeom>
        </p:spPr>
      </p:pic>
      <p:sp>
        <p:nvSpPr>
          <p:cNvPr id="7" name="TextBox 6"/>
          <p:cNvSpPr txBox="1"/>
          <p:nvPr/>
        </p:nvSpPr>
        <p:spPr>
          <a:xfrm>
            <a:off x="9711266" y="4753166"/>
            <a:ext cx="3200400" cy="384048"/>
          </a:xfrm>
          <a:prstGeom prst="rect">
            <a:avLst/>
          </a:prstGeom>
          <a:noFill/>
        </p:spPr>
        <p:txBody>
          <a:bodyPr wrap="square">
            <a:spAutoFit/>
          </a:bodyPr>
          <a:lstStyle/>
          <a:p>
            <a:r>
              <a:rPr sz="1000">
                <a:solidFill>
                  <a:srgbClr val="595959"/>
                </a:solidFill>
              </a:rPr>
              <a:t>A machine-gun nest at Blair Mountain. PD.</a:t>
            </a:r>
          </a:p>
        </p:txBody>
      </p:sp>
      <p:pic>
        <p:nvPicPr>
          <p:cNvPr id="8" name="Picture 7" descr="blair_miner.jpg"/>
          <p:cNvPicPr>
            <a:picLocks noChangeAspect="1"/>
          </p:cNvPicPr>
          <p:nvPr/>
        </p:nvPicPr>
        <p:blipFill>
          <a:blip r:embed="rId5"/>
          <a:stretch>
            <a:fillRect/>
          </a:stretch>
        </p:blipFill>
        <p:spPr>
          <a:xfrm>
            <a:off x="6419426" y="6267123"/>
            <a:ext cx="3200400" cy="2438400"/>
          </a:xfrm>
          <a:prstGeom prst="rect">
            <a:avLst/>
          </a:prstGeom>
        </p:spPr>
      </p:pic>
      <p:sp>
        <p:nvSpPr>
          <p:cNvPr id="9" name="TextBox 8"/>
          <p:cNvSpPr txBox="1"/>
          <p:nvPr/>
        </p:nvSpPr>
        <p:spPr>
          <a:xfrm>
            <a:off x="6419426" y="8760387"/>
            <a:ext cx="3200400" cy="384048"/>
          </a:xfrm>
          <a:prstGeom prst="rect">
            <a:avLst/>
          </a:prstGeom>
          <a:noFill/>
        </p:spPr>
        <p:txBody>
          <a:bodyPr wrap="square">
            <a:spAutoFit/>
          </a:bodyPr>
          <a:lstStyle/>
          <a:p>
            <a:r>
              <a:rPr sz="1000">
                <a:solidFill>
                  <a:srgbClr val="595959"/>
                </a:solidFill>
              </a:rPr>
              <a:t>A miner of the armed march. PD.</a:t>
            </a:r>
          </a:p>
        </p:txBody>
      </p:sp>
      <p:pic>
        <p:nvPicPr>
          <p:cNvPr id="10" name="Picture 9" descr="airfleet.png"/>
          <p:cNvPicPr>
            <a:picLocks noChangeAspect="1"/>
          </p:cNvPicPr>
          <p:nvPr/>
        </p:nvPicPr>
        <p:blipFill>
          <a:blip r:embed="rId6"/>
          <a:stretch>
            <a:fillRect/>
          </a:stretch>
        </p:blipFill>
        <p:spPr>
          <a:xfrm>
            <a:off x="9711266" y="6301825"/>
            <a:ext cx="3200399" cy="2368997"/>
          </a:xfrm>
          <a:prstGeom prst="rect">
            <a:avLst/>
          </a:prstGeom>
        </p:spPr>
      </p:pic>
      <p:sp>
        <p:nvSpPr>
          <p:cNvPr id="11" name="TextBox 10"/>
          <p:cNvSpPr txBox="1"/>
          <p:nvPr/>
        </p:nvSpPr>
        <p:spPr>
          <a:xfrm>
            <a:off x="9711266" y="8725686"/>
            <a:ext cx="3200400" cy="384048"/>
          </a:xfrm>
          <a:prstGeom prst="rect">
            <a:avLst/>
          </a:prstGeom>
          <a:noFill/>
        </p:spPr>
        <p:txBody>
          <a:bodyPr wrap="square">
            <a:spAutoFit/>
          </a:bodyPr>
          <a:lstStyle/>
          <a:p>
            <a:r>
              <a:rPr sz="1000">
                <a:solidFill>
                  <a:srgbClr val="595959"/>
                </a:solidFill>
              </a:rPr>
              <a:t>The Washington Times, 1921. PD.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Coal Won the War</a:t>
            </a:r>
            <a:endParaRPr dirty="0"/>
          </a:p>
        </p:txBody>
      </p:sp>
      <p:sp>
        <p:nvSpPr>
          <p:cNvPr id="3" name="Text Placeholder 2"/>
          <p:cNvSpPr>
            <a:spLocks noGrp="1"/>
          </p:cNvSpPr>
          <p:nvPr>
            <p:ph type="body" sz="half" idx="2"/>
          </p:nvPr>
        </p:nvSpPr>
        <p:spPr>
          <a:xfrm>
            <a:off x="464460" y="3002360"/>
            <a:ext cx="6583679" cy="5420925"/>
          </a:xfrm>
        </p:spPr>
        <p:txBody>
          <a:bodyPr wrap="square"/>
          <a:lstStyle/>
          <a:p>
            <a:pPr marL="285750" indent="-285750">
              <a:buFont typeface="Arial" panose="020B0604020202020204" pitchFamily="34" charset="0"/>
              <a:buChar char="•"/>
            </a:pPr>
            <a:r>
              <a:rPr sz="1800" dirty="0"/>
              <a:t>Let us be completely clear about the outcome.</a:t>
            </a:r>
          </a:p>
          <a:p>
            <a:pPr marL="773445" lvl="1" indent="-285750">
              <a:buFont typeface="Arial" panose="020B0604020202020204" pitchFamily="34" charset="0"/>
              <a:buChar char="•"/>
            </a:pPr>
            <a:r>
              <a:rPr sz="1800" b="1" dirty="0"/>
              <a:t>985 miners indicted</a:t>
            </a:r>
            <a:r>
              <a:rPr sz="1800" dirty="0"/>
              <a:t> — murder, conspiracy, and </a:t>
            </a:r>
            <a:r>
              <a:rPr sz="1800" b="1" dirty="0"/>
              <a:t>treason against the State of West Virginia</a:t>
            </a:r>
          </a:p>
          <a:p>
            <a:pPr marL="773445" lvl="1" indent="-285750">
              <a:buFont typeface="Arial" panose="020B0604020202020204" pitchFamily="34" charset="0"/>
              <a:buChar char="•"/>
            </a:pPr>
            <a:r>
              <a:rPr sz="1800" b="1" dirty="0"/>
              <a:t>UMWA membership in the region collapsed from 50,000+ to about 10,000</a:t>
            </a:r>
          </a:p>
          <a:p>
            <a:pPr marL="773445" lvl="1" indent="-285750">
              <a:buFont typeface="Arial" panose="020B0604020202020204" pitchFamily="34" charset="0"/>
              <a:buChar char="•"/>
            </a:pPr>
            <a:r>
              <a:rPr sz="1800" b="1" dirty="0"/>
              <a:t>80% of mines reopened</a:t>
            </a:r>
            <a:r>
              <a:rPr sz="1800" dirty="0"/>
              <a:t> with replacement workers and yellow-dog contracts</a:t>
            </a:r>
          </a:p>
          <a:p>
            <a:pPr marL="773445" lvl="1" indent="-285750">
              <a:buFont typeface="Arial" panose="020B0604020202020204" pitchFamily="34" charset="0"/>
              <a:buChar char="•"/>
            </a:pPr>
            <a:r>
              <a:rPr sz="1800" b="1" dirty="0"/>
              <a:t>Union organizing in southern West Virginia was dead until 1933</a:t>
            </a:r>
          </a:p>
          <a:p>
            <a:pPr marL="773445" lvl="1" indent="-285750">
              <a:buFont typeface="Arial" panose="020B0604020202020204" pitchFamily="34" charset="0"/>
              <a:buChar char="•"/>
            </a:pPr>
            <a:r>
              <a:rPr sz="1800" b="1" dirty="0"/>
              <a:t>Nobody was ever punished for killing Sid Hatfield.</a:t>
            </a:r>
            <a:r>
              <a:rPr sz="1800" dirty="0"/>
              <a:t> Nobody was punished for Ludlow either.</a:t>
            </a:r>
          </a:p>
          <a:p>
            <a:pPr marL="285750" indent="-285750">
              <a:buFont typeface="Arial" panose="020B0604020202020204" pitchFamily="34" charset="0"/>
              <a:buChar char="•"/>
            </a:pPr>
            <a:r>
              <a:rPr sz="1800" dirty="0"/>
              <a:t>The operators kept the coal, kept the towns, kept the money, and kept the courts.</a:t>
            </a:r>
          </a:p>
          <a:p>
            <a:pPr marL="285750" indent="-285750">
              <a:buFont typeface="Arial" panose="020B0604020202020204" pitchFamily="34" charset="0"/>
              <a:buChar char="•"/>
            </a:pPr>
            <a:r>
              <a:rPr sz="1800" b="1" dirty="0"/>
              <a:t>The people who committed the atrocities got richer. That is the actual ending.</a:t>
            </a:r>
          </a:p>
        </p:txBody>
      </p:sp>
      <p:pic>
        <p:nvPicPr>
          <p:cNvPr id="4" name="Picture 3" descr="miners_with_bomb.jpg"/>
          <p:cNvPicPr>
            <a:picLocks noChangeAspect="1"/>
          </p:cNvPicPr>
          <p:nvPr/>
        </p:nvPicPr>
        <p:blipFill>
          <a:blip r:embed="rId3"/>
          <a:stretch>
            <a:fillRect/>
          </a:stretch>
        </p:blipFill>
        <p:spPr>
          <a:xfrm>
            <a:off x="8306786" y="1672046"/>
            <a:ext cx="2808960" cy="3547001"/>
          </a:xfrm>
          <a:prstGeom prst="rect">
            <a:avLst/>
          </a:prstGeom>
        </p:spPr>
      </p:pic>
      <p:sp>
        <p:nvSpPr>
          <p:cNvPr id="5" name="TextBox 4"/>
          <p:cNvSpPr txBox="1"/>
          <p:nvPr/>
        </p:nvSpPr>
        <p:spPr>
          <a:xfrm>
            <a:off x="8176037" y="5273911"/>
            <a:ext cx="6583680" cy="384048"/>
          </a:xfrm>
          <a:prstGeom prst="rect">
            <a:avLst/>
          </a:prstGeom>
          <a:noFill/>
        </p:spPr>
        <p:txBody>
          <a:bodyPr wrap="square">
            <a:spAutoFit/>
          </a:bodyPr>
          <a:lstStyle/>
          <a:p>
            <a:r>
              <a:rPr sz="1000" dirty="0">
                <a:solidFill>
                  <a:srgbClr val="595959"/>
                </a:solidFill>
              </a:rPr>
              <a:t>Miners display a bomb dropped on them from the air. PD.</a:t>
            </a:r>
          </a:p>
        </p:txBody>
      </p:sp>
      <p:pic>
        <p:nvPicPr>
          <p:cNvPr id="6" name="Picture 5" descr="bill_blizzard.jpg"/>
          <p:cNvPicPr>
            <a:picLocks noChangeAspect="1"/>
          </p:cNvPicPr>
          <p:nvPr/>
        </p:nvPicPr>
        <p:blipFill>
          <a:blip r:embed="rId4"/>
          <a:stretch>
            <a:fillRect/>
          </a:stretch>
        </p:blipFill>
        <p:spPr>
          <a:xfrm>
            <a:off x="8414326" y="5712823"/>
            <a:ext cx="2593880" cy="3547001"/>
          </a:xfrm>
          <a:prstGeom prst="rect">
            <a:avLst/>
          </a:prstGeom>
        </p:spPr>
      </p:pic>
      <p:sp>
        <p:nvSpPr>
          <p:cNvPr id="7" name="TextBox 6"/>
          <p:cNvSpPr txBox="1"/>
          <p:nvPr/>
        </p:nvSpPr>
        <p:spPr>
          <a:xfrm>
            <a:off x="8414326" y="9314688"/>
            <a:ext cx="6583680" cy="384048"/>
          </a:xfrm>
          <a:prstGeom prst="rect">
            <a:avLst/>
          </a:prstGeom>
          <a:noFill/>
        </p:spPr>
        <p:txBody>
          <a:bodyPr wrap="square">
            <a:spAutoFit/>
          </a:bodyPr>
          <a:lstStyle/>
          <a:p>
            <a:r>
              <a:rPr sz="1000">
                <a:solidFill>
                  <a:srgbClr val="595959"/>
                </a:solidFill>
              </a:rPr>
              <a:t>Bill Blizzard - tried for treason, acquitted. PD.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Popular culture at the time</a:t>
            </a:r>
            <a:endParaRPr dirty="0"/>
          </a:p>
        </p:txBody>
      </p:sp>
    </p:spTree>
    <p:extLst>
      <p:ext uri="{BB962C8B-B14F-4D97-AF65-F5344CB8AC3E}">
        <p14:creationId xmlns:p14="http://schemas.microsoft.com/office/powerpoint/2010/main" val="2446114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Muckrakers</a:t>
            </a:r>
          </a:p>
        </p:txBody>
      </p:sp>
      <p:sp>
        <p:nvSpPr>
          <p:cNvPr id="3" name="Text Placeholder 2"/>
          <p:cNvSpPr>
            <a:spLocks noGrp="1"/>
          </p:cNvSpPr>
          <p:nvPr>
            <p:ph type="body" sz="half" idx="2"/>
          </p:nvPr>
        </p:nvSpPr>
        <p:spPr>
          <a:xfrm>
            <a:off x="417668" y="2971800"/>
            <a:ext cx="6001757" cy="5877851"/>
          </a:xfrm>
        </p:spPr>
        <p:txBody>
          <a:bodyPr wrap="square"/>
          <a:lstStyle/>
          <a:p>
            <a:r>
              <a:rPr sz="1600" dirty="0"/>
              <a:t>The same decades produced journalists who made the abuses impossible to ignore — </a:t>
            </a:r>
            <a:r>
              <a:rPr sz="1600" b="1" dirty="0"/>
              <a:t>muckrakers</a:t>
            </a:r>
            <a:r>
              <a:rPr sz="1600" dirty="0"/>
              <a:t>, a name Roosevelt gave them as an </a:t>
            </a:r>
            <a:r>
              <a:rPr sz="1600" i="1" dirty="0"/>
              <a:t>insult</a:t>
            </a:r>
            <a:r>
              <a:rPr sz="1600" dirty="0"/>
              <a:t> on </a:t>
            </a:r>
            <a:r>
              <a:rPr sz="1600" b="1" dirty="0"/>
              <a:t>14 April 1906</a:t>
            </a:r>
            <a:r>
              <a:rPr sz="1600" dirty="0"/>
              <a:t>, borrowed from </a:t>
            </a:r>
            <a:r>
              <a:rPr sz="1600" i="1" dirty="0"/>
              <a:t>Pilgrim's Progress</a:t>
            </a:r>
            <a:r>
              <a:rPr sz="1600" dirty="0"/>
              <a:t>.</a:t>
            </a:r>
          </a:p>
          <a:p>
            <a:pPr marL="773445" lvl="1" indent="-285750">
              <a:buFont typeface="Arial" panose="020B0604020202020204" pitchFamily="34" charset="0"/>
              <a:buChar char="•"/>
            </a:pPr>
            <a:r>
              <a:rPr lang="en-US" sz="1600" b="1" dirty="0"/>
              <a:t>Ida B. Wells</a:t>
            </a:r>
            <a:r>
              <a:rPr lang="en-US" sz="1600" dirty="0"/>
              <a:t> — </a:t>
            </a:r>
            <a:r>
              <a:rPr lang="en-US" sz="1600" i="1" dirty="0"/>
              <a:t>Southern Horrors</a:t>
            </a:r>
            <a:r>
              <a:rPr lang="en-US" sz="1600" dirty="0"/>
              <a:t> (1892), </a:t>
            </a:r>
            <a:r>
              <a:rPr lang="en-US" sz="1600" i="1" dirty="0"/>
              <a:t>The Red Record</a:t>
            </a:r>
            <a:r>
              <a:rPr lang="en-US" sz="1600" dirty="0"/>
              <a:t> (1895) → documented lynching</a:t>
            </a:r>
            <a:endParaRPr lang="en-US" sz="1600" b="1" dirty="0"/>
          </a:p>
          <a:p>
            <a:pPr marL="773445" lvl="1" indent="-285750">
              <a:buFont typeface="Arial" panose="020B0604020202020204" pitchFamily="34" charset="0"/>
              <a:buChar char="•"/>
            </a:pPr>
            <a:r>
              <a:rPr sz="1600" b="1" dirty="0"/>
              <a:t>Ida Tarbell</a:t>
            </a:r>
            <a:r>
              <a:rPr sz="1600" dirty="0"/>
              <a:t> — </a:t>
            </a:r>
            <a:r>
              <a:rPr sz="1600" i="1" dirty="0"/>
              <a:t>The History of the Standard Oil Company</a:t>
            </a:r>
            <a:r>
              <a:rPr sz="1600" dirty="0"/>
              <a:t> (1902-08) → fed the 1911 breakup</a:t>
            </a:r>
          </a:p>
          <a:p>
            <a:pPr marL="773445" lvl="1" indent="-285750">
              <a:buFont typeface="Arial" panose="020B0604020202020204" pitchFamily="34" charset="0"/>
              <a:buChar char="•"/>
            </a:pPr>
            <a:r>
              <a:rPr sz="1600" b="1" dirty="0"/>
              <a:t>Upton Sinclair</a:t>
            </a:r>
            <a:r>
              <a:rPr sz="1600" dirty="0"/>
              <a:t> — </a:t>
            </a:r>
            <a:r>
              <a:rPr sz="1600" i="1" dirty="0"/>
              <a:t>The Jungle</a:t>
            </a:r>
            <a:r>
              <a:rPr sz="1600" dirty="0"/>
              <a:t> (1906) → Pure Food and Drug Act; Meat Inspection Act</a:t>
            </a:r>
          </a:p>
          <a:p>
            <a:pPr marL="773445" lvl="1" indent="-285750">
              <a:buFont typeface="Arial" panose="020B0604020202020204" pitchFamily="34" charset="0"/>
              <a:buChar char="•"/>
            </a:pPr>
            <a:r>
              <a:rPr sz="1600" b="1" dirty="0"/>
              <a:t>Jacob Riis</a:t>
            </a:r>
            <a:r>
              <a:rPr sz="1600" dirty="0"/>
              <a:t> — </a:t>
            </a:r>
            <a:r>
              <a:rPr sz="1600" i="1" dirty="0"/>
              <a:t>How the Other Half Lives</a:t>
            </a:r>
            <a:r>
              <a:rPr sz="1600" dirty="0"/>
              <a:t> (1890) → tenement reform</a:t>
            </a:r>
          </a:p>
          <a:p>
            <a:pPr marL="773445" lvl="1" indent="-285750">
              <a:buFont typeface="Arial" panose="020B0604020202020204" pitchFamily="34" charset="0"/>
              <a:buChar char="•"/>
            </a:pPr>
            <a:r>
              <a:rPr sz="1600" b="1" dirty="0"/>
              <a:t>Lincoln Steffens</a:t>
            </a:r>
            <a:r>
              <a:rPr sz="1600" dirty="0"/>
              <a:t> — </a:t>
            </a:r>
            <a:r>
              <a:rPr sz="1600" i="1" dirty="0"/>
              <a:t>The Shame of the Cities</a:t>
            </a:r>
            <a:r>
              <a:rPr sz="1600" dirty="0"/>
              <a:t> (1904) → municipal corruption prosecutions</a:t>
            </a:r>
          </a:p>
          <a:p>
            <a:pPr marL="773445" lvl="1" indent="-285750">
              <a:buFont typeface="Arial" panose="020B0604020202020204" pitchFamily="34" charset="0"/>
              <a:buChar char="•"/>
            </a:pPr>
            <a:r>
              <a:rPr sz="1600" b="1" dirty="0"/>
              <a:t>Ray Stannard Baker</a:t>
            </a:r>
            <a:r>
              <a:rPr sz="1600" dirty="0"/>
              <a:t> — </a:t>
            </a:r>
            <a:r>
              <a:rPr sz="1600" i="1" dirty="0"/>
              <a:t>"The Right to Work"</a:t>
            </a:r>
            <a:r>
              <a:rPr sz="1600" dirty="0"/>
              <a:t> (1903) → wrote specifically on </a:t>
            </a:r>
            <a:r>
              <a:rPr sz="1600" b="1" dirty="0"/>
              <a:t>coal mining</a:t>
            </a:r>
          </a:p>
        </p:txBody>
      </p:sp>
      <p:pic>
        <p:nvPicPr>
          <p:cNvPr id="4" name="Picture 3" descr="ida_b_wells.jpg"/>
          <p:cNvPicPr>
            <a:picLocks noChangeAspect="1"/>
          </p:cNvPicPr>
          <p:nvPr/>
        </p:nvPicPr>
        <p:blipFill>
          <a:blip r:embed="rId3"/>
          <a:stretch>
            <a:fillRect/>
          </a:stretch>
        </p:blipFill>
        <p:spPr>
          <a:xfrm>
            <a:off x="7016297" y="1672046"/>
            <a:ext cx="5389938" cy="7697506"/>
          </a:xfrm>
          <a:prstGeom prst="rect">
            <a:avLst/>
          </a:prstGeom>
        </p:spPr>
      </p:pic>
      <p:sp>
        <p:nvSpPr>
          <p:cNvPr id="5" name="TextBox 4"/>
          <p:cNvSpPr txBox="1"/>
          <p:nvPr/>
        </p:nvSpPr>
        <p:spPr>
          <a:xfrm>
            <a:off x="7016297" y="9460511"/>
            <a:ext cx="6583680" cy="384048"/>
          </a:xfrm>
          <a:prstGeom prst="rect">
            <a:avLst/>
          </a:prstGeom>
          <a:noFill/>
        </p:spPr>
        <p:txBody>
          <a:bodyPr wrap="square">
            <a:spAutoFit/>
          </a:bodyPr>
          <a:lstStyle/>
          <a:p>
            <a:r>
              <a:rPr sz="1000">
                <a:solidFill>
                  <a:srgbClr val="595959"/>
                </a:solidFill>
              </a:rPr>
              <a:t>Ida B. Wells (1862-1931). PD.</a:t>
            </a:r>
          </a:p>
        </p:txBody>
      </p:sp>
    </p:spTree>
    <p:extLst>
      <p:ext uri="{BB962C8B-B14F-4D97-AF65-F5344CB8AC3E}">
        <p14:creationId xmlns:p14="http://schemas.microsoft.com/office/powerpoint/2010/main" val="3484701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Songs as primary sources</a:t>
            </a:r>
          </a:p>
        </p:txBody>
      </p:sp>
      <p:sp>
        <p:nvSpPr>
          <p:cNvPr id="3" name="Content Placeholder 2"/>
          <p:cNvSpPr>
            <a:spLocks noGrp="1"/>
          </p:cNvSpPr>
          <p:nvPr>
            <p:ph idx="1"/>
          </p:nvPr>
        </p:nvSpPr>
        <p:spPr/>
        <p:txBody>
          <a:bodyPr wrap="square"/>
          <a:lstStyle/>
          <a:p>
            <a:r>
              <a:rPr sz="1600"/>
              <a:t>When you own the press, the courts and the police, the thing workers still have is </a:t>
            </a:r>
            <a:r>
              <a:rPr sz="1600" b="1"/>
              <a:t>a song.</a:t>
            </a:r>
          </a:p>
          <a:p>
            <a:pPr lvl="1"/>
            <a:r>
              <a:rPr sz="1600" b="1"/>
              <a:t>"Which Side Are You On?"</a:t>
            </a:r>
            <a:r>
              <a:rPr sz="1600"/>
              <a:t> — </a:t>
            </a:r>
            <a:r>
              <a:rPr sz="1600" b="1"/>
              <a:t>Florence Reece</a:t>
            </a:r>
            <a:r>
              <a:rPr sz="1600"/>
              <a:t>, Harlan County KY, </a:t>
            </a:r>
            <a:r>
              <a:rPr sz="1600" b="1"/>
              <a:t>1931</a:t>
            </a:r>
            <a:r>
              <a:rPr sz="1600"/>
              <a:t>. Written on a kitchen calendar the night Sheriff J.H. Blair's men ransacked her house hunting her husband. Set to a Baptist hymn tune. Later picked up by the Freedom Singers in the civil rights movement.</a:t>
            </a:r>
          </a:p>
          <a:p>
            <a:pPr lvl="1"/>
            <a:r>
              <a:rPr sz="1600" b="1"/>
              <a:t>"Sixteen Tons"</a:t>
            </a:r>
            <a:r>
              <a:rPr sz="1600"/>
              <a:t> — </a:t>
            </a:r>
            <a:r>
              <a:rPr sz="1600" b="1"/>
              <a:t>Merle Travis</a:t>
            </a:r>
            <a:r>
              <a:rPr sz="1600"/>
              <a:t>, </a:t>
            </a:r>
            <a:r>
              <a:rPr sz="1600" b="1"/>
              <a:t>1946</a:t>
            </a:r>
            <a:r>
              <a:rPr sz="1600"/>
              <a:t>. The company-store line came from a letter by his brother John. Tennessee Ernie Ford's 1955 cover sold </a:t>
            </a:r>
            <a:r>
              <a:rPr sz="1600" b="1"/>
              <a:t>a million copies in under four weeks.</a:t>
            </a:r>
          </a:p>
          <a:p>
            <a:pPr lvl="1"/>
            <a:r>
              <a:rPr sz="1600" b="1"/>
              <a:t>"Ludlow Massacre"</a:t>
            </a:r>
            <a:r>
              <a:rPr sz="1600"/>
              <a:t> — </a:t>
            </a:r>
            <a:r>
              <a:rPr sz="1600" b="1"/>
              <a:t>Woody Guthrie</a:t>
            </a:r>
            <a:r>
              <a:rPr sz="1600"/>
              <a:t>. A verse-by-verse account of the tent colony and the pit.</a:t>
            </a:r>
          </a:p>
          <a:p>
            <a:pPr lvl="1"/>
            <a:r>
              <a:rPr sz="1600" b="1"/>
              <a:t>"John Henry"</a:t>
            </a:r>
            <a:r>
              <a:rPr sz="1600"/>
              <a:t> — the steel-driving man who beats the steam drill and dies of it.</a:t>
            </a:r>
          </a:p>
        </p:txBody>
      </p:sp>
    </p:spTree>
    <p:extLst>
      <p:ext uri="{BB962C8B-B14F-4D97-AF65-F5344CB8AC3E}">
        <p14:creationId xmlns:p14="http://schemas.microsoft.com/office/powerpoint/2010/main" val="414813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t>Where this leaves us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2025: </a:t>
            </a:r>
            <a:r>
              <a:rPr dirty="0">
                <a:hlinkClick r:id="rId3"/>
              </a:rPr>
              <a:t>Starbase, Texas</a:t>
            </a:r>
            <a:endParaRPr dirty="0"/>
          </a:p>
        </p:txBody>
      </p:sp>
      <p:sp>
        <p:nvSpPr>
          <p:cNvPr id="3" name="Content Placeholder 2"/>
          <p:cNvSpPr>
            <a:spLocks noGrp="1"/>
          </p:cNvSpPr>
          <p:nvPr>
            <p:ph idx="1"/>
          </p:nvPr>
        </p:nvSpPr>
        <p:spPr>
          <a:xfrm>
            <a:off x="420489" y="2969749"/>
            <a:ext cx="6702206" cy="5757399"/>
          </a:xfrm>
        </p:spPr>
        <p:txBody>
          <a:bodyPr wrap="square"/>
          <a:lstStyle/>
          <a:p>
            <a:r>
              <a:rPr sz="1600" dirty="0"/>
              <a:t>On </a:t>
            </a:r>
            <a:r>
              <a:rPr sz="1600" b="1" dirty="0"/>
              <a:t>3 May 2025</a:t>
            </a:r>
            <a:r>
              <a:rPr sz="1600" dirty="0"/>
              <a:t>, the residents of Boca Chica, Texas voted to incorporate as a city called </a:t>
            </a:r>
            <a:r>
              <a:rPr sz="1600" b="1" dirty="0"/>
              <a:t>Starbase</a:t>
            </a:r>
            <a:r>
              <a:rPr sz="1600" dirty="0"/>
              <a:t>.</a:t>
            </a:r>
          </a:p>
          <a:p>
            <a:pPr lvl="1"/>
            <a:r>
              <a:rPr sz="1600" dirty="0"/>
              <a:t>Mayor: </a:t>
            </a:r>
            <a:r>
              <a:rPr sz="1600" b="1" dirty="0"/>
              <a:t>Bobby Peden, a SpaceX vice-president.</a:t>
            </a:r>
            <a:r>
              <a:rPr sz="1600" dirty="0"/>
              <a:t> He ran unopposed. So did both commissioners, both with SpaceX ties</a:t>
            </a:r>
          </a:p>
          <a:p>
            <a:pPr lvl="1"/>
            <a:r>
              <a:rPr sz="1600" dirty="0"/>
              <a:t>SpaceX owns large tracts; ~7,133 more acres slated for annexation</a:t>
            </a:r>
          </a:p>
        </p:txBody>
      </p:sp>
      <p:pic>
        <p:nvPicPr>
          <p:cNvPr id="4" name="Picture 3">
            <a:extLst>
              <a:ext uri="{FF2B5EF4-FFF2-40B4-BE49-F238E27FC236}">
                <a16:creationId xmlns:a16="http://schemas.microsoft.com/office/drawing/2014/main" id="{ED419158-207B-6E42-C68F-BD18AC4CE17F}"/>
              </a:ext>
            </a:extLst>
          </p:cNvPr>
          <p:cNvPicPr>
            <a:picLocks noChangeAspect="1"/>
          </p:cNvPicPr>
          <p:nvPr/>
        </p:nvPicPr>
        <p:blipFill>
          <a:blip r:embed="rId4"/>
          <a:stretch>
            <a:fillRect/>
          </a:stretch>
        </p:blipFill>
        <p:spPr>
          <a:xfrm>
            <a:off x="7122695" y="1742528"/>
            <a:ext cx="5637867" cy="3758578"/>
          </a:xfrm>
          <a:prstGeom prst="rect">
            <a:avLst/>
          </a:prstGeom>
        </p:spPr>
      </p:pic>
      <p:sp>
        <p:nvSpPr>
          <p:cNvPr id="6" name="TextBox 5">
            <a:extLst>
              <a:ext uri="{FF2B5EF4-FFF2-40B4-BE49-F238E27FC236}">
                <a16:creationId xmlns:a16="http://schemas.microsoft.com/office/drawing/2014/main" id="{EF75690C-B0B3-A039-2165-08BBD0B35064}"/>
              </a:ext>
            </a:extLst>
          </p:cNvPr>
          <p:cNvSpPr txBox="1"/>
          <p:nvPr/>
        </p:nvSpPr>
        <p:spPr>
          <a:xfrm>
            <a:off x="7122695" y="5571449"/>
            <a:ext cx="6503068" cy="276999"/>
          </a:xfrm>
          <a:prstGeom prst="rect">
            <a:avLst/>
          </a:prstGeom>
          <a:noFill/>
        </p:spPr>
        <p:txBody>
          <a:bodyPr wrap="square">
            <a:spAutoFit/>
          </a:bodyPr>
          <a:lstStyle/>
          <a:p>
            <a:r>
              <a:rPr lang="en-US" sz="1200" dirty="0"/>
              <a:t>https://</a:t>
            </a:r>
            <a:r>
              <a:rPr lang="en-US" sz="1200" dirty="0" err="1"/>
              <a:t>en.wikipedia.org</a:t>
            </a:r>
            <a:r>
              <a:rPr lang="en-US" sz="1200" dirty="0"/>
              <a:t>/wiki/</a:t>
            </a:r>
            <a:r>
              <a:rPr lang="en-US" sz="1200" dirty="0" err="1"/>
              <a:t>Starbase,_Texas</a:t>
            </a:r>
            <a:endParaRPr lang="en-US" sz="1200" dirty="0"/>
          </a:p>
        </p:txBody>
      </p:sp>
      <p:sp>
        <p:nvSpPr>
          <p:cNvPr id="8" name="TextBox 7">
            <a:extLst>
              <a:ext uri="{FF2B5EF4-FFF2-40B4-BE49-F238E27FC236}">
                <a16:creationId xmlns:a16="http://schemas.microsoft.com/office/drawing/2014/main" id="{F8DCAF15-74BD-E639-AE92-C804E25B6D33}"/>
              </a:ext>
            </a:extLst>
          </p:cNvPr>
          <p:cNvSpPr txBox="1"/>
          <p:nvPr/>
        </p:nvSpPr>
        <p:spPr>
          <a:xfrm>
            <a:off x="2658979" y="6521116"/>
            <a:ext cx="7483642" cy="769441"/>
          </a:xfrm>
          <a:prstGeom prst="rect">
            <a:avLst/>
          </a:prstGeom>
          <a:noFill/>
        </p:spPr>
        <p:txBody>
          <a:bodyPr wrap="square" rtlCol="0">
            <a:spAutoFit/>
          </a:bodyPr>
          <a:lstStyle/>
          <a:p>
            <a:r>
              <a:rPr lang="en-US" sz="4400" dirty="0"/>
              <a:t>Modern Company Town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bill always comes due</a:t>
            </a:r>
          </a:p>
        </p:txBody>
      </p:sp>
      <p:sp>
        <p:nvSpPr>
          <p:cNvPr id="3" name="Content Placeholder 2"/>
          <p:cNvSpPr>
            <a:spLocks noGrp="1"/>
          </p:cNvSpPr>
          <p:nvPr>
            <p:ph idx="1"/>
          </p:nvPr>
        </p:nvSpPr>
        <p:spPr>
          <a:xfrm>
            <a:off x="420489" y="2921623"/>
            <a:ext cx="11216640" cy="5757399"/>
          </a:xfrm>
        </p:spPr>
        <p:txBody>
          <a:bodyPr wrap="square"/>
          <a:lstStyle/>
          <a:p>
            <a:pPr marL="0" indent="0">
              <a:buNone/>
            </a:pPr>
            <a:endParaRPr sz="2400" dirty="0"/>
          </a:p>
          <a:p>
            <a:r>
              <a:rPr sz="2400" b="1" dirty="0"/>
              <a:t>Energy is never just physics.</a:t>
            </a:r>
            <a:r>
              <a:rPr sz="2400" dirty="0"/>
              <a:t> Every joule </a:t>
            </a:r>
            <a:r>
              <a:rPr lang="en-US" sz="2400" dirty="0"/>
              <a:t>we consume </a:t>
            </a:r>
            <a:r>
              <a:rPr sz="2400" dirty="0"/>
              <a:t>has a supply chain, and every supply chain runs through somebody's home.</a:t>
            </a:r>
          </a:p>
          <a:p>
            <a:r>
              <a:rPr sz="2400" b="1" dirty="0"/>
              <a:t>The costs land on whoever has the least power to refuse.</a:t>
            </a:r>
            <a:r>
              <a:rPr sz="2400" dirty="0"/>
              <a:t> </a:t>
            </a:r>
            <a:r>
              <a:rPr lang="en-US" sz="2400" dirty="0"/>
              <a:t>Native Americans</a:t>
            </a:r>
            <a:r>
              <a:rPr sz="2400" dirty="0"/>
              <a:t>, immigrant miners, Black</a:t>
            </a:r>
            <a:r>
              <a:rPr lang="en-US" sz="2400" dirty="0"/>
              <a:t> people escaping the Jim Crow south and</a:t>
            </a:r>
            <a:r>
              <a:rPr sz="2400" dirty="0"/>
              <a:t> convict laborers. </a:t>
            </a:r>
            <a:endParaRPr lang="en-US" sz="2400" dirty="0"/>
          </a:p>
          <a:p>
            <a:r>
              <a:rPr lang="en-US" sz="2400" b="1" dirty="0"/>
              <a:t>Losing is a normal outcome.</a:t>
            </a:r>
            <a:r>
              <a:rPr lang="en-US" sz="2400" dirty="0"/>
              <a:t> The miners were right, brave, organized, and defeated by the full backing of the US, State and Local governments as well as privatized paramilitary forces sanctioned by the government. </a:t>
            </a:r>
          </a:p>
          <a:p>
            <a:r>
              <a:rPr sz="2400" b="1" dirty="0"/>
              <a:t>The structures come back.</a:t>
            </a:r>
            <a:r>
              <a:rPr sz="2400" dirty="0"/>
              <a:t> The company town is being rebuilt right now, in Texas, with better branding.</a:t>
            </a:r>
          </a:p>
          <a:p>
            <a:pPr marL="0" indent="0">
              <a:buNone/>
            </a:pPr>
            <a:endParaRPr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38D54-44C8-5B25-E9C5-AE26F89503C9}"/>
              </a:ext>
            </a:extLst>
          </p:cNvPr>
          <p:cNvSpPr>
            <a:spLocks noGrp="1"/>
          </p:cNvSpPr>
          <p:nvPr>
            <p:ph type="title"/>
          </p:nvPr>
        </p:nvSpPr>
        <p:spPr/>
        <p:txBody>
          <a:bodyPr/>
          <a:lstStyle/>
          <a:p>
            <a:r>
              <a:rPr lang="en-US" dirty="0"/>
              <a:t>Data Analysis</a:t>
            </a:r>
          </a:p>
        </p:txBody>
      </p:sp>
      <p:pic>
        <p:nvPicPr>
          <p:cNvPr id="4" name="Picture 3">
            <a:extLst>
              <a:ext uri="{FF2B5EF4-FFF2-40B4-BE49-F238E27FC236}">
                <a16:creationId xmlns:a16="http://schemas.microsoft.com/office/drawing/2014/main" id="{9CB23D3D-1616-2B1F-46C5-7B205F37CD67}"/>
              </a:ext>
            </a:extLst>
          </p:cNvPr>
          <p:cNvPicPr>
            <a:picLocks noChangeAspect="1"/>
          </p:cNvPicPr>
          <p:nvPr/>
        </p:nvPicPr>
        <p:blipFill>
          <a:blip r:embed="rId2"/>
          <a:stretch>
            <a:fillRect/>
          </a:stretch>
        </p:blipFill>
        <p:spPr>
          <a:xfrm>
            <a:off x="2215292" y="3113582"/>
            <a:ext cx="7899400" cy="5872120"/>
          </a:xfrm>
          <a:prstGeom prst="rect">
            <a:avLst/>
          </a:prstGeom>
        </p:spPr>
      </p:pic>
      <p:sp>
        <p:nvSpPr>
          <p:cNvPr id="5" name="TextBox 4">
            <a:extLst>
              <a:ext uri="{FF2B5EF4-FFF2-40B4-BE49-F238E27FC236}">
                <a16:creationId xmlns:a16="http://schemas.microsoft.com/office/drawing/2014/main" id="{6A76411E-8BF4-D0D1-2EC6-07F732D4006E}"/>
              </a:ext>
            </a:extLst>
          </p:cNvPr>
          <p:cNvSpPr txBox="1"/>
          <p:nvPr/>
        </p:nvSpPr>
        <p:spPr>
          <a:xfrm>
            <a:off x="8498512" y="4230469"/>
            <a:ext cx="3830595"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Impossible to win Monopoly beyond a wealth inequality gap of 4x</a:t>
            </a:r>
          </a:p>
        </p:txBody>
      </p:sp>
      <p:cxnSp>
        <p:nvCxnSpPr>
          <p:cNvPr id="7" name="Straight Arrow Connector 6">
            <a:extLst>
              <a:ext uri="{FF2B5EF4-FFF2-40B4-BE49-F238E27FC236}">
                <a16:creationId xmlns:a16="http://schemas.microsoft.com/office/drawing/2014/main" id="{E76F339B-E391-1A44-C4DC-7C5758A06E4C}"/>
              </a:ext>
            </a:extLst>
          </p:cNvPr>
          <p:cNvCxnSpPr/>
          <p:nvPr/>
        </p:nvCxnSpPr>
        <p:spPr>
          <a:xfrm flipH="1" flipV="1">
            <a:off x="7661189" y="4411362"/>
            <a:ext cx="837323" cy="142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15786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Sources</a:t>
            </a:r>
          </a:p>
        </p:txBody>
      </p:sp>
      <p:sp>
        <p:nvSpPr>
          <p:cNvPr id="3" name="Content Placeholder 2"/>
          <p:cNvSpPr>
            <a:spLocks noGrp="1"/>
          </p:cNvSpPr>
          <p:nvPr>
            <p:ph idx="1"/>
          </p:nvPr>
        </p:nvSpPr>
        <p:spPr/>
        <p:txBody>
          <a:bodyPr wrap="square"/>
          <a:lstStyle/>
          <a:p>
            <a:r>
              <a:rPr sz="1600" b="1"/>
              <a:t>Wikipedia entry points</a:t>
            </a:r>
            <a:r>
              <a:rPr sz="1600"/>
              <a:t> (finding aids — trace to the primary sources they cite): Battle of Blair Mountain · Coal Wars · Company town · Coal Region · Susquehannock · Ludlow Massacre · Coal strike of 1902 · Muckraker · Starbase, Texas</a:t>
            </a:r>
          </a:p>
          <a:p>
            <a:r>
              <a:rPr sz="1600" b="1"/>
              <a:t>Institutional / scholarly:</a:t>
            </a:r>
            <a:r>
              <a:rPr sz="1600"/>
              <a:t> West Virginia Mine Wars Museum · </a:t>
            </a:r>
            <a:r>
              <a:rPr sz="1600" i="1"/>
              <a:t>e-WV: The West Virginia Encyclopedia</a:t>
            </a:r>
            <a:r>
              <a:rPr sz="1600"/>
              <a:t> (scrip) · Smithsonian Magazine, "What Made the Battle of Blair Mountain the Largest Labor Uprising in American History" · Price V. Fishback, </a:t>
            </a:r>
            <a:r>
              <a:rPr sz="1600" i="1"/>
              <a:t>Journal of Economic History</a:t>
            </a:r>
            <a:r>
              <a:rPr sz="1600"/>
              <a:t> · Scott Reynolds Nelson, </a:t>
            </a:r>
            <a:r>
              <a:rPr sz="1600" i="1"/>
              <a:t>Steel Drivin' Man</a:t>
            </a:r>
            <a:r>
              <a:rPr sz="1600"/>
              <a:t> (2006) · Lon Savage, </a:t>
            </a:r>
            <a:r>
              <a:rPr sz="1600" i="1"/>
              <a:t>Thunder in the Mountains</a:t>
            </a:r>
            <a:r>
              <a:rPr sz="1600"/>
              <a:t> (1990)</a:t>
            </a:r>
          </a:p>
          <a:p>
            <a:r>
              <a:rPr sz="1600" b="1"/>
              <a:t>Contemporary reporting:</a:t>
            </a:r>
            <a:r>
              <a:rPr sz="1600"/>
              <a:t> Texas Tribune (Starbase incorporation; HB 5246) · Scientific American (Starbase opposition) · New Republic ("Freedom Cities")</a:t>
            </a:r>
          </a:p>
          <a:p>
            <a:r>
              <a:rPr sz="1600" b="1"/>
              <a:t>Watch / read:</a:t>
            </a:r>
            <a:r>
              <a:rPr sz="1600"/>
              <a:t> </a:t>
            </a:r>
            <a:r>
              <a:rPr sz="1600" i="1"/>
              <a:t>Matewan</a:t>
            </a:r>
            <a:r>
              <a:rPr sz="1600"/>
              <a:t> (dir. John Sayles, 1987) · Denise Giardina, </a:t>
            </a:r>
            <a:r>
              <a:rPr sz="1600" i="1"/>
              <a:t>Storming Heaven</a:t>
            </a:r>
            <a:r>
              <a:rPr sz="1600"/>
              <a:t> (1987)</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5.png"/></Relationships>
</file>

<file path=ppt/theme/theme1.xml><?xml version="1.0" encoding="utf-8"?>
<a:theme xmlns:a="http://schemas.openxmlformats.org/drawingml/2006/main" name="UBOfficial">
  <a:themeElements>
    <a:clrScheme name="UB Brand Colors">
      <a:dk1>
        <a:srgbClr val="FFFFFF"/>
      </a:dk1>
      <a:lt1>
        <a:srgbClr val="4D4D4D"/>
      </a:lt1>
      <a:dk2>
        <a:srgbClr val="FFFFFF"/>
      </a:dk2>
      <a:lt2>
        <a:srgbClr val="005BBB"/>
      </a:lt2>
      <a:accent1>
        <a:srgbClr val="005BBB"/>
      </a:accent1>
      <a:accent2>
        <a:srgbClr val="2F9FD0"/>
      </a:accent2>
      <a:accent3>
        <a:srgbClr val="E56954"/>
      </a:accent3>
      <a:accent4>
        <a:srgbClr val="002F56"/>
      </a:accent4>
      <a:accent5>
        <a:srgbClr val="E3E3E3"/>
      </a:accent5>
      <a:accent6>
        <a:srgbClr val="006570"/>
      </a:accent6>
      <a:hlink>
        <a:srgbClr val="005BBB"/>
      </a:hlink>
      <a:folHlink>
        <a:srgbClr val="2F9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BOfficial" id="{18509813-927B-5742-8F3A-1F3B30009E7C}" vid="{38A77CD0-F947-CE49-A1D8-95B7FAC0523E}"/>
    </a:ext>
  </a:extLst>
</a:theme>
</file>

<file path=ppt/theme/theme2.xml><?xml version="1.0" encoding="utf-8"?>
<a:theme xmlns:a="http://schemas.openxmlformats.org/drawingml/2006/main" name="Black">
  <a:themeElements>
    <a:clrScheme name="Black">
      <a:dk1>
        <a:srgbClr val="000000"/>
      </a:dk1>
      <a:lt1>
        <a:srgbClr val="FFFFFF"/>
      </a:lt1>
      <a:dk2>
        <a:srgbClr val="53585F"/>
      </a:dk2>
      <a:lt2>
        <a:srgbClr val="DCDEE0"/>
      </a:lt2>
      <a:accent1>
        <a:srgbClr val="0065C1"/>
      </a:accent1>
      <a:accent2>
        <a:srgbClr val="00A6AC"/>
      </a:accent2>
      <a:accent3>
        <a:srgbClr val="308B16"/>
      </a:accent3>
      <a:accent4>
        <a:srgbClr val="BC8027"/>
      </a:accent4>
      <a:accent5>
        <a:srgbClr val="971817"/>
      </a:accent5>
      <a:accent6>
        <a:srgbClr val="5747C1"/>
      </a:accent6>
      <a:hlink>
        <a:srgbClr val="0000FF"/>
      </a:hlink>
      <a:folHlink>
        <a:srgbClr val="FF00FF"/>
      </a:folHlink>
    </a:clrScheme>
    <a:fontScheme name="Black">
      <a:majorFont>
        <a:latin typeface="Helvetica Light"/>
        <a:ea typeface="Helvetica Light"/>
        <a:cs typeface="Helvetica Light"/>
      </a:majorFont>
      <a:minorFont>
        <a:latin typeface="Helvetica Light"/>
        <a:ea typeface="Helvetica Light"/>
        <a:cs typeface="Helvetica Light"/>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UBOfficial</Template>
  <TotalTime>10515</TotalTime>
  <Words>5417</Words>
  <Application>Microsoft Macintosh PowerPoint</Application>
  <PresentationFormat>Custom</PresentationFormat>
  <Paragraphs>322</Paragraphs>
  <Slides>37</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Georgia</vt:lpstr>
      <vt:lpstr>Helvetica Neue</vt:lpstr>
      <vt:lpstr>Roboto Slab</vt:lpstr>
      <vt:lpstr>System Font Regular</vt:lpstr>
      <vt:lpstr>UBOfficial</vt:lpstr>
      <vt:lpstr>Lecture 3 —   Coal country  and  the Battle of blair mountain</vt:lpstr>
      <vt:lpstr>Content Warnings</vt:lpstr>
      <vt:lpstr>The Resources</vt:lpstr>
      <vt:lpstr>How to Make Steel</vt:lpstr>
      <vt:lpstr>How to Make Steel</vt:lpstr>
      <vt:lpstr>How to Make Steel</vt:lpstr>
      <vt:lpstr>Coal</vt:lpstr>
      <vt:lpstr>Iron Ore</vt:lpstr>
      <vt:lpstr>Mining Coal and Iron</vt:lpstr>
      <vt:lpstr>Anthracite Coal</vt:lpstr>
      <vt:lpstr>Iron Ore</vt:lpstr>
      <vt:lpstr>The people, Their unions, and the company town</vt:lpstr>
      <vt:lpstr>Who dug it, and where the wealth went</vt:lpstr>
      <vt:lpstr>John Henry</vt:lpstr>
      <vt:lpstr>Unions</vt:lpstr>
      <vt:lpstr>Lackawanna Steel</vt:lpstr>
      <vt:lpstr>Panic of 1907</vt:lpstr>
      <vt:lpstr>The Company Store</vt:lpstr>
      <vt:lpstr>Scrip: private money</vt:lpstr>
      <vt:lpstr>Sixteen Tons</vt:lpstr>
      <vt:lpstr>The Shooting War</vt:lpstr>
      <vt:lpstr>Conflicts Arise</vt:lpstr>
      <vt:lpstr>1890-1930: the Coal Wars</vt:lpstr>
      <vt:lpstr>1890-1930 : The Coal Wars</vt:lpstr>
      <vt:lpstr>Slave Catchers and Private Detective Agencies</vt:lpstr>
      <vt:lpstr>The other thing that was organizing</vt:lpstr>
      <vt:lpstr>19 May 1920 → 1 Aug 1921: the fuse</vt:lpstr>
      <vt:lpstr>25 Aug - 2 Sep 1921: Blair Mountain</vt:lpstr>
      <vt:lpstr>Big Coal Won the War</vt:lpstr>
      <vt:lpstr>Popular culture at the time</vt:lpstr>
      <vt:lpstr>The Muckrakers</vt:lpstr>
      <vt:lpstr>Songs as primary sources</vt:lpstr>
      <vt:lpstr>Where this leaves us</vt:lpstr>
      <vt:lpstr>2025: Starbase, Texas</vt:lpstr>
      <vt:lpstr>The bill always comes due</vt:lpstr>
      <vt:lpstr>Data Analysis</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Salvatore Rappoccio</cp:lastModifiedBy>
  <cp:revision>65</cp:revision>
  <dcterms:modified xsi:type="dcterms:W3CDTF">2026-09-21T16:32:10Z</dcterms:modified>
</cp:coreProperties>
</file>