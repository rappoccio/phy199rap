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25"/>
  </p:notesMasterIdLst>
  <p:sldIdLst>
    <p:sldId id="344" r:id="rId2"/>
    <p:sldId id="392" r:id="rId3"/>
    <p:sldId id="345" r:id="rId4"/>
    <p:sldId id="404" r:id="rId5"/>
    <p:sldId id="405" r:id="rId6"/>
    <p:sldId id="406" r:id="rId7"/>
    <p:sldId id="410" r:id="rId8"/>
    <p:sldId id="411" r:id="rId9"/>
    <p:sldId id="412" r:id="rId10"/>
    <p:sldId id="413" r:id="rId11"/>
    <p:sldId id="403" r:id="rId12"/>
    <p:sldId id="389" r:id="rId13"/>
    <p:sldId id="391" r:id="rId14"/>
    <p:sldId id="349" r:id="rId15"/>
    <p:sldId id="390" r:id="rId16"/>
    <p:sldId id="348" r:id="rId17"/>
    <p:sldId id="379" r:id="rId18"/>
    <p:sldId id="398" r:id="rId19"/>
    <p:sldId id="407" r:id="rId20"/>
    <p:sldId id="408" r:id="rId21"/>
    <p:sldId id="409" r:id="rId22"/>
    <p:sldId id="399" r:id="rId23"/>
    <p:sldId id="376" r:id="rId24"/>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3C0FC">
              <a:alpha val="26000"/>
            </a:srgbClr>
          </a:solidFill>
        </a:fill>
      </a:tcStyle>
    </a:band2H>
    <a:firstCol>
      <a:tcTxStyle b="off" i="off">
        <a:fontRef idx="minor">
          <a:srgbClr val="FFFFFF"/>
        </a:fontRef>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hueOff val="-136794"/>
              <a:satOff val="-2150"/>
              <a:lumOff val="15693"/>
            </a:schemeClr>
          </a:solidFill>
        </a:fill>
      </a:tcStyle>
    </a:firstCol>
    <a:la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lastRow>
    <a:fir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8EA5CB">
              <a:alpha val="25000"/>
            </a:srgbClr>
          </a:solidFill>
        </a:fill>
      </a:tcStyle>
    </a:band2H>
    <a:firstCol>
      <a:tcTxStyle b="off" i="off">
        <a:fontRef idx="minor">
          <a:srgbClr val="FFFFFF"/>
        </a:fontRef>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solidFill>
            <a:srgbClr val="53585F"/>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chemeClr val="accent3">
              <a:alpha val="35000"/>
            </a:scheme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CBCBCB"/>
              </a:solidFill>
              <a:prstDash val="solid"/>
              <a:miter lim="400000"/>
            </a:ln>
          </a:insideV>
        </a:tcBdr>
        <a:fill>
          <a:solidFill>
            <a:srgbClr val="2D713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BF630E"/>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1F242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
          <a:latin typeface="Helvetica"/>
          <a:ea typeface="Helvetica"/>
          <a:cs typeface="Helvetica"/>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30"/>
    <p:restoredTop sz="94545"/>
  </p:normalViewPr>
  <p:slideViewPr>
    <p:cSldViewPr snapToGrid="0">
      <p:cViewPr varScale="1">
        <p:scale>
          <a:sx n="103" d="100"/>
          <a:sy n="103" d="100"/>
        </p:scale>
        <p:origin x="2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hape 19"/>
          <p:cNvSpPr>
            <a:spLocks noGrp="1" noRot="1" noChangeAspect="1"/>
          </p:cNvSpPr>
          <p:nvPr>
            <p:ph type="sldImg"/>
          </p:nvPr>
        </p:nvSpPr>
        <p:spPr>
          <a:xfrm>
            <a:off x="1143000" y="685800"/>
            <a:ext cx="4572000" cy="3429000"/>
          </a:xfrm>
          <a:prstGeom prst="rect">
            <a:avLst/>
          </a:prstGeom>
        </p:spPr>
        <p:txBody>
          <a:bodyPr/>
          <a:lstStyle/>
          <a:p>
            <a:endParaRPr/>
          </a:p>
        </p:txBody>
      </p:sp>
      <p:sp>
        <p:nvSpPr>
          <p:cNvPr id="20" name="Shape 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2018754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Do the GDP math out loud: Rockefeller at 2.3% of US GDP. US GDP is now roughly $30 trillion, so the same SHARE today is on the order of $700 billion - past any individual alive. Musk and Bezos are not unprecedented; they are a RETURN to something.</a:t>
            </a:r>
          </a:p>
          <a:p>
            <a:endParaRPr dirty="0"/>
          </a:p>
          <a:p>
            <a:r>
              <a:rPr dirty="0"/>
              <a:t>Morgan is the connective tissue to Part 1: he bankrolled Edison, then merged Edison General Electric into General Electric in 1892. Same man who assembled U.S. Steel.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Keep this fast - it is scaffolding, not the point. The one idea students must leave with: these were not four separate industries, they were one machine, and coal is what you </a:t>
            </a:r>
            <a:r>
              <a:rPr dirty="0" err="1"/>
              <a:t>shovelled</a:t>
            </a:r>
            <a:r>
              <a:rPr dirty="0"/>
              <a:t> into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Per course policy: Wikipedia is a finding aid here, not the citation of record. Before this goes in front of students as coursework, the .gov items (NPS, coalheritage.wv.gov) should each be paired with an independent source - the Mine Wars Museum and the Smithsonian piece already cover most of it.</a:t>
            </a:r>
          </a:p>
          <a:p>
            <a:endParaRPr/>
          </a:p>
          <a:p>
            <a:r>
              <a:t>AI-USE DISCLOSURE (per course policy):</a:t>
            </a:r>
          </a:p>
          <a:p>
            <a:r>
              <a:t>  Model: Claude (Anthropic), claude-opus-5, session of 15-Sep-2026.</a:t>
            </a:r>
          </a:p>
          <a:p>
            <a:r>
              <a:t>  Task: source gathering, summarization and drafting. All factual claims traced to the sources listed; no text generated without a source.</a:t>
            </a:r>
          </a:p>
          <a:p>
            <a:r>
              <a:t>  Source material: English Wikipedia articles listed above; WV Mine Wars Museum; e-WV; Smithsonian Magazine; Texas Tribune; Scientific American; New Republic.</a:t>
            </a:r>
          </a:p>
          <a:p>
            <a:r>
              <a:t>  Data centers: Anthropic runs on AWS and Google Cloud, primarily US regions (us-east / us-west); exact facility not disclosed by the vendor.</a:t>
            </a:r>
          </a:p>
          <a:p>
            <a:r>
              <a:t>  Compute estimate: to be filled in from this session's token count.</a:t>
            </a:r>
          </a:p>
          <a:p>
            <a:r>
              <a:t>  Human authorship: outline, framing, argument and final assembly by S. Rappoccio.</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119118"/>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p:nvPicPr>
        <p:blipFill>
          <a:blip r:embed="rId3"/>
          <a:stretch>
            <a:fillRect/>
          </a:stretch>
        </p:blipFill>
        <p:spPr>
          <a:xfrm>
            <a:off x="370202" y="8437782"/>
            <a:ext cx="5859012" cy="906193"/>
          </a:xfrm>
          <a:prstGeom prst="rect">
            <a:avLst/>
          </a:prstGeom>
        </p:spPr>
      </p:pic>
    </p:spTree>
    <p:extLst>
      <p:ext uri="{BB962C8B-B14F-4D97-AF65-F5344CB8AC3E}">
        <p14:creationId xmlns:p14="http://schemas.microsoft.com/office/powerpoint/2010/main" val="2211370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E03B264A-5859-DC5E-8BB3-FDCEFB5151C4}"/>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608722"/>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sp>
        <p:nvSpPr>
          <p:cNvPr id="6" name="Title 1">
            <a:extLst>
              <a:ext uri="{FF2B5EF4-FFF2-40B4-BE49-F238E27FC236}">
                <a16:creationId xmlns:a16="http://schemas.microsoft.com/office/drawing/2014/main" id="{86121344-8E5D-8C90-90D5-425531E533DA}"/>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Divider Slide </a:t>
            </a:r>
            <a:br>
              <a:rPr lang="en-US" dirty="0"/>
            </a:br>
            <a:r>
              <a:rPr lang="en-US" dirty="0"/>
              <a:t>Title</a:t>
            </a:r>
          </a:p>
        </p:txBody>
      </p:sp>
    </p:spTree>
    <p:extLst>
      <p:ext uri="{BB962C8B-B14F-4D97-AF65-F5344CB8AC3E}">
        <p14:creationId xmlns:p14="http://schemas.microsoft.com/office/powerpoint/2010/main" val="2225321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Column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97194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Column Bulleted List (No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8994E2-EA49-29ED-92E0-393343750616}"/>
              </a:ext>
              <a:ext uri="{C183D7F6-B498-43B3-948B-1728B52AA6E4}">
                <adec:decorative xmlns:adec="http://schemas.microsoft.com/office/drawing/2017/decorative" val="1"/>
              </a:ext>
            </a:extLst>
          </p:cNvPr>
          <p:cNvSpPr/>
          <p:nvPr/>
        </p:nvSpPr>
        <p:spPr>
          <a:xfrm>
            <a:off x="7261013" y="1950720"/>
            <a:ext cx="5743787" cy="780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840"/>
          </a:p>
        </p:txBody>
      </p:sp>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7" name="Content Placeholder 2">
            <a:extLst>
              <a:ext uri="{FF2B5EF4-FFF2-40B4-BE49-F238E27FC236}">
                <a16:creationId xmlns:a16="http://schemas.microsoft.com/office/drawing/2014/main" id="{E00E64E3-43AA-E108-65B7-E60FA7F2EC87}"/>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072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6688526"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19169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5236413"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46478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umn Bulleted 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3FBDA0-6DAD-2BD7-8995-0DD004DCD42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8" name="Content Placeholder 2">
            <a:extLst>
              <a:ext uri="{FF2B5EF4-FFF2-40B4-BE49-F238E27FC236}">
                <a16:creationId xmlns:a16="http://schemas.microsoft.com/office/drawing/2014/main" id="{C7D848CF-329C-12E6-A53F-3C3893FC5442}"/>
              </a:ext>
              <a:ext uri="{C183D7F6-B498-43B3-948B-1728B52AA6E4}">
                <adec:decorative xmlns:adec="http://schemas.microsoft.com/office/drawing/2017/decorative" val="0"/>
              </a:ext>
            </a:extLst>
          </p:cNvPr>
          <p:cNvSpPr>
            <a:spLocks noGrp="1"/>
          </p:cNvSpPr>
          <p:nvPr>
            <p:ph idx="1" hasCustomPrompt="1"/>
          </p:nvPr>
        </p:nvSpPr>
        <p:spPr>
          <a:xfrm>
            <a:off x="420489" y="3487108"/>
            <a:ext cx="5364480" cy="5761125"/>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0E746082-11FB-1BAB-9564-CFA32F2BC5F7}"/>
              </a:ext>
              <a:ext uri="{C183D7F6-B498-43B3-948B-1728B52AA6E4}">
                <adec:decorative xmlns:adec="http://schemas.microsoft.com/office/drawing/2017/decorative" val="0"/>
              </a:ext>
            </a:extLst>
          </p:cNvPr>
          <p:cNvSpPr>
            <a:spLocks noGrp="1"/>
          </p:cNvSpPr>
          <p:nvPr>
            <p:ph idx="13" hasCustomPrompt="1"/>
          </p:nvPr>
        </p:nvSpPr>
        <p:spPr>
          <a:xfrm>
            <a:off x="6270172" y="3487107"/>
            <a:ext cx="5366957"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6716837F-65A2-482E-691B-FA0A12696BC6}"/>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66434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4" name="Content Placeholder 2">
            <a:extLst>
              <a:ext uri="{FF2B5EF4-FFF2-40B4-BE49-F238E27FC236}">
                <a16:creationId xmlns:a16="http://schemas.microsoft.com/office/drawing/2014/main" id="{1FE57A07-9930-44A5-B8A4-E2B0497B9772}"/>
              </a:ext>
              <a:ext uri="{C183D7F6-B498-43B3-948B-1728B52AA6E4}">
                <adec:decorative xmlns:adec="http://schemas.microsoft.com/office/drawing/2017/decorative" val="0"/>
              </a:ext>
            </a:extLst>
          </p:cNvPr>
          <p:cNvSpPr>
            <a:spLocks noGrp="1"/>
          </p:cNvSpPr>
          <p:nvPr>
            <p:ph idx="1" hasCustomPrompt="1"/>
          </p:nvPr>
        </p:nvSpPr>
        <p:spPr>
          <a:xfrm>
            <a:off x="420486" y="3493025"/>
            <a:ext cx="11216640"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5" name="Content Placeholder 2">
            <a:extLst>
              <a:ext uri="{FF2B5EF4-FFF2-40B4-BE49-F238E27FC236}">
                <a16:creationId xmlns:a16="http://schemas.microsoft.com/office/drawing/2014/main" id="{A2FF8DBE-F14C-4661-C6FB-66F0BEF55947}"/>
              </a:ext>
              <a:ext uri="{C183D7F6-B498-43B3-948B-1728B52AA6E4}">
                <adec:decorative xmlns:adec="http://schemas.microsoft.com/office/drawing/2017/decorative" val="0"/>
              </a:ext>
            </a:extLst>
          </p:cNvPr>
          <p:cNvSpPr>
            <a:spLocks noGrp="1"/>
          </p:cNvSpPr>
          <p:nvPr>
            <p:ph idx="14" hasCustomPrompt="1"/>
          </p:nvPr>
        </p:nvSpPr>
        <p:spPr>
          <a:xfrm>
            <a:off x="420489" y="4402312"/>
            <a:ext cx="11216640"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635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420487"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420489" y="4402312"/>
            <a:ext cx="5269111" cy="4528758"/>
          </a:xfrm>
          <a:prstGeom prst="rect">
            <a:avLst/>
          </a:prstGeom>
        </p:spPr>
        <p:txBody>
          <a:bodyPr/>
          <a:lstStyle>
            <a:lvl1pPr>
              <a:lnSpc>
                <a:spcPct val="120000"/>
              </a:lnSpc>
              <a:defRPr/>
            </a:lvl1pPr>
            <a:lvl2pPr>
              <a:spcBef>
                <a:spcPts val="427"/>
              </a:spcBef>
              <a:defRPr/>
            </a:lvl2pPr>
            <a:lvl3pPr>
              <a:spcBef>
                <a:spcPts val="427"/>
              </a:spcBef>
              <a:defRPr/>
            </a:lvl3pPr>
            <a:lvl4pPr>
              <a:spcBef>
                <a:spcPts val="427"/>
              </a:spcBef>
              <a:defRPr/>
            </a:lvl4pPr>
            <a:lvl5pPr>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6376094"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6376096" y="4402312"/>
            <a:ext cx="5269111"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876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6223726" y="2038765"/>
            <a:ext cx="6360586" cy="6144627"/>
          </a:xfrm>
          <a:prstGeom prst="rect">
            <a:avLst/>
          </a:prstGeom>
        </p:spPr>
        <p:txBody>
          <a:bodyPr/>
          <a:lstStyle/>
          <a:p>
            <a:r>
              <a:rPr lang="en-US"/>
              <a:t>Click icon to add chart</a:t>
            </a:r>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9526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92793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5818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umn Text + Phot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419426" y="1672046"/>
            <a:ext cx="6583680" cy="8081554"/>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235938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414182" y="1672046"/>
            <a:ext cx="6586693"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414181" y="5712822"/>
            <a:ext cx="3296717" cy="4044493"/>
          </a:xfrm>
          <a:prstGeom prst="rect">
            <a:avLst/>
          </a:prstGeom>
          <a:solidFill>
            <a:schemeClr val="accent5"/>
          </a:solidFill>
          <a:ln w="9525">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704158" y="5712824"/>
            <a:ext cx="3296717"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70467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420489" y="2139913"/>
            <a:ext cx="5536174" cy="1235456"/>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3004800" cy="9753600"/>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95484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420489" y="2139913"/>
            <a:ext cx="11216640" cy="1235456"/>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420489" y="3588256"/>
            <a:ext cx="11216640" cy="5757399"/>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848086" y="8826366"/>
            <a:ext cx="739046" cy="519289"/>
          </a:xfrm>
          <a:prstGeom prst="rect">
            <a:avLst/>
          </a:prstGeom>
        </p:spPr>
        <p:txBody>
          <a:bodyPr vert="horz" lIns="91440" tIns="45720" rIns="91440" bIns="45720" rtlCol="0" anchor="ctr"/>
          <a:lstStyle>
            <a:lvl1pPr algn="r">
              <a:defRPr sz="1280" b="1">
                <a:solidFill>
                  <a:schemeClr val="tx1"/>
                </a:solidFill>
                <a:latin typeface="Arial" panose="020B0604020202020204" pitchFamily="34" charset="0"/>
                <a:cs typeface="Arial" panose="020B0604020202020204" pitchFamily="34" charset="0"/>
              </a:defRPr>
            </a:lvl1pPr>
          </a:lstStyle>
          <a:p>
            <a:fld id="{86CB4B4D-7CA3-9044-876B-883B54F8677D}" type="slidenum">
              <a:rPr lang="en-US" smtClean="0"/>
              <a:t>‹#›</a:t>
            </a:fld>
            <a:endParaRPr lang="en-US"/>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18"/>
          <a:stretch>
            <a:fillRect/>
          </a:stretch>
        </p:blipFill>
        <p:spPr>
          <a:xfrm>
            <a:off x="234579" y="329238"/>
            <a:ext cx="5859012" cy="906193"/>
          </a:xfrm>
          <a:prstGeom prst="rect">
            <a:avLst/>
          </a:prstGeom>
        </p:spPr>
      </p:pic>
    </p:spTree>
    <p:extLst>
      <p:ext uri="{BB962C8B-B14F-4D97-AF65-F5344CB8AC3E}">
        <p14:creationId xmlns:p14="http://schemas.microsoft.com/office/powerpoint/2010/main" val="1445263217"/>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txStyles>
    <p:titleStyle>
      <a:lvl1pPr algn="l" defTabSz="975390" rtl="0" eaLnBrk="1" latinLnBrk="0" hangingPunct="1">
        <a:lnSpc>
          <a:spcPct val="90000"/>
        </a:lnSpc>
        <a:spcBef>
          <a:spcPct val="0"/>
        </a:spcBef>
        <a:buNone/>
        <a:defRPr sz="3840" b="0" i="0" kern="1200">
          <a:solidFill>
            <a:schemeClr val="tx2"/>
          </a:solidFill>
          <a:latin typeface="Georgia" panose="02040502050405020303" pitchFamily="18" charset="0"/>
          <a:ea typeface="+mj-ea"/>
          <a:cs typeface="Arial" panose="020B0604020202020204" pitchFamily="34" charset="0"/>
        </a:defRPr>
      </a:lvl1pPr>
    </p:titleStyle>
    <p:bodyStyle>
      <a:lvl1pPr marL="243848" indent="-243848" algn="l" defTabSz="975390" rtl="0" eaLnBrk="1" latinLnBrk="0" hangingPunct="1">
        <a:lnSpc>
          <a:spcPct val="120000"/>
        </a:lnSpc>
        <a:spcBef>
          <a:spcPts val="1067"/>
        </a:spcBef>
        <a:buClr>
          <a:schemeClr val="tx2"/>
        </a:buClr>
        <a:buFont typeface="Arial" panose="020B0604020202020204" pitchFamily="34" charset="0"/>
        <a:buChar char="•"/>
        <a:defRPr sz="2133" kern="1200">
          <a:solidFill>
            <a:schemeClr val="tx1"/>
          </a:solidFill>
          <a:latin typeface="Arial" panose="020B0604020202020204" pitchFamily="34" charset="0"/>
          <a:ea typeface="+mn-ea"/>
          <a:cs typeface="Arial" panose="020B0604020202020204" pitchFamily="34" charset="0"/>
        </a:defRPr>
      </a:lvl1pPr>
      <a:lvl2pPr marL="731543" indent="-243848" algn="l" defTabSz="975390" rtl="0" eaLnBrk="1" latinLnBrk="0" hangingPunct="1">
        <a:lnSpc>
          <a:spcPct val="120000"/>
        </a:lnSpc>
        <a:spcBef>
          <a:spcPts val="1067"/>
        </a:spcBef>
        <a:buClr>
          <a:schemeClr val="tx2"/>
        </a:buClr>
        <a:buFont typeface="System Font Regular"/>
        <a:buChar char="−"/>
        <a:defRPr sz="2133" kern="1200">
          <a:solidFill>
            <a:schemeClr val="tx1"/>
          </a:solidFill>
          <a:latin typeface="Arial" panose="020B0604020202020204" pitchFamily="34" charset="0"/>
          <a:ea typeface="+mn-ea"/>
          <a:cs typeface="Arial" panose="020B0604020202020204" pitchFamily="34" charset="0"/>
        </a:defRPr>
      </a:lvl2pPr>
      <a:lvl3pPr marL="1219238"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3pPr>
      <a:lvl4pPr marL="1706933"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4pPr>
      <a:lvl5pPr marL="2194629"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s://en.wikipedia.org/wiki/Marco_Polo" TargetMode="External"/><Relationship Id="rId7" Type="http://schemas.openxmlformats.org/officeDocument/2006/relationships/hyperlink" Target="https://en.wikipedia.org/wiki/Ottoman_Empire" TargetMode="External"/><Relationship Id="rId2" Type="http://schemas.openxmlformats.org/officeDocument/2006/relationships/hyperlink" Target="https://www.enotes.com/topics/history/questions/why-did-europeans-look-sea-routes-india-720647" TargetMode="External"/><Relationship Id="rId1" Type="http://schemas.openxmlformats.org/officeDocument/2006/relationships/slideLayout" Target="../slideLayouts/slideLayout3.xml"/><Relationship Id="rId6" Type="http://schemas.openxmlformats.org/officeDocument/2006/relationships/hyperlink" Target="https://en.wikipedia.org/wiki/Mehmed_II" TargetMode="External"/><Relationship Id="rId5" Type="http://schemas.openxmlformats.org/officeDocument/2006/relationships/hyperlink" Target="https://en.wikipedia.org/wiki/Fall_of_Constantinople" TargetMode="External"/><Relationship Id="rId10" Type="http://schemas.openxmlformats.org/officeDocument/2006/relationships/image" Target="../media/image13.jpeg"/><Relationship Id="rId4" Type="http://schemas.openxmlformats.org/officeDocument/2006/relationships/hyperlink" Target="https://en.wikipedia.org/wiki/Silk_Road" TargetMode="External"/><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hyperlink" Target="https://en.wikipedia.org/wiki/Cotton_gin" TargetMode="External"/><Relationship Id="rId3" Type="http://schemas.openxmlformats.org/officeDocument/2006/relationships/hyperlink" Target="https://en.wikipedia.org/wiki/Christopher_Columbus" TargetMode="External"/><Relationship Id="rId7" Type="http://schemas.openxmlformats.org/officeDocument/2006/relationships/hyperlink" Target="https://en.wikipedia.org/wiki/Atlantic_slave_trade" TargetMode="External"/><Relationship Id="rId12"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en.wikipedia.org/wiki/Sugar_plantations_in_the_Caribbean" TargetMode="External"/><Relationship Id="rId11" Type="http://schemas.openxmlformats.org/officeDocument/2006/relationships/image" Target="../media/image15.jpeg"/><Relationship Id="rId5" Type="http://schemas.openxmlformats.org/officeDocument/2006/relationships/hyperlink" Target="https://en.wikipedia.org/wiki/Ferdinand_II_of_Aragon" TargetMode="External"/><Relationship Id="rId10" Type="http://schemas.openxmlformats.org/officeDocument/2006/relationships/image" Target="../media/image14.png"/><Relationship Id="rId4" Type="http://schemas.openxmlformats.org/officeDocument/2006/relationships/hyperlink" Target="https://en.wikipedia.org/wiki/Isabella_I" TargetMode="External"/><Relationship Id="rId9" Type="http://schemas.openxmlformats.org/officeDocument/2006/relationships/hyperlink" Target="https://en.wikipedia.org/wiki/American_Civil_War"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hyperlink" Target="https://en.wikipedia.org/wiki/Metacomet" TargetMode="External"/><Relationship Id="rId13" Type="http://schemas.openxmlformats.org/officeDocument/2006/relationships/hyperlink" Target="https://en.wikipedia.org/wiki/J._P._Morgan" TargetMode="External"/><Relationship Id="rId3" Type="http://schemas.openxmlformats.org/officeDocument/2006/relationships/hyperlink" Target="https://en.wikipedia.org/wiki/Miles_Morgan" TargetMode="External"/><Relationship Id="rId7" Type="http://schemas.openxmlformats.org/officeDocument/2006/relationships/hyperlink" Target="https://en.wikipedia.org/wiki/King_Philip's_War" TargetMode="External"/><Relationship Id="rId12" Type="http://schemas.openxmlformats.org/officeDocument/2006/relationships/hyperlink" Target="https://www.theguardian.com/world/2005/jan/22/usa.davidteather" TargetMode="External"/><Relationship Id="rId2" Type="http://schemas.openxmlformats.org/officeDocument/2006/relationships/hyperlink" Target="https://en.wikipedia.org/wiki/Morgan_family" TargetMode="External"/><Relationship Id="rId1" Type="http://schemas.openxmlformats.org/officeDocument/2006/relationships/slideLayout" Target="../slideLayouts/slideLayout3.xml"/><Relationship Id="rId6" Type="http://schemas.openxmlformats.org/officeDocument/2006/relationships/hyperlink" Target="https://en.wikipedia.org/wiki/Siege_of_Springfield" TargetMode="External"/><Relationship Id="rId11" Type="http://schemas.openxmlformats.org/officeDocument/2006/relationships/image" Target="../media/image18.jpeg"/><Relationship Id="rId5" Type="http://schemas.openxmlformats.org/officeDocument/2006/relationships/hyperlink" Target="https://en.wikipedia.org/wiki/Norwottuck" TargetMode="External"/><Relationship Id="rId10" Type="http://schemas.openxmlformats.org/officeDocument/2006/relationships/hyperlink" Target="https://en.wikipedia.org/wiki/Junius_Spencer_Morgan" TargetMode="External"/><Relationship Id="rId4" Type="http://schemas.openxmlformats.org/officeDocument/2006/relationships/hyperlink" Target="https://en.wikipedia.org/wiki/Massachusetts_Bay_Colony" TargetMode="External"/><Relationship Id="rId9" Type="http://schemas.openxmlformats.org/officeDocument/2006/relationships/image" Target="../media/image17.jpeg"/><Relationship Id="rId14" Type="http://schemas.openxmlformats.org/officeDocument/2006/relationships/image" Target="../media/image19.jpeg"/></Relationships>
</file>

<file path=ppt/slides/_rels/slide16.xml.rels><?xml version="1.0" encoding="UTF-8" standalone="yes"?>
<Relationships xmlns="http://schemas.openxmlformats.org/package/2006/relationships"><Relationship Id="rId8" Type="http://schemas.openxmlformats.org/officeDocument/2006/relationships/hyperlink" Target="https://en.wikipedia.org/wiki/Saratoga_and_Schenectady_Railroad" TargetMode="External"/><Relationship Id="rId3" Type="http://schemas.openxmlformats.org/officeDocument/2006/relationships/hyperlink" Target="https://en.wikipedia.org/wiki/Rail_transportation_in_the_United_States" TargetMode="External"/><Relationship Id="rId7" Type="http://schemas.openxmlformats.org/officeDocument/2006/relationships/hyperlink" Target="https://en.wikipedia.org/wiki/Mohawk_and_Hudson_Railroad"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hyperlink" Target="https://en.wikipedia.org/wiki/Pennsylvania_Railroad" TargetMode="External"/><Relationship Id="rId11" Type="http://schemas.openxmlformats.org/officeDocument/2006/relationships/image" Target="../media/image20.jpg"/><Relationship Id="rId5" Type="http://schemas.openxmlformats.org/officeDocument/2006/relationships/hyperlink" Target="https://en.wikipedia.org/wiki/Reading_Company" TargetMode="External"/><Relationship Id="rId10" Type="http://schemas.openxmlformats.org/officeDocument/2006/relationships/hyperlink" Target="https://en.wikipedia.org/wiki/Tuscumbia,_Courtland_and_Decatur_Railroad" TargetMode="External"/><Relationship Id="rId4" Type="http://schemas.openxmlformats.org/officeDocument/2006/relationships/hyperlink" Target="https://en.wikipedia.org/wiki/Baltimore_and_Ohio_Railroad" TargetMode="External"/><Relationship Id="rId9" Type="http://schemas.openxmlformats.org/officeDocument/2006/relationships/hyperlink" Target="https://en.wikipedia.org/wiki/Lehigh_Coal_&amp;_Navigation_Company"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en.wikipedia.org/wiki/Trail_of_Tears" TargetMode="External"/><Relationship Id="rId7" Type="http://schemas.openxmlformats.org/officeDocument/2006/relationships/hyperlink" Target="https://en.wikipedia.org/wiki/Native_American_reservations" TargetMode="External"/><Relationship Id="rId2" Type="http://schemas.openxmlformats.org/officeDocument/2006/relationships/hyperlink" Target="https://en.wikipedia.org/wiki/Native_American_genocide_in_the_United_States" TargetMode="External"/><Relationship Id="rId1" Type="http://schemas.openxmlformats.org/officeDocument/2006/relationships/slideLayout" Target="../slideLayouts/slideLayout3.xml"/><Relationship Id="rId6" Type="http://schemas.openxmlformats.org/officeDocument/2006/relationships/hyperlink" Target="https://en.wikipedia.org/wiki/California_Genocide" TargetMode="External"/><Relationship Id="rId5" Type="http://schemas.openxmlformats.org/officeDocument/2006/relationships/hyperlink" Target="https://en.wikipedia.org/wiki/Yavapai_Wars" TargetMode="External"/><Relationship Id="rId4" Type="http://schemas.openxmlformats.org/officeDocument/2006/relationships/hyperlink" Target="https://en.wikipedia.org/wiki/Long_Walk_of_the_Navajo" TargetMode="External"/><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hyperlink" Target="https://en.wikipedia.org/wiki/Sharecropping" TargetMode="External"/><Relationship Id="rId3" Type="http://schemas.openxmlformats.org/officeDocument/2006/relationships/hyperlink" Target="https://en.wikipedia.org/wiki/Forty_acres_and_a_mule" TargetMode="External"/><Relationship Id="rId7" Type="http://schemas.openxmlformats.org/officeDocument/2006/relationships/hyperlink" Target="https://en.wikipedia.org/wiki/Black_land_loss_in_the_United_States" TargetMode="External"/><Relationship Id="rId2" Type="http://schemas.openxmlformats.org/officeDocument/2006/relationships/hyperlink" Target="https://en.wikipedia.org/wiki/Sherman's_March_to_the_Sea" TargetMode="External"/><Relationship Id="rId1" Type="http://schemas.openxmlformats.org/officeDocument/2006/relationships/slideLayout" Target="../slideLayouts/slideLayout3.xml"/><Relationship Id="rId6" Type="http://schemas.openxmlformats.org/officeDocument/2006/relationships/hyperlink" Target="https://en.wikipedia.org/wiki/Andrew_Johnson" TargetMode="External"/><Relationship Id="rId5" Type="http://schemas.openxmlformats.org/officeDocument/2006/relationships/hyperlink" Target="https://en.wikipedia.org/wiki/Abraham_Lincoln" TargetMode="External"/><Relationship Id="rId4" Type="http://schemas.openxmlformats.org/officeDocument/2006/relationships/hyperlink" Target="https://en.wikipedia.org/wiki/Homestead_Acts" TargetMode="External"/><Relationship Id="rId9" Type="http://schemas.openxmlformats.org/officeDocument/2006/relationships/image" Target="../media/image23.jpe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en.wikipedia.org/wiki/Hiram_R._Revels" TargetMode="External"/><Relationship Id="rId7" Type="http://schemas.openxmlformats.org/officeDocument/2006/relationships/hyperlink" Target="https://daily.jstor.org/the-devastation-of-black-wall-street/" TargetMode="External"/><Relationship Id="rId2" Type="http://schemas.openxmlformats.org/officeDocument/2006/relationships/hyperlink" Target="https://history.house.gov/Education/Fact-Sheets/BAIC-Fact-Sheet2/" TargetMode="External"/><Relationship Id="rId1" Type="http://schemas.openxmlformats.org/officeDocument/2006/relationships/slideLayout" Target="../slideLayouts/slideLayout3.xml"/><Relationship Id="rId6" Type="http://schemas.openxmlformats.org/officeDocument/2006/relationships/hyperlink" Target="https://en.wikipedia.org/wiki/1906_Atlanta_race_massacre" TargetMode="External"/><Relationship Id="rId5" Type="http://schemas.openxmlformats.org/officeDocument/2006/relationships/hyperlink" Target="https://en.wikipedia.org/wiki/Jim_Crow_laws" TargetMode="External"/><Relationship Id="rId10" Type="http://schemas.openxmlformats.org/officeDocument/2006/relationships/image" Target="../media/image26.jpeg"/><Relationship Id="rId4" Type="http://schemas.openxmlformats.org/officeDocument/2006/relationships/hyperlink" Target="https://en.wikipedia.org/wiki/Joseph_Rainey" TargetMode="External"/><Relationship Id="rId9"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Redlining" TargetMode="External"/><Relationship Id="rId7" Type="http://schemas.openxmlformats.org/officeDocument/2006/relationships/hyperlink" Target="https://en.wikipedia.org/wiki/1900_United_States_census" TargetMode="External"/><Relationship Id="rId2" Type="http://schemas.openxmlformats.org/officeDocument/2006/relationships/hyperlink" Target="https://en.wikipedia.org/wiki/Great_Migration_(African_American)" TargetMode="Externa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hyperlink" Target="https://www.buffalo.edu/ubnow/stories/2024/10/egede-redlining.html"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en.wikipedia.org/wiki/Unification_of_Italy" TargetMode="External"/><Relationship Id="rId3" Type="http://schemas.openxmlformats.org/officeDocument/2006/relationships/hyperlink" Target="https://latino.si.edu/learn/latino-history-and-culture/latino-history/latino-immigration" TargetMode="External"/><Relationship Id="rId7" Type="http://schemas.openxmlformats.org/officeDocument/2006/relationships/hyperlink" Target="https://en.wikipedia.org/wiki/Unification_of_Germany" TargetMode="External"/><Relationship Id="rId2" Type="http://schemas.openxmlformats.org/officeDocument/2006/relationships/hyperlink" Target="https://en.wikipedia.org/wiki/Asian_immigration_to_the_United_States" TargetMode="External"/><Relationship Id="rId1" Type="http://schemas.openxmlformats.org/officeDocument/2006/relationships/slideLayout" Target="../slideLayouts/slideLayout3.xml"/><Relationship Id="rId6" Type="http://schemas.openxmlformats.org/officeDocument/2006/relationships/hyperlink" Target="https://en.wikipedia.org/wiki/Great_Famine_(Ireland)" TargetMode="External"/><Relationship Id="rId5" Type="http://schemas.openxmlformats.org/officeDocument/2006/relationships/hyperlink" Target="https://en.wikipedia.org/wiki/Mexican&#8211;American_War" TargetMode="External"/><Relationship Id="rId10" Type="http://schemas.openxmlformats.org/officeDocument/2006/relationships/image" Target="../media/image29.emf"/><Relationship Id="rId4" Type="http://schemas.openxmlformats.org/officeDocument/2006/relationships/hyperlink" Target="https://en.wikipedia.org/wiki/European_immigration_to_the_Americas" TargetMode="External"/><Relationship Id="rId9" Type="http://schemas.openxmlformats.org/officeDocument/2006/relationships/hyperlink" Target="https://en.wikipedia.org/wiki/History_of_the_Jews_in_the_United_State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2" y="296883"/>
            <a:ext cx="11977211" cy="6123203"/>
          </a:xfrm>
        </p:spPr>
        <p:txBody>
          <a:bodyPr/>
          <a:lstStyle/>
          <a:p>
            <a:pPr algn="ctr"/>
            <a:r>
              <a:rPr dirty="0"/>
              <a:t>Lecture </a:t>
            </a:r>
            <a:r>
              <a:rPr lang="en-US" dirty="0"/>
              <a:t>3</a:t>
            </a:r>
            <a:r>
              <a:rPr dirty="0"/>
              <a:t> — </a:t>
            </a:r>
            <a:br>
              <a:rPr lang="en-US" dirty="0"/>
            </a:br>
            <a:br>
              <a:rPr lang="en-US" dirty="0"/>
            </a:br>
            <a:r>
              <a:rPr lang="en-US" dirty="0"/>
              <a:t>Coal country </a:t>
            </a:r>
            <a:br>
              <a:rPr lang="en-US" dirty="0"/>
            </a:br>
            <a:r>
              <a:rPr lang="en-US" dirty="0"/>
              <a:t>and </a:t>
            </a:r>
            <a:br>
              <a:rPr lang="en-US" dirty="0"/>
            </a:br>
            <a:r>
              <a:rPr lang="en-US" dirty="0"/>
              <a:t>the Battle of </a:t>
            </a:r>
            <a:r>
              <a:rPr lang="en-US" dirty="0" err="1"/>
              <a:t>blair</a:t>
            </a:r>
            <a:r>
              <a:rPr lang="en-US" dirty="0"/>
              <a:t> mountain</a:t>
            </a:r>
            <a:endParaRPr dirty="0"/>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2" y="6809132"/>
            <a:ext cx="9753600" cy="1589339"/>
          </a:xfrm>
          <a:prstGeom prst="rect">
            <a:avLst/>
          </a:prstGeom>
        </p:spPr>
        <p:txBody>
          <a:bodyPr/>
          <a:lstStyle/>
          <a:p>
            <a:r>
              <a:rPr dirty="0"/>
              <a:t>PHY199-RAP · Energy in the 21st Century</a:t>
            </a:r>
            <a:br>
              <a:rPr dirty="0"/>
            </a:br>
            <a:br>
              <a:rPr dirty="0"/>
            </a:br>
            <a:r>
              <a:rPr dirty="0"/>
              <a:t>Dr. Salvatore Rappoccio</a:t>
            </a:r>
          </a:p>
        </p:txBody>
      </p:sp>
      <p:sp>
        <p:nvSpPr>
          <p:cNvPr id="4" name=" 3"/>
          <p:cNvSpPr/>
          <p:nvPr/>
        </p:nvSpPr>
        <p:spPr/>
        <p:txBody>
          <a:bodyPr/>
          <a:lstStyle/>
          <a:p>
            <a:endParaRPr lang="en-US" sz="192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D26C5-D9B3-4222-4413-99C253705591}"/>
              </a:ext>
            </a:extLst>
          </p:cNvPr>
          <p:cNvSpPr>
            <a:spLocks noGrp="1"/>
          </p:cNvSpPr>
          <p:nvPr>
            <p:ph type="title"/>
          </p:nvPr>
        </p:nvSpPr>
        <p:spPr/>
        <p:txBody>
          <a:bodyPr/>
          <a:lstStyle/>
          <a:p>
            <a:r>
              <a:rPr lang="en-US" dirty="0"/>
              <a:t>Content Warnings</a:t>
            </a:r>
          </a:p>
        </p:txBody>
      </p:sp>
      <p:sp>
        <p:nvSpPr>
          <p:cNvPr id="3" name="Content Placeholder 2">
            <a:extLst>
              <a:ext uri="{FF2B5EF4-FFF2-40B4-BE49-F238E27FC236}">
                <a16:creationId xmlns:a16="http://schemas.microsoft.com/office/drawing/2014/main" id="{1B31BF62-8A63-A55F-19BB-2A94FFDF95CE}"/>
              </a:ext>
            </a:extLst>
          </p:cNvPr>
          <p:cNvSpPr>
            <a:spLocks noGrp="1"/>
          </p:cNvSpPr>
          <p:nvPr>
            <p:ph idx="1"/>
          </p:nvPr>
        </p:nvSpPr>
        <p:spPr>
          <a:xfrm>
            <a:off x="420489" y="3082373"/>
            <a:ext cx="11706554" cy="4952355"/>
          </a:xfrm>
        </p:spPr>
        <p:txBody>
          <a:bodyPr/>
          <a:lstStyle/>
          <a:p>
            <a:r>
              <a:rPr lang="en-US" dirty="0"/>
              <a:t>We will be discussing</a:t>
            </a:r>
          </a:p>
          <a:p>
            <a:pPr lvl="1"/>
            <a:r>
              <a:rPr lang="en-US" dirty="0"/>
              <a:t>The Silk Road</a:t>
            </a:r>
          </a:p>
          <a:p>
            <a:pPr lvl="1"/>
            <a:r>
              <a:rPr lang="en-US" dirty="0"/>
              <a:t>European Colonialism</a:t>
            </a:r>
          </a:p>
          <a:p>
            <a:pPr lvl="1"/>
            <a:r>
              <a:rPr lang="en-US" dirty="0"/>
              <a:t>Genocide of Native American people</a:t>
            </a:r>
          </a:p>
          <a:p>
            <a:pPr lvl="1"/>
            <a:r>
              <a:rPr lang="en-US" dirty="0"/>
              <a:t>The enslavement of African people (language is dated and offensive, but I’m blanking it out)</a:t>
            </a:r>
          </a:p>
          <a:p>
            <a:pPr lvl="1"/>
            <a:r>
              <a:rPr lang="en-US" dirty="0"/>
              <a:t>War and deaths</a:t>
            </a:r>
          </a:p>
          <a:p>
            <a:pPr lvl="1"/>
            <a:r>
              <a:rPr lang="en-US" dirty="0"/>
              <a:t>Child endangerment and labor</a:t>
            </a:r>
          </a:p>
          <a:p>
            <a:pPr marL="487695" lvl="1" indent="0">
              <a:buNone/>
            </a:pPr>
            <a:endParaRPr lang="en-US" dirty="0"/>
          </a:p>
        </p:txBody>
      </p:sp>
    </p:spTree>
    <p:extLst>
      <p:ext uri="{BB962C8B-B14F-4D97-AF65-F5344CB8AC3E}">
        <p14:creationId xmlns:p14="http://schemas.microsoft.com/office/powerpoint/2010/main" val="1670067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2D269D-AD1D-64A7-F39A-B68E3D6BEC0A}"/>
              </a:ext>
            </a:extLst>
          </p:cNvPr>
          <p:cNvPicPr>
            <a:picLocks noChangeAspect="1"/>
          </p:cNvPicPr>
          <p:nvPr/>
        </p:nvPicPr>
        <p:blipFill>
          <a:blip r:embed="rId2"/>
          <a:stretch>
            <a:fillRect/>
          </a:stretch>
        </p:blipFill>
        <p:spPr>
          <a:xfrm>
            <a:off x="2366531" y="1594318"/>
            <a:ext cx="7747001" cy="7747001"/>
          </a:xfrm>
          <a:prstGeom prst="rect">
            <a:avLst/>
          </a:prstGeom>
        </p:spPr>
      </p:pic>
      <p:sp>
        <p:nvSpPr>
          <p:cNvPr id="7" name="TextBox 6">
            <a:extLst>
              <a:ext uri="{FF2B5EF4-FFF2-40B4-BE49-F238E27FC236}">
                <a16:creationId xmlns:a16="http://schemas.microsoft.com/office/drawing/2014/main" id="{ADB32617-FCB3-C906-04EA-9F6CEB10D0DB}"/>
              </a:ext>
            </a:extLst>
          </p:cNvPr>
          <p:cNvSpPr txBox="1"/>
          <p:nvPr/>
        </p:nvSpPr>
        <p:spPr>
          <a:xfrm>
            <a:off x="4862785" y="6110049"/>
            <a:ext cx="2544286" cy="369332"/>
          </a:xfrm>
          <a:prstGeom prst="rect">
            <a:avLst/>
          </a:prstGeom>
          <a:noFill/>
        </p:spPr>
        <p:txBody>
          <a:bodyPr wrap="none" rtlCol="0">
            <a:spAutoFit/>
          </a:bodyPr>
          <a:lstStyle/>
          <a:p>
            <a:r>
              <a:rPr lang="en-US" dirty="0"/>
              <a:t>Isn’t oligarchy cute!?!?!</a:t>
            </a:r>
          </a:p>
        </p:txBody>
      </p:sp>
      <p:sp>
        <p:nvSpPr>
          <p:cNvPr id="9" name="TextBox 8">
            <a:extLst>
              <a:ext uri="{FF2B5EF4-FFF2-40B4-BE49-F238E27FC236}">
                <a16:creationId xmlns:a16="http://schemas.microsoft.com/office/drawing/2014/main" id="{55BF6F48-66EC-08D3-5E53-1597FC7FA811}"/>
              </a:ext>
            </a:extLst>
          </p:cNvPr>
          <p:cNvSpPr txBox="1"/>
          <p:nvPr/>
        </p:nvSpPr>
        <p:spPr>
          <a:xfrm>
            <a:off x="3534103" y="9202819"/>
            <a:ext cx="5725478" cy="276999"/>
          </a:xfrm>
          <a:prstGeom prst="rect">
            <a:avLst/>
          </a:prstGeom>
          <a:noFill/>
        </p:spPr>
        <p:txBody>
          <a:bodyPr wrap="square">
            <a:spAutoFit/>
          </a:bodyPr>
          <a:lstStyle/>
          <a:p>
            <a:r>
              <a:rPr lang="en-US" sz="1200" dirty="0"/>
              <a:t>https://</a:t>
            </a:r>
            <a:r>
              <a:rPr lang="en-US" sz="1200" dirty="0" err="1"/>
              <a:t>us.sportsdirect.com</a:t>
            </a:r>
            <a:r>
              <a:rPr lang="en-US" sz="1200" dirty="0"/>
              <a:t>/hasbro-monopoly-classic-725621#colcode=72562199</a:t>
            </a:r>
          </a:p>
        </p:txBody>
      </p:sp>
      <p:sp>
        <p:nvSpPr>
          <p:cNvPr id="10" name="TextBox 9">
            <a:extLst>
              <a:ext uri="{FF2B5EF4-FFF2-40B4-BE49-F238E27FC236}">
                <a16:creationId xmlns:a16="http://schemas.microsoft.com/office/drawing/2014/main" id="{6FD2573E-7D9D-D86A-5600-DBFD2053156E}"/>
              </a:ext>
            </a:extLst>
          </p:cNvPr>
          <p:cNvSpPr txBox="1"/>
          <p:nvPr/>
        </p:nvSpPr>
        <p:spPr>
          <a:xfrm>
            <a:off x="9102308" y="6298422"/>
            <a:ext cx="1159292" cy="369332"/>
          </a:xfrm>
          <a:prstGeom prst="rect">
            <a:avLst/>
          </a:prstGeom>
          <a:noFill/>
        </p:spPr>
        <p:txBody>
          <a:bodyPr wrap="none" rtlCol="0">
            <a:spAutoFit/>
          </a:bodyPr>
          <a:lstStyle/>
          <a:p>
            <a:r>
              <a:rPr lang="en-US" dirty="0"/>
              <a:t>Like </a:t>
            </a:r>
            <a:r>
              <a:rPr lang="en-US" dirty="0" err="1"/>
              <a:t>wut</a:t>
            </a:r>
            <a:r>
              <a:rPr lang="en-US" dirty="0"/>
              <a:t>?</a:t>
            </a:r>
          </a:p>
        </p:txBody>
      </p:sp>
      <p:cxnSp>
        <p:nvCxnSpPr>
          <p:cNvPr id="12" name="Straight Arrow Connector 11">
            <a:extLst>
              <a:ext uri="{FF2B5EF4-FFF2-40B4-BE49-F238E27FC236}">
                <a16:creationId xmlns:a16="http://schemas.microsoft.com/office/drawing/2014/main" id="{5AB4A6C3-83EE-7968-8347-89EFE0342FF0}"/>
              </a:ext>
            </a:extLst>
          </p:cNvPr>
          <p:cNvCxnSpPr>
            <a:cxnSpLocks/>
          </p:cNvCxnSpPr>
          <p:nvPr/>
        </p:nvCxnSpPr>
        <p:spPr>
          <a:xfrm flipH="1" flipV="1">
            <a:off x="8893929" y="6110049"/>
            <a:ext cx="449768" cy="210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9A6CD2F-F190-D295-F7CD-743975DA60A7}"/>
              </a:ext>
            </a:extLst>
          </p:cNvPr>
          <p:cNvSpPr>
            <a:spLocks noGrp="1"/>
          </p:cNvSpPr>
          <p:nvPr>
            <p:ph type="title"/>
          </p:nvPr>
        </p:nvSpPr>
        <p:spPr>
          <a:xfrm>
            <a:off x="420489" y="1455819"/>
            <a:ext cx="11216640" cy="1235456"/>
          </a:xfrm>
        </p:spPr>
        <p:txBody>
          <a:bodyPr/>
          <a:lstStyle/>
          <a:p>
            <a:r>
              <a:rPr lang="en-US" dirty="0"/>
              <a:t>The Gilded Age</a:t>
            </a:r>
          </a:p>
        </p:txBody>
      </p:sp>
    </p:spTree>
    <p:extLst>
      <p:ext uri="{BB962C8B-B14F-4D97-AF65-F5344CB8AC3E}">
        <p14:creationId xmlns:p14="http://schemas.microsoft.com/office/powerpoint/2010/main" val="3097687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7BDEC-553E-905F-503A-553A92CA94A6}"/>
              </a:ext>
            </a:extLst>
          </p:cNvPr>
          <p:cNvSpPr>
            <a:spLocks noGrp="1"/>
          </p:cNvSpPr>
          <p:nvPr>
            <p:ph type="title"/>
          </p:nvPr>
        </p:nvSpPr>
        <p:spPr/>
        <p:txBody>
          <a:bodyPr/>
          <a:lstStyle/>
          <a:p>
            <a:r>
              <a:rPr lang="en-US" dirty="0"/>
              <a:t>AI Report</a:t>
            </a:r>
          </a:p>
        </p:txBody>
      </p:sp>
      <p:sp>
        <p:nvSpPr>
          <p:cNvPr id="3" name="Content Placeholder 2">
            <a:extLst>
              <a:ext uri="{FF2B5EF4-FFF2-40B4-BE49-F238E27FC236}">
                <a16:creationId xmlns:a16="http://schemas.microsoft.com/office/drawing/2014/main" id="{18E3F748-17A5-010F-C77D-643611001B7C}"/>
              </a:ext>
            </a:extLst>
          </p:cNvPr>
          <p:cNvSpPr>
            <a:spLocks noGrp="1"/>
          </p:cNvSpPr>
          <p:nvPr>
            <p:ph idx="1"/>
          </p:nvPr>
        </p:nvSpPr>
        <p:spPr>
          <a:xfrm>
            <a:off x="420489" y="3043003"/>
            <a:ext cx="11216640" cy="6201503"/>
          </a:xfrm>
        </p:spPr>
        <p:txBody>
          <a:bodyPr/>
          <a:lstStyle/>
          <a:p>
            <a:r>
              <a:rPr lang="en-US" dirty="0"/>
              <a:t>I used </a:t>
            </a:r>
            <a:r>
              <a:rPr lang="en-US" dirty="0" err="1"/>
              <a:t>claude</a:t>
            </a:r>
            <a:r>
              <a:rPr lang="en-US" dirty="0"/>
              <a:t> code to generate a Monopoly game, took about 2 hours and 20M tokens</a:t>
            </a:r>
          </a:p>
          <a:p>
            <a:pPr lvl="1"/>
            <a:r>
              <a:rPr lang="en-US" dirty="0"/>
              <a:t>My prompt: </a:t>
            </a:r>
          </a:p>
          <a:p>
            <a:pPr lvl="2"/>
            <a:r>
              <a:rPr lang="en-US" dirty="0"/>
              <a:t>I want to build a trivial Monopoly game, but with a modification. Read the </a:t>
            </a:r>
            <a:r>
              <a:rPr lang="en-US" dirty="0" err="1"/>
              <a:t>twiki</a:t>
            </a:r>
            <a:r>
              <a:rPr lang="en-US" dirty="0"/>
              <a:t> here to refresh yourself on the rules: </a:t>
            </a:r>
          </a:p>
          <a:p>
            <a:pPr lvl="2"/>
            <a:r>
              <a:rPr lang="en-US" dirty="0"/>
              <a:t>https://</a:t>
            </a:r>
            <a:r>
              <a:rPr lang="en-US" dirty="0" err="1"/>
              <a:t>www.wikihow.com</a:t>
            </a:r>
            <a:r>
              <a:rPr lang="en-US" dirty="0"/>
              <a:t>/Play-Monopoly</a:t>
            </a:r>
          </a:p>
          <a:p>
            <a:pPr lvl="2"/>
            <a:r>
              <a:rPr lang="en-US" dirty="0"/>
              <a:t>I want it to be python-only.</a:t>
            </a:r>
          </a:p>
          <a:p>
            <a:pPr lvl="2"/>
            <a:r>
              <a:rPr lang="en-US" dirty="0"/>
              <a:t>Make it a </a:t>
            </a:r>
            <a:r>
              <a:rPr lang="en-US" dirty="0" err="1"/>
              <a:t>pygame</a:t>
            </a:r>
            <a:r>
              <a:rPr lang="en-US" dirty="0"/>
              <a:t> engine.</a:t>
            </a:r>
          </a:p>
          <a:p>
            <a:pPr lvl="2"/>
            <a:r>
              <a:rPr lang="en-US" dirty="0"/>
              <a:t>The rules should be as-written, but instead of each player getting $1500, the amounts are set ahead of time by a game manager.</a:t>
            </a:r>
          </a:p>
          <a:p>
            <a:pPr lvl="2"/>
            <a:r>
              <a:rPr lang="en-US" dirty="0"/>
              <a:t>Give me a markdown plan and we will discuss.</a:t>
            </a:r>
          </a:p>
          <a:p>
            <a:pPr lvl="1"/>
            <a:r>
              <a:rPr lang="en-US" dirty="0"/>
              <a:t>Then for each step: “Read </a:t>
            </a:r>
            <a:r>
              <a:rPr lang="en-US" dirty="0" err="1"/>
              <a:t>PLAN.md</a:t>
            </a:r>
            <a:r>
              <a:rPr lang="en-US" dirty="0"/>
              <a:t> and implement Phase X. Make unit tests to ensure they keep working throughout the game. At the end, when the tests are green, tell me and we will mark it done on the </a:t>
            </a:r>
            <a:r>
              <a:rPr lang="en-US" dirty="0" err="1"/>
              <a:t>PLAN.md</a:t>
            </a:r>
            <a:r>
              <a:rPr lang="en-US" dirty="0"/>
              <a:t> file, and I will refresh.”</a:t>
            </a:r>
          </a:p>
          <a:p>
            <a:pPr lvl="1"/>
            <a:r>
              <a:rPr lang="en-US" dirty="0"/>
              <a:t>There was occasional fine-tuning that I won’t list</a:t>
            </a:r>
          </a:p>
          <a:p>
            <a:r>
              <a:rPr lang="en-US" dirty="0"/>
              <a:t>Let’s play! </a:t>
            </a:r>
          </a:p>
        </p:txBody>
      </p:sp>
    </p:spTree>
    <p:extLst>
      <p:ext uri="{BB962C8B-B14F-4D97-AF65-F5344CB8AC3E}">
        <p14:creationId xmlns:p14="http://schemas.microsoft.com/office/powerpoint/2010/main" val="401500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159C-DD57-3499-81DB-EB92B6364624}"/>
              </a:ext>
            </a:extLst>
          </p:cNvPr>
          <p:cNvSpPr>
            <a:spLocks noGrp="1"/>
          </p:cNvSpPr>
          <p:nvPr>
            <p:ph type="title"/>
          </p:nvPr>
        </p:nvSpPr>
        <p:spPr/>
        <p:txBody>
          <a:bodyPr/>
          <a:lstStyle/>
          <a:p>
            <a:r>
              <a:rPr lang="en-US" dirty="0" err="1"/>
              <a:t>Plan.md</a:t>
            </a:r>
            <a:endParaRPr lang="en-US" dirty="0"/>
          </a:p>
        </p:txBody>
      </p:sp>
    </p:spTree>
    <p:extLst>
      <p:ext uri="{BB962C8B-B14F-4D97-AF65-F5344CB8AC3E}">
        <p14:creationId xmlns:p14="http://schemas.microsoft.com/office/powerpoint/2010/main" val="462131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CB53-F973-3670-169E-0A8ECBA6FB99}"/>
              </a:ext>
            </a:extLst>
          </p:cNvPr>
          <p:cNvSpPr>
            <a:spLocks noGrp="1"/>
          </p:cNvSpPr>
          <p:nvPr>
            <p:ph type="title"/>
          </p:nvPr>
        </p:nvSpPr>
        <p:spPr/>
        <p:txBody>
          <a:bodyPr/>
          <a:lstStyle/>
          <a:p>
            <a:r>
              <a:rPr lang="en-US" dirty="0"/>
              <a:t>Data Analysis</a:t>
            </a:r>
          </a:p>
        </p:txBody>
      </p:sp>
      <p:sp>
        <p:nvSpPr>
          <p:cNvPr id="3" name="Content Placeholder 2">
            <a:extLst>
              <a:ext uri="{FF2B5EF4-FFF2-40B4-BE49-F238E27FC236}">
                <a16:creationId xmlns:a16="http://schemas.microsoft.com/office/drawing/2014/main" id="{BE28C3EE-D0F0-09DC-8A9D-8C523FC7C3D9}"/>
              </a:ext>
            </a:extLst>
          </p:cNvPr>
          <p:cNvSpPr>
            <a:spLocks noGrp="1"/>
          </p:cNvSpPr>
          <p:nvPr>
            <p:ph idx="1"/>
          </p:nvPr>
        </p:nvSpPr>
        <p:spPr/>
        <p:txBody>
          <a:bodyPr/>
          <a:lstStyle/>
          <a:p>
            <a:r>
              <a:rPr lang="en-US" dirty="0"/>
              <a:t>Looked at three configurations: </a:t>
            </a:r>
          </a:p>
          <a:p>
            <a:pPr lvl="1"/>
            <a:r>
              <a:rPr lang="en-US" sz="2400" dirty="0"/>
              <a:t>Equal stakes: All six at 1500</a:t>
            </a:r>
          </a:p>
          <a:p>
            <a:pPr lvl="1"/>
            <a:r>
              <a:rPr lang="en-US" sz="2400" dirty="0"/>
              <a:t>Oligarchy stakes: lowest three each get 10, next two gets 100, the sixth gets the rest.</a:t>
            </a:r>
          </a:p>
          <a:p>
            <a:pPr lvl="1"/>
            <a:r>
              <a:rPr lang="en-US" sz="2400" dirty="0"/>
              <a:t>Company town stakes: lowest five get 1, the sixth gets the rest.</a:t>
            </a:r>
          </a:p>
          <a:p>
            <a:pPr lvl="1"/>
            <a:endParaRPr lang="en-US" sz="2400" dirty="0"/>
          </a:p>
          <a:p>
            <a:endParaRPr lang="en-US" sz="2400" dirty="0"/>
          </a:p>
        </p:txBody>
      </p:sp>
    </p:spTree>
    <p:extLst>
      <p:ext uri="{BB962C8B-B14F-4D97-AF65-F5344CB8AC3E}">
        <p14:creationId xmlns:p14="http://schemas.microsoft.com/office/powerpoint/2010/main" val="1128248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E1B28-B0CF-0FA2-59D2-AC4FB62E47A2}"/>
              </a:ext>
            </a:extLst>
          </p:cNvPr>
          <p:cNvSpPr>
            <a:spLocks noGrp="1"/>
          </p:cNvSpPr>
          <p:nvPr>
            <p:ph type="title"/>
          </p:nvPr>
        </p:nvSpPr>
        <p:spPr/>
        <p:txBody>
          <a:bodyPr/>
          <a:lstStyle/>
          <a:p>
            <a:r>
              <a:rPr lang="en-US" dirty="0"/>
              <a:t>Data Analysis</a:t>
            </a:r>
          </a:p>
        </p:txBody>
      </p:sp>
      <p:pic>
        <p:nvPicPr>
          <p:cNvPr id="7" name="Picture 6">
            <a:extLst>
              <a:ext uri="{FF2B5EF4-FFF2-40B4-BE49-F238E27FC236}">
                <a16:creationId xmlns:a16="http://schemas.microsoft.com/office/drawing/2014/main" id="{C72FC9D2-27F5-8B50-1309-553BCE615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960" y="2964422"/>
            <a:ext cx="8561153" cy="6368893"/>
          </a:xfrm>
          <a:prstGeom prst="rect">
            <a:avLst/>
          </a:prstGeom>
        </p:spPr>
      </p:pic>
    </p:spTree>
    <p:extLst>
      <p:ext uri="{BB962C8B-B14F-4D97-AF65-F5344CB8AC3E}">
        <p14:creationId xmlns:p14="http://schemas.microsoft.com/office/powerpoint/2010/main" val="1166563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7351B-19C9-5FE9-B01C-4A40DC8A4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F9FEE-BE9C-2797-406B-0AAEF2FCAF0A}"/>
              </a:ext>
            </a:extLst>
          </p:cNvPr>
          <p:cNvSpPr>
            <a:spLocks noGrp="1"/>
          </p:cNvSpPr>
          <p:nvPr>
            <p:ph type="title"/>
          </p:nvPr>
        </p:nvSpPr>
        <p:spPr/>
        <p:txBody>
          <a:bodyPr/>
          <a:lstStyle/>
          <a:p>
            <a:r>
              <a:rPr lang="en-US" dirty="0"/>
              <a:t>Data Analysis</a:t>
            </a:r>
          </a:p>
        </p:txBody>
      </p:sp>
      <p:pic>
        <p:nvPicPr>
          <p:cNvPr id="4" name="Picture 3">
            <a:extLst>
              <a:ext uri="{FF2B5EF4-FFF2-40B4-BE49-F238E27FC236}">
                <a16:creationId xmlns:a16="http://schemas.microsoft.com/office/drawing/2014/main" id="{57A6662E-0E7E-82E3-65F3-BC6B911E9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6794" y="3059210"/>
            <a:ext cx="8306319" cy="6179315"/>
          </a:xfrm>
          <a:prstGeom prst="rect">
            <a:avLst/>
          </a:prstGeom>
        </p:spPr>
      </p:pic>
    </p:spTree>
    <p:extLst>
      <p:ext uri="{BB962C8B-B14F-4D97-AF65-F5344CB8AC3E}">
        <p14:creationId xmlns:p14="http://schemas.microsoft.com/office/powerpoint/2010/main" val="3305408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1A5FA-2735-3D9E-0093-F384AB90E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80629-DCC5-5434-65AD-908E99A47A2E}"/>
              </a:ext>
            </a:extLst>
          </p:cNvPr>
          <p:cNvSpPr>
            <a:spLocks noGrp="1"/>
          </p:cNvSpPr>
          <p:nvPr>
            <p:ph type="title"/>
          </p:nvPr>
        </p:nvSpPr>
        <p:spPr/>
        <p:txBody>
          <a:bodyPr/>
          <a:lstStyle/>
          <a:p>
            <a:r>
              <a:rPr lang="en-US" dirty="0"/>
              <a:t>Data Analysis</a:t>
            </a:r>
          </a:p>
        </p:txBody>
      </p:sp>
      <p:pic>
        <p:nvPicPr>
          <p:cNvPr id="4" name="Picture 3">
            <a:extLst>
              <a:ext uri="{FF2B5EF4-FFF2-40B4-BE49-F238E27FC236}">
                <a16:creationId xmlns:a16="http://schemas.microsoft.com/office/drawing/2014/main" id="{4554BD4F-B289-B226-A5C4-507C95581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6793" y="3081623"/>
            <a:ext cx="8306319" cy="6179315"/>
          </a:xfrm>
          <a:prstGeom prst="rect">
            <a:avLst/>
          </a:prstGeom>
        </p:spPr>
      </p:pic>
      <p:sp>
        <p:nvSpPr>
          <p:cNvPr id="5" name="TextBox 4">
            <a:extLst>
              <a:ext uri="{FF2B5EF4-FFF2-40B4-BE49-F238E27FC236}">
                <a16:creationId xmlns:a16="http://schemas.microsoft.com/office/drawing/2014/main" id="{865C6347-0789-AF31-CEDD-B97A209C0E02}"/>
              </a:ext>
            </a:extLst>
          </p:cNvPr>
          <p:cNvSpPr txBox="1"/>
          <p:nvPr/>
        </p:nvSpPr>
        <p:spPr>
          <a:xfrm>
            <a:off x="4916774" y="5833050"/>
            <a:ext cx="4437088" cy="646331"/>
          </a:xfrm>
          <a:prstGeom prst="rect">
            <a:avLst/>
          </a:prstGeom>
          <a:noFill/>
        </p:spPr>
        <p:txBody>
          <a:bodyPr wrap="square" rtlCol="0">
            <a:spAutoFit/>
          </a:bodyPr>
          <a:lstStyle/>
          <a:p>
            <a:r>
              <a:rPr lang="en-US" dirty="0"/>
              <a:t>This is like the mining towns of the late 19</a:t>
            </a:r>
            <a:r>
              <a:rPr lang="en-US" baseline="30000" dirty="0"/>
              <a:t>th</a:t>
            </a:r>
            <a:r>
              <a:rPr lang="en-US" dirty="0"/>
              <a:t> and early 20</a:t>
            </a:r>
            <a:r>
              <a:rPr lang="en-US" baseline="30000" dirty="0"/>
              <a:t>th</a:t>
            </a:r>
            <a:r>
              <a:rPr lang="en-US" dirty="0"/>
              <a:t> centuries</a:t>
            </a:r>
          </a:p>
        </p:txBody>
      </p:sp>
    </p:spTree>
    <p:extLst>
      <p:ext uri="{BB962C8B-B14F-4D97-AF65-F5344CB8AC3E}">
        <p14:creationId xmlns:p14="http://schemas.microsoft.com/office/powerpoint/2010/main" val="1419332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8D54-44C8-5B25-E9C5-AE26F89503C9}"/>
              </a:ext>
            </a:extLst>
          </p:cNvPr>
          <p:cNvSpPr>
            <a:spLocks noGrp="1"/>
          </p:cNvSpPr>
          <p:nvPr>
            <p:ph type="title"/>
          </p:nvPr>
        </p:nvSpPr>
        <p:spPr/>
        <p:txBody>
          <a:bodyPr/>
          <a:lstStyle/>
          <a:p>
            <a:r>
              <a:rPr lang="en-US" dirty="0"/>
              <a:t>Data Analysis</a:t>
            </a:r>
          </a:p>
        </p:txBody>
      </p:sp>
      <p:pic>
        <p:nvPicPr>
          <p:cNvPr id="4" name="Picture 3">
            <a:extLst>
              <a:ext uri="{FF2B5EF4-FFF2-40B4-BE49-F238E27FC236}">
                <a16:creationId xmlns:a16="http://schemas.microsoft.com/office/drawing/2014/main" id="{9CB23D3D-1616-2B1F-46C5-7B205F37CD67}"/>
              </a:ext>
            </a:extLst>
          </p:cNvPr>
          <p:cNvPicPr>
            <a:picLocks noChangeAspect="1"/>
          </p:cNvPicPr>
          <p:nvPr/>
        </p:nvPicPr>
        <p:blipFill>
          <a:blip r:embed="rId2"/>
          <a:stretch>
            <a:fillRect/>
          </a:stretch>
        </p:blipFill>
        <p:spPr>
          <a:xfrm>
            <a:off x="2215292" y="3113582"/>
            <a:ext cx="7899400" cy="5872120"/>
          </a:xfrm>
          <a:prstGeom prst="rect">
            <a:avLst/>
          </a:prstGeom>
        </p:spPr>
      </p:pic>
      <p:sp>
        <p:nvSpPr>
          <p:cNvPr id="5" name="TextBox 4">
            <a:extLst>
              <a:ext uri="{FF2B5EF4-FFF2-40B4-BE49-F238E27FC236}">
                <a16:creationId xmlns:a16="http://schemas.microsoft.com/office/drawing/2014/main" id="{6A76411E-8BF4-D0D1-2EC6-07F732D4006E}"/>
              </a:ext>
            </a:extLst>
          </p:cNvPr>
          <p:cNvSpPr txBox="1"/>
          <p:nvPr/>
        </p:nvSpPr>
        <p:spPr>
          <a:xfrm>
            <a:off x="8498512" y="4230469"/>
            <a:ext cx="3830595"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Impossible to win Monopoly beyond a wealth inequality gap of 4x</a:t>
            </a:r>
          </a:p>
        </p:txBody>
      </p:sp>
      <p:cxnSp>
        <p:nvCxnSpPr>
          <p:cNvPr id="7" name="Straight Arrow Connector 6">
            <a:extLst>
              <a:ext uri="{FF2B5EF4-FFF2-40B4-BE49-F238E27FC236}">
                <a16:creationId xmlns:a16="http://schemas.microsoft.com/office/drawing/2014/main" id="{E76F339B-E391-1A44-C4DC-7C5758A06E4C}"/>
              </a:ext>
            </a:extLst>
          </p:cNvPr>
          <p:cNvCxnSpPr/>
          <p:nvPr/>
        </p:nvCxnSpPr>
        <p:spPr>
          <a:xfrm flipH="1" flipV="1">
            <a:off x="7661189" y="4411362"/>
            <a:ext cx="837323" cy="142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1578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6C528A-4EB9-6EEE-ED26-01E6E967B670}"/>
              </a:ext>
            </a:extLst>
          </p:cNvPr>
          <p:cNvSpPr>
            <a:spLocks noGrp="1"/>
          </p:cNvSpPr>
          <p:nvPr>
            <p:ph type="ctrTitle"/>
          </p:nvPr>
        </p:nvSpPr>
        <p:spPr/>
        <p:txBody>
          <a:bodyPr/>
          <a:lstStyle/>
          <a:p>
            <a:r>
              <a:rPr lang="en-US" dirty="0"/>
              <a:t>The global context</a:t>
            </a:r>
          </a:p>
        </p:txBody>
      </p:sp>
    </p:spTree>
    <p:extLst>
      <p:ext uri="{BB962C8B-B14F-4D97-AF65-F5344CB8AC3E}">
        <p14:creationId xmlns:p14="http://schemas.microsoft.com/office/powerpoint/2010/main" val="333433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DB5A4-EBC7-C216-8EE9-1917787C97F3}"/>
              </a:ext>
            </a:extLst>
          </p:cNvPr>
          <p:cNvSpPr>
            <a:spLocks noGrp="1"/>
          </p:cNvSpPr>
          <p:nvPr>
            <p:ph type="title"/>
          </p:nvPr>
        </p:nvSpPr>
        <p:spPr/>
        <p:txBody>
          <a:bodyPr/>
          <a:lstStyle/>
          <a:p>
            <a:r>
              <a:rPr lang="en-US" dirty="0"/>
              <a:t>Global Context</a:t>
            </a:r>
          </a:p>
        </p:txBody>
      </p:sp>
      <p:sp>
        <p:nvSpPr>
          <p:cNvPr id="3" name="Content Placeholder 2">
            <a:extLst>
              <a:ext uri="{FF2B5EF4-FFF2-40B4-BE49-F238E27FC236}">
                <a16:creationId xmlns:a16="http://schemas.microsoft.com/office/drawing/2014/main" id="{6726272D-D20F-953B-4915-64D77A00F0F8}"/>
              </a:ext>
            </a:extLst>
          </p:cNvPr>
          <p:cNvSpPr>
            <a:spLocks noGrp="1"/>
          </p:cNvSpPr>
          <p:nvPr>
            <p:ph idx="1"/>
          </p:nvPr>
        </p:nvSpPr>
        <p:spPr>
          <a:xfrm>
            <a:off x="420489" y="3487107"/>
            <a:ext cx="5163882" cy="5757399"/>
          </a:xfrm>
        </p:spPr>
        <p:txBody>
          <a:bodyPr/>
          <a:lstStyle/>
          <a:p>
            <a:r>
              <a:rPr lang="en-US" dirty="0">
                <a:hlinkClick r:id="rId2"/>
              </a:rPr>
              <a:t>Europeans liked Asian stuff</a:t>
            </a:r>
            <a:r>
              <a:rPr lang="en-US" dirty="0"/>
              <a:t> in the Medieval period (Silk, Spices, Ivory)</a:t>
            </a:r>
          </a:p>
          <a:p>
            <a:r>
              <a:rPr lang="en-US" dirty="0">
                <a:hlinkClick r:id="rId3"/>
              </a:rPr>
              <a:t>Marco Polo</a:t>
            </a:r>
            <a:r>
              <a:rPr lang="en-US" dirty="0"/>
              <a:t> (1254-1324) was famous for traveling the (existing) </a:t>
            </a:r>
            <a:r>
              <a:rPr lang="en-US" dirty="0">
                <a:hlinkClick r:id="rId4"/>
              </a:rPr>
              <a:t>Silk Road </a:t>
            </a:r>
            <a:endParaRPr lang="en-US" dirty="0"/>
          </a:p>
          <a:p>
            <a:r>
              <a:rPr lang="en-US" dirty="0"/>
              <a:t>The Roman Empire (Eastern version) fell in 1453 during the </a:t>
            </a:r>
            <a:r>
              <a:rPr lang="en-US" dirty="0">
                <a:hlinkClick r:id="rId5"/>
              </a:rPr>
              <a:t>Fall of Constantinople</a:t>
            </a:r>
            <a:r>
              <a:rPr lang="en-US" dirty="0"/>
              <a:t> to </a:t>
            </a:r>
            <a:r>
              <a:rPr lang="en-US" dirty="0">
                <a:hlinkClick r:id="rId6"/>
              </a:rPr>
              <a:t>Mehmet II</a:t>
            </a:r>
            <a:r>
              <a:rPr lang="en-US" dirty="0"/>
              <a:t> of the much more advanced </a:t>
            </a:r>
            <a:r>
              <a:rPr lang="en-US" dirty="0">
                <a:hlinkClick r:id="rId7"/>
              </a:rPr>
              <a:t>Ottoman Empire</a:t>
            </a:r>
            <a:r>
              <a:rPr lang="en-US" dirty="0"/>
              <a:t> (who used cannons to destroy the walls of the city)</a:t>
            </a:r>
          </a:p>
          <a:p>
            <a:r>
              <a:rPr lang="en-US" dirty="0"/>
              <a:t>Europe had to (gasp!) now pay taxes for their favorite stuff, so they traveled westward trying to get to Asia</a:t>
            </a:r>
          </a:p>
          <a:p>
            <a:endParaRPr lang="en-US" dirty="0"/>
          </a:p>
          <a:p>
            <a:endParaRPr lang="en-US" dirty="0"/>
          </a:p>
          <a:p>
            <a:endParaRPr lang="en-US" dirty="0"/>
          </a:p>
        </p:txBody>
      </p:sp>
      <p:pic>
        <p:nvPicPr>
          <p:cNvPr id="4" name="Picture 3">
            <a:extLst>
              <a:ext uri="{FF2B5EF4-FFF2-40B4-BE49-F238E27FC236}">
                <a16:creationId xmlns:a16="http://schemas.microsoft.com/office/drawing/2014/main" id="{ADE92D0A-510F-8C97-7190-041541BD6D1B}"/>
              </a:ext>
            </a:extLst>
          </p:cNvPr>
          <p:cNvPicPr>
            <a:picLocks noChangeAspect="1"/>
          </p:cNvPicPr>
          <p:nvPr/>
        </p:nvPicPr>
        <p:blipFill>
          <a:blip r:embed="rId8"/>
          <a:stretch>
            <a:fillRect/>
          </a:stretch>
        </p:blipFill>
        <p:spPr>
          <a:xfrm>
            <a:off x="6313712" y="1410031"/>
            <a:ext cx="3250863" cy="3229429"/>
          </a:xfrm>
          <a:prstGeom prst="rect">
            <a:avLst/>
          </a:prstGeom>
        </p:spPr>
      </p:pic>
      <p:pic>
        <p:nvPicPr>
          <p:cNvPr id="5" name="Picture 4">
            <a:extLst>
              <a:ext uri="{FF2B5EF4-FFF2-40B4-BE49-F238E27FC236}">
                <a16:creationId xmlns:a16="http://schemas.microsoft.com/office/drawing/2014/main" id="{A85CF43F-D38D-0FE3-A175-BBFA6C662DD1}"/>
              </a:ext>
            </a:extLst>
          </p:cNvPr>
          <p:cNvPicPr>
            <a:picLocks noChangeAspect="1"/>
          </p:cNvPicPr>
          <p:nvPr/>
        </p:nvPicPr>
        <p:blipFill>
          <a:blip r:embed="rId9"/>
          <a:stretch>
            <a:fillRect/>
          </a:stretch>
        </p:blipFill>
        <p:spPr>
          <a:xfrm>
            <a:off x="6427845" y="5268193"/>
            <a:ext cx="2498272" cy="2498272"/>
          </a:xfrm>
          <a:prstGeom prst="rect">
            <a:avLst/>
          </a:prstGeom>
        </p:spPr>
      </p:pic>
      <p:sp>
        <p:nvSpPr>
          <p:cNvPr id="7" name="TextBox 6">
            <a:extLst>
              <a:ext uri="{FF2B5EF4-FFF2-40B4-BE49-F238E27FC236}">
                <a16:creationId xmlns:a16="http://schemas.microsoft.com/office/drawing/2014/main" id="{3892D3E6-64B9-46F1-D376-2846FC4A24FE}"/>
              </a:ext>
            </a:extLst>
          </p:cNvPr>
          <p:cNvSpPr txBox="1"/>
          <p:nvPr/>
        </p:nvSpPr>
        <p:spPr>
          <a:xfrm>
            <a:off x="6571003" y="1410031"/>
            <a:ext cx="2993572"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Marco_Polo</a:t>
            </a:r>
            <a:endParaRPr lang="en-US" sz="1200" dirty="0"/>
          </a:p>
        </p:txBody>
      </p:sp>
      <p:sp>
        <p:nvSpPr>
          <p:cNvPr id="9" name="TextBox 8">
            <a:extLst>
              <a:ext uri="{FF2B5EF4-FFF2-40B4-BE49-F238E27FC236}">
                <a16:creationId xmlns:a16="http://schemas.microsoft.com/office/drawing/2014/main" id="{D396CE51-83D7-6564-08E2-AC3F3A08591C}"/>
              </a:ext>
            </a:extLst>
          </p:cNvPr>
          <p:cNvSpPr txBox="1"/>
          <p:nvPr/>
        </p:nvSpPr>
        <p:spPr>
          <a:xfrm>
            <a:off x="6402616" y="4991194"/>
            <a:ext cx="2785664"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Silk_Road</a:t>
            </a:r>
            <a:endParaRPr lang="en-US" sz="1200" dirty="0"/>
          </a:p>
        </p:txBody>
      </p:sp>
      <p:pic>
        <p:nvPicPr>
          <p:cNvPr id="10" name="Picture 9" descr="Portrait of Mehmed II&#10;&#10;https://en.wikipedia.org/wiki/Mehmed_II">
            <a:extLst>
              <a:ext uri="{FF2B5EF4-FFF2-40B4-BE49-F238E27FC236}">
                <a16:creationId xmlns:a16="http://schemas.microsoft.com/office/drawing/2014/main" id="{33EE557C-9FF2-156A-DD08-1DFAB9069FB0}"/>
              </a:ext>
            </a:extLst>
          </p:cNvPr>
          <p:cNvPicPr>
            <a:picLocks noChangeAspect="1"/>
          </p:cNvPicPr>
          <p:nvPr/>
        </p:nvPicPr>
        <p:blipFill>
          <a:blip r:embed="rId10"/>
          <a:stretch>
            <a:fillRect/>
          </a:stretch>
        </p:blipFill>
        <p:spPr>
          <a:xfrm>
            <a:off x="9564575" y="5268193"/>
            <a:ext cx="3175000" cy="4279900"/>
          </a:xfrm>
          <a:prstGeom prst="rect">
            <a:avLst/>
          </a:prstGeom>
        </p:spPr>
      </p:pic>
      <p:sp>
        <p:nvSpPr>
          <p:cNvPr id="11" name="TextBox 10">
            <a:extLst>
              <a:ext uri="{FF2B5EF4-FFF2-40B4-BE49-F238E27FC236}">
                <a16:creationId xmlns:a16="http://schemas.microsoft.com/office/drawing/2014/main" id="{E133A432-F6DE-8CF5-9DE7-69AD1280274F}"/>
              </a:ext>
            </a:extLst>
          </p:cNvPr>
          <p:cNvSpPr txBox="1"/>
          <p:nvPr/>
        </p:nvSpPr>
        <p:spPr>
          <a:xfrm>
            <a:off x="9746003" y="5002080"/>
            <a:ext cx="2993572"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Mehmed_II</a:t>
            </a:r>
            <a:endParaRPr lang="en-US" sz="1200" dirty="0"/>
          </a:p>
        </p:txBody>
      </p:sp>
      <p:sp>
        <p:nvSpPr>
          <p:cNvPr id="13" name="Oval Callout 12">
            <a:extLst>
              <a:ext uri="{FF2B5EF4-FFF2-40B4-BE49-F238E27FC236}">
                <a16:creationId xmlns:a16="http://schemas.microsoft.com/office/drawing/2014/main" id="{5D87824C-912F-DA84-481F-FABBFA609A1E}"/>
              </a:ext>
            </a:extLst>
          </p:cNvPr>
          <p:cNvSpPr/>
          <p:nvPr/>
        </p:nvSpPr>
        <p:spPr>
          <a:xfrm>
            <a:off x="9746003" y="1959429"/>
            <a:ext cx="2097654" cy="1219200"/>
          </a:xfrm>
          <a:prstGeom prst="wedgeEllipseCallout">
            <a:avLst>
              <a:gd name="adj1" fmla="val -140810"/>
              <a:gd name="adj2" fmla="val -330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Saffron is yummy</a:t>
            </a:r>
          </a:p>
        </p:txBody>
      </p:sp>
      <p:sp>
        <p:nvSpPr>
          <p:cNvPr id="14" name="Oval Callout 13">
            <a:extLst>
              <a:ext uri="{FF2B5EF4-FFF2-40B4-BE49-F238E27FC236}">
                <a16:creationId xmlns:a16="http://schemas.microsoft.com/office/drawing/2014/main" id="{F6A29E09-19F9-FF3B-194B-42EBE324D6C4}"/>
              </a:ext>
            </a:extLst>
          </p:cNvPr>
          <p:cNvSpPr/>
          <p:nvPr/>
        </p:nvSpPr>
        <p:spPr>
          <a:xfrm>
            <a:off x="7195457" y="8043464"/>
            <a:ext cx="1648817" cy="1267694"/>
          </a:xfrm>
          <a:prstGeom prst="wedgeEllipseCallout">
            <a:avLst>
              <a:gd name="adj1" fmla="val 158285"/>
              <a:gd name="adj2" fmla="val -10360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Lol get </a:t>
            </a:r>
            <a:r>
              <a:rPr lang="en-US" dirty="0" err="1">
                <a:solidFill>
                  <a:schemeClr val="bg1"/>
                </a:solidFill>
              </a:rPr>
              <a:t>wrekt</a:t>
            </a:r>
            <a:r>
              <a:rPr lang="en-US" dirty="0">
                <a:solidFill>
                  <a:schemeClr val="bg1"/>
                </a:solidFill>
              </a:rPr>
              <a:t>, pay me</a:t>
            </a:r>
          </a:p>
        </p:txBody>
      </p:sp>
    </p:spTree>
    <p:extLst>
      <p:ext uri="{BB962C8B-B14F-4D97-AF65-F5344CB8AC3E}">
        <p14:creationId xmlns:p14="http://schemas.microsoft.com/office/powerpoint/2010/main" val="960984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2014F-A8ED-39A9-58E9-2CCD0B14CFF0}"/>
              </a:ext>
            </a:extLst>
          </p:cNvPr>
          <p:cNvSpPr>
            <a:spLocks noGrp="1"/>
          </p:cNvSpPr>
          <p:nvPr>
            <p:ph type="title"/>
          </p:nvPr>
        </p:nvSpPr>
        <p:spPr/>
        <p:txBody>
          <a:bodyPr/>
          <a:lstStyle/>
          <a:p>
            <a:r>
              <a:rPr lang="en-US" dirty="0"/>
              <a:t>Global Context</a:t>
            </a:r>
          </a:p>
        </p:txBody>
      </p:sp>
      <p:sp>
        <p:nvSpPr>
          <p:cNvPr id="3" name="Content Placeholder 2">
            <a:extLst>
              <a:ext uri="{FF2B5EF4-FFF2-40B4-BE49-F238E27FC236}">
                <a16:creationId xmlns:a16="http://schemas.microsoft.com/office/drawing/2014/main" id="{FFBACA83-5AF1-1726-53BC-001D053C3F4B}"/>
              </a:ext>
            </a:extLst>
          </p:cNvPr>
          <p:cNvSpPr>
            <a:spLocks noGrp="1"/>
          </p:cNvSpPr>
          <p:nvPr>
            <p:ph idx="1"/>
          </p:nvPr>
        </p:nvSpPr>
        <p:spPr>
          <a:xfrm>
            <a:off x="420489" y="3051679"/>
            <a:ext cx="6230682" cy="6364464"/>
          </a:xfrm>
        </p:spPr>
        <p:txBody>
          <a:bodyPr/>
          <a:lstStyle/>
          <a:p>
            <a:r>
              <a:rPr lang="en-US" sz="1800" dirty="0"/>
              <a:t>1492, </a:t>
            </a:r>
            <a:r>
              <a:rPr lang="en-US" sz="1800" dirty="0">
                <a:hlinkClick r:id="rId3"/>
              </a:rPr>
              <a:t>Columbus</a:t>
            </a:r>
            <a:r>
              <a:rPr lang="en-US" sz="1800" dirty="0"/>
              <a:t> convinces  </a:t>
            </a:r>
            <a:r>
              <a:rPr lang="en-US" sz="1800" dirty="0">
                <a:hlinkClick r:id="rId4" tooltip="Isabella I"/>
              </a:rPr>
              <a:t>Queen Isabella I</a:t>
            </a:r>
            <a:r>
              <a:rPr lang="en-US" sz="1800" dirty="0"/>
              <a:t> and </a:t>
            </a:r>
            <a:r>
              <a:rPr lang="en-US" sz="1800" dirty="0">
                <a:hlinkClick r:id="rId5"/>
              </a:rPr>
              <a:t>King Ferdinand II</a:t>
            </a:r>
            <a:r>
              <a:rPr lang="en-US" sz="1800" dirty="0"/>
              <a:t> to finance his trip to Asia</a:t>
            </a:r>
          </a:p>
          <a:p>
            <a:pPr lvl="1"/>
            <a:r>
              <a:rPr lang="en-US" sz="1800" dirty="0"/>
              <a:t>Everyone knew the earth was a sphere (since around 500 BCE)</a:t>
            </a:r>
          </a:p>
          <a:p>
            <a:pPr lvl="1"/>
            <a:r>
              <a:rPr lang="en-US" sz="1800" dirty="0"/>
              <a:t>Finds a continent in his way, genocides the people there</a:t>
            </a:r>
          </a:p>
          <a:p>
            <a:r>
              <a:rPr lang="en-US" sz="1800" dirty="0">
                <a:hlinkClick r:id="rId6"/>
              </a:rPr>
              <a:t>Sugar plantations </a:t>
            </a:r>
            <a:r>
              <a:rPr lang="en-US" sz="1800" dirty="0"/>
              <a:t>become hugely profitable, but the Native Americans were dying from conquest and diseases they had no immunity to</a:t>
            </a:r>
          </a:p>
          <a:p>
            <a:pPr lvl="1"/>
            <a:r>
              <a:rPr lang="en-US" sz="1800" dirty="0"/>
              <a:t>Thus </a:t>
            </a:r>
            <a:r>
              <a:rPr lang="en-US" sz="1800" dirty="0">
                <a:hlinkClick r:id="rId7"/>
              </a:rPr>
              <a:t>Europeans kidnapped people from Africa </a:t>
            </a:r>
            <a:r>
              <a:rPr lang="en-US" sz="1800" dirty="0"/>
              <a:t>to make the global economy run</a:t>
            </a:r>
          </a:p>
          <a:p>
            <a:r>
              <a:rPr lang="en-US" sz="1800" dirty="0">
                <a:hlinkClick r:id="rId8"/>
              </a:rPr>
              <a:t>Eli Whitney’s Cotton gin</a:t>
            </a:r>
            <a:r>
              <a:rPr lang="en-US" sz="1800" dirty="0"/>
              <a:t> (1793) put the enslavement of people into overdrive</a:t>
            </a:r>
          </a:p>
          <a:p>
            <a:r>
              <a:rPr lang="en-US" sz="1800" dirty="0"/>
              <a:t>The US then</a:t>
            </a:r>
            <a:r>
              <a:rPr lang="en-US" sz="1800" dirty="0">
                <a:hlinkClick r:id="rId9"/>
              </a:rPr>
              <a:t> went to war with itself</a:t>
            </a:r>
            <a:r>
              <a:rPr lang="en-US" sz="1800" dirty="0"/>
              <a:t> because the North decided that maybe we shouldn’t enslave people, but the plantation owners in the South decided they had enough</a:t>
            </a:r>
          </a:p>
          <a:p>
            <a:pPr lvl="1"/>
            <a:endParaRPr lang="en-US" sz="1800" dirty="0"/>
          </a:p>
        </p:txBody>
      </p:sp>
      <p:pic>
        <p:nvPicPr>
          <p:cNvPr id="5" name="Picture 4">
            <a:extLst>
              <a:ext uri="{FF2B5EF4-FFF2-40B4-BE49-F238E27FC236}">
                <a16:creationId xmlns:a16="http://schemas.microsoft.com/office/drawing/2014/main" id="{7EEEFB40-D7B8-2F53-6848-2B4273FDD0A8}"/>
              </a:ext>
            </a:extLst>
          </p:cNvPr>
          <p:cNvPicPr>
            <a:picLocks noChangeAspect="1"/>
          </p:cNvPicPr>
          <p:nvPr/>
        </p:nvPicPr>
        <p:blipFill>
          <a:blip r:embed="rId10"/>
          <a:stretch>
            <a:fillRect/>
          </a:stretch>
        </p:blipFill>
        <p:spPr>
          <a:xfrm>
            <a:off x="7429501" y="948921"/>
            <a:ext cx="2620761" cy="3165879"/>
          </a:xfrm>
          <a:prstGeom prst="rect">
            <a:avLst/>
          </a:prstGeom>
        </p:spPr>
      </p:pic>
      <p:sp>
        <p:nvSpPr>
          <p:cNvPr id="7" name="TextBox 6">
            <a:extLst>
              <a:ext uri="{FF2B5EF4-FFF2-40B4-BE49-F238E27FC236}">
                <a16:creationId xmlns:a16="http://schemas.microsoft.com/office/drawing/2014/main" id="{CB3EED16-5FCB-FB8E-1A70-0F29AF85772F}"/>
              </a:ext>
            </a:extLst>
          </p:cNvPr>
          <p:cNvSpPr txBox="1"/>
          <p:nvPr/>
        </p:nvSpPr>
        <p:spPr>
          <a:xfrm>
            <a:off x="6828077" y="4119591"/>
            <a:ext cx="3823607"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Christopher_Columbus</a:t>
            </a:r>
            <a:endParaRPr lang="en-US" sz="1200" dirty="0"/>
          </a:p>
        </p:txBody>
      </p:sp>
      <p:pic>
        <p:nvPicPr>
          <p:cNvPr id="8" name="Picture 7" descr="Reproduction of an advertisement for sale of kidnapped people from Africa. A Cargo of 94 prime, healthy N***** consisting of 39 men, 15 boys, 24 women, and 16 girls, Just arrived in the Brigantine Dembia, Francis Bare, Master, from Sierra-Leon, by David &amp; John Deas. ">
            <a:extLst>
              <a:ext uri="{FF2B5EF4-FFF2-40B4-BE49-F238E27FC236}">
                <a16:creationId xmlns:a16="http://schemas.microsoft.com/office/drawing/2014/main" id="{7587D2DC-85B1-1C34-8CDC-679FDF943F8B}"/>
              </a:ext>
            </a:extLst>
          </p:cNvPr>
          <p:cNvPicPr>
            <a:picLocks noChangeAspect="1"/>
          </p:cNvPicPr>
          <p:nvPr/>
        </p:nvPicPr>
        <p:blipFill>
          <a:blip r:embed="rId11"/>
          <a:stretch>
            <a:fillRect/>
          </a:stretch>
        </p:blipFill>
        <p:spPr>
          <a:xfrm>
            <a:off x="10641545" y="2038764"/>
            <a:ext cx="2344979" cy="3794603"/>
          </a:xfrm>
          <a:prstGeom prst="rect">
            <a:avLst/>
          </a:prstGeom>
        </p:spPr>
      </p:pic>
      <p:sp>
        <p:nvSpPr>
          <p:cNvPr id="9" name="TextBox 8">
            <a:extLst>
              <a:ext uri="{FF2B5EF4-FFF2-40B4-BE49-F238E27FC236}">
                <a16:creationId xmlns:a16="http://schemas.microsoft.com/office/drawing/2014/main" id="{1CCAEE89-1282-1EC1-9BB5-13EAA65630C9}"/>
              </a:ext>
            </a:extLst>
          </p:cNvPr>
          <p:cNvSpPr txBox="1"/>
          <p:nvPr/>
        </p:nvSpPr>
        <p:spPr>
          <a:xfrm>
            <a:off x="11086855" y="3859865"/>
            <a:ext cx="1659758" cy="369332"/>
          </a:xfrm>
          <a:prstGeom prst="rect">
            <a:avLst/>
          </a:prstGeom>
          <a:solidFill>
            <a:schemeClr val="bg1"/>
          </a:solidFill>
        </p:spPr>
        <p:txBody>
          <a:bodyPr wrap="square" rtlCol="0">
            <a:spAutoFit/>
          </a:bodyPr>
          <a:lstStyle/>
          <a:p>
            <a:endParaRPr lang="en-US" dirty="0"/>
          </a:p>
        </p:txBody>
      </p:sp>
      <p:pic>
        <p:nvPicPr>
          <p:cNvPr id="10" name="Picture 9" descr="The battle of Gettysburg, Pa. July 3d. 1863, depicting the Battle of Gettysburg, fought July 1–3, 1863. The battle was part of the American Civil War and was won by the North. Hand-colored lithograph by Currier and Ives.&#10;&#10;https://en.wikipedia.org/wiki/American_Civil_War#/media/File:Battle_of_Gettysburg,_by_Currier_and_Ives.png">
            <a:extLst>
              <a:ext uri="{FF2B5EF4-FFF2-40B4-BE49-F238E27FC236}">
                <a16:creationId xmlns:a16="http://schemas.microsoft.com/office/drawing/2014/main" id="{98683661-A8A6-6C2B-2CD1-350020C4314C}"/>
              </a:ext>
            </a:extLst>
          </p:cNvPr>
          <p:cNvPicPr>
            <a:picLocks noChangeAspect="1"/>
          </p:cNvPicPr>
          <p:nvPr/>
        </p:nvPicPr>
        <p:blipFill>
          <a:blip r:embed="rId12"/>
          <a:stretch>
            <a:fillRect/>
          </a:stretch>
        </p:blipFill>
        <p:spPr>
          <a:xfrm>
            <a:off x="7623034" y="6450184"/>
            <a:ext cx="4191000" cy="2679700"/>
          </a:xfrm>
          <a:prstGeom prst="rect">
            <a:avLst/>
          </a:prstGeom>
        </p:spPr>
      </p:pic>
      <p:sp>
        <p:nvSpPr>
          <p:cNvPr id="12" name="TextBox 11">
            <a:extLst>
              <a:ext uri="{FF2B5EF4-FFF2-40B4-BE49-F238E27FC236}">
                <a16:creationId xmlns:a16="http://schemas.microsoft.com/office/drawing/2014/main" id="{BF61E404-5D96-5D6F-B6A4-61FE19EE51A0}"/>
              </a:ext>
            </a:extLst>
          </p:cNvPr>
          <p:cNvSpPr txBox="1"/>
          <p:nvPr/>
        </p:nvSpPr>
        <p:spPr>
          <a:xfrm>
            <a:off x="10659821" y="5910943"/>
            <a:ext cx="2344979" cy="461665"/>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Atlantic_slave_trade</a:t>
            </a:r>
            <a:endParaRPr lang="en-US" sz="1200" dirty="0"/>
          </a:p>
        </p:txBody>
      </p:sp>
      <p:sp>
        <p:nvSpPr>
          <p:cNvPr id="14" name="TextBox 13">
            <a:extLst>
              <a:ext uri="{FF2B5EF4-FFF2-40B4-BE49-F238E27FC236}">
                <a16:creationId xmlns:a16="http://schemas.microsoft.com/office/drawing/2014/main" id="{B37C3F98-B49E-C998-0471-3FB9372E6709}"/>
              </a:ext>
            </a:extLst>
          </p:cNvPr>
          <p:cNvSpPr txBox="1"/>
          <p:nvPr/>
        </p:nvSpPr>
        <p:spPr>
          <a:xfrm>
            <a:off x="7623034" y="9207460"/>
            <a:ext cx="6504214"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American_Civil_War</a:t>
            </a:r>
            <a:endParaRPr lang="en-US" sz="1200" dirty="0"/>
          </a:p>
        </p:txBody>
      </p:sp>
    </p:spTree>
    <p:extLst>
      <p:ext uri="{BB962C8B-B14F-4D97-AF65-F5344CB8AC3E}">
        <p14:creationId xmlns:p14="http://schemas.microsoft.com/office/powerpoint/2010/main" val="124789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“Captains of Industry”</a:t>
            </a:r>
            <a:endParaRPr dirty="0"/>
          </a:p>
        </p:txBody>
      </p:sp>
      <p:graphicFrame>
        <p:nvGraphicFramePr>
          <p:cNvPr id="3" name="Table 2"/>
          <p:cNvGraphicFramePr>
            <a:graphicFrameLocks noGrp="1"/>
          </p:cNvGraphicFramePr>
          <p:nvPr/>
        </p:nvGraphicFramePr>
        <p:xfrm>
          <a:off x="420489" y="3487107"/>
          <a:ext cx="11219688" cy="2121408"/>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361688">
                  <a:extLst>
                    <a:ext uri="{9D8B030D-6E8A-4147-A177-3AD203B41FA5}">
                      <a16:colId xmlns:a16="http://schemas.microsoft.com/office/drawing/2014/main" val="20002"/>
                    </a:ext>
                  </a:extLst>
                </a:gridCol>
              </a:tblGrid>
              <a:tr h="420624">
                <a:tc>
                  <a:txBody>
                    <a:bodyPr/>
                    <a:lstStyle/>
                    <a:p>
                      <a:r>
                        <a:rPr sz="1500" b="1">
                          <a:solidFill>
                            <a:srgbClr val="FFFFFF"/>
                          </a:solidFill>
                        </a:rPr>
                        <a:t>Who</a:t>
                      </a:r>
                    </a:p>
                  </a:txBody>
                  <a:tcPr marT="27432" marB="27432" anchor="ctr"/>
                </a:tc>
                <a:tc>
                  <a:txBody>
                    <a:bodyPr/>
                    <a:lstStyle/>
                    <a:p>
                      <a:r>
                        <a:rPr sz="1500" b="1">
                          <a:solidFill>
                            <a:srgbClr val="FFFFFF"/>
                          </a:solidFill>
                        </a:rPr>
                        <a:t>What they controlled</a:t>
                      </a:r>
                    </a:p>
                  </a:txBody>
                  <a:tcPr marT="27432" marB="27432" anchor="ctr"/>
                </a:tc>
                <a:tc>
                  <a:txBody>
                    <a:bodyPr/>
                    <a:lstStyle/>
                    <a:p>
                      <a:r>
                        <a:rPr sz="1500" b="1">
                          <a:solidFill>
                            <a:srgbClr val="FFFFFF"/>
                          </a:solidFill>
                        </a:rPr>
                        <a:t>The number</a:t>
                      </a:r>
                    </a:p>
                  </a:txBody>
                  <a:tcPr marT="27432" marB="27432" anchor="ctr"/>
                </a:tc>
                <a:extLst>
                  <a:ext uri="{0D108BD9-81ED-4DB2-BD59-A6C34878D82A}">
                    <a16:rowId xmlns:a16="http://schemas.microsoft.com/office/drawing/2014/main" val="10000"/>
                  </a:ext>
                </a:extLst>
              </a:tr>
              <a:tr h="566928">
                <a:tc>
                  <a:txBody>
                    <a:bodyPr/>
                    <a:lstStyle/>
                    <a:p>
                      <a:r>
                        <a:rPr sz="1400" b="1">
                          <a:solidFill>
                            <a:srgbClr val="1A1A1A"/>
                          </a:solidFill>
                        </a:rPr>
                        <a:t>Cornelius Vanderbilt</a:t>
                      </a:r>
                    </a:p>
                    <a:p>
                      <a:r>
                        <a:rPr sz="1400">
                          <a:solidFill>
                            <a:srgbClr val="1A1A1A"/>
                          </a:solidFill>
                        </a:rPr>
                        <a:t>(1794-1877)</a:t>
                      </a:r>
                    </a:p>
                  </a:txBody>
                  <a:tcPr marT="27432" marB="27432" anchor="ctr"/>
                </a:tc>
                <a:tc>
                  <a:txBody>
                    <a:bodyPr/>
                    <a:lstStyle/>
                    <a:p>
                      <a:r>
                        <a:rPr sz="1400">
                          <a:solidFill>
                            <a:srgbClr val="1A1A1A"/>
                          </a:solidFill>
                        </a:rPr>
                        <a:t>Steamboats, then railroads; consolidated the New York Central, 1870</a:t>
                      </a:r>
                    </a:p>
                  </a:txBody>
                  <a:tcPr marT="27432" marB="27432" anchor="ctr"/>
                </a:tc>
                <a:tc>
                  <a:txBody>
                    <a:bodyPr/>
                    <a:lstStyle/>
                    <a:p>
                      <a:r>
                        <a:rPr sz="1400">
                          <a:solidFill>
                            <a:srgbClr val="1A1A1A"/>
                          </a:solidFill>
                        </a:rPr>
                        <a:t>Estate at death, 1877: </a:t>
                      </a:r>
                      <a:r>
                        <a:rPr sz="1400" b="1">
                          <a:solidFill>
                            <a:srgbClr val="1A1A1A"/>
                          </a:solidFill>
                        </a:rPr>
                        <a:t>$105 million</a:t>
                      </a:r>
                    </a:p>
                    <a:p>
                      <a:r>
                        <a:rPr sz="1400">
                          <a:solidFill>
                            <a:srgbClr val="1A1A1A"/>
                          </a:solidFill>
                        </a:rPr>
                        <a:t>(~$3.2 B in 2025 dollars)</a:t>
                      </a:r>
                    </a:p>
                  </a:txBody>
                  <a:tcPr marT="27432" marB="27432" anchor="ctr"/>
                </a:tc>
                <a:extLst>
                  <a:ext uri="{0D108BD9-81ED-4DB2-BD59-A6C34878D82A}">
                    <a16:rowId xmlns:a16="http://schemas.microsoft.com/office/drawing/2014/main" val="10001"/>
                  </a:ext>
                </a:extLst>
              </a:tr>
              <a:tr h="566928">
                <a:tc>
                  <a:txBody>
                    <a:bodyPr/>
                    <a:lstStyle/>
                    <a:p>
                      <a:r>
                        <a:rPr sz="1400" b="1">
                          <a:solidFill>
                            <a:srgbClr val="1A1A1A"/>
                          </a:solidFill>
                        </a:rPr>
                        <a:t>John D. Rockefeller</a:t>
                      </a:r>
                    </a:p>
                    <a:p>
                      <a:r>
                        <a:rPr sz="1400">
                          <a:solidFill>
                            <a:srgbClr val="1A1A1A"/>
                          </a:solidFill>
                        </a:rPr>
                        <a:t>(1839-1937)</a:t>
                      </a:r>
                    </a:p>
                  </a:txBody>
                  <a:tcPr marT="27432" marB="27432" anchor="ctr"/>
                </a:tc>
                <a:tc>
                  <a:txBody>
                    <a:bodyPr/>
                    <a:lstStyle/>
                    <a:p>
                      <a:r>
                        <a:rPr sz="1400">
                          <a:solidFill>
                            <a:srgbClr val="1A1A1A"/>
                          </a:solidFill>
                        </a:rPr>
                        <a:t>Standard Oil, founded 1870</a:t>
                      </a:r>
                    </a:p>
                  </a:txBody>
                  <a:tcPr marT="27432" marB="27432" anchor="ctr"/>
                </a:tc>
                <a:tc>
                  <a:txBody>
                    <a:bodyPr/>
                    <a:lstStyle/>
                    <a:p>
                      <a:r>
                        <a:rPr sz="1400" b="1">
                          <a:solidFill>
                            <a:srgbClr val="1A1A1A"/>
                          </a:solidFill>
                        </a:rPr>
                        <a:t>~90%</a:t>
                      </a:r>
                      <a:r>
                        <a:rPr sz="1400">
                          <a:solidFill>
                            <a:srgbClr val="1A1A1A"/>
                          </a:solidFill>
                        </a:rPr>
                        <a:t> of US oil refining by 1900;</a:t>
                      </a:r>
                    </a:p>
                    <a:p>
                      <a:r>
                        <a:rPr sz="1400">
                          <a:solidFill>
                            <a:srgbClr val="1A1A1A"/>
                          </a:solidFill>
                        </a:rPr>
                        <a:t>worth </a:t>
                      </a:r>
                      <a:r>
                        <a:rPr sz="1400" b="1">
                          <a:solidFill>
                            <a:srgbClr val="1A1A1A"/>
                          </a:solidFill>
                        </a:rPr>
                        <a:t>$900 M</a:t>
                      </a:r>
                      <a:r>
                        <a:rPr sz="1400">
                          <a:solidFill>
                            <a:srgbClr val="1A1A1A"/>
                          </a:solidFill>
                        </a:rPr>
                        <a:t> in 1913 = </a:t>
                      </a:r>
                      <a:r>
                        <a:rPr sz="1400" b="1">
                          <a:solidFill>
                            <a:srgbClr val="1A1A1A"/>
                          </a:solidFill>
                        </a:rPr>
                        <a:t>2.3% of US GDP</a:t>
                      </a:r>
                    </a:p>
                  </a:txBody>
                  <a:tcPr marT="27432" marB="27432" anchor="ctr"/>
                </a:tc>
                <a:extLst>
                  <a:ext uri="{0D108BD9-81ED-4DB2-BD59-A6C34878D82A}">
                    <a16:rowId xmlns:a16="http://schemas.microsoft.com/office/drawing/2014/main" val="10002"/>
                  </a:ext>
                </a:extLst>
              </a:tr>
              <a:tr h="566928">
                <a:tc>
                  <a:txBody>
                    <a:bodyPr/>
                    <a:lstStyle/>
                    <a:p>
                      <a:r>
                        <a:rPr sz="1400" b="1">
                          <a:solidFill>
                            <a:srgbClr val="1A1A1A"/>
                          </a:solidFill>
                        </a:rPr>
                        <a:t>J. P. Morgan</a:t>
                      </a:r>
                    </a:p>
                    <a:p>
                      <a:r>
                        <a:rPr sz="1400">
                          <a:solidFill>
                            <a:srgbClr val="1A1A1A"/>
                          </a:solidFill>
                        </a:rPr>
                        <a:t>(1837-1913)</a:t>
                      </a:r>
                    </a:p>
                  </a:txBody>
                  <a:tcPr marT="27432" marB="27432" anchor="ctr"/>
                </a:tc>
                <a:tc>
                  <a:txBody>
                    <a:bodyPr/>
                    <a:lstStyle/>
                    <a:p>
                      <a:r>
                        <a:rPr sz="1400">
                          <a:solidFill>
                            <a:srgbClr val="1A1A1A"/>
                          </a:solidFill>
                        </a:rPr>
                        <a:t>Banking; railroads; </a:t>
                      </a:r>
                      <a:r>
                        <a:rPr sz="1400" b="1">
                          <a:solidFill>
                            <a:srgbClr val="1A1A1A"/>
                          </a:solidFill>
                        </a:rPr>
                        <a:t>General Electric</a:t>
                      </a:r>
                      <a:r>
                        <a:rPr sz="1400">
                          <a:solidFill>
                            <a:srgbClr val="1A1A1A"/>
                          </a:solidFill>
                        </a:rPr>
                        <a:t>; </a:t>
                      </a:r>
                      <a:r>
                        <a:rPr sz="1400" b="1">
                          <a:solidFill>
                            <a:srgbClr val="1A1A1A"/>
                          </a:solidFill>
                        </a:rPr>
                        <a:t>U.S. Steel</a:t>
                      </a:r>
                    </a:p>
                  </a:txBody>
                  <a:tcPr marT="27432" marB="27432" anchor="ctr"/>
                </a:tc>
                <a:tc>
                  <a:txBody>
                    <a:bodyPr/>
                    <a:lstStyle/>
                    <a:p>
                      <a:r>
                        <a:rPr sz="1400">
                          <a:solidFill>
                            <a:srgbClr val="1A1A1A"/>
                          </a:solidFill>
                        </a:rPr>
                        <a:t>U.S. Steel, 1901: </a:t>
                      </a:r>
                      <a:r>
                        <a:rPr sz="1400" b="1">
                          <a:solidFill>
                            <a:srgbClr val="1A1A1A"/>
                          </a:solidFill>
                        </a:rPr>
                        <a:t>the world's first</a:t>
                      </a:r>
                    </a:p>
                    <a:p>
                      <a:r>
                        <a:rPr sz="1400" b="1">
                          <a:solidFill>
                            <a:srgbClr val="1A1A1A"/>
                          </a:solidFill>
                        </a:rPr>
                        <a:t>billion-dollar company</a:t>
                      </a:r>
                      <a:r>
                        <a:rPr sz="1400">
                          <a:solidFill>
                            <a:srgbClr val="1A1A1A"/>
                          </a:solidFill>
                        </a:rPr>
                        <a:t> ($1.4 B)</a:t>
                      </a:r>
                    </a:p>
                  </a:txBody>
                  <a:tcPr marT="27432" marB="27432"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D2378-8BE8-B964-C0FB-6831B81BCD8E}"/>
              </a:ext>
            </a:extLst>
          </p:cNvPr>
          <p:cNvSpPr>
            <a:spLocks noGrp="1"/>
          </p:cNvSpPr>
          <p:nvPr>
            <p:ph type="title"/>
          </p:nvPr>
        </p:nvSpPr>
        <p:spPr/>
        <p:txBody>
          <a:bodyPr/>
          <a:lstStyle/>
          <a:p>
            <a:r>
              <a:rPr lang="en-US" dirty="0">
                <a:hlinkClick r:id="rId2"/>
              </a:rPr>
              <a:t>The House of Morgan</a:t>
            </a:r>
            <a:endParaRPr lang="en-US" dirty="0"/>
          </a:p>
        </p:txBody>
      </p:sp>
      <p:sp>
        <p:nvSpPr>
          <p:cNvPr id="4" name="TextBox 3">
            <a:extLst>
              <a:ext uri="{FF2B5EF4-FFF2-40B4-BE49-F238E27FC236}">
                <a16:creationId xmlns:a16="http://schemas.microsoft.com/office/drawing/2014/main" id="{FCEBBF85-5AF6-3AD5-BEEE-D53BE8D5A920}"/>
              </a:ext>
            </a:extLst>
          </p:cNvPr>
          <p:cNvSpPr txBox="1"/>
          <p:nvPr/>
        </p:nvSpPr>
        <p:spPr>
          <a:xfrm>
            <a:off x="1491804" y="3573987"/>
            <a:ext cx="2963918" cy="367863"/>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solidFill>
                  <a:schemeClr val="bg1"/>
                </a:solidFill>
                <a:hlinkClick r:id="rId3">
                  <a:extLst>
                    <a:ext uri="{A12FA001-AC4F-418D-AE19-62706E023703}">
                      <ahyp:hlinkClr xmlns:ahyp="http://schemas.microsoft.com/office/drawing/2018/hyperlinkcolor" val="tx"/>
                    </a:ext>
                  </a:extLst>
                </a:hlinkClick>
              </a:rPr>
              <a:t>Miles Morgan</a:t>
            </a:r>
            <a:r>
              <a:rPr lang="en-US" dirty="0">
                <a:solidFill>
                  <a:schemeClr val="bg1"/>
                </a:solidFill>
              </a:rPr>
              <a:t> (1616-1699)</a:t>
            </a:r>
          </a:p>
        </p:txBody>
      </p:sp>
      <p:sp>
        <p:nvSpPr>
          <p:cNvPr id="5" name="TextBox 4">
            <a:extLst>
              <a:ext uri="{FF2B5EF4-FFF2-40B4-BE49-F238E27FC236}">
                <a16:creationId xmlns:a16="http://schemas.microsoft.com/office/drawing/2014/main" id="{97E30E53-E442-5611-CD8E-9EBBEAB47A20}"/>
              </a:ext>
            </a:extLst>
          </p:cNvPr>
          <p:cNvSpPr txBox="1"/>
          <p:nvPr/>
        </p:nvSpPr>
        <p:spPr>
          <a:xfrm>
            <a:off x="5544165" y="2770069"/>
            <a:ext cx="5255172" cy="2308324"/>
          </a:xfrm>
          <a:prstGeom prst="rect">
            <a:avLst/>
          </a:prstGeom>
          <a:noFill/>
        </p:spPr>
        <p:txBody>
          <a:bodyPr wrap="square" rtlCol="0">
            <a:spAutoFit/>
          </a:bodyPr>
          <a:lstStyle/>
          <a:p>
            <a:pPr marL="285750" indent="-285750">
              <a:buFont typeface="Arial" panose="020B0604020202020204" pitchFamily="34" charset="0"/>
              <a:buChar char="•"/>
            </a:pPr>
            <a:r>
              <a:rPr lang="en-US" dirty="0"/>
              <a:t>Colonizer from Wales, moved to </a:t>
            </a:r>
            <a:r>
              <a:rPr lang="en-US" dirty="0">
                <a:hlinkClick r:id="rId4"/>
              </a:rPr>
              <a:t>Massachusetts Bay Colony </a:t>
            </a:r>
            <a:r>
              <a:rPr lang="en-US" dirty="0"/>
              <a:t>in Roxbury</a:t>
            </a:r>
          </a:p>
          <a:p>
            <a:pPr marL="285750" indent="-285750">
              <a:buFont typeface="Arial" panose="020B0604020202020204" pitchFamily="34" charset="0"/>
              <a:buChar char="•"/>
            </a:pPr>
            <a:r>
              <a:rPr lang="en-US" dirty="0"/>
              <a:t>Moved to Springfield, defended it against the </a:t>
            </a:r>
            <a:r>
              <a:rPr lang="en-US" dirty="0">
                <a:hlinkClick r:id="rId5"/>
              </a:rPr>
              <a:t>Nonotuck nation </a:t>
            </a:r>
            <a:r>
              <a:rPr lang="en-US" dirty="0"/>
              <a:t>who attacked in retaliation to the colonists forcibly disarming them, and subsequently trying to reclaim their ancestral homelands in the </a:t>
            </a:r>
            <a:r>
              <a:rPr lang="en-US" dirty="0">
                <a:hlinkClick r:id="rId6"/>
              </a:rPr>
              <a:t>Siege of Springfield</a:t>
            </a:r>
            <a:r>
              <a:rPr lang="en-US" dirty="0"/>
              <a:t>, part of </a:t>
            </a:r>
            <a:r>
              <a:rPr lang="en-US" dirty="0">
                <a:hlinkClick r:id="rId7"/>
              </a:rPr>
              <a:t>King Philip’s War</a:t>
            </a:r>
            <a:r>
              <a:rPr lang="en-US" dirty="0"/>
              <a:t> (aka </a:t>
            </a:r>
            <a:r>
              <a:rPr lang="en-US" dirty="0">
                <a:hlinkClick r:id="rId8"/>
              </a:rPr>
              <a:t>Metacomet</a:t>
            </a:r>
            <a:r>
              <a:rPr lang="en-US" dirty="0"/>
              <a:t>’s war)</a:t>
            </a:r>
          </a:p>
        </p:txBody>
      </p:sp>
      <p:pic>
        <p:nvPicPr>
          <p:cNvPr id="7" name="Picture 6" descr="Statue of Miles Morgan by Jonathan Scott Hartley &#10;&#10;&lt;p&gt;&lt;a href=&quot;https://commons.wikimedia.org/wiki/File:Miles_Morgan_by_J._S._Hartley_-_Springfield,_MA_-_DSC03231.JPG#/media/File:Miles_Morgan_by_J._S._Hartley_-_Springfield,_MA_-_DSC03231.JPG&quot;&gt;&lt;img src=&quot;https://thumb.wikimedia.org/wikipedia/commons/thumb/b/b8/Miles_Morgan_by_J._S._Hartley_-_Springfield%2C_MA_-_DSC03231.JPG/1280px-Miles_Morgan_by_J._S._Hartley_-_Springfield%2C_MA_-_DSC03231.JPG?utm_source=en.wikipedia.org&amp;amp;utm_campaign=imageinfo&amp;amp;utm_content=thumbnail&quot; alt=&quot;Miles Morgan by J. S. Hartley - Springfield, MA - DSC03231.JPG&quot; height=&quot;1707&quot; width=&quot;1280&quot;&gt;&lt;/a&gt;&lt;br&gt;By Sculpture by Jonathan Scott Hartley (1845-1912) - &lt;span class=&quot;int-own-work&quot;&gt;Self-photographed&lt;/span&gt;, Public Domain, &lt;a href=&quot;https://commons.wikimedia.org/w/index.php?curid=25123117&quot;&gt;Link&lt;/a&gt;&lt;/p&gt;">
            <a:extLst>
              <a:ext uri="{FF2B5EF4-FFF2-40B4-BE49-F238E27FC236}">
                <a16:creationId xmlns:a16="http://schemas.microsoft.com/office/drawing/2014/main" id="{0E2AEB62-107F-D7BB-EE35-9ABF602809C5}"/>
              </a:ext>
            </a:extLst>
          </p:cNvPr>
          <p:cNvPicPr>
            <a:picLocks noChangeAspect="1"/>
          </p:cNvPicPr>
          <p:nvPr/>
        </p:nvPicPr>
        <p:blipFill>
          <a:blip r:embed="rId9"/>
          <a:stretch>
            <a:fillRect/>
          </a:stretch>
        </p:blipFill>
        <p:spPr>
          <a:xfrm>
            <a:off x="10720978" y="2845004"/>
            <a:ext cx="1395161" cy="1858355"/>
          </a:xfrm>
          <a:prstGeom prst="rect">
            <a:avLst/>
          </a:prstGeom>
        </p:spPr>
      </p:pic>
      <p:sp>
        <p:nvSpPr>
          <p:cNvPr id="8" name="TextBox 7">
            <a:extLst>
              <a:ext uri="{FF2B5EF4-FFF2-40B4-BE49-F238E27FC236}">
                <a16:creationId xmlns:a16="http://schemas.microsoft.com/office/drawing/2014/main" id="{CD80DC1A-BE3B-AA1D-E006-E396D9B8D99E}"/>
              </a:ext>
            </a:extLst>
          </p:cNvPr>
          <p:cNvSpPr txBox="1"/>
          <p:nvPr/>
        </p:nvSpPr>
        <p:spPr>
          <a:xfrm>
            <a:off x="1026555" y="4165355"/>
            <a:ext cx="4038600"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solidFill>
                  <a:schemeClr val="bg1"/>
                </a:solidFill>
              </a:rPr>
              <a:t>Nathaniel Morgan  (1671–1752)</a:t>
            </a:r>
          </a:p>
        </p:txBody>
      </p:sp>
      <p:sp>
        <p:nvSpPr>
          <p:cNvPr id="9" name="TextBox 8">
            <a:extLst>
              <a:ext uri="{FF2B5EF4-FFF2-40B4-BE49-F238E27FC236}">
                <a16:creationId xmlns:a16="http://schemas.microsoft.com/office/drawing/2014/main" id="{FA488E8C-DD5F-BF38-0710-9D0824317AFA}"/>
              </a:ext>
            </a:extLst>
          </p:cNvPr>
          <p:cNvSpPr txBox="1"/>
          <p:nvPr/>
        </p:nvSpPr>
        <p:spPr>
          <a:xfrm>
            <a:off x="1407809" y="4703359"/>
            <a:ext cx="3276091"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solidFill>
                  <a:schemeClr val="bg1"/>
                </a:solidFill>
              </a:rPr>
              <a:t>Joseph Morgan (1702-1786)</a:t>
            </a:r>
          </a:p>
        </p:txBody>
      </p:sp>
      <p:sp>
        <p:nvSpPr>
          <p:cNvPr id="10" name="TextBox 9">
            <a:extLst>
              <a:ext uri="{FF2B5EF4-FFF2-40B4-BE49-F238E27FC236}">
                <a16:creationId xmlns:a16="http://schemas.microsoft.com/office/drawing/2014/main" id="{3856A1D7-B827-1024-EBC1-2B762471D4E5}"/>
              </a:ext>
            </a:extLst>
          </p:cNvPr>
          <p:cNvSpPr txBox="1"/>
          <p:nvPr/>
        </p:nvSpPr>
        <p:spPr>
          <a:xfrm>
            <a:off x="1181490" y="5407715"/>
            <a:ext cx="3584543"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solidFill>
                  <a:schemeClr val="bg1"/>
                </a:solidFill>
              </a:rPr>
              <a:t>Joseph Morgan Jr. (1736–1813)</a:t>
            </a:r>
          </a:p>
        </p:txBody>
      </p:sp>
      <p:cxnSp>
        <p:nvCxnSpPr>
          <p:cNvPr id="14" name="Straight Arrow Connector 13">
            <a:extLst>
              <a:ext uri="{FF2B5EF4-FFF2-40B4-BE49-F238E27FC236}">
                <a16:creationId xmlns:a16="http://schemas.microsoft.com/office/drawing/2014/main" id="{8CF9FE78-2E99-A09F-3AD3-6E1AE25FDBBF}"/>
              </a:ext>
            </a:extLst>
          </p:cNvPr>
          <p:cNvCxnSpPr>
            <a:endCxn id="4" idx="3"/>
          </p:cNvCxnSpPr>
          <p:nvPr/>
        </p:nvCxnSpPr>
        <p:spPr>
          <a:xfrm flipH="1">
            <a:off x="4455722" y="3624804"/>
            <a:ext cx="768505" cy="1331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49BE2B7-5A5B-0DAF-F85E-554130081F10}"/>
              </a:ext>
            </a:extLst>
          </p:cNvPr>
          <p:cNvSpPr txBox="1"/>
          <p:nvPr/>
        </p:nvSpPr>
        <p:spPr>
          <a:xfrm>
            <a:off x="5641844" y="5406254"/>
            <a:ext cx="5255172" cy="369332"/>
          </a:xfrm>
          <a:prstGeom prst="rect">
            <a:avLst/>
          </a:prstGeom>
          <a:noFill/>
        </p:spPr>
        <p:txBody>
          <a:bodyPr wrap="square" rtlCol="0">
            <a:spAutoFit/>
          </a:bodyPr>
          <a:lstStyle/>
          <a:p>
            <a:pPr marL="285750" indent="-285750">
              <a:buFont typeface="Arial" panose="020B0604020202020204" pitchFamily="34" charset="0"/>
              <a:buChar char="•"/>
            </a:pPr>
            <a:r>
              <a:rPr lang="en-US" dirty="0"/>
              <a:t>Fought in Revolutionary War</a:t>
            </a:r>
          </a:p>
        </p:txBody>
      </p:sp>
      <p:cxnSp>
        <p:nvCxnSpPr>
          <p:cNvPr id="16" name="Straight Arrow Connector 15">
            <a:extLst>
              <a:ext uri="{FF2B5EF4-FFF2-40B4-BE49-F238E27FC236}">
                <a16:creationId xmlns:a16="http://schemas.microsoft.com/office/drawing/2014/main" id="{18217A46-BE87-9724-EEFE-22894D402370}"/>
              </a:ext>
            </a:extLst>
          </p:cNvPr>
          <p:cNvCxnSpPr>
            <a:cxnSpLocks/>
            <a:stCxn id="15" idx="1"/>
            <a:endCxn id="10" idx="3"/>
          </p:cNvCxnSpPr>
          <p:nvPr/>
        </p:nvCxnSpPr>
        <p:spPr>
          <a:xfrm flipH="1">
            <a:off x="4766033" y="5590920"/>
            <a:ext cx="875811" cy="14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0402FE8-7097-A03E-FCA3-1CA5198C78B8}"/>
              </a:ext>
            </a:extLst>
          </p:cNvPr>
          <p:cNvSpPr txBox="1"/>
          <p:nvPr/>
        </p:nvSpPr>
        <p:spPr>
          <a:xfrm>
            <a:off x="1181490" y="5972451"/>
            <a:ext cx="3584543"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solidFill>
                  <a:schemeClr val="bg1"/>
                </a:solidFill>
              </a:rPr>
              <a:t>Joseph Morgan III (1780–1847)</a:t>
            </a:r>
          </a:p>
        </p:txBody>
      </p:sp>
      <p:sp>
        <p:nvSpPr>
          <p:cNvPr id="20" name="TextBox 19">
            <a:extLst>
              <a:ext uri="{FF2B5EF4-FFF2-40B4-BE49-F238E27FC236}">
                <a16:creationId xmlns:a16="http://schemas.microsoft.com/office/drawing/2014/main" id="{7D9D2163-E815-A166-60CB-5CFDB3F4D210}"/>
              </a:ext>
            </a:extLst>
          </p:cNvPr>
          <p:cNvSpPr txBox="1"/>
          <p:nvPr/>
        </p:nvSpPr>
        <p:spPr>
          <a:xfrm>
            <a:off x="5641844" y="6015208"/>
            <a:ext cx="5255172" cy="369332"/>
          </a:xfrm>
          <a:prstGeom prst="rect">
            <a:avLst/>
          </a:prstGeom>
          <a:noFill/>
        </p:spPr>
        <p:txBody>
          <a:bodyPr wrap="square" rtlCol="0">
            <a:spAutoFit/>
          </a:bodyPr>
          <a:lstStyle/>
          <a:p>
            <a:pPr marL="285750" indent="-285750">
              <a:buFont typeface="Arial" panose="020B0604020202020204" pitchFamily="34" charset="0"/>
              <a:buChar char="•"/>
            </a:pPr>
            <a:r>
              <a:rPr lang="en-US" dirty="0"/>
              <a:t>Got involved in banking</a:t>
            </a:r>
          </a:p>
        </p:txBody>
      </p:sp>
      <p:cxnSp>
        <p:nvCxnSpPr>
          <p:cNvPr id="24" name="Straight Arrow Connector 23">
            <a:extLst>
              <a:ext uri="{FF2B5EF4-FFF2-40B4-BE49-F238E27FC236}">
                <a16:creationId xmlns:a16="http://schemas.microsoft.com/office/drawing/2014/main" id="{1CFE8FF7-8E85-A7C8-E2EB-628CFCEA920E}"/>
              </a:ext>
            </a:extLst>
          </p:cNvPr>
          <p:cNvCxnSpPr>
            <a:cxnSpLocks/>
            <a:stCxn id="20" idx="1"/>
          </p:cNvCxnSpPr>
          <p:nvPr/>
        </p:nvCxnSpPr>
        <p:spPr>
          <a:xfrm flipH="1">
            <a:off x="4747890" y="6199874"/>
            <a:ext cx="89395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FD22E0B-5F8E-5100-F21D-532932BF9130}"/>
              </a:ext>
            </a:extLst>
          </p:cNvPr>
          <p:cNvSpPr txBox="1"/>
          <p:nvPr/>
        </p:nvSpPr>
        <p:spPr>
          <a:xfrm>
            <a:off x="715113" y="6573510"/>
            <a:ext cx="4240221"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solidFill>
                  <a:schemeClr val="bg1"/>
                </a:solidFill>
                <a:hlinkClick r:id="rId10">
                  <a:extLst>
                    <a:ext uri="{A12FA001-AC4F-418D-AE19-62706E023703}">
                      <ahyp:hlinkClr xmlns:ahyp="http://schemas.microsoft.com/office/drawing/2018/hyperlinkcolor" val="tx"/>
                    </a:ext>
                  </a:extLst>
                </a:hlinkClick>
              </a:rPr>
              <a:t>Junius Spencer Morgan I </a:t>
            </a:r>
            <a:r>
              <a:rPr lang="en-US" dirty="0">
                <a:solidFill>
                  <a:schemeClr val="bg1"/>
                </a:solidFill>
              </a:rPr>
              <a:t>(1813-1890)</a:t>
            </a:r>
          </a:p>
        </p:txBody>
      </p:sp>
      <p:pic>
        <p:nvPicPr>
          <p:cNvPr id="26" name="Picture 25" descr="Portrait of JS Morgan I&#10;&#10;https://commons.wikimedia.org/wiki/File:Junius_Spencer_Morgan_-_Project_Gutenberg_eText_17976.jpg">
            <a:extLst>
              <a:ext uri="{FF2B5EF4-FFF2-40B4-BE49-F238E27FC236}">
                <a16:creationId xmlns:a16="http://schemas.microsoft.com/office/drawing/2014/main" id="{32138DCD-CA93-8220-2268-B90EAAF7F0BF}"/>
              </a:ext>
            </a:extLst>
          </p:cNvPr>
          <p:cNvPicPr>
            <a:picLocks noChangeAspect="1"/>
          </p:cNvPicPr>
          <p:nvPr/>
        </p:nvPicPr>
        <p:blipFill>
          <a:blip r:embed="rId11"/>
          <a:stretch>
            <a:fillRect/>
          </a:stretch>
        </p:blipFill>
        <p:spPr>
          <a:xfrm>
            <a:off x="10624808" y="5452956"/>
            <a:ext cx="1587500" cy="2051050"/>
          </a:xfrm>
          <a:prstGeom prst="rect">
            <a:avLst/>
          </a:prstGeom>
        </p:spPr>
      </p:pic>
      <p:sp>
        <p:nvSpPr>
          <p:cNvPr id="30" name="TextBox 29">
            <a:extLst>
              <a:ext uri="{FF2B5EF4-FFF2-40B4-BE49-F238E27FC236}">
                <a16:creationId xmlns:a16="http://schemas.microsoft.com/office/drawing/2014/main" id="{13BF796A-A8E5-596E-DC67-1FE2EC11122F}"/>
              </a:ext>
            </a:extLst>
          </p:cNvPr>
          <p:cNvSpPr txBox="1"/>
          <p:nvPr/>
        </p:nvSpPr>
        <p:spPr>
          <a:xfrm>
            <a:off x="5641844" y="6590298"/>
            <a:ext cx="5255172" cy="646331"/>
          </a:xfrm>
          <a:prstGeom prst="rect">
            <a:avLst/>
          </a:prstGeom>
          <a:noFill/>
        </p:spPr>
        <p:txBody>
          <a:bodyPr wrap="square" rtlCol="0">
            <a:spAutoFit/>
          </a:bodyPr>
          <a:lstStyle/>
          <a:p>
            <a:pPr marL="285750" indent="-285750">
              <a:buFont typeface="Arial" panose="020B0604020202020204" pitchFamily="34" charset="0"/>
              <a:buChar char="•"/>
            </a:pPr>
            <a:r>
              <a:rPr lang="en-US" dirty="0"/>
              <a:t>Further involvement in banking, including </a:t>
            </a:r>
            <a:r>
              <a:rPr lang="en-US" dirty="0">
                <a:hlinkClick r:id="rId12"/>
              </a:rPr>
              <a:t>financing the slave trade and plantations</a:t>
            </a:r>
            <a:r>
              <a:rPr lang="en-US" dirty="0"/>
              <a:t> </a:t>
            </a:r>
          </a:p>
        </p:txBody>
      </p:sp>
      <p:sp>
        <p:nvSpPr>
          <p:cNvPr id="31" name="TextBox 30">
            <a:extLst>
              <a:ext uri="{FF2B5EF4-FFF2-40B4-BE49-F238E27FC236}">
                <a16:creationId xmlns:a16="http://schemas.microsoft.com/office/drawing/2014/main" id="{D8071A25-A392-331C-2C9D-CBA64AD79347}"/>
              </a:ext>
            </a:extLst>
          </p:cNvPr>
          <p:cNvSpPr txBox="1"/>
          <p:nvPr/>
        </p:nvSpPr>
        <p:spPr>
          <a:xfrm>
            <a:off x="792492" y="7236629"/>
            <a:ext cx="4240221"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n-US" dirty="0">
                <a:solidFill>
                  <a:schemeClr val="bg1"/>
                </a:solidFill>
                <a:hlinkClick r:id="rId13">
                  <a:extLst>
                    <a:ext uri="{A12FA001-AC4F-418D-AE19-62706E023703}">
                      <ahyp:hlinkClr xmlns:ahyp="http://schemas.microsoft.com/office/drawing/2018/hyperlinkcolor" val="tx"/>
                    </a:ext>
                  </a:extLst>
                </a:hlinkClick>
              </a:rPr>
              <a:t>John Pierpont Morgan Sr</a:t>
            </a:r>
            <a:r>
              <a:rPr lang="en-US" dirty="0">
                <a:solidFill>
                  <a:schemeClr val="bg1"/>
                </a:solidFill>
              </a:rPr>
              <a:t> (1837-1913)</a:t>
            </a:r>
          </a:p>
        </p:txBody>
      </p:sp>
      <p:pic>
        <p:nvPicPr>
          <p:cNvPr id="32" name="Picture 31">
            <a:extLst>
              <a:ext uri="{FF2B5EF4-FFF2-40B4-BE49-F238E27FC236}">
                <a16:creationId xmlns:a16="http://schemas.microsoft.com/office/drawing/2014/main" id="{4B5047E0-3E3E-F5B4-2A77-E076F3253B95}"/>
              </a:ext>
            </a:extLst>
          </p:cNvPr>
          <p:cNvPicPr>
            <a:picLocks noChangeAspect="1"/>
          </p:cNvPicPr>
          <p:nvPr/>
        </p:nvPicPr>
        <p:blipFill>
          <a:blip r:embed="rId14"/>
          <a:stretch>
            <a:fillRect/>
          </a:stretch>
        </p:blipFill>
        <p:spPr>
          <a:xfrm>
            <a:off x="1798718" y="7605961"/>
            <a:ext cx="1595671" cy="2112668"/>
          </a:xfrm>
          <a:prstGeom prst="rect">
            <a:avLst/>
          </a:prstGeom>
        </p:spPr>
      </p:pic>
      <p:sp>
        <p:nvSpPr>
          <p:cNvPr id="33" name="TextBox 32">
            <a:extLst>
              <a:ext uri="{FF2B5EF4-FFF2-40B4-BE49-F238E27FC236}">
                <a16:creationId xmlns:a16="http://schemas.microsoft.com/office/drawing/2014/main" id="{2AE7CCA1-7406-4BC1-73C4-97505875CA46}"/>
              </a:ext>
            </a:extLst>
          </p:cNvPr>
          <p:cNvSpPr txBox="1"/>
          <p:nvPr/>
        </p:nvSpPr>
        <p:spPr>
          <a:xfrm>
            <a:off x="5426390" y="7869157"/>
            <a:ext cx="621073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Revolutionized financing</a:t>
            </a:r>
          </a:p>
          <a:p>
            <a:pPr marL="285750" indent="-285750">
              <a:buFont typeface="Arial" panose="020B0604020202020204" pitchFamily="34" charset="0"/>
              <a:buChar char="•"/>
            </a:pPr>
            <a:r>
              <a:rPr lang="en-US" dirty="0"/>
              <a:t>Already met him in the War of the Currents</a:t>
            </a:r>
          </a:p>
          <a:p>
            <a:pPr marL="285750" indent="-285750">
              <a:buFont typeface="Arial" panose="020B0604020202020204" pitchFamily="34" charset="0"/>
              <a:buChar char="•"/>
            </a:pPr>
            <a:r>
              <a:rPr lang="en-US" dirty="0"/>
              <a:t>He was a 6</a:t>
            </a:r>
            <a:r>
              <a:rPr lang="en-US" baseline="30000" dirty="0"/>
              <a:t>th</a:t>
            </a:r>
            <a:r>
              <a:rPr lang="en-US" dirty="0"/>
              <a:t> generation nepo baby and inherited the equivalent of ~$400M, then grew to ~$2B</a:t>
            </a:r>
          </a:p>
        </p:txBody>
      </p:sp>
      <p:cxnSp>
        <p:nvCxnSpPr>
          <p:cNvPr id="34" name="Straight Arrow Connector 33">
            <a:extLst>
              <a:ext uri="{FF2B5EF4-FFF2-40B4-BE49-F238E27FC236}">
                <a16:creationId xmlns:a16="http://schemas.microsoft.com/office/drawing/2014/main" id="{1F6D451C-0902-87BB-5D1E-6834A3998EFD}"/>
              </a:ext>
            </a:extLst>
          </p:cNvPr>
          <p:cNvCxnSpPr>
            <a:cxnSpLocks/>
            <a:stCxn id="30" idx="1"/>
          </p:cNvCxnSpPr>
          <p:nvPr/>
        </p:nvCxnSpPr>
        <p:spPr>
          <a:xfrm flipH="1" flipV="1">
            <a:off x="4955334" y="6798588"/>
            <a:ext cx="686510" cy="1148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1A77337-6500-F9B4-C49D-AB9DFEFE0AF9}"/>
              </a:ext>
            </a:extLst>
          </p:cNvPr>
          <p:cNvCxnSpPr>
            <a:cxnSpLocks/>
            <a:stCxn id="33" idx="1"/>
            <a:endCxn id="31" idx="3"/>
          </p:cNvCxnSpPr>
          <p:nvPr/>
        </p:nvCxnSpPr>
        <p:spPr>
          <a:xfrm flipH="1" flipV="1">
            <a:off x="5032713" y="7421295"/>
            <a:ext cx="393677" cy="10480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420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488" y="1567543"/>
            <a:ext cx="5619029" cy="1706677"/>
          </a:xfrm>
        </p:spPr>
        <p:txBody>
          <a:bodyPr/>
          <a:lstStyle/>
          <a:p>
            <a:r>
              <a:rPr dirty="0"/>
              <a:t>1865-1900: </a:t>
            </a:r>
            <a:r>
              <a:rPr lang="en-US" dirty="0"/>
              <a:t>Railroad expansion, genocide, and industrialization</a:t>
            </a:r>
            <a:endParaRPr dirty="0"/>
          </a:p>
        </p:txBody>
      </p:sp>
      <p:sp>
        <p:nvSpPr>
          <p:cNvPr id="3" name="Text Placeholder 2"/>
          <p:cNvSpPr>
            <a:spLocks noGrp="1"/>
          </p:cNvSpPr>
          <p:nvPr>
            <p:ph type="body" sz="half" idx="2"/>
          </p:nvPr>
        </p:nvSpPr>
        <p:spPr>
          <a:xfrm>
            <a:off x="420488" y="3151109"/>
            <a:ext cx="6319463" cy="6341553"/>
          </a:xfrm>
        </p:spPr>
        <p:txBody>
          <a:bodyPr wrap="square"/>
          <a:lstStyle/>
          <a:p>
            <a:r>
              <a:rPr lang="en-US" sz="2000" dirty="0"/>
              <a:t>After the Civil War, the US began a huge expansion west and rapid industrialization</a:t>
            </a:r>
            <a:endParaRPr sz="2000" dirty="0"/>
          </a:p>
          <a:p>
            <a:pPr marL="773445" lvl="1" indent="-285750">
              <a:buFont typeface="Arial" panose="020B0604020202020204" pitchFamily="34" charset="0"/>
              <a:buChar char="•"/>
            </a:pPr>
            <a:r>
              <a:rPr sz="2000" b="1" dirty="0">
                <a:hlinkClick r:id="rId3"/>
              </a:rPr>
              <a:t>Railroads</a:t>
            </a:r>
            <a:r>
              <a:rPr sz="2000" dirty="0"/>
              <a:t> </a:t>
            </a:r>
            <a:r>
              <a:rPr lang="en-US" sz="2000" dirty="0"/>
              <a:t>began to be built, and needed steel, coal, and inexpensive labor</a:t>
            </a:r>
          </a:p>
          <a:p>
            <a:pPr marL="1261140" lvl="2" indent="-285750">
              <a:buFont typeface="Arial" panose="020B0604020202020204" pitchFamily="34" charset="0"/>
              <a:buChar char="•"/>
            </a:pPr>
            <a:r>
              <a:rPr lang="en-US" sz="1800" dirty="0">
                <a:hlinkClick r:id="rId4" tooltip="Baltimore and Ohio Railroad"/>
              </a:rPr>
              <a:t>Baltimore and Ohio Railroad</a:t>
            </a:r>
            <a:r>
              <a:rPr lang="en-US" sz="1800" dirty="0"/>
              <a:t> (B&amp;O), </a:t>
            </a:r>
            <a:r>
              <a:rPr lang="en-US" sz="1800" dirty="0">
                <a:hlinkClick r:id="rId5"/>
              </a:rPr>
              <a:t>Reading Railroad</a:t>
            </a:r>
            <a:r>
              <a:rPr lang="en-US" sz="1800" dirty="0"/>
              <a:t>, </a:t>
            </a:r>
            <a:r>
              <a:rPr lang="en-US" sz="1800" dirty="0">
                <a:hlinkClick r:id="rId6"/>
              </a:rPr>
              <a:t>Pennsylvania Railroad</a:t>
            </a:r>
            <a:r>
              <a:rPr lang="en-US" sz="1800" dirty="0"/>
              <a:t>, </a:t>
            </a:r>
            <a:r>
              <a:rPr lang="en-US" sz="1800" dirty="0">
                <a:hlinkClick r:id="rId7"/>
              </a:rPr>
              <a:t>Mohawk &amp; Hudson Railroad</a:t>
            </a:r>
            <a:r>
              <a:rPr lang="en-US" sz="1800" dirty="0"/>
              <a:t>, </a:t>
            </a:r>
            <a:r>
              <a:rPr lang="en-US" sz="1800" dirty="0">
                <a:hlinkClick r:id="rId8" tooltip="Saratoga and Schenectady Railroad"/>
              </a:rPr>
              <a:t>Saratoga &amp; Schenectady Railroad</a:t>
            </a:r>
            <a:r>
              <a:rPr lang="en-US" sz="1800" dirty="0"/>
              <a:t>, </a:t>
            </a:r>
            <a:r>
              <a:rPr lang="en-US" sz="1800" dirty="0">
                <a:hlinkClick r:id="rId9"/>
              </a:rPr>
              <a:t>Lehigh Coal &amp; Navigation Company</a:t>
            </a:r>
            <a:r>
              <a:rPr lang="en-US" sz="1800" dirty="0"/>
              <a:t>, </a:t>
            </a:r>
            <a:r>
              <a:rPr lang="en-US" sz="1800" dirty="0">
                <a:hlinkClick r:id="rId10" tooltip="Tuscumbia, Courtland and Decatur Railroad"/>
              </a:rPr>
              <a:t>Tuscumbia, Courtland &amp; Decatur Railroad</a:t>
            </a:r>
            <a:endParaRPr lang="en-US" sz="1800" dirty="0"/>
          </a:p>
          <a:p>
            <a:pPr marL="773445" lvl="1" indent="-285750">
              <a:buFont typeface="Arial" panose="020B0604020202020204" pitchFamily="34" charset="0"/>
              <a:buChar char="•"/>
            </a:pPr>
            <a:r>
              <a:rPr sz="2000" b="1" dirty="0"/>
              <a:t>Steel</a:t>
            </a:r>
            <a:r>
              <a:rPr sz="2000" dirty="0"/>
              <a:t> becomes cheap (Bessemer) — so more rail, more bridges, more mills</a:t>
            </a:r>
            <a:endParaRPr lang="en-US" sz="2000" dirty="0"/>
          </a:p>
          <a:p>
            <a:pPr marL="773445" lvl="1" indent="-285750">
              <a:buFont typeface="Arial" panose="020B0604020202020204" pitchFamily="34" charset="0"/>
              <a:buChar char="•"/>
            </a:pPr>
            <a:r>
              <a:rPr sz="2000" b="1" dirty="0"/>
              <a:t>Oil</a:t>
            </a:r>
            <a:r>
              <a:rPr sz="2000" dirty="0"/>
              <a:t> becomes a commodity: Rockefeller founds </a:t>
            </a:r>
            <a:r>
              <a:rPr sz="2000" b="1" dirty="0"/>
              <a:t>Standard Oil of Ohio</a:t>
            </a:r>
            <a:r>
              <a:rPr sz="2000" dirty="0"/>
              <a:t>, 1870</a:t>
            </a:r>
            <a:endParaRPr lang="en-US" sz="2000" dirty="0"/>
          </a:p>
          <a:p>
            <a:pPr marL="773445" lvl="1" indent="-285750">
              <a:buFont typeface="Arial" panose="020B0604020202020204" pitchFamily="34" charset="0"/>
              <a:buChar char="•"/>
            </a:pPr>
            <a:r>
              <a:rPr sz="2000" b="1" dirty="0"/>
              <a:t>Electricity</a:t>
            </a:r>
            <a:r>
              <a:rPr sz="2000" dirty="0"/>
              <a:t> becomes an industry: Edison's Pearl Street station, 1882 — </a:t>
            </a:r>
            <a:r>
              <a:rPr sz="2000" i="1" dirty="0"/>
              <a:t>where Part 1 started</a:t>
            </a:r>
          </a:p>
        </p:txBody>
      </p:sp>
      <p:pic>
        <p:nvPicPr>
          <p:cNvPr id="4" name="Picture 3" descr="Portrait of John D. Rockefeller"/>
          <p:cNvPicPr>
            <a:picLocks noChangeAspect="1"/>
          </p:cNvPicPr>
          <p:nvPr/>
        </p:nvPicPr>
        <p:blipFill>
          <a:blip r:embed="rId11"/>
          <a:stretch>
            <a:fillRect/>
          </a:stretch>
        </p:blipFill>
        <p:spPr>
          <a:xfrm>
            <a:off x="6901751" y="1672046"/>
            <a:ext cx="5619029" cy="7697506"/>
          </a:xfrm>
          <a:prstGeom prst="rect">
            <a:avLst/>
          </a:prstGeom>
        </p:spPr>
      </p:pic>
      <p:sp>
        <p:nvSpPr>
          <p:cNvPr id="5" name="TextBox 4"/>
          <p:cNvSpPr txBox="1"/>
          <p:nvPr/>
        </p:nvSpPr>
        <p:spPr>
          <a:xfrm>
            <a:off x="7162800" y="9369552"/>
            <a:ext cx="5840306" cy="246221"/>
          </a:xfrm>
          <a:prstGeom prst="rect">
            <a:avLst/>
          </a:prstGeom>
          <a:noFill/>
        </p:spPr>
        <p:txBody>
          <a:bodyPr wrap="square">
            <a:spAutoFit/>
          </a:bodyPr>
          <a:lstStyle/>
          <a:p>
            <a:r>
              <a:rPr sz="1000" dirty="0">
                <a:solidFill>
                  <a:srgbClr val="595959"/>
                </a:solidFill>
              </a:rPr>
              <a:t>John D. Rockefeller (1839-1937). Public domain.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98C8-90DC-2508-885A-C4D972B3103D}"/>
              </a:ext>
            </a:extLst>
          </p:cNvPr>
          <p:cNvSpPr>
            <a:spLocks noGrp="1"/>
          </p:cNvSpPr>
          <p:nvPr>
            <p:ph type="title"/>
          </p:nvPr>
        </p:nvSpPr>
        <p:spPr/>
        <p:txBody>
          <a:bodyPr/>
          <a:lstStyle/>
          <a:p>
            <a:r>
              <a:rPr lang="en-US" dirty="0"/>
              <a:t>Genocide in Hyperdrive</a:t>
            </a:r>
          </a:p>
        </p:txBody>
      </p:sp>
      <p:sp>
        <p:nvSpPr>
          <p:cNvPr id="3" name="Content Placeholder 2">
            <a:extLst>
              <a:ext uri="{FF2B5EF4-FFF2-40B4-BE49-F238E27FC236}">
                <a16:creationId xmlns:a16="http://schemas.microsoft.com/office/drawing/2014/main" id="{0C196C6E-EB1A-7399-8E57-CDC18FEB190D}"/>
              </a:ext>
            </a:extLst>
          </p:cNvPr>
          <p:cNvSpPr>
            <a:spLocks noGrp="1"/>
          </p:cNvSpPr>
          <p:nvPr>
            <p:ph idx="1"/>
          </p:nvPr>
        </p:nvSpPr>
        <p:spPr>
          <a:xfrm>
            <a:off x="420489" y="3487107"/>
            <a:ext cx="5925882" cy="5757399"/>
          </a:xfrm>
        </p:spPr>
        <p:txBody>
          <a:bodyPr/>
          <a:lstStyle/>
          <a:p>
            <a:r>
              <a:rPr lang="en-US" dirty="0"/>
              <a:t>The 19</a:t>
            </a:r>
            <a:r>
              <a:rPr lang="en-US" baseline="30000" dirty="0"/>
              <a:t>th</a:t>
            </a:r>
            <a:r>
              <a:rPr lang="en-US" dirty="0"/>
              <a:t> Century resulted in massive expansion westward into Native American territories and Mexican territories and subsequently resulted in a massive genocide of </a:t>
            </a:r>
            <a:r>
              <a:rPr lang="en-US" dirty="0">
                <a:hlinkClick r:id="rId2"/>
              </a:rPr>
              <a:t>Native Americans</a:t>
            </a:r>
            <a:r>
              <a:rPr lang="en-US" dirty="0"/>
              <a:t>. </a:t>
            </a:r>
          </a:p>
          <a:p>
            <a:pPr lvl="1"/>
            <a:r>
              <a:rPr lang="en-US" dirty="0">
                <a:hlinkClick r:id="rId3"/>
              </a:rPr>
              <a:t>Trail of Tears</a:t>
            </a:r>
            <a:r>
              <a:rPr lang="en-US" dirty="0"/>
              <a:t>, </a:t>
            </a:r>
            <a:r>
              <a:rPr lang="en-US" dirty="0">
                <a:hlinkClick r:id="rId4"/>
              </a:rPr>
              <a:t>Long Walk</a:t>
            </a:r>
            <a:r>
              <a:rPr lang="en-US" dirty="0"/>
              <a:t>, </a:t>
            </a:r>
            <a:r>
              <a:rPr lang="en-US" dirty="0">
                <a:hlinkClick r:id="rId5"/>
              </a:rPr>
              <a:t>Yavapai Exodus</a:t>
            </a:r>
            <a:r>
              <a:rPr lang="en-US" dirty="0"/>
              <a:t>, </a:t>
            </a:r>
            <a:r>
              <a:rPr lang="en-US" dirty="0">
                <a:hlinkClick r:id="rId6"/>
              </a:rPr>
              <a:t>California Genocide</a:t>
            </a:r>
            <a:r>
              <a:rPr lang="en-US" dirty="0"/>
              <a:t>, </a:t>
            </a:r>
            <a:r>
              <a:rPr lang="en-US" dirty="0" err="1"/>
              <a:t>etc</a:t>
            </a:r>
            <a:r>
              <a:rPr lang="en-US" dirty="0"/>
              <a:t>, creation of the </a:t>
            </a:r>
            <a:r>
              <a:rPr lang="en-US" dirty="0">
                <a:hlinkClick r:id="rId7"/>
              </a:rPr>
              <a:t>reservation system </a:t>
            </a:r>
            <a:r>
              <a:rPr lang="en-US" dirty="0"/>
              <a:t>that we continue to exploit today</a:t>
            </a:r>
          </a:p>
          <a:p>
            <a:r>
              <a:rPr lang="en-US" dirty="0"/>
              <a:t>The railroad allowed the US to move very quickly and transport new weaponry developed in the Civil War to exterminate most of the Native American population in the US</a:t>
            </a:r>
          </a:p>
        </p:txBody>
      </p:sp>
      <p:pic>
        <p:nvPicPr>
          <p:cNvPr id="5" name="Picture 4" descr="States and Territories of the United States of America, Feb 14 1859-Feb 8 1860&#10;">
            <a:extLst>
              <a:ext uri="{FF2B5EF4-FFF2-40B4-BE49-F238E27FC236}">
                <a16:creationId xmlns:a16="http://schemas.microsoft.com/office/drawing/2014/main" id="{9C74DEE9-0E1E-4952-0B4A-5B15E6E79615}"/>
              </a:ext>
            </a:extLst>
          </p:cNvPr>
          <p:cNvPicPr>
            <a:picLocks noChangeAspect="1"/>
          </p:cNvPicPr>
          <p:nvPr/>
        </p:nvPicPr>
        <p:blipFill>
          <a:blip r:embed="rId8"/>
          <a:stretch>
            <a:fillRect/>
          </a:stretch>
        </p:blipFill>
        <p:spPr>
          <a:xfrm>
            <a:off x="6556012" y="398117"/>
            <a:ext cx="5925882" cy="3982193"/>
          </a:xfrm>
          <a:prstGeom prst="rect">
            <a:avLst/>
          </a:prstGeom>
        </p:spPr>
      </p:pic>
      <p:pic>
        <p:nvPicPr>
          <p:cNvPr id="6" name="Picture 5">
            <a:extLst>
              <a:ext uri="{FF2B5EF4-FFF2-40B4-BE49-F238E27FC236}">
                <a16:creationId xmlns:a16="http://schemas.microsoft.com/office/drawing/2014/main" id="{F27492C6-C23A-8A99-E87E-C15522572559}"/>
              </a:ext>
            </a:extLst>
          </p:cNvPr>
          <p:cNvPicPr>
            <a:picLocks noChangeAspect="1"/>
          </p:cNvPicPr>
          <p:nvPr/>
        </p:nvPicPr>
        <p:blipFill>
          <a:blip r:embed="rId9"/>
          <a:stretch>
            <a:fillRect/>
          </a:stretch>
        </p:blipFill>
        <p:spPr>
          <a:xfrm>
            <a:off x="6556012" y="4356696"/>
            <a:ext cx="5979494" cy="4018220"/>
          </a:xfrm>
          <a:prstGeom prst="rect">
            <a:avLst/>
          </a:prstGeom>
        </p:spPr>
      </p:pic>
      <p:sp>
        <p:nvSpPr>
          <p:cNvPr id="8" name="TextBox 7">
            <a:extLst>
              <a:ext uri="{FF2B5EF4-FFF2-40B4-BE49-F238E27FC236}">
                <a16:creationId xmlns:a16="http://schemas.microsoft.com/office/drawing/2014/main" id="{6386E22E-1B02-0D81-03CA-5A604DDD06A8}"/>
              </a:ext>
            </a:extLst>
          </p:cNvPr>
          <p:cNvSpPr txBox="1"/>
          <p:nvPr/>
        </p:nvSpPr>
        <p:spPr>
          <a:xfrm>
            <a:off x="8009164" y="483615"/>
            <a:ext cx="6504214"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American_frontier</a:t>
            </a:r>
            <a:endParaRPr lang="en-US" sz="1200" dirty="0"/>
          </a:p>
        </p:txBody>
      </p:sp>
    </p:spTree>
    <p:extLst>
      <p:ext uri="{BB962C8B-B14F-4D97-AF65-F5344CB8AC3E}">
        <p14:creationId xmlns:p14="http://schemas.microsoft.com/office/powerpoint/2010/main" val="593170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86A60-BAB3-38AA-2EC2-6B7E48C9E5DF}"/>
              </a:ext>
            </a:extLst>
          </p:cNvPr>
          <p:cNvSpPr>
            <a:spLocks noGrp="1"/>
          </p:cNvSpPr>
          <p:nvPr>
            <p:ph type="title"/>
          </p:nvPr>
        </p:nvSpPr>
        <p:spPr>
          <a:xfrm>
            <a:off x="420489" y="2038764"/>
            <a:ext cx="11931406" cy="1235456"/>
          </a:xfrm>
        </p:spPr>
        <p:txBody>
          <a:bodyPr/>
          <a:lstStyle/>
          <a:p>
            <a:r>
              <a:rPr lang="en-US" dirty="0"/>
              <a:t>Reconstruction, Jim Crow, and the Great Migration</a:t>
            </a:r>
          </a:p>
        </p:txBody>
      </p:sp>
      <p:sp>
        <p:nvSpPr>
          <p:cNvPr id="3" name="Content Placeholder 2">
            <a:extLst>
              <a:ext uri="{FF2B5EF4-FFF2-40B4-BE49-F238E27FC236}">
                <a16:creationId xmlns:a16="http://schemas.microsoft.com/office/drawing/2014/main" id="{C5837238-D40F-17E6-A6B5-AE4F6D90B06B}"/>
              </a:ext>
            </a:extLst>
          </p:cNvPr>
          <p:cNvSpPr>
            <a:spLocks noGrp="1"/>
          </p:cNvSpPr>
          <p:nvPr>
            <p:ph idx="1"/>
          </p:nvPr>
        </p:nvSpPr>
        <p:spPr>
          <a:xfrm>
            <a:off x="420489" y="3487107"/>
            <a:ext cx="6879721" cy="5757399"/>
          </a:xfrm>
        </p:spPr>
        <p:txBody>
          <a:bodyPr/>
          <a:lstStyle/>
          <a:p>
            <a:r>
              <a:rPr lang="en-US" sz="2000" dirty="0"/>
              <a:t>After  </a:t>
            </a:r>
            <a:r>
              <a:rPr lang="en-US" sz="2000" dirty="0">
                <a:hlinkClick r:id="rId2" tooltip="Sherman's March to the Sea"/>
              </a:rPr>
              <a:t>Sherman's March to the Sea</a:t>
            </a:r>
            <a:r>
              <a:rPr lang="en-US" sz="2000" dirty="0"/>
              <a:t>, Sherman promised enslaved Black people </a:t>
            </a:r>
            <a:r>
              <a:rPr lang="en-US" sz="2000" dirty="0">
                <a:hlinkClick r:id="rId3"/>
              </a:rPr>
              <a:t>40 acres and a mule </a:t>
            </a:r>
            <a:r>
              <a:rPr lang="en-US" sz="2000" dirty="0"/>
              <a:t> after the war</a:t>
            </a:r>
          </a:p>
          <a:p>
            <a:r>
              <a:rPr lang="en-US" sz="2000" dirty="0"/>
              <a:t>Similarly, the US government had passed the Homestead Act in 1861, promising the stolen land from Native American and formerly Mexican land via the </a:t>
            </a:r>
            <a:r>
              <a:rPr lang="en-US" sz="2000" dirty="0">
                <a:hlinkClick r:id="rId4"/>
              </a:rPr>
              <a:t>Homestead Act </a:t>
            </a:r>
            <a:endParaRPr lang="en-US" sz="2000" dirty="0"/>
          </a:p>
          <a:p>
            <a:r>
              <a:rPr lang="en-US" sz="2000" dirty="0"/>
              <a:t>After </a:t>
            </a:r>
            <a:r>
              <a:rPr lang="en-US" sz="2000" dirty="0">
                <a:hlinkClick r:id="rId5"/>
              </a:rPr>
              <a:t>Lincoln</a:t>
            </a:r>
            <a:r>
              <a:rPr lang="en-US" sz="2000" dirty="0"/>
              <a:t> was murdered, </a:t>
            </a:r>
            <a:r>
              <a:rPr lang="en-US" sz="2000" dirty="0">
                <a:hlinkClick r:id="rId6"/>
              </a:rPr>
              <a:t>Andrew Johnson</a:t>
            </a:r>
            <a:r>
              <a:rPr lang="en-US" sz="2000" dirty="0"/>
              <a:t> reneged on the promise, refused to prosecute the leaders or members of the Confederacy, and </a:t>
            </a:r>
            <a:r>
              <a:rPr lang="en-US" sz="2000" dirty="0">
                <a:hlinkClick r:id="rId7"/>
              </a:rPr>
              <a:t>the land given to the formerly enslaved Black people was given back to the slave-owning plantation owners</a:t>
            </a:r>
            <a:r>
              <a:rPr lang="en-US" sz="2000" dirty="0"/>
              <a:t>, reneging on the promise</a:t>
            </a:r>
          </a:p>
          <a:p>
            <a:r>
              <a:rPr lang="en-US" sz="2000" dirty="0"/>
              <a:t>This began the era of </a:t>
            </a:r>
            <a:r>
              <a:rPr lang="en-US" sz="2000" dirty="0">
                <a:hlinkClick r:id="rId8"/>
              </a:rPr>
              <a:t>sharecropping</a:t>
            </a:r>
            <a:endParaRPr lang="en-US" sz="2000" dirty="0"/>
          </a:p>
          <a:p>
            <a:endParaRPr lang="en-US" sz="2000" dirty="0"/>
          </a:p>
        </p:txBody>
      </p:sp>
      <p:pic>
        <p:nvPicPr>
          <p:cNvPr id="4" name="Picture 3" descr="15th Amendment, or the Darkey's millennium - 40 acres of land and a mule, from Robert N. Dennis collection of stereoscopic views.">
            <a:extLst>
              <a:ext uri="{FF2B5EF4-FFF2-40B4-BE49-F238E27FC236}">
                <a16:creationId xmlns:a16="http://schemas.microsoft.com/office/drawing/2014/main" id="{93C016FE-9E75-D3F7-543B-905FA589853F}"/>
              </a:ext>
            </a:extLst>
          </p:cNvPr>
          <p:cNvPicPr>
            <a:picLocks noChangeAspect="1"/>
          </p:cNvPicPr>
          <p:nvPr/>
        </p:nvPicPr>
        <p:blipFill>
          <a:blip r:embed="rId9"/>
          <a:stretch>
            <a:fillRect/>
          </a:stretch>
        </p:blipFill>
        <p:spPr>
          <a:xfrm>
            <a:off x="7612170" y="3488960"/>
            <a:ext cx="5286933" cy="2990421"/>
          </a:xfrm>
          <a:prstGeom prst="rect">
            <a:avLst/>
          </a:prstGeom>
        </p:spPr>
      </p:pic>
      <p:sp>
        <p:nvSpPr>
          <p:cNvPr id="6" name="TextBox 5">
            <a:extLst>
              <a:ext uri="{FF2B5EF4-FFF2-40B4-BE49-F238E27FC236}">
                <a16:creationId xmlns:a16="http://schemas.microsoft.com/office/drawing/2014/main" id="{07012FA8-6336-9B97-341A-B7470A3A0DE6}"/>
              </a:ext>
            </a:extLst>
          </p:cNvPr>
          <p:cNvSpPr txBox="1"/>
          <p:nvPr/>
        </p:nvSpPr>
        <p:spPr>
          <a:xfrm>
            <a:off x="7612169" y="6555621"/>
            <a:ext cx="5286934"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Forty_acres_and_a_mule</a:t>
            </a:r>
            <a:endParaRPr lang="en-US" sz="1200" dirty="0"/>
          </a:p>
        </p:txBody>
      </p:sp>
    </p:spTree>
    <p:extLst>
      <p:ext uri="{BB962C8B-B14F-4D97-AF65-F5344CB8AC3E}">
        <p14:creationId xmlns:p14="http://schemas.microsoft.com/office/powerpoint/2010/main" val="3265860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FEE1-5A42-830D-7195-6ADDA17E7E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ACA09-1E8E-3945-9D8C-2EC96BEE5B0B}"/>
              </a:ext>
            </a:extLst>
          </p:cNvPr>
          <p:cNvSpPr>
            <a:spLocks noGrp="1"/>
          </p:cNvSpPr>
          <p:nvPr>
            <p:ph type="title"/>
          </p:nvPr>
        </p:nvSpPr>
        <p:spPr>
          <a:xfrm>
            <a:off x="420489" y="1621461"/>
            <a:ext cx="11931406" cy="1235456"/>
          </a:xfrm>
        </p:spPr>
        <p:txBody>
          <a:bodyPr/>
          <a:lstStyle/>
          <a:p>
            <a:r>
              <a:rPr lang="en-US" dirty="0"/>
              <a:t>Reconstruction, Jim Crow, and the Great Migration</a:t>
            </a:r>
          </a:p>
        </p:txBody>
      </p:sp>
      <p:sp>
        <p:nvSpPr>
          <p:cNvPr id="3" name="Content Placeholder 2">
            <a:extLst>
              <a:ext uri="{FF2B5EF4-FFF2-40B4-BE49-F238E27FC236}">
                <a16:creationId xmlns:a16="http://schemas.microsoft.com/office/drawing/2014/main" id="{D4D0DC1C-19C4-2727-30AF-8FD74292F45D}"/>
              </a:ext>
            </a:extLst>
          </p:cNvPr>
          <p:cNvSpPr>
            <a:spLocks noGrp="1"/>
          </p:cNvSpPr>
          <p:nvPr>
            <p:ph idx="1"/>
          </p:nvPr>
        </p:nvSpPr>
        <p:spPr>
          <a:xfrm>
            <a:off x="420489" y="3487107"/>
            <a:ext cx="5755459" cy="5757399"/>
          </a:xfrm>
        </p:spPr>
        <p:txBody>
          <a:bodyPr/>
          <a:lstStyle/>
          <a:p>
            <a:r>
              <a:rPr lang="en-US" sz="1800" dirty="0"/>
              <a:t>After the war, Black Americans </a:t>
            </a:r>
            <a:r>
              <a:rPr lang="en-US" sz="1800" dirty="0">
                <a:hlinkClick r:id="rId2"/>
              </a:rPr>
              <a:t>started winning elections</a:t>
            </a:r>
            <a:r>
              <a:rPr lang="en-US" sz="1800" dirty="0"/>
              <a:t> for US Congress </a:t>
            </a:r>
          </a:p>
          <a:p>
            <a:pPr lvl="1"/>
            <a:r>
              <a:rPr lang="en-US" sz="1800" dirty="0">
                <a:hlinkClick r:id="rId3"/>
              </a:rPr>
              <a:t>Hiram Revels</a:t>
            </a:r>
            <a:r>
              <a:rPr lang="en-US" sz="1800" dirty="0"/>
              <a:t> (Senate)</a:t>
            </a:r>
          </a:p>
          <a:p>
            <a:pPr lvl="1"/>
            <a:r>
              <a:rPr lang="en-US" sz="1800" dirty="0">
                <a:hlinkClick r:id="rId4"/>
              </a:rPr>
              <a:t>Joseph Rainey </a:t>
            </a:r>
            <a:r>
              <a:rPr lang="en-US" sz="1800" dirty="0"/>
              <a:t>(House)</a:t>
            </a:r>
          </a:p>
          <a:p>
            <a:r>
              <a:rPr lang="en-US" sz="1800" dirty="0"/>
              <a:t>The white Americans in power then implemented brutal suppression tactics of Black people</a:t>
            </a:r>
          </a:p>
          <a:p>
            <a:pPr lvl="1"/>
            <a:r>
              <a:rPr lang="en-US" sz="1800" dirty="0">
                <a:hlinkClick r:id="rId5"/>
              </a:rPr>
              <a:t>Jim Crow laws</a:t>
            </a:r>
            <a:endParaRPr lang="en-US" sz="1800" dirty="0"/>
          </a:p>
          <a:p>
            <a:pPr lvl="1"/>
            <a:r>
              <a:rPr lang="en-US" sz="1800" dirty="0">
                <a:hlinkClick r:id="rId6"/>
              </a:rPr>
              <a:t>Atlanta 1906 race massacre</a:t>
            </a:r>
            <a:endParaRPr lang="en-US" sz="1800" dirty="0"/>
          </a:p>
          <a:p>
            <a:pPr lvl="1"/>
            <a:r>
              <a:rPr lang="en-US" sz="1800" dirty="0">
                <a:hlinkClick r:id="rId7"/>
              </a:rPr>
              <a:t>Devastation of Tulsa, Oklahoma’s “Black Wall Street”</a:t>
            </a:r>
            <a:endParaRPr lang="en-US" sz="1800" dirty="0"/>
          </a:p>
        </p:txBody>
      </p:sp>
      <p:pic>
        <p:nvPicPr>
          <p:cNvPr id="4" name="Picture 3" descr="Cover of &quot;Le Petit Journal&quot;, 7 October, 1906. Depicting the race riots in Atlanta, Georgia. &quot;The Lynchings in the United States: The Massacre of Negroes in Atlanta.&quot;">
            <a:extLst>
              <a:ext uri="{FF2B5EF4-FFF2-40B4-BE49-F238E27FC236}">
                <a16:creationId xmlns:a16="http://schemas.microsoft.com/office/drawing/2014/main" id="{203F2551-BC34-30B0-E766-044100410F7D}"/>
              </a:ext>
            </a:extLst>
          </p:cNvPr>
          <p:cNvPicPr>
            <a:picLocks noChangeAspect="1"/>
          </p:cNvPicPr>
          <p:nvPr/>
        </p:nvPicPr>
        <p:blipFill>
          <a:blip r:embed="rId8"/>
          <a:stretch>
            <a:fillRect/>
          </a:stretch>
        </p:blipFill>
        <p:spPr>
          <a:xfrm>
            <a:off x="9367741" y="3744665"/>
            <a:ext cx="2984153" cy="3437744"/>
          </a:xfrm>
          <a:prstGeom prst="rect">
            <a:avLst/>
          </a:prstGeom>
        </p:spPr>
      </p:pic>
      <p:sp>
        <p:nvSpPr>
          <p:cNvPr id="6" name="TextBox 5">
            <a:extLst>
              <a:ext uri="{FF2B5EF4-FFF2-40B4-BE49-F238E27FC236}">
                <a16:creationId xmlns:a16="http://schemas.microsoft.com/office/drawing/2014/main" id="{8356E108-F8EB-B434-F4EA-1DCBC8BE878F}"/>
              </a:ext>
            </a:extLst>
          </p:cNvPr>
          <p:cNvSpPr txBox="1"/>
          <p:nvPr/>
        </p:nvSpPr>
        <p:spPr>
          <a:xfrm>
            <a:off x="9367741" y="7157484"/>
            <a:ext cx="3882452"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Jim_Crow_laws</a:t>
            </a:r>
            <a:endParaRPr lang="en-US" sz="1200" dirty="0"/>
          </a:p>
        </p:txBody>
      </p:sp>
      <p:pic>
        <p:nvPicPr>
          <p:cNvPr id="8" name="Picture 7" descr="Photograph of Hiram Revels, first Black member of the US Congress. ">
            <a:extLst>
              <a:ext uri="{FF2B5EF4-FFF2-40B4-BE49-F238E27FC236}">
                <a16:creationId xmlns:a16="http://schemas.microsoft.com/office/drawing/2014/main" id="{0E28861B-1D5B-FB7D-21AF-9C2761872B26}"/>
              </a:ext>
            </a:extLst>
          </p:cNvPr>
          <p:cNvPicPr>
            <a:picLocks noChangeAspect="1"/>
          </p:cNvPicPr>
          <p:nvPr/>
        </p:nvPicPr>
        <p:blipFill>
          <a:blip r:embed="rId9"/>
          <a:stretch>
            <a:fillRect/>
          </a:stretch>
        </p:blipFill>
        <p:spPr>
          <a:xfrm>
            <a:off x="6804492" y="2821335"/>
            <a:ext cx="1934705" cy="2460945"/>
          </a:xfrm>
          <a:prstGeom prst="rect">
            <a:avLst/>
          </a:prstGeom>
        </p:spPr>
      </p:pic>
      <p:pic>
        <p:nvPicPr>
          <p:cNvPr id="9" name="Picture 8">
            <a:extLst>
              <a:ext uri="{FF2B5EF4-FFF2-40B4-BE49-F238E27FC236}">
                <a16:creationId xmlns:a16="http://schemas.microsoft.com/office/drawing/2014/main" id="{EB746467-BCD9-5EAF-58D3-26CC820AA8AF}"/>
              </a:ext>
            </a:extLst>
          </p:cNvPr>
          <p:cNvPicPr>
            <a:picLocks noChangeAspect="1"/>
          </p:cNvPicPr>
          <p:nvPr/>
        </p:nvPicPr>
        <p:blipFill>
          <a:blip r:embed="rId10"/>
          <a:stretch>
            <a:fillRect/>
          </a:stretch>
        </p:blipFill>
        <p:spPr>
          <a:xfrm>
            <a:off x="6757524" y="5731339"/>
            <a:ext cx="1963145" cy="2622762"/>
          </a:xfrm>
          <a:prstGeom prst="rect">
            <a:avLst/>
          </a:prstGeom>
        </p:spPr>
      </p:pic>
      <p:sp>
        <p:nvSpPr>
          <p:cNvPr id="10" name="TextBox 9">
            <a:extLst>
              <a:ext uri="{FF2B5EF4-FFF2-40B4-BE49-F238E27FC236}">
                <a16:creationId xmlns:a16="http://schemas.microsoft.com/office/drawing/2014/main" id="{971035A3-C743-BD62-9DE2-C202FA92E4D8}"/>
              </a:ext>
            </a:extLst>
          </p:cNvPr>
          <p:cNvSpPr txBox="1"/>
          <p:nvPr/>
        </p:nvSpPr>
        <p:spPr>
          <a:xfrm>
            <a:off x="6911713" y="2533805"/>
            <a:ext cx="1720262" cy="369332"/>
          </a:xfrm>
          <a:prstGeom prst="rect">
            <a:avLst/>
          </a:prstGeom>
          <a:noFill/>
        </p:spPr>
        <p:txBody>
          <a:bodyPr wrap="square" rtlCol="0">
            <a:spAutoFit/>
          </a:bodyPr>
          <a:lstStyle/>
          <a:p>
            <a:r>
              <a:rPr lang="en-US" dirty="0"/>
              <a:t>Hiram Revels</a:t>
            </a:r>
          </a:p>
        </p:txBody>
      </p:sp>
      <p:sp>
        <p:nvSpPr>
          <p:cNvPr id="11" name="TextBox 10">
            <a:extLst>
              <a:ext uri="{FF2B5EF4-FFF2-40B4-BE49-F238E27FC236}">
                <a16:creationId xmlns:a16="http://schemas.microsoft.com/office/drawing/2014/main" id="{03613806-735C-F288-A696-B4CC232DA61B}"/>
              </a:ext>
            </a:extLst>
          </p:cNvPr>
          <p:cNvSpPr txBox="1"/>
          <p:nvPr/>
        </p:nvSpPr>
        <p:spPr>
          <a:xfrm>
            <a:off x="6804492" y="5385144"/>
            <a:ext cx="1720262" cy="369332"/>
          </a:xfrm>
          <a:prstGeom prst="rect">
            <a:avLst/>
          </a:prstGeom>
          <a:noFill/>
        </p:spPr>
        <p:txBody>
          <a:bodyPr wrap="square" rtlCol="0">
            <a:spAutoFit/>
          </a:bodyPr>
          <a:lstStyle/>
          <a:p>
            <a:r>
              <a:rPr lang="en-US" dirty="0"/>
              <a:t>Joseph Rainey</a:t>
            </a:r>
          </a:p>
        </p:txBody>
      </p:sp>
      <p:sp>
        <p:nvSpPr>
          <p:cNvPr id="12" name="TextBox 11">
            <a:extLst>
              <a:ext uri="{FF2B5EF4-FFF2-40B4-BE49-F238E27FC236}">
                <a16:creationId xmlns:a16="http://schemas.microsoft.com/office/drawing/2014/main" id="{73D8AF7E-2482-06E1-5CE8-B395C48D0A80}"/>
              </a:ext>
            </a:extLst>
          </p:cNvPr>
          <p:cNvSpPr txBox="1"/>
          <p:nvPr/>
        </p:nvSpPr>
        <p:spPr>
          <a:xfrm>
            <a:off x="9367741" y="2821335"/>
            <a:ext cx="2984153" cy="923330"/>
          </a:xfrm>
          <a:prstGeom prst="rect">
            <a:avLst/>
          </a:prstGeom>
          <a:noFill/>
        </p:spPr>
        <p:txBody>
          <a:bodyPr wrap="square" rtlCol="0">
            <a:spAutoFit/>
          </a:bodyPr>
          <a:lstStyle/>
          <a:p>
            <a:r>
              <a:rPr lang="en-US" dirty="0"/>
              <a:t>Cover of Le Petit Journal 7-Oct-1906 depicting the massacre of Atlanta </a:t>
            </a:r>
          </a:p>
        </p:txBody>
      </p:sp>
    </p:spTree>
    <p:extLst>
      <p:ext uri="{BB962C8B-B14F-4D97-AF65-F5344CB8AC3E}">
        <p14:creationId xmlns:p14="http://schemas.microsoft.com/office/powerpoint/2010/main" val="1892085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A2D32-7FBE-97C5-4013-89539F306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D92FF-C6DB-1957-C00B-563E3A15F4A4}"/>
              </a:ext>
            </a:extLst>
          </p:cNvPr>
          <p:cNvSpPr>
            <a:spLocks noGrp="1"/>
          </p:cNvSpPr>
          <p:nvPr>
            <p:ph type="title"/>
          </p:nvPr>
        </p:nvSpPr>
        <p:spPr>
          <a:xfrm>
            <a:off x="420489" y="1621461"/>
            <a:ext cx="11931406" cy="1235456"/>
          </a:xfrm>
        </p:spPr>
        <p:txBody>
          <a:bodyPr/>
          <a:lstStyle/>
          <a:p>
            <a:r>
              <a:rPr lang="en-US" dirty="0"/>
              <a:t>Reconstruction, Jim Crow, and the Great Migration</a:t>
            </a:r>
          </a:p>
        </p:txBody>
      </p:sp>
      <p:sp>
        <p:nvSpPr>
          <p:cNvPr id="3" name="Content Placeholder 2">
            <a:extLst>
              <a:ext uri="{FF2B5EF4-FFF2-40B4-BE49-F238E27FC236}">
                <a16:creationId xmlns:a16="http://schemas.microsoft.com/office/drawing/2014/main" id="{3E4759EF-50ED-D050-8E35-D02B01A31B6B}"/>
              </a:ext>
            </a:extLst>
          </p:cNvPr>
          <p:cNvSpPr>
            <a:spLocks noGrp="1"/>
          </p:cNvSpPr>
          <p:nvPr>
            <p:ph idx="1"/>
          </p:nvPr>
        </p:nvSpPr>
        <p:spPr>
          <a:xfrm>
            <a:off x="420489" y="3487107"/>
            <a:ext cx="5755459" cy="5757399"/>
          </a:xfrm>
        </p:spPr>
        <p:txBody>
          <a:bodyPr/>
          <a:lstStyle/>
          <a:p>
            <a:r>
              <a:rPr lang="en-US" sz="1800" dirty="0"/>
              <a:t>This and other factors led to the </a:t>
            </a:r>
            <a:r>
              <a:rPr lang="en-US" sz="1800" dirty="0">
                <a:hlinkClick r:id="rId2"/>
              </a:rPr>
              <a:t>Great Migration</a:t>
            </a:r>
            <a:r>
              <a:rPr lang="en-US" sz="1800" dirty="0"/>
              <a:t> of Black Americans from the South to other areas</a:t>
            </a:r>
          </a:p>
          <a:p>
            <a:r>
              <a:rPr lang="en-US" sz="1800" dirty="0"/>
              <a:t>Also led to extensive </a:t>
            </a:r>
            <a:r>
              <a:rPr lang="en-US" sz="1800" dirty="0">
                <a:hlinkClick r:id="rId3"/>
              </a:rPr>
              <a:t>redlining</a:t>
            </a:r>
            <a:r>
              <a:rPr lang="en-US" sz="1800" dirty="0"/>
              <a:t>, of which </a:t>
            </a:r>
            <a:r>
              <a:rPr lang="en-US" sz="1800" dirty="0">
                <a:hlinkClick r:id="rId4"/>
              </a:rPr>
              <a:t>Buffalo is one of the worst in the Northeast</a:t>
            </a:r>
            <a:endParaRPr lang="en-US" sz="1800" dirty="0"/>
          </a:p>
          <a:p>
            <a:endParaRPr lang="en-US" sz="1800" dirty="0"/>
          </a:p>
          <a:p>
            <a:endParaRPr lang="en-US" sz="1800" dirty="0"/>
          </a:p>
        </p:txBody>
      </p:sp>
      <p:pic>
        <p:nvPicPr>
          <p:cNvPr id="7" name="Picture 6" descr="This 1937 map of Buffalo shows that the city's East Side neighborhoods were redlined, which meant that people living in them were denied access to credit and home loans. Map image courtesy of Library of Congress, “Mapping Inequality” collection.">
            <a:extLst>
              <a:ext uri="{FF2B5EF4-FFF2-40B4-BE49-F238E27FC236}">
                <a16:creationId xmlns:a16="http://schemas.microsoft.com/office/drawing/2014/main" id="{801C9F24-7691-9338-9D96-F7CBE12D44BB}"/>
              </a:ext>
            </a:extLst>
          </p:cNvPr>
          <p:cNvPicPr>
            <a:picLocks noChangeAspect="1"/>
          </p:cNvPicPr>
          <p:nvPr/>
        </p:nvPicPr>
        <p:blipFill>
          <a:blip r:embed="rId5"/>
          <a:stretch>
            <a:fillRect/>
          </a:stretch>
        </p:blipFill>
        <p:spPr>
          <a:xfrm>
            <a:off x="6609413" y="6151992"/>
            <a:ext cx="5111305" cy="3403858"/>
          </a:xfrm>
          <a:prstGeom prst="rect">
            <a:avLst/>
          </a:prstGeom>
        </p:spPr>
      </p:pic>
      <p:pic>
        <p:nvPicPr>
          <p:cNvPr id="5" name="Picture 4" descr="United States map of the Black American population from the 1900 U.S. census">
            <a:extLst>
              <a:ext uri="{FF2B5EF4-FFF2-40B4-BE49-F238E27FC236}">
                <a16:creationId xmlns:a16="http://schemas.microsoft.com/office/drawing/2014/main" id="{5FF63CA2-2A80-7C83-A742-4C5A524ED686}"/>
              </a:ext>
            </a:extLst>
          </p:cNvPr>
          <p:cNvPicPr>
            <a:picLocks noChangeAspect="1"/>
          </p:cNvPicPr>
          <p:nvPr/>
        </p:nvPicPr>
        <p:blipFill>
          <a:blip r:embed="rId6"/>
          <a:stretch>
            <a:fillRect/>
          </a:stretch>
        </p:blipFill>
        <p:spPr>
          <a:xfrm>
            <a:off x="6609413" y="2465152"/>
            <a:ext cx="5562600" cy="3686840"/>
          </a:xfrm>
          <a:prstGeom prst="rect">
            <a:avLst/>
          </a:prstGeom>
        </p:spPr>
      </p:pic>
      <p:sp>
        <p:nvSpPr>
          <p:cNvPr id="9" name="TextBox 8">
            <a:extLst>
              <a:ext uri="{FF2B5EF4-FFF2-40B4-BE49-F238E27FC236}">
                <a16:creationId xmlns:a16="http://schemas.microsoft.com/office/drawing/2014/main" id="{5A1B1629-5584-8EF4-B716-18EE02AAF8FB}"/>
              </a:ext>
            </a:extLst>
          </p:cNvPr>
          <p:cNvSpPr txBox="1"/>
          <p:nvPr/>
        </p:nvSpPr>
        <p:spPr>
          <a:xfrm>
            <a:off x="7057036" y="2533751"/>
            <a:ext cx="5204918" cy="646331"/>
          </a:xfrm>
          <a:prstGeom prst="rect">
            <a:avLst/>
          </a:prstGeom>
          <a:noFill/>
        </p:spPr>
        <p:txBody>
          <a:bodyPr wrap="square">
            <a:spAutoFit/>
          </a:bodyPr>
          <a:lstStyle/>
          <a:p>
            <a:r>
              <a:rPr lang="en-US" sz="1800" b="0" i="0" u="none" strike="noStrike" dirty="0">
                <a:solidFill>
                  <a:schemeClr val="tx1"/>
                </a:solidFill>
                <a:effectLst/>
                <a:latin typeface="+mn-lt"/>
              </a:rPr>
              <a:t>United States map of the Black American population from the </a:t>
            </a:r>
            <a:r>
              <a:rPr lang="en-US" sz="1800" b="0" i="0" u="none" strike="noStrike" dirty="0">
                <a:effectLst/>
                <a:latin typeface="+mn-lt"/>
                <a:hlinkClick r:id="rId7" tooltip="1900 United States census"/>
              </a:rPr>
              <a:t>1900 U.S. census</a:t>
            </a:r>
            <a:endParaRPr lang="en-US" dirty="0"/>
          </a:p>
        </p:txBody>
      </p:sp>
      <p:sp>
        <p:nvSpPr>
          <p:cNvPr id="6" name="TextBox 5">
            <a:extLst>
              <a:ext uri="{FF2B5EF4-FFF2-40B4-BE49-F238E27FC236}">
                <a16:creationId xmlns:a16="http://schemas.microsoft.com/office/drawing/2014/main" id="{AF17A5BE-8528-9766-BDC7-68CB60B14A7F}"/>
              </a:ext>
            </a:extLst>
          </p:cNvPr>
          <p:cNvSpPr txBox="1"/>
          <p:nvPr/>
        </p:nvSpPr>
        <p:spPr>
          <a:xfrm>
            <a:off x="556570" y="6610864"/>
            <a:ext cx="5845026" cy="156966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3200" dirty="0">
                <a:solidFill>
                  <a:schemeClr val="bg1"/>
                </a:solidFill>
              </a:rPr>
              <a:t>These people had no net wealth, and the US took away what was promised to them</a:t>
            </a:r>
          </a:p>
        </p:txBody>
      </p:sp>
    </p:spTree>
    <p:extLst>
      <p:ext uri="{BB962C8B-B14F-4D97-AF65-F5344CB8AC3E}">
        <p14:creationId xmlns:p14="http://schemas.microsoft.com/office/powerpoint/2010/main" val="596365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760B-324B-1644-5260-D8CE81F370BD}"/>
              </a:ext>
            </a:extLst>
          </p:cNvPr>
          <p:cNvSpPr>
            <a:spLocks noGrp="1"/>
          </p:cNvSpPr>
          <p:nvPr>
            <p:ph type="title"/>
          </p:nvPr>
        </p:nvSpPr>
        <p:spPr/>
        <p:txBody>
          <a:bodyPr/>
          <a:lstStyle/>
          <a:p>
            <a:r>
              <a:rPr lang="en-US" dirty="0"/>
              <a:t>Massive Immigration</a:t>
            </a:r>
          </a:p>
        </p:txBody>
      </p:sp>
      <p:sp>
        <p:nvSpPr>
          <p:cNvPr id="3" name="Content Placeholder 2">
            <a:extLst>
              <a:ext uri="{FF2B5EF4-FFF2-40B4-BE49-F238E27FC236}">
                <a16:creationId xmlns:a16="http://schemas.microsoft.com/office/drawing/2014/main" id="{85B4D0EB-B289-3C0A-0EB5-90B6D2126C28}"/>
              </a:ext>
            </a:extLst>
          </p:cNvPr>
          <p:cNvSpPr>
            <a:spLocks noGrp="1"/>
          </p:cNvSpPr>
          <p:nvPr>
            <p:ph idx="1"/>
          </p:nvPr>
        </p:nvSpPr>
        <p:spPr>
          <a:xfrm>
            <a:off x="420489" y="3487107"/>
            <a:ext cx="4571236" cy="5757399"/>
          </a:xfrm>
        </p:spPr>
        <p:txBody>
          <a:bodyPr/>
          <a:lstStyle/>
          <a:p>
            <a:r>
              <a:rPr lang="en-US" dirty="0">
                <a:hlinkClick r:id="rId2"/>
              </a:rPr>
              <a:t>Asian</a:t>
            </a:r>
            <a:r>
              <a:rPr lang="en-US" dirty="0"/>
              <a:t>, </a:t>
            </a:r>
            <a:r>
              <a:rPr lang="en-US" dirty="0">
                <a:hlinkClick r:id="rId3"/>
              </a:rPr>
              <a:t>American</a:t>
            </a:r>
            <a:r>
              <a:rPr lang="en-US" dirty="0"/>
              <a:t>, and </a:t>
            </a:r>
            <a:r>
              <a:rPr lang="en-US" dirty="0">
                <a:hlinkClick r:id="rId4"/>
              </a:rPr>
              <a:t>European</a:t>
            </a:r>
            <a:r>
              <a:rPr lang="en-US" dirty="0"/>
              <a:t> immigration to the US surged in the late 19</a:t>
            </a:r>
            <a:r>
              <a:rPr lang="en-US" baseline="30000" dirty="0"/>
              <a:t>th</a:t>
            </a:r>
            <a:r>
              <a:rPr lang="en-US" dirty="0"/>
              <a:t> and early 20</a:t>
            </a:r>
            <a:r>
              <a:rPr lang="en-US" baseline="30000" dirty="0"/>
              <a:t>th</a:t>
            </a:r>
            <a:r>
              <a:rPr lang="en-US" dirty="0"/>
              <a:t> centuries</a:t>
            </a:r>
          </a:p>
          <a:p>
            <a:pPr lvl="1"/>
            <a:r>
              <a:rPr lang="en-US" dirty="0"/>
              <a:t>For American immigration, often the US immigrated to THEM, not the other way around, after the </a:t>
            </a:r>
            <a:r>
              <a:rPr lang="en-US" dirty="0">
                <a:hlinkClick r:id="rId5"/>
              </a:rPr>
              <a:t>Mexican American</a:t>
            </a:r>
            <a:r>
              <a:rPr lang="en-US" dirty="0"/>
              <a:t> war </a:t>
            </a:r>
          </a:p>
          <a:p>
            <a:pPr lvl="1"/>
            <a:r>
              <a:rPr lang="en-US" dirty="0">
                <a:hlinkClick r:id="rId6"/>
              </a:rPr>
              <a:t>Irish Potato Famine </a:t>
            </a:r>
            <a:endParaRPr lang="en-US" dirty="0"/>
          </a:p>
          <a:p>
            <a:pPr lvl="1"/>
            <a:r>
              <a:rPr lang="en-US" dirty="0"/>
              <a:t>Unifications of </a:t>
            </a:r>
            <a:r>
              <a:rPr lang="en-US" dirty="0">
                <a:hlinkClick r:id="rId7"/>
              </a:rPr>
              <a:t>Germany</a:t>
            </a:r>
            <a:r>
              <a:rPr lang="en-US" dirty="0"/>
              <a:t> and </a:t>
            </a:r>
            <a:r>
              <a:rPr lang="en-US" dirty="0">
                <a:hlinkClick r:id="rId8"/>
              </a:rPr>
              <a:t>Italy</a:t>
            </a:r>
            <a:r>
              <a:rPr lang="en-US" dirty="0"/>
              <a:t> </a:t>
            </a:r>
          </a:p>
          <a:p>
            <a:pPr lvl="1"/>
            <a:r>
              <a:rPr lang="en-US" dirty="0">
                <a:hlinkClick r:id="rId9"/>
              </a:rPr>
              <a:t>Jewish people escaping Pogroms in Eastern Europe</a:t>
            </a:r>
            <a:endParaRPr lang="en-US" dirty="0"/>
          </a:p>
        </p:txBody>
      </p:sp>
      <p:pic>
        <p:nvPicPr>
          <p:cNvPr id="4" name="Picture 3" descr="Immigration to the US by Geographic Region (1820-2023) from https://populationeducation.org/wp-content/uploads/2020/04/immigration-to-us-by-geographic-region-historic-infographic.pdf">
            <a:extLst>
              <a:ext uri="{FF2B5EF4-FFF2-40B4-BE49-F238E27FC236}">
                <a16:creationId xmlns:a16="http://schemas.microsoft.com/office/drawing/2014/main" id="{84972E2A-3E47-733F-B193-338B079F11EA}"/>
              </a:ext>
            </a:extLst>
          </p:cNvPr>
          <p:cNvPicPr>
            <a:picLocks noChangeAspect="1"/>
          </p:cNvPicPr>
          <p:nvPr/>
        </p:nvPicPr>
        <p:blipFill>
          <a:blip r:embed="rId10"/>
          <a:stretch>
            <a:fillRect/>
          </a:stretch>
        </p:blipFill>
        <p:spPr>
          <a:xfrm>
            <a:off x="5338060" y="2827725"/>
            <a:ext cx="7450752" cy="5757399"/>
          </a:xfrm>
          <a:prstGeom prst="rect">
            <a:avLst/>
          </a:prstGeom>
        </p:spPr>
      </p:pic>
      <p:sp>
        <p:nvSpPr>
          <p:cNvPr id="5" name="TextBox 4">
            <a:extLst>
              <a:ext uri="{FF2B5EF4-FFF2-40B4-BE49-F238E27FC236}">
                <a16:creationId xmlns:a16="http://schemas.microsoft.com/office/drawing/2014/main" id="{F42AC0B1-6868-F39D-F247-D4E46FC1CD7A}"/>
              </a:ext>
            </a:extLst>
          </p:cNvPr>
          <p:cNvSpPr txBox="1"/>
          <p:nvPr/>
        </p:nvSpPr>
        <p:spPr>
          <a:xfrm>
            <a:off x="6375806" y="8476735"/>
            <a:ext cx="5845026" cy="107721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3200" dirty="0">
                <a:solidFill>
                  <a:schemeClr val="bg1"/>
                </a:solidFill>
              </a:rPr>
              <a:t>Almost none of these people had any net wealth at all</a:t>
            </a:r>
          </a:p>
        </p:txBody>
      </p:sp>
    </p:spTree>
    <p:extLst>
      <p:ext uri="{BB962C8B-B14F-4D97-AF65-F5344CB8AC3E}">
        <p14:creationId xmlns:p14="http://schemas.microsoft.com/office/powerpoint/2010/main" val="3029082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24767-B36B-917F-DA43-C2AE1FD3E7A6}"/>
              </a:ext>
            </a:extLst>
          </p:cNvPr>
          <p:cNvSpPr>
            <a:spLocks noGrp="1"/>
          </p:cNvSpPr>
          <p:nvPr>
            <p:ph type="title"/>
          </p:nvPr>
        </p:nvSpPr>
        <p:spPr/>
        <p:txBody>
          <a:bodyPr/>
          <a:lstStyle/>
          <a:p>
            <a:r>
              <a:rPr lang="en-US" dirty="0"/>
              <a:t>Conditions for Exploitation</a:t>
            </a:r>
          </a:p>
        </p:txBody>
      </p:sp>
      <p:sp>
        <p:nvSpPr>
          <p:cNvPr id="3" name="Content Placeholder 2">
            <a:extLst>
              <a:ext uri="{FF2B5EF4-FFF2-40B4-BE49-F238E27FC236}">
                <a16:creationId xmlns:a16="http://schemas.microsoft.com/office/drawing/2014/main" id="{223AEB4B-E84B-746D-5396-19DC1CB7F9CB}"/>
              </a:ext>
            </a:extLst>
          </p:cNvPr>
          <p:cNvSpPr>
            <a:spLocks noGrp="1"/>
          </p:cNvSpPr>
          <p:nvPr>
            <p:ph idx="1"/>
          </p:nvPr>
        </p:nvSpPr>
        <p:spPr>
          <a:xfrm>
            <a:off x="420489" y="3037704"/>
            <a:ext cx="11216640" cy="3678191"/>
          </a:xfrm>
        </p:spPr>
        <p:txBody>
          <a:bodyPr/>
          <a:lstStyle/>
          <a:p>
            <a:r>
              <a:rPr lang="en-US" dirty="0"/>
              <a:t>Extensive violence against and brutal suppression of Native, Black, Asian, Latinx, and European immigrant Americans</a:t>
            </a:r>
          </a:p>
          <a:p>
            <a:r>
              <a:rPr lang="en-US" dirty="0"/>
              <a:t>Desperate workforce, living on subsistence</a:t>
            </a:r>
          </a:p>
          <a:p>
            <a:r>
              <a:rPr lang="en-US" dirty="0"/>
              <a:t>New technology that led to enormous wealth acquisition</a:t>
            </a:r>
          </a:p>
          <a:p>
            <a:r>
              <a:rPr lang="en-US" dirty="0"/>
              <a:t>Extensive new capital and banking</a:t>
            </a:r>
          </a:p>
          <a:p>
            <a:r>
              <a:rPr lang="en-US" dirty="0"/>
              <a:t>Newly discovered resources that needed to be extracted</a:t>
            </a:r>
          </a:p>
          <a:p>
            <a:r>
              <a:rPr lang="en-US" dirty="0"/>
              <a:t>No regulation or oversight from government</a:t>
            </a:r>
          </a:p>
        </p:txBody>
      </p:sp>
      <p:sp>
        <p:nvSpPr>
          <p:cNvPr id="4" name="TextBox 3">
            <a:extLst>
              <a:ext uri="{FF2B5EF4-FFF2-40B4-BE49-F238E27FC236}">
                <a16:creationId xmlns:a16="http://schemas.microsoft.com/office/drawing/2014/main" id="{09A4D4C2-F1F4-236F-C3FC-6CA6E3B2FA6C}"/>
              </a:ext>
            </a:extLst>
          </p:cNvPr>
          <p:cNvSpPr txBox="1"/>
          <p:nvPr/>
        </p:nvSpPr>
        <p:spPr>
          <a:xfrm>
            <a:off x="3252865" y="6985416"/>
            <a:ext cx="6130977" cy="2123658"/>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6600" dirty="0"/>
              <a:t>Let’s guess what happened</a:t>
            </a:r>
          </a:p>
        </p:txBody>
      </p:sp>
    </p:spTree>
    <p:extLst>
      <p:ext uri="{BB962C8B-B14F-4D97-AF65-F5344CB8AC3E}">
        <p14:creationId xmlns:p14="http://schemas.microsoft.com/office/powerpoint/2010/main" val="547429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Sources</a:t>
            </a:r>
          </a:p>
        </p:txBody>
      </p:sp>
      <p:sp>
        <p:nvSpPr>
          <p:cNvPr id="3" name="Content Placeholder 2"/>
          <p:cNvSpPr>
            <a:spLocks noGrp="1"/>
          </p:cNvSpPr>
          <p:nvPr>
            <p:ph idx="1"/>
          </p:nvPr>
        </p:nvSpPr>
        <p:spPr/>
        <p:txBody>
          <a:bodyPr wrap="square"/>
          <a:lstStyle/>
          <a:p>
            <a:r>
              <a:rPr sz="1600" b="1"/>
              <a:t>Wikipedia entry points</a:t>
            </a:r>
            <a:r>
              <a:rPr sz="1600"/>
              <a:t> (finding aids — trace to the primary sources they cite): Battle of Blair Mountain · Coal Wars · Company town · Coal Region · Susquehannock · Ludlow Massacre · Coal strike of 1902 · Muckraker · Starbase, Texas · Marco Polo (Silk Road travel) · Silk Road (medieval trade route) · Mehmed II (Ottoman conquest) · Christopher Columbus (1492 voyage) · Atlantic slave trade (African enslavement) · American Civil War (North vs. South) · American frontier (westward expansion) · Forty acres and a mule (Reconstruction promise) · Jim Crow laws (racial suppression)</a:t>
            </a:r>
          </a:p>
          <a:p>
            <a:r>
              <a:rPr sz="1600" b="1"/>
              <a:t>Institutional / scholarly:</a:t>
            </a:r>
            <a:r>
              <a:rPr sz="1600"/>
              <a:t> West Virginia Mine Wars Museum · </a:t>
            </a:r>
            <a:r>
              <a:rPr sz="1600" i="1"/>
              <a:t>e-WV: The West Virginia Encyclopedia</a:t>
            </a:r>
            <a:r>
              <a:rPr sz="1600"/>
              <a:t> (scrip) · Smithsonian Magazine, "What Made the Battle of Blair Mountain the Largest Labor Uprising in American History" · Price V. Fishback, </a:t>
            </a:r>
            <a:r>
              <a:rPr sz="1600" i="1"/>
              <a:t>Journal of Economic History</a:t>
            </a:r>
            <a:r>
              <a:rPr sz="1600"/>
              <a:t> · Scott Reynolds Nelson, </a:t>
            </a:r>
            <a:r>
              <a:rPr sz="1600" i="1"/>
              <a:t>Steel Drivin' Man</a:t>
            </a:r>
            <a:r>
              <a:rPr sz="1600"/>
              <a:t> (2006) · Lon Savage, </a:t>
            </a:r>
            <a:r>
              <a:rPr sz="1600" i="1"/>
              <a:t>Thunder in the Mountains</a:t>
            </a:r>
            <a:r>
              <a:rPr sz="1600"/>
              <a:t> (1990)</a:t>
            </a:r>
          </a:p>
          <a:p>
            <a:r>
              <a:rPr sz="1600" b="1"/>
              <a:t>Contemporary reporting:</a:t>
            </a:r>
            <a:r>
              <a:rPr sz="1600"/>
              <a:t> Texas Tribune (Starbase incorporation; HB 5246) · Scientific American (Starbase opposition) · New Republic ("Freedom Cities")</a:t>
            </a:r>
          </a:p>
          <a:p>
            <a:r>
              <a:rPr sz="1600" b="1"/>
              <a:t>Watch / read:</a:t>
            </a:r>
            <a:r>
              <a:rPr sz="1600"/>
              <a:t> </a:t>
            </a:r>
            <a:r>
              <a:rPr sz="1600" i="1"/>
              <a:t>Matewan</a:t>
            </a:r>
            <a:r>
              <a:rPr sz="1600"/>
              <a:t> (dir. John Sayles, 1987) · Denise Giardina, </a:t>
            </a:r>
            <a:r>
              <a:rPr sz="1600" i="1"/>
              <a:t>Storming Heaven</a:t>
            </a:r>
            <a:r>
              <a:rPr sz="1600"/>
              <a:t> (1987)</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UBOfficial">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BOfficial" id="{18509813-927B-5742-8F3A-1F3B30009E7C}" vid="{38A77CD0-F947-CE49-A1D8-95B7FAC0523E}"/>
    </a:ext>
  </a:extLst>
</a:theme>
</file>

<file path=ppt/theme/theme2.xml><?xml version="1.0" encoding="utf-8"?>
<a:theme xmlns:a="http://schemas.openxmlformats.org/drawingml/2006/main" name="Black">
  <a:themeElements>
    <a:clrScheme name="Black">
      <a:dk1>
        <a:srgbClr val="000000"/>
      </a:dk1>
      <a:lt1>
        <a:srgbClr val="FFFFFF"/>
      </a:lt1>
      <a:dk2>
        <a:srgbClr val="53585F"/>
      </a:dk2>
      <a:lt2>
        <a:srgbClr val="DCDEE0"/>
      </a:lt2>
      <a:accent1>
        <a:srgbClr val="0065C1"/>
      </a:accent1>
      <a:accent2>
        <a:srgbClr val="00A6AC"/>
      </a:accent2>
      <a:accent3>
        <a:srgbClr val="308B16"/>
      </a:accent3>
      <a:accent4>
        <a:srgbClr val="BC8027"/>
      </a:accent4>
      <a:accent5>
        <a:srgbClr val="971817"/>
      </a:accent5>
      <a:accent6>
        <a:srgbClr val="5747C1"/>
      </a:accent6>
      <a:hlink>
        <a:srgbClr val="0000FF"/>
      </a:hlink>
      <a:folHlink>
        <a:srgbClr val="FF00FF"/>
      </a:folHlink>
    </a:clrScheme>
    <a:fontScheme name="Black">
      <a:majorFont>
        <a:latin typeface="Helvetica Light"/>
        <a:ea typeface="Helvetica Light"/>
        <a:cs typeface="Helvetica Light"/>
      </a:majorFont>
      <a:minorFont>
        <a:latin typeface="Helvetica Light"/>
        <a:ea typeface="Helvetica Light"/>
        <a:cs typeface="Helvetica Light"/>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UBOfficial</Template>
  <TotalTime>10423</TotalTime>
  <Words>2145</Words>
  <Application>Microsoft Macintosh PowerPoint</Application>
  <PresentationFormat>Custom</PresentationFormat>
  <Paragraphs>166</Paragraphs>
  <Slides>23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Georgia</vt:lpstr>
      <vt:lpstr>Helvetica Neue</vt:lpstr>
      <vt:lpstr>System Font Regular</vt:lpstr>
      <vt:lpstr>UBOfficial</vt:lpstr>
      <vt:lpstr>Lecture 3 —   Coal country  and  the Battle of blair mountain</vt:lpstr>
      <vt:lpstr>Content Warnings</vt:lpstr>
      <vt:lpstr>The Gilded Age</vt:lpstr>
      <vt:lpstr>AI Report</vt:lpstr>
      <vt:lpstr>Plan.md</vt:lpstr>
      <vt:lpstr>Data Analysis</vt:lpstr>
      <vt:lpstr>Data Analysis</vt:lpstr>
      <vt:lpstr>Data Analysis</vt:lpstr>
      <vt:lpstr>Data Analysis</vt:lpstr>
      <vt:lpstr>Data Analysis</vt:lpstr>
      <vt:lpstr>The global context</vt:lpstr>
      <vt:lpstr>Global Context</vt:lpstr>
      <vt:lpstr>Global Context</vt:lpstr>
      <vt:lpstr>“Captains of Industry”</vt:lpstr>
      <vt:lpstr>The House of Morgan</vt:lpstr>
      <vt:lpstr>1865-1900: Railroad expansion, genocide, and industrialization</vt:lpstr>
      <vt:lpstr>Genocide in Hyperdrive</vt:lpstr>
      <vt:lpstr>Reconstruction, Jim Crow, and the Great Migration</vt:lpstr>
      <vt:lpstr>Reconstruction, Jim Crow, and the Great Migration</vt:lpstr>
      <vt:lpstr>Reconstruction, Jim Crow, and the Great Migration</vt:lpstr>
      <vt:lpstr>Massive Immigration</vt:lpstr>
      <vt:lpstr>Conditions for Exploitation</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Salvatore Rappoccio</cp:lastModifiedBy>
  <cp:revision>62</cp:revision>
  <dcterms:modified xsi:type="dcterms:W3CDTF">2026-09-18T19:50:04Z</dcterms:modified>
</cp:coreProperties>
</file>